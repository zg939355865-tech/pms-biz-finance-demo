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6" r:id="rId5"/>
    <p:sldId id="260" r:id="rId6"/>
    <p:sldId id="261" r:id="rId7"/>
    <p:sldId id="267" r:id="rId8"/>
    <p:sldId id="268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695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本次汇报聚焦两个问题：项目主线如何支持跨公司协调，以及系统上线后如何形成稳定的需求反馈闭环。目标不是改变现有项目流程，而是在现有基础上补齐责任归属、协作授权和持续改进机制。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重点：先明确这是现有PMS能力的扩展方案。</a:t>
            </a:r>
          </a:p>
          <a:p>
            <a:r>
              <a:t>- 节奏：开场简洁，快速进入背景。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集团下存在多层级、多公司运营，项目需求可能由一家公司获取、另一家公司承接，也可能在实施过程中由其他公司协作。当前项目主线已经上线，数据隔离以公司为基础，因此本次重点是解决跨公司协作与公司隔离如何兼容，以及上线需求如何持续收集和反馈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重点：不否定现有公司隔离机制。</a:t>
            </a:r>
          </a:p>
          <a:p>
            <a:r>
              <a:t>- 画面引导：先看组织关系，再看两个讨论目标。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体方案坚持一个项目只有一个主责公司。其他公司可以承担阶段或任务，但不改变项目总体归属。系统通过项目、阶段和任务授权控制协作范围，同时记录责任人、过程和交付结果，保证跨公司协作可追踪、可验收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重点：唯一主责是整个方案的核心。</a:t>
            </a:r>
          </a:p>
          <a:p>
            <a:r>
              <a:t>- 补充：两类协作可以在一个项目中同时出现。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无锡获取需求、武汉承接为例。客户关系仍由无锡维护，项目需求可以由无锡人员自行录入，也可以通知武汉人员代录。武汉承接后，项目需求评审按照武汉流程执行，后续调研及整个项目主线由武汉负责闭环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重点：客户维护、需求录入和项目主责是三个不同概念。</a:t>
            </a:r>
          </a:p>
          <a:p>
            <a:r>
              <a:t>- 画面引导：按四个阶段从左向右讲解。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施协作贯穿从客户录入到项目监控的完整主线，但跨公司指派发生在明确的责任点。项目需求的技术负责人可以跨公司指派；项目实施通知中的项目经理仍遵循需求主体责任公司；项目立项中的阶段负责人可以跨公司指派，但项目阶段必须整体归属同一公司，阶段计划内容也必须与阶段所属公司主体保持一致。阶段的具体进度报工由对应阶段负责人完成。</a:t>
            </a:r>
          </a:p>
          <a:p>
            <a:endParaRPr/>
          </a:p>
          <a:p>
            <a:r>
              <a:t>数据权限仍以公司主体隔离为基础。只要属于项目协作相关方，就可以查看整条项目链路，保证协作上下文完整；但只能操作与本人或本公司责任相关的环节，其他环节保持只读。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重点：角色可以跨公司，但项目阶段不能拆分给多个公司主体。</a:t>
            </a:r>
          </a:p>
          <a:p>
            <a:r>
              <a:t>- 画面引导：先讲九步主线，再讲四个协作控制点，最后讲查看与操作权限。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MS上线后的需求需要形成统一闭环。用户可以直接提出需求，项目组也可以代为收集，但所有需求最终都要进入需求池形成唯一记录。之后经过分析沟通、设计、评审和上线，上线结果通知需求提出人并收集反馈，新的问题重新进入需求池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重点：项目组代录不是绕过需求池。</a:t>
            </a:r>
          </a:p>
          <a:p>
            <a:r>
              <a:t>- 画面引导：沿闭环方向讲到反馈回流。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以上是本次跨公司协同与需求闭环方案，请各位领导指导。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r>
              <a:t>注意点：</a:t>
            </a:r>
          </a:p>
          <a:p>
            <a:r>
              <a:t>- 节奏：简洁收尾，进入交流讨论。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5ECBF4F-207E-0F0B-DBD8-F85641DCB5FB}"/>
              </a:ext>
            </a:extLst>
          </p:cNvPr>
          <p:cNvSpPr txBox="1"/>
          <p:nvPr/>
        </p:nvSpPr>
        <p:spPr>
          <a:xfrm>
            <a:off x="175438" y="132907"/>
            <a:ext cx="312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登录场景优化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5216E1-FEDA-E22D-3FDF-F30726150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69" y="2397643"/>
            <a:ext cx="4100466" cy="23577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5EB1C1-64BB-A38A-B994-B6B02DB7E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38" y="708455"/>
            <a:ext cx="4449845" cy="25504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73050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5ECBF4F-207E-0F0B-DBD8-F85641DCB5FB}"/>
              </a:ext>
            </a:extLst>
          </p:cNvPr>
          <p:cNvSpPr txBox="1"/>
          <p:nvPr/>
        </p:nvSpPr>
        <p:spPr>
          <a:xfrm>
            <a:off x="175438" y="132907"/>
            <a:ext cx="312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规则梳理及确认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24A98D9-8243-C4DD-C34D-7850E64C1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31028"/>
              </p:ext>
            </p:extLst>
          </p:nvPr>
        </p:nvGraphicFramePr>
        <p:xfrm>
          <a:off x="312774" y="662024"/>
          <a:ext cx="8518451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626">
                  <a:extLst>
                    <a:ext uri="{9D8B030D-6E8A-4147-A177-3AD203B41FA5}">
                      <a16:colId xmlns:a16="http://schemas.microsoft.com/office/drawing/2014/main" val="802854989"/>
                    </a:ext>
                  </a:extLst>
                </a:gridCol>
                <a:gridCol w="951614">
                  <a:extLst>
                    <a:ext uri="{9D8B030D-6E8A-4147-A177-3AD203B41FA5}">
                      <a16:colId xmlns:a16="http://schemas.microsoft.com/office/drawing/2014/main" val="3436005621"/>
                    </a:ext>
                  </a:extLst>
                </a:gridCol>
                <a:gridCol w="6965211">
                  <a:extLst>
                    <a:ext uri="{9D8B030D-6E8A-4147-A177-3AD203B41FA5}">
                      <a16:colId xmlns:a16="http://schemas.microsoft.com/office/drawing/2014/main" val="1933875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025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客户管理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秉承集团实行“一客一档”；各公司包括区域中心线下报备长沙或武汉；集团层面后续客户可互相支撑业务。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446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项目需求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、项目需求增加需求来源方、项目主责方、技术方案方；</a:t>
                      </a:r>
                      <a:br>
                        <a:rPr lang="en-US" altLang="zh-CN" sz="1200" dirty="0"/>
                      </a:br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、需求来源方支持各公司自行创建或线下报备主责公司录入；</a:t>
                      </a:r>
                      <a:br>
                        <a:rPr lang="en-US" altLang="zh-CN" sz="1200" dirty="0"/>
                      </a:br>
                      <a:r>
                        <a:rPr lang="en-US" altLang="zh-CN" sz="1200" dirty="0"/>
                        <a:t>3</a:t>
                      </a:r>
                      <a:r>
                        <a:rPr lang="zh-CN" altLang="en-US" sz="1200" dirty="0"/>
                        <a:t>、项目需求流程按项目主责方执行；</a:t>
                      </a:r>
                      <a:br>
                        <a:rPr lang="en-US" altLang="zh-CN" sz="1200" dirty="0"/>
                      </a:br>
                      <a:r>
                        <a:rPr lang="en-US" altLang="zh-CN" sz="1200" dirty="0"/>
                        <a:t>4</a:t>
                      </a:r>
                      <a:r>
                        <a:rPr lang="zh-CN" altLang="en-US" sz="1200" dirty="0"/>
                        <a:t>、需求来源方、项目主责方都能查看需求信息；</a:t>
                      </a:r>
                      <a:br>
                        <a:rPr lang="en-US" altLang="zh-CN" sz="1200" dirty="0"/>
                      </a:br>
                      <a:r>
                        <a:rPr lang="en-US" altLang="zh-CN" sz="1200" dirty="0"/>
                        <a:t>5</a:t>
                      </a:r>
                      <a:r>
                        <a:rPr lang="zh-CN" altLang="en-US" sz="1200" dirty="0"/>
                        <a:t>、项目需求技术负责人可指派集团内部不同公司人员？技术负责公司能查看项目需求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574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调研问卷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、调研问卷目前未明确制定是技术负责人或者需求提出人录入，建议明确任务对象</a:t>
                      </a:r>
                      <a:br>
                        <a:rPr lang="en-US" altLang="zh-CN" sz="1200" dirty="0"/>
                      </a:br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、项目主责方、技术方案方、需求来源方都能查看调研问卷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223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项目方案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、项目方案由技术负责人创建</a:t>
                      </a:r>
                      <a:br>
                        <a:rPr lang="en-US" altLang="zh-CN" sz="1200" dirty="0"/>
                      </a:br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、引用项目需求，明确项目主责方</a:t>
                      </a:r>
                      <a:br>
                        <a:rPr lang="en-US" altLang="zh-CN" sz="1200" dirty="0"/>
                      </a:br>
                      <a:r>
                        <a:rPr lang="en-US" altLang="zh-CN" sz="1200" dirty="0"/>
                        <a:t>3</a:t>
                      </a:r>
                      <a:r>
                        <a:rPr lang="zh-CN" altLang="en-US" sz="1200" dirty="0"/>
                        <a:t>、项目方案流程按项目主责方执行</a:t>
                      </a:r>
                      <a:br>
                        <a:rPr lang="en-US" altLang="zh-CN" sz="1200" dirty="0"/>
                      </a:br>
                      <a:r>
                        <a:rPr lang="en-US" altLang="zh-CN" sz="1200" dirty="0"/>
                        <a:t>4</a:t>
                      </a:r>
                      <a:r>
                        <a:rPr lang="zh-CN" altLang="en-US" sz="1200" dirty="0"/>
                        <a:t>、项目主责方、技术方案方、需求来源方都能查看项目方案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16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项目实施通知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、需求提出人创建</a:t>
                      </a:r>
                      <a:br>
                        <a:rPr lang="en-US" altLang="zh-CN" sz="1200" dirty="0"/>
                      </a:br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、按项目主责方项目实施通知流程沟通</a:t>
                      </a:r>
                      <a:br>
                        <a:rPr lang="en-US" altLang="zh-CN" sz="1200" dirty="0"/>
                      </a:br>
                      <a:r>
                        <a:rPr lang="en-US" altLang="zh-CN" sz="1200" dirty="0"/>
                        <a:t>3</a:t>
                      </a:r>
                      <a:r>
                        <a:rPr lang="zh-CN" altLang="en-US" sz="1200" dirty="0"/>
                        <a:t>、项目经理指派只能指派项目主责方公司人员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4</a:t>
                      </a:r>
                      <a:r>
                        <a:rPr lang="zh-CN" altLang="en-US" sz="1200" dirty="0"/>
                        <a:t>、项目主责方、技术方案方、需求来源方都能查看项目实施通知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38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70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5ECBF4F-207E-0F0B-DBD8-F85641DCB5FB}"/>
              </a:ext>
            </a:extLst>
          </p:cNvPr>
          <p:cNvSpPr txBox="1"/>
          <p:nvPr/>
        </p:nvSpPr>
        <p:spPr>
          <a:xfrm>
            <a:off x="175438" y="132907"/>
            <a:ext cx="312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规则梳理及确认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24A98D9-8243-C4DD-C34D-7850E64C1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112677"/>
              </p:ext>
            </p:extLst>
          </p:nvPr>
        </p:nvGraphicFramePr>
        <p:xfrm>
          <a:off x="312774" y="662024"/>
          <a:ext cx="8518451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626">
                  <a:extLst>
                    <a:ext uri="{9D8B030D-6E8A-4147-A177-3AD203B41FA5}">
                      <a16:colId xmlns:a16="http://schemas.microsoft.com/office/drawing/2014/main" val="802854989"/>
                    </a:ext>
                  </a:extLst>
                </a:gridCol>
                <a:gridCol w="951614">
                  <a:extLst>
                    <a:ext uri="{9D8B030D-6E8A-4147-A177-3AD203B41FA5}">
                      <a16:colId xmlns:a16="http://schemas.microsoft.com/office/drawing/2014/main" val="3436005621"/>
                    </a:ext>
                  </a:extLst>
                </a:gridCol>
                <a:gridCol w="6965211">
                  <a:extLst>
                    <a:ext uri="{9D8B030D-6E8A-4147-A177-3AD203B41FA5}">
                      <a16:colId xmlns:a16="http://schemas.microsoft.com/office/drawing/2014/main" val="1933875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025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项目立项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、项目经理创建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、按项目主责方项目立项流程沟通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3</a:t>
                      </a:r>
                      <a:r>
                        <a:rPr lang="zh-CN" altLang="en-US" sz="1200" dirty="0"/>
                        <a:t>、项目阶段支持跨公司指派里程碑阶段负责人（项目协作方）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4</a:t>
                      </a:r>
                      <a:r>
                        <a:rPr lang="zh-CN" altLang="en-US" sz="1200" dirty="0"/>
                        <a:t>、需求来源方、项目主责方、技术方案方、项目协作方都能查看项目立项信息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446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项目计划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、项目经理创建</a:t>
                      </a:r>
                      <a:br>
                        <a:rPr lang="en-US" altLang="zh-CN" sz="1200" dirty="0"/>
                      </a:br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、项目主责方、项目协作方能查看项目计划信息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574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项目进度填报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、项目阶段负责人创建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、项目主责方、项目协作方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223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16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38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57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611</Words>
  <Application>Microsoft Office PowerPoint</Application>
  <PresentationFormat>全屏显示(16:9)</PresentationFormat>
  <Paragraphs>90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贵 张</cp:lastModifiedBy>
  <cp:revision>17</cp:revision>
  <dcterms:created xsi:type="dcterms:W3CDTF">2013-01-27T09:14:16Z</dcterms:created>
  <dcterms:modified xsi:type="dcterms:W3CDTF">2026-07-22T10:07:24Z</dcterms:modified>
  <cp:category/>
</cp:coreProperties>
</file>