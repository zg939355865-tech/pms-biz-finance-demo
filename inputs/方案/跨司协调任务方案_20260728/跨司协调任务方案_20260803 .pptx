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210" r:id="rId2"/>
    <p:sldId id="10354" r:id="rId3"/>
    <p:sldId id="10357" r:id="rId4"/>
    <p:sldId id="10355" r:id="rId5"/>
    <p:sldId id="10356" r:id="rId6"/>
    <p:sldId id="10359" r:id="rId7"/>
    <p:sldId id="10358" r:id="rId8"/>
    <p:sldId id="418" r:id="rId9"/>
  </p:sldIdLst>
  <p:sldSz cx="12192000" cy="6858000"/>
  <p:notesSz cx="6797675" cy="9926638"/>
  <p:custDataLst>
    <p:tags r:id="rId1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3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2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本" initials="本" lastIdx="1" clrIdx="0"/>
  <p:cmAuthor id="2" name="Jason" initials="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B7D8"/>
    <a:srgbClr val="F4F7FB"/>
    <a:srgbClr val="004DBA"/>
    <a:srgbClr val="6DABD8"/>
    <a:srgbClr val="F6F6F6"/>
    <a:srgbClr val="BFD732"/>
    <a:srgbClr val="FFFFFF"/>
    <a:srgbClr val="2094CE"/>
    <a:srgbClr val="F8F8FA"/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5" autoAdjust="0"/>
    <p:restoredTop sz="86332" autoAdjust="0"/>
  </p:normalViewPr>
  <p:slideViewPr>
    <p:cSldViewPr snapToGrid="0">
      <p:cViewPr varScale="1">
        <p:scale>
          <a:sx n="91" d="100"/>
          <a:sy n="91" d="100"/>
        </p:scale>
        <p:origin x="80" y="156"/>
      </p:cViewPr>
      <p:guideLst>
        <p:guide pos="3737"/>
        <p:guide orient="horz" pos="216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260"/>
    </p:cViewPr>
  </p:sorterViewPr>
  <p:notesViewPr>
    <p:cSldViewPr snapToGrid="0">
      <p:cViewPr varScale="1">
        <p:scale>
          <a:sx n="47" d="100"/>
          <a:sy n="47" d="100"/>
        </p:scale>
        <p:origin x="2792" y="48"/>
      </p:cViewPr>
      <p:guideLst>
        <p:guide orient="horz" pos="3252"/>
        <p:guide pos="2141"/>
      </p:guideLst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135A90-B6C7-4DA4-BD33-3A240A77BB8C}" type="datetimeFigureOut">
              <a:rPr lang="zh-CN" altLang="en-US"/>
              <a:t>2026-08-03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B826EF-C3E9-4C5A-8F5E-C9EDAF071AE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D130321-0F65-4BC9-8A6C-8A8C5484039F}" type="datetimeFigureOut">
              <a:rPr lang="zh-CN" altLang="en-US"/>
              <a:t>2026-08-03</a:t>
            </a:fld>
            <a:endParaRPr lang="zh-CN" altLang="en-US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922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77194"/>
            <a:ext cx="5438140" cy="3908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1FBF55-2C81-49EB-ADF0-0995E9D08B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C6EDB94D-3CEC-46A8-F24C-0DFDBE959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>
            <a:spLocks noChangeArrowheads="1"/>
          </p:cNvSpPr>
          <p:nvPr userDrawn="1"/>
        </p:nvSpPr>
        <p:spPr bwMode="auto">
          <a:xfrm rot="5400000">
            <a:off x="165894" y="229394"/>
            <a:ext cx="274638" cy="27305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Isosceles Triangle 3"/>
          <p:cNvSpPr/>
          <p:nvPr userDrawn="1"/>
        </p:nvSpPr>
        <p:spPr>
          <a:xfrm rot="16200000">
            <a:off x="11626850" y="6221413"/>
            <a:ext cx="358775" cy="774700"/>
          </a:xfrm>
          <a:prstGeom prst="triangle">
            <a:avLst/>
          </a:prstGeom>
          <a:solidFill>
            <a:srgbClr val="0E5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anchor="ctr"/>
          <a:lstStyle/>
          <a:p>
            <a:pPr algn="ctr" eaLnBrk="1" hangingPunct="1"/>
            <a:fld id="{D6ED0BA3-7E75-4C26-B4B8-F12C990C7A51}" type="slidenum">
              <a:rPr lang="zh-CN" altLang="en-US" sz="1200">
                <a:solidFill>
                  <a:srgbClr val="FFFFFF"/>
                </a:solidFill>
              </a:rPr>
              <a:t>‹#›</a:t>
            </a:fld>
            <a:endParaRPr lang="zh-CN" altLang="en-US" sz="1200">
              <a:solidFill>
                <a:srgbClr val="FFFFFF"/>
              </a:solidFill>
            </a:endParaRPr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E55C29AE-8285-51BC-6A0B-0D8635189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文字带英文与中文左右排列">
            <a:extLst>
              <a:ext uri="{FF2B5EF4-FFF2-40B4-BE49-F238E27FC236}">
                <a16:creationId xmlns:a16="http://schemas.microsoft.com/office/drawing/2014/main" id="{C654F6C1-9057-AC68-44AC-8153428C6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0428E576-3439-CDE9-1C1C-201ECED9C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12191999" cy="1032038"/>
          </a:xfrm>
          <a:prstGeom prst="rect">
            <a:avLst/>
          </a:prstGeom>
        </p:spPr>
        <p:txBody>
          <a:bodyPr lIns="539959" tIns="45717" rIns="91433" bIns="45717"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" y="-92"/>
            <a:ext cx="12224107" cy="1444752"/>
          </a:xfrm>
          <a:prstGeom prst="rect">
            <a:avLst/>
          </a:prstGeom>
        </p:spPr>
      </p:pic>
      <p:pic>
        <p:nvPicPr>
          <p:cNvPr id="9" name="图片 8" descr="MTC Logo-Registered.png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10867300" y="389628"/>
            <a:ext cx="1171191" cy="29279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-1151731" y="580173"/>
            <a:ext cx="511961" cy="204069"/>
          </a:xfrm>
          <a:prstGeom prst="rect">
            <a:avLst/>
          </a:prstGeom>
          <a:solidFill>
            <a:srgbClr val="0E43F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1151731" y="354504"/>
            <a:ext cx="511962" cy="204069"/>
          </a:xfrm>
          <a:prstGeom prst="rect">
            <a:avLst/>
          </a:prstGeom>
          <a:solidFill>
            <a:srgbClr val="718EF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1151731" y="128835"/>
            <a:ext cx="511961" cy="204069"/>
          </a:xfrm>
          <a:prstGeom prst="rect">
            <a:avLst/>
          </a:prstGeom>
          <a:solidFill>
            <a:srgbClr val="A1B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567762" y="576007"/>
            <a:ext cx="511961" cy="20406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567762" y="350338"/>
            <a:ext cx="511962" cy="204069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-567762" y="124669"/>
            <a:ext cx="511961" cy="204069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Rectangle 37"/>
          <p:cNvSpPr/>
          <p:nvPr userDrawn="1"/>
        </p:nvSpPr>
        <p:spPr bwMode="auto">
          <a:xfrm>
            <a:off x="8906623" y="6558176"/>
            <a:ext cx="3833840" cy="161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zh-CN" altLang="en-US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©1996-2022 </a:t>
            </a:r>
            <a:r>
              <a:rPr lang="zh-CN" altLang="en-US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普菲特计算机技术股份有限公司</a:t>
            </a:r>
            <a:endParaRPr lang="zh-CN" altLang="en-US" sz="1000" b="0" i="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0" y="6408995"/>
            <a:ext cx="1169634" cy="3946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36" y="138194"/>
            <a:ext cx="1197968" cy="2701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08307" y="1217384"/>
            <a:ext cx="1074364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/>
              <a:t>PMS_</a:t>
            </a:r>
            <a:r>
              <a:rPr lang="zh-CN" altLang="en-US" sz="6000" b="1" dirty="0"/>
              <a:t>跨司协同及用户体验优化</a:t>
            </a:r>
            <a:endParaRPr lang="en-US" altLang="zh-CN" sz="6000" b="1" dirty="0"/>
          </a:p>
          <a:p>
            <a:pPr algn="ctr"/>
            <a:r>
              <a:rPr lang="zh-CN" altLang="en-US" sz="6000" b="1" dirty="0"/>
              <a:t>专题讨论</a:t>
            </a:r>
            <a:endParaRPr lang="en-US" altLang="zh-CN" sz="6000" b="1" dirty="0"/>
          </a:p>
        </p:txBody>
      </p:sp>
      <p:sp>
        <p:nvSpPr>
          <p:cNvPr id="2" name="文本框 31">
            <a:extLst>
              <a:ext uri="{FF2B5EF4-FFF2-40B4-BE49-F238E27FC236}">
                <a16:creationId xmlns:a16="http://schemas.microsoft.com/office/drawing/2014/main" id="{AC550207-EEB7-380A-9BFA-68A84AE9D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197" y="3539843"/>
            <a:ext cx="4987606" cy="390602"/>
          </a:xfrm>
          <a:prstGeom prst="rect">
            <a:avLst/>
          </a:prstGeom>
          <a:noFill/>
          <a:ln w="12700">
            <a:noFill/>
            <a:round/>
          </a:ln>
        </p:spPr>
        <p:txBody>
          <a:bodyPr lIns="0" tIns="0" rIns="0" bIns="0" anchor="ctr"/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昕彤赋能（长沙）人工智能行业应用系统有限公司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15283380-9457-458F-980F-CA4ABFA582CB}"/>
              </a:ext>
            </a:extLst>
          </p:cNvPr>
          <p:cNvSpPr/>
          <p:nvPr/>
        </p:nvSpPr>
        <p:spPr>
          <a:xfrm>
            <a:off x="344558" y="1795511"/>
            <a:ext cx="11489634" cy="4823949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跨司协调场景一：公司身份统一登录与切换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0D6F265-BCC2-11FA-D743-391C1B3B41B1}"/>
              </a:ext>
            </a:extLst>
          </p:cNvPr>
          <p:cNvSpPr txBox="1"/>
          <p:nvPr/>
        </p:nvSpPr>
        <p:spPr>
          <a:xfrm>
            <a:off x="344558" y="611255"/>
            <a:ext cx="11191461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14388" eaLnBrk="0" hangingPunct="0">
              <a:lnSpc>
                <a:spcPct val="150000"/>
              </a:lnSpc>
              <a:defRPr/>
            </a:pPr>
            <a:r>
              <a:rPr lang="zh-CN" altLang="en-US" sz="1400" b="1" dirty="0"/>
              <a:t>       原集团账号登录后自动识别所属公司，操作主体不够直观，容易造成业务归属和数据权限判断不清。系统调整为直接选择公司身份登录，并支持在授权范围内切换公司，自动加载对应菜单、业务数据和操作权限，实现公司身份明确、数据权限隔离，为跨公司业务协同提供统一入口。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097B0C37-2AF5-91CA-9C92-8A49BD3AC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24" y="2641158"/>
            <a:ext cx="5507597" cy="3572366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AE9E47-8534-CAFF-364E-FAC2CC85E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65" y="2641157"/>
            <a:ext cx="5507595" cy="3572365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DAE7D7BE-8B01-FFA7-EA9E-7AE579E3F291}"/>
              </a:ext>
            </a:extLst>
          </p:cNvPr>
          <p:cNvSpPr txBox="1"/>
          <p:nvPr/>
        </p:nvSpPr>
        <p:spPr>
          <a:xfrm>
            <a:off x="508124" y="2117308"/>
            <a:ext cx="9298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飞书多形式适配：昕彤长沙、昕彤武汉两个主体形式；昕彤无锡运营、昕彤杭州运营与昕彤长沙共用一个主体</a:t>
            </a:r>
          </a:p>
        </p:txBody>
      </p:sp>
    </p:spTree>
    <p:extLst>
      <p:ext uri="{BB962C8B-B14F-4D97-AF65-F5344CB8AC3E}">
        <p14:creationId xmlns:p14="http://schemas.microsoft.com/office/powerpoint/2010/main" val="170368662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4AE78D31-6DC3-BE4C-F3C0-F7F7AAFD6EF7}"/>
              </a:ext>
            </a:extLst>
          </p:cNvPr>
          <p:cNvSpPr/>
          <p:nvPr/>
        </p:nvSpPr>
        <p:spPr>
          <a:xfrm>
            <a:off x="344558" y="1795512"/>
            <a:ext cx="11489634" cy="4364846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跨司协调场景二：客户信息集团共享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9358A14A-960C-6A41-5BF7-FD7A7BA4086A}"/>
              </a:ext>
            </a:extLst>
          </p:cNvPr>
          <p:cNvSpPr/>
          <p:nvPr/>
        </p:nvSpPr>
        <p:spPr bwMode="auto">
          <a:xfrm>
            <a:off x="599369" y="2159971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昕彤东莞装备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5C85EA-D059-3F4D-4996-73FCA172D85B}"/>
              </a:ext>
            </a:extLst>
          </p:cNvPr>
          <p:cNvCxnSpPr>
            <a:cxnSpLocks/>
          </p:cNvCxnSpPr>
          <p:nvPr/>
        </p:nvCxnSpPr>
        <p:spPr>
          <a:xfrm>
            <a:off x="4061901" y="3398841"/>
            <a:ext cx="722134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13">
            <a:extLst>
              <a:ext uri="{FF2B5EF4-FFF2-40B4-BE49-F238E27FC236}">
                <a16:creationId xmlns:a16="http://schemas.microsoft.com/office/drawing/2014/main" id="{1438F303-84A5-AD9C-F44B-651690B47B01}"/>
              </a:ext>
            </a:extLst>
          </p:cNvPr>
          <p:cNvSpPr/>
          <p:nvPr/>
        </p:nvSpPr>
        <p:spPr bwMode="auto">
          <a:xfrm>
            <a:off x="4905248" y="3173656"/>
            <a:ext cx="3150997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昕彤赋能（长沙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）人工智能</a:t>
            </a:r>
            <a:endParaRPr lang="en-US" altLang="zh-CN" sz="1300" b="1" dirty="0">
              <a:solidFill>
                <a:schemeClr val="lt1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行业应用系统有限公司</a:t>
            </a:r>
          </a:p>
        </p:txBody>
      </p:sp>
      <p:sp>
        <p:nvSpPr>
          <p:cNvPr id="18" name="Rounded Rectangle 113">
            <a:extLst>
              <a:ext uri="{FF2B5EF4-FFF2-40B4-BE49-F238E27FC236}">
                <a16:creationId xmlns:a16="http://schemas.microsoft.com/office/drawing/2014/main" id="{FC6072DD-1923-F66A-8A1F-460CD9B643CF}"/>
              </a:ext>
            </a:extLst>
          </p:cNvPr>
          <p:cNvSpPr/>
          <p:nvPr/>
        </p:nvSpPr>
        <p:spPr bwMode="auto">
          <a:xfrm>
            <a:off x="592852" y="2829538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上海混凕</a:t>
            </a:r>
          </a:p>
        </p:txBody>
      </p:sp>
      <p:sp>
        <p:nvSpPr>
          <p:cNvPr id="33" name="Rounded Rectangle 113">
            <a:extLst>
              <a:ext uri="{FF2B5EF4-FFF2-40B4-BE49-F238E27FC236}">
                <a16:creationId xmlns:a16="http://schemas.microsoft.com/office/drawing/2014/main" id="{EEC039DD-4DD3-6F5B-9ED8-A30C3DF5AB47}"/>
              </a:ext>
            </a:extLst>
          </p:cNvPr>
          <p:cNvSpPr/>
          <p:nvPr/>
        </p:nvSpPr>
        <p:spPr bwMode="auto">
          <a:xfrm>
            <a:off x="592852" y="3499105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昕彤无锡运营</a:t>
            </a:r>
          </a:p>
        </p:txBody>
      </p:sp>
      <p:sp>
        <p:nvSpPr>
          <p:cNvPr id="34" name="Rounded Rectangle 113">
            <a:extLst>
              <a:ext uri="{FF2B5EF4-FFF2-40B4-BE49-F238E27FC236}">
                <a16:creationId xmlns:a16="http://schemas.microsoft.com/office/drawing/2014/main" id="{0D52546E-10B1-0A70-2560-10C6269E1DBF}"/>
              </a:ext>
            </a:extLst>
          </p:cNvPr>
          <p:cNvSpPr/>
          <p:nvPr/>
        </p:nvSpPr>
        <p:spPr bwMode="auto">
          <a:xfrm>
            <a:off x="592852" y="4168673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昕彤杭州运营</a:t>
            </a:r>
          </a:p>
        </p:txBody>
      </p:sp>
      <p:sp>
        <p:nvSpPr>
          <p:cNvPr id="36" name="Rounded Rectangle 113">
            <a:extLst>
              <a:ext uri="{FF2B5EF4-FFF2-40B4-BE49-F238E27FC236}">
                <a16:creationId xmlns:a16="http://schemas.microsoft.com/office/drawing/2014/main" id="{403D3A73-5104-7D5B-A921-4F83E5B44E40}"/>
              </a:ext>
            </a:extLst>
          </p:cNvPr>
          <p:cNvSpPr/>
          <p:nvPr/>
        </p:nvSpPr>
        <p:spPr bwMode="auto">
          <a:xfrm>
            <a:off x="2182895" y="2159971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昕彤东莞运营</a:t>
            </a:r>
          </a:p>
        </p:txBody>
      </p:sp>
      <p:sp>
        <p:nvSpPr>
          <p:cNvPr id="37" name="Rounded Rectangle 113">
            <a:extLst>
              <a:ext uri="{FF2B5EF4-FFF2-40B4-BE49-F238E27FC236}">
                <a16:creationId xmlns:a16="http://schemas.microsoft.com/office/drawing/2014/main" id="{10572D29-BC37-5062-7957-906681CE3F10}"/>
              </a:ext>
            </a:extLst>
          </p:cNvPr>
          <p:cNvSpPr/>
          <p:nvPr/>
        </p:nvSpPr>
        <p:spPr bwMode="auto">
          <a:xfrm>
            <a:off x="2176378" y="2829538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昕彤湖北建设</a:t>
            </a:r>
          </a:p>
        </p:txBody>
      </p:sp>
      <p:sp>
        <p:nvSpPr>
          <p:cNvPr id="41" name="Rounded Rectangle 113">
            <a:extLst>
              <a:ext uri="{FF2B5EF4-FFF2-40B4-BE49-F238E27FC236}">
                <a16:creationId xmlns:a16="http://schemas.microsoft.com/office/drawing/2014/main" id="{A5522EE1-C7FC-19DA-22C5-AB94F617AEA8}"/>
              </a:ext>
            </a:extLst>
          </p:cNvPr>
          <p:cNvSpPr/>
          <p:nvPr/>
        </p:nvSpPr>
        <p:spPr bwMode="auto">
          <a:xfrm>
            <a:off x="2176378" y="3499105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武汉可利尔</a:t>
            </a:r>
          </a:p>
        </p:txBody>
      </p:sp>
      <p:sp>
        <p:nvSpPr>
          <p:cNvPr id="42" name="Rounded Rectangle 113">
            <a:extLst>
              <a:ext uri="{FF2B5EF4-FFF2-40B4-BE49-F238E27FC236}">
                <a16:creationId xmlns:a16="http://schemas.microsoft.com/office/drawing/2014/main" id="{FBB22E30-1693-C19D-B5E6-D51E32F5B58D}"/>
              </a:ext>
            </a:extLst>
          </p:cNvPr>
          <p:cNvSpPr/>
          <p:nvPr/>
        </p:nvSpPr>
        <p:spPr bwMode="auto">
          <a:xfrm>
            <a:off x="2176378" y="4168673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昕彤江陵低碳</a:t>
            </a:r>
          </a:p>
        </p:txBody>
      </p:sp>
      <p:sp>
        <p:nvSpPr>
          <p:cNvPr id="44" name="Rounded Rectangle 113">
            <a:extLst>
              <a:ext uri="{FF2B5EF4-FFF2-40B4-BE49-F238E27FC236}">
                <a16:creationId xmlns:a16="http://schemas.microsoft.com/office/drawing/2014/main" id="{01AEC4C9-3E51-836E-529F-0731ACEC0F8E}"/>
              </a:ext>
            </a:extLst>
          </p:cNvPr>
          <p:cNvSpPr/>
          <p:nvPr/>
        </p:nvSpPr>
        <p:spPr bwMode="auto">
          <a:xfrm>
            <a:off x="4905248" y="4937297"/>
            <a:ext cx="3150997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昕彤赋能（武汉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）设计</a:t>
            </a:r>
            <a:endParaRPr lang="en-US" altLang="zh-CN" sz="1300" b="1" dirty="0">
              <a:solidFill>
                <a:schemeClr val="lt1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研究有限公司</a:t>
            </a:r>
          </a:p>
        </p:txBody>
      </p:sp>
      <p:sp>
        <p:nvSpPr>
          <p:cNvPr id="45" name="右大括号 44">
            <a:extLst>
              <a:ext uri="{FF2B5EF4-FFF2-40B4-BE49-F238E27FC236}">
                <a16:creationId xmlns:a16="http://schemas.microsoft.com/office/drawing/2014/main" id="{A48232ED-F218-DE58-238F-4774A0CCE77F}"/>
              </a:ext>
            </a:extLst>
          </p:cNvPr>
          <p:cNvSpPr/>
          <p:nvPr/>
        </p:nvSpPr>
        <p:spPr>
          <a:xfrm>
            <a:off x="3737113" y="2246108"/>
            <a:ext cx="236705" cy="2299375"/>
          </a:xfrm>
          <a:prstGeom prst="rightBrace">
            <a:avLst>
              <a:gd name="adj1" fmla="val 242852"/>
              <a:gd name="adj2" fmla="val 50000"/>
            </a:avLst>
          </a:prstGeom>
          <a:solidFill>
            <a:schemeClr val="accent1"/>
          </a:solidFill>
          <a:ln w="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AA4270C-1AFF-6928-D3D9-C0F66ED8996F}"/>
              </a:ext>
            </a:extLst>
          </p:cNvPr>
          <p:cNvSpPr txBox="1"/>
          <p:nvPr/>
        </p:nvSpPr>
        <p:spPr>
          <a:xfrm>
            <a:off x="3986215" y="2952249"/>
            <a:ext cx="933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线下报备</a:t>
            </a:r>
          </a:p>
        </p:txBody>
      </p:sp>
      <p:sp>
        <p:nvSpPr>
          <p:cNvPr id="48" name="Rounded Rectangle 113">
            <a:extLst>
              <a:ext uri="{FF2B5EF4-FFF2-40B4-BE49-F238E27FC236}">
                <a16:creationId xmlns:a16="http://schemas.microsoft.com/office/drawing/2014/main" id="{49E495C6-C63E-B832-1C99-5AD3A0BEDBE2}"/>
              </a:ext>
            </a:extLst>
          </p:cNvPr>
          <p:cNvSpPr/>
          <p:nvPr/>
        </p:nvSpPr>
        <p:spPr bwMode="auto">
          <a:xfrm>
            <a:off x="10095340" y="4111588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客户信息库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451F1A7-4497-5C09-D760-3A58FF8690A5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229710" y="3478888"/>
            <a:ext cx="1865630" cy="84463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6289A0B-27FC-AEB7-7B3F-F791B5FD8527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8056245" y="4459354"/>
            <a:ext cx="1959377" cy="689874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9A6557B-71B8-4376-F1CC-A0B73EFA305E}"/>
              </a:ext>
            </a:extLst>
          </p:cNvPr>
          <p:cNvSpPr txBox="1"/>
          <p:nvPr/>
        </p:nvSpPr>
        <p:spPr>
          <a:xfrm>
            <a:off x="8774770" y="3041469"/>
            <a:ext cx="93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客户中心创建维护客户信息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BF06FCA-C483-7FE9-69E1-CDE457EF7CB1}"/>
              </a:ext>
            </a:extLst>
          </p:cNvPr>
          <p:cNvSpPr txBox="1"/>
          <p:nvPr/>
        </p:nvSpPr>
        <p:spPr>
          <a:xfrm>
            <a:off x="8774770" y="4937297"/>
            <a:ext cx="93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客户中心创建维护客户信息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0D6F265-BCC2-11FA-D743-391C1B3B41B1}"/>
              </a:ext>
            </a:extLst>
          </p:cNvPr>
          <p:cNvSpPr txBox="1"/>
          <p:nvPr/>
        </p:nvSpPr>
        <p:spPr>
          <a:xfrm>
            <a:off x="415359" y="644476"/>
            <a:ext cx="11191461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14388" eaLnBrk="0" hangingPunct="0">
              <a:lnSpc>
                <a:spcPct val="150000"/>
              </a:lnSpc>
              <a:defRPr/>
            </a:pPr>
            <a:r>
              <a:rPr lang="zh-CN" altLang="en-US" sz="1400" b="1" dirty="0"/>
              <a:t>       各成员公司分别维护客户信息，容易出现重复建档、客户编码或名称不一致、资料更新不同步等问题。集团建立统一客户信息共享机制，由昕彤赋能（长沙）人工智能行业应用系统有限公司和昕彤赋能（武汉）设计研究有限公司的客户中心统一创建、维护客户信息，并沉淀至集团客户信息库。系统通过客户查重机制保证数据一致，实现“二处维护、集团共享、统一使用”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2D28BD6-25DD-C9D7-1658-1CE5F3013E06}"/>
              </a:ext>
            </a:extLst>
          </p:cNvPr>
          <p:cNvSpPr txBox="1"/>
          <p:nvPr/>
        </p:nvSpPr>
        <p:spPr>
          <a:xfrm>
            <a:off x="10095340" y="4660298"/>
            <a:ext cx="1599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查重机制</a:t>
            </a:r>
            <a:endParaRPr lang="en-US" altLang="zh-CN" sz="1200" dirty="0"/>
          </a:p>
          <a:p>
            <a:r>
              <a:rPr lang="zh-CN" altLang="en-US" sz="1200" dirty="0"/>
              <a:t>全集团开放查看权限</a:t>
            </a:r>
          </a:p>
        </p:txBody>
      </p:sp>
    </p:spTree>
    <p:extLst>
      <p:ext uri="{BB962C8B-B14F-4D97-AF65-F5344CB8AC3E}">
        <p14:creationId xmlns:p14="http://schemas.microsoft.com/office/powerpoint/2010/main" val="33518413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00F974B4-632B-FA0F-E30B-7BBFA604FA69}"/>
              </a:ext>
            </a:extLst>
          </p:cNvPr>
          <p:cNvSpPr/>
          <p:nvPr/>
        </p:nvSpPr>
        <p:spPr>
          <a:xfrm>
            <a:off x="344558" y="1782415"/>
            <a:ext cx="11489634" cy="48436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DEFE0E1-766C-7702-1D02-CCC883457573}"/>
              </a:ext>
            </a:extLst>
          </p:cNvPr>
          <p:cNvSpPr/>
          <p:nvPr/>
        </p:nvSpPr>
        <p:spPr>
          <a:xfrm>
            <a:off x="549968" y="1861937"/>
            <a:ext cx="2743197" cy="4631628"/>
          </a:xfrm>
          <a:prstGeom prst="rect">
            <a:avLst/>
          </a:prstGeom>
          <a:solidFill>
            <a:srgbClr val="F4F7FB">
              <a:alpha val="0"/>
            </a:srgb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跨司协调场景三：需求统一指派入口</a:t>
            </a:r>
          </a:p>
        </p:txBody>
      </p:sp>
      <p:sp>
        <p:nvSpPr>
          <p:cNvPr id="16" name="Rounded Rectangle 113">
            <a:extLst>
              <a:ext uri="{FF2B5EF4-FFF2-40B4-BE49-F238E27FC236}">
                <a16:creationId xmlns:a16="http://schemas.microsoft.com/office/drawing/2014/main" id="{B14EF7B4-D799-FB9B-B518-BDECAB85C793}"/>
              </a:ext>
            </a:extLst>
          </p:cNvPr>
          <p:cNvSpPr/>
          <p:nvPr/>
        </p:nvSpPr>
        <p:spPr bwMode="auto">
          <a:xfrm>
            <a:off x="1268605" y="2411756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我司主办</a:t>
            </a:r>
          </a:p>
        </p:txBody>
      </p:sp>
      <p:sp>
        <p:nvSpPr>
          <p:cNvPr id="49" name="Rounded Rectangle 113">
            <a:extLst>
              <a:ext uri="{FF2B5EF4-FFF2-40B4-BE49-F238E27FC236}">
                <a16:creationId xmlns:a16="http://schemas.microsoft.com/office/drawing/2014/main" id="{4A401D46-ACC9-452A-B88C-CAC623E5D5A0}"/>
              </a:ext>
            </a:extLst>
          </p:cNvPr>
          <p:cNvSpPr/>
          <p:nvPr/>
        </p:nvSpPr>
        <p:spPr bwMode="auto">
          <a:xfrm>
            <a:off x="1268605" y="3737551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我司承接</a:t>
            </a:r>
          </a:p>
        </p:txBody>
      </p:sp>
      <p:sp>
        <p:nvSpPr>
          <p:cNvPr id="50" name="Rounded Rectangle 113">
            <a:extLst>
              <a:ext uri="{FF2B5EF4-FFF2-40B4-BE49-F238E27FC236}">
                <a16:creationId xmlns:a16="http://schemas.microsoft.com/office/drawing/2014/main" id="{2B76CB24-33CC-12EC-8999-C2FB3F48F74B}"/>
              </a:ext>
            </a:extLst>
          </p:cNvPr>
          <p:cNvSpPr/>
          <p:nvPr/>
        </p:nvSpPr>
        <p:spPr bwMode="auto">
          <a:xfrm>
            <a:off x="1268605" y="5288631"/>
            <a:ext cx="1401818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我司外发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E867C3-0B34-1FFC-1EEC-860DDF79E913}"/>
              </a:ext>
            </a:extLst>
          </p:cNvPr>
          <p:cNvSpPr txBox="1"/>
          <p:nvPr/>
        </p:nvSpPr>
        <p:spPr>
          <a:xfrm>
            <a:off x="752685" y="2949738"/>
            <a:ext cx="2619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需求来源公司、项目主责公司一致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541E569-18DC-0C0F-5370-BFF9E6C0AA68}"/>
              </a:ext>
            </a:extLst>
          </p:cNvPr>
          <p:cNvSpPr txBox="1"/>
          <p:nvPr/>
        </p:nvSpPr>
        <p:spPr>
          <a:xfrm>
            <a:off x="752684" y="5924851"/>
            <a:ext cx="261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需求来源公司为我司、项目主责公司为其他公司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FB0EC47-405E-CF91-3C8F-5F287145A000}"/>
              </a:ext>
            </a:extLst>
          </p:cNvPr>
          <p:cNvSpPr txBox="1"/>
          <p:nvPr/>
        </p:nvSpPr>
        <p:spPr>
          <a:xfrm>
            <a:off x="752683" y="4332270"/>
            <a:ext cx="261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需求来源公司为其他公司、项目主责公司为我司</a:t>
            </a:r>
          </a:p>
        </p:txBody>
      </p:sp>
      <p:sp>
        <p:nvSpPr>
          <p:cNvPr id="54" name="右大括号 53">
            <a:extLst>
              <a:ext uri="{FF2B5EF4-FFF2-40B4-BE49-F238E27FC236}">
                <a16:creationId xmlns:a16="http://schemas.microsoft.com/office/drawing/2014/main" id="{6359AC67-350C-5C88-43F3-4E7EE9FD95E4}"/>
              </a:ext>
            </a:extLst>
          </p:cNvPr>
          <p:cNvSpPr/>
          <p:nvPr/>
        </p:nvSpPr>
        <p:spPr>
          <a:xfrm>
            <a:off x="3419513" y="2525585"/>
            <a:ext cx="211122" cy="1700506"/>
          </a:xfrm>
          <a:prstGeom prst="rightBrace">
            <a:avLst>
              <a:gd name="adj1" fmla="val 242852"/>
              <a:gd name="adj2" fmla="val 50000"/>
            </a:avLst>
          </a:prstGeom>
          <a:solidFill>
            <a:schemeClr val="accent1"/>
          </a:solidFill>
          <a:ln w="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ed Rectangle 113">
            <a:extLst>
              <a:ext uri="{FF2B5EF4-FFF2-40B4-BE49-F238E27FC236}">
                <a16:creationId xmlns:a16="http://schemas.microsoft.com/office/drawing/2014/main" id="{E8C4A7C2-AD95-481E-AC5C-983CEF7AF522}"/>
              </a:ext>
            </a:extLst>
          </p:cNvPr>
          <p:cNvSpPr/>
          <p:nvPr/>
        </p:nvSpPr>
        <p:spPr bwMode="auto">
          <a:xfrm>
            <a:off x="3905785" y="3163907"/>
            <a:ext cx="7086893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调研问卷</a:t>
            </a:r>
            <a:r>
              <a:rPr lang="en-US" altLang="zh-CN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项目方案</a:t>
            </a:r>
            <a:r>
              <a:rPr lang="en-US" altLang="zh-CN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项目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实施通知</a:t>
            </a:r>
            <a:r>
              <a:rPr lang="en-US" altLang="zh-CN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项目立项</a:t>
            </a:r>
            <a:r>
              <a:rPr lang="en-US" altLang="zh-CN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300" b="1">
                <a:solidFill>
                  <a:schemeClr val="lt1"/>
                </a:solidFill>
                <a:latin typeface="Microsoft Yahei"/>
                <a:ea typeface="Microsoft Yahei"/>
              </a:rPr>
              <a:t>项目计划执行</a:t>
            </a:r>
            <a:r>
              <a:rPr lang="en-US" altLang="zh-CN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监控运维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8D2CF75-8B88-DB6E-FAC6-22BA3796FF6D}"/>
              </a:ext>
            </a:extLst>
          </p:cNvPr>
          <p:cNvSpPr txBox="1"/>
          <p:nvPr/>
        </p:nvSpPr>
        <p:spPr>
          <a:xfrm>
            <a:off x="3974245" y="3737551"/>
            <a:ext cx="4891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以项目主责公司为权限隔离，按项目流程推进项目各项进展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1014631-0FFD-4C4B-978E-E72605D2437A}"/>
              </a:ext>
            </a:extLst>
          </p:cNvPr>
          <p:cNvCxnSpPr>
            <a:cxnSpLocks/>
          </p:cNvCxnSpPr>
          <p:nvPr/>
        </p:nvCxnSpPr>
        <p:spPr>
          <a:xfrm>
            <a:off x="2968597" y="5519181"/>
            <a:ext cx="722134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113">
            <a:extLst>
              <a:ext uri="{FF2B5EF4-FFF2-40B4-BE49-F238E27FC236}">
                <a16:creationId xmlns:a16="http://schemas.microsoft.com/office/drawing/2014/main" id="{B66854AB-9B72-6457-F2BD-5E7D6E751F02}"/>
              </a:ext>
            </a:extLst>
          </p:cNvPr>
          <p:cNvSpPr/>
          <p:nvPr/>
        </p:nvSpPr>
        <p:spPr bwMode="auto">
          <a:xfrm>
            <a:off x="3905784" y="5288631"/>
            <a:ext cx="7086893" cy="4238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71975" rIns="121900" bIns="60950" anchor="ctr" anchorCtr="0">
            <a:noAutofit/>
          </a:bodyPr>
          <a:lstStyle/>
          <a:p>
            <a:pPr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</a:pPr>
            <a:r>
              <a:rPr lang="zh-CN" altLang="en-US" sz="1300" b="1" dirty="0">
                <a:solidFill>
                  <a:schemeClr val="lt1"/>
                </a:solidFill>
                <a:latin typeface="Microsoft Yahei"/>
                <a:ea typeface="Microsoft Yahei"/>
              </a:rPr>
              <a:t>需求跟踪表：查看外发项目整体进度，也可查看本司项目整体进度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F240B72-E44B-209D-B242-64599CAF37CC}"/>
              </a:ext>
            </a:extLst>
          </p:cNvPr>
          <p:cNvSpPr txBox="1"/>
          <p:nvPr/>
        </p:nvSpPr>
        <p:spPr>
          <a:xfrm>
            <a:off x="415359" y="538460"/>
            <a:ext cx="11191461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14388" eaLnBrk="0" hangingPunct="0">
              <a:lnSpc>
                <a:spcPct val="150000"/>
              </a:lnSpc>
              <a:defRPr/>
            </a:pPr>
            <a:r>
              <a:rPr lang="zh-CN" altLang="en-US" sz="1400" b="1" dirty="0"/>
              <a:t>       跨公司需求缺少统一受理和指派入口，容易出现责任主体不清、重复跟进及项目进度难追踪等问题。系统根据需求来源公司与项目主责公司的关系，将项目需求划分为“我司提办、我司承接、我司外发”三类协作模式，并以项目主责公司为权限边界，贯通调研问卷、项目方案、实施通知、项目立项及项目计划等环节；外发需求可通过需求跟踪表统一查看项目整体进度。实现跨公司需求统一受理、明确分工和全过程跟踪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9291C11-140C-1A2C-3035-CD9099E7CCAF}"/>
              </a:ext>
            </a:extLst>
          </p:cNvPr>
          <p:cNvSpPr txBox="1"/>
          <p:nvPr/>
        </p:nvSpPr>
        <p:spPr>
          <a:xfrm>
            <a:off x="1510751" y="1946072"/>
            <a:ext cx="20143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项目需求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7912EB8-36F9-6452-1AC5-1054F7FE7663}"/>
              </a:ext>
            </a:extLst>
          </p:cNvPr>
          <p:cNvSpPr txBox="1"/>
          <p:nvPr/>
        </p:nvSpPr>
        <p:spPr>
          <a:xfrm>
            <a:off x="4007378" y="5878684"/>
            <a:ext cx="4891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只需关注整体进度，具体事项由项目主责公司负责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16443A9-5A8F-B45B-1419-B4B6B79E7BB4}"/>
              </a:ext>
            </a:extLst>
          </p:cNvPr>
          <p:cNvSpPr txBox="1"/>
          <p:nvPr/>
        </p:nvSpPr>
        <p:spPr>
          <a:xfrm>
            <a:off x="3399638" y="2104056"/>
            <a:ext cx="6707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系统强校验，规避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公司为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公司（需求来源公司）、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</a:rPr>
              <a:t>公司（项目主责公司）建立项目需求关系</a:t>
            </a:r>
          </a:p>
        </p:txBody>
      </p:sp>
    </p:spTree>
    <p:extLst>
      <p:ext uri="{BB962C8B-B14F-4D97-AF65-F5344CB8AC3E}">
        <p14:creationId xmlns:p14="http://schemas.microsoft.com/office/powerpoint/2010/main" val="61529309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跨司协调场景四：各司间任务协助（本期讨论）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1897F53-E23E-E0E2-6BD3-56405D947ABD}"/>
              </a:ext>
            </a:extLst>
          </p:cNvPr>
          <p:cNvSpPr txBox="1"/>
          <p:nvPr/>
        </p:nvSpPr>
        <p:spPr>
          <a:xfrm>
            <a:off x="415359" y="558338"/>
            <a:ext cx="11191461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814388" eaLnBrk="0" hangingPunct="0">
              <a:lnSpc>
                <a:spcPct val="150000"/>
              </a:lnSpc>
              <a:defRPr/>
            </a:pPr>
            <a:r>
              <a:rPr lang="zh-CN" altLang="en-US" sz="1400" b="1" dirty="0"/>
              <a:t>       项目以主责公司为业务执行主体，贯通项目需求、调研问卷、项目方案、实施通知、项目立项、计划执行及监控运维全过程。在技术负责人指派、和项目里程碑执行等环节，可将任务协同至其他公司；本公司人员通过“我的审批”“我的任务”集中处理本公司事项，跨公司人员通过“我的任务（跨司）”接收协作任务，相关过程同步沉淀至跨司协同台账，实现任务统一分派、跨司协作和全过程追踪。</a:t>
            </a:r>
          </a:p>
        </p:txBody>
      </p:sp>
      <p:sp>
        <p:nvSpPr>
          <p:cNvPr id="132" name="Google Shape;1255;p24">
            <a:extLst>
              <a:ext uri="{FF2B5EF4-FFF2-40B4-BE49-F238E27FC236}">
                <a16:creationId xmlns:a16="http://schemas.microsoft.com/office/drawing/2014/main" id="{FE3B7A5E-485E-E4D4-69DE-99D6F4696A8A}"/>
              </a:ext>
            </a:extLst>
          </p:cNvPr>
          <p:cNvSpPr/>
          <p:nvPr/>
        </p:nvSpPr>
        <p:spPr>
          <a:xfrm>
            <a:off x="499864" y="2298329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需求提出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A400889-935F-40D6-2B0B-1A6C378A3DAA}"/>
              </a:ext>
            </a:extLst>
          </p:cNvPr>
          <p:cNvGrpSpPr/>
          <p:nvPr/>
        </p:nvGrpSpPr>
        <p:grpSpPr>
          <a:xfrm>
            <a:off x="280662" y="1624537"/>
            <a:ext cx="11606327" cy="395582"/>
            <a:chOff x="294623" y="1825104"/>
            <a:chExt cx="10641681" cy="395582"/>
          </a:xfrm>
        </p:grpSpPr>
        <p:sp>
          <p:nvSpPr>
            <p:cNvPr id="130" name="Google Shape;1482;p32">
              <a:extLst>
                <a:ext uri="{FF2B5EF4-FFF2-40B4-BE49-F238E27FC236}">
                  <a16:creationId xmlns:a16="http://schemas.microsoft.com/office/drawing/2014/main" id="{B692FA71-4D10-F35F-B5D9-021E6A01A114}"/>
                </a:ext>
              </a:extLst>
            </p:cNvPr>
            <p:cNvSpPr/>
            <p:nvPr/>
          </p:nvSpPr>
          <p:spPr>
            <a:xfrm>
              <a:off x="294623" y="1825104"/>
              <a:ext cx="1791195" cy="395582"/>
            </a:xfrm>
            <a:prstGeom prst="homePlat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121900" tIns="71975" rIns="121900" bIns="60950" anchor="ctr" anchorCtr="0">
              <a:noAutofit/>
            </a:bodyPr>
            <a:lstStyle/>
            <a:p>
              <a:pPr marL="0" marR="0" lvl="0" indent="0" algn="ct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300"/>
                <a:buFont typeface="Noto Sans Symbols"/>
                <a:buNone/>
              </a:pPr>
              <a:r>
                <a:rPr lang="zh-CN" altLang="en-US" sz="1300" b="1" dirty="0">
                  <a:solidFill>
                    <a:schemeClr val="lt1"/>
                  </a:solidFill>
                  <a:latin typeface="Microsoft Yahei"/>
                  <a:ea typeface="Microsoft Yahei"/>
                  <a:sym typeface="Microsoft Yahei"/>
                </a:rPr>
                <a:t>需求来源公司</a:t>
              </a:r>
              <a:endParaRPr dirty="0"/>
            </a:p>
          </p:txBody>
        </p:sp>
        <p:sp>
          <p:nvSpPr>
            <p:cNvPr id="131" name="Google Shape;1483;p32">
              <a:extLst>
                <a:ext uri="{FF2B5EF4-FFF2-40B4-BE49-F238E27FC236}">
                  <a16:creationId xmlns:a16="http://schemas.microsoft.com/office/drawing/2014/main" id="{F23706F8-4DDF-7A37-B1B3-8323EE630BC6}"/>
                </a:ext>
              </a:extLst>
            </p:cNvPr>
            <p:cNvSpPr/>
            <p:nvPr/>
          </p:nvSpPr>
          <p:spPr>
            <a:xfrm>
              <a:off x="2161488" y="1825104"/>
              <a:ext cx="5400949" cy="395582"/>
            </a:xfrm>
            <a:prstGeom prst="homePlat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121900" tIns="71975" rIns="121900" bIns="60950" anchor="ctr" anchorCtr="0">
              <a:noAutofit/>
            </a:bodyPr>
            <a:lstStyle/>
            <a:p>
              <a:pPr marL="0" marR="0" lvl="0" indent="0" algn="ct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300"/>
                <a:buFont typeface="Noto Sans Symbols"/>
                <a:buNone/>
              </a:pPr>
              <a:r>
                <a:rPr lang="zh-CN" altLang="en-US" sz="1300" b="1" dirty="0">
                  <a:solidFill>
                    <a:schemeClr val="lt1"/>
                  </a:solidFill>
                  <a:latin typeface="Microsoft Yahei"/>
                  <a:ea typeface="Microsoft Yahei"/>
                  <a:sym typeface="Microsoft Yahei"/>
                </a:rPr>
                <a:t>项目主责公司</a:t>
              </a:r>
              <a:endParaRPr dirty="0"/>
            </a:p>
          </p:txBody>
        </p:sp>
        <p:sp>
          <p:nvSpPr>
            <p:cNvPr id="133" name="Google Shape;1483;p32">
              <a:extLst>
                <a:ext uri="{FF2B5EF4-FFF2-40B4-BE49-F238E27FC236}">
                  <a16:creationId xmlns:a16="http://schemas.microsoft.com/office/drawing/2014/main" id="{D1942D5E-F04E-CB5D-511D-BBB9830E0A15}"/>
                </a:ext>
              </a:extLst>
            </p:cNvPr>
            <p:cNvSpPr/>
            <p:nvPr/>
          </p:nvSpPr>
          <p:spPr>
            <a:xfrm>
              <a:off x="7634237" y="1825104"/>
              <a:ext cx="3302067" cy="395582"/>
            </a:xfrm>
            <a:prstGeom prst="homePlate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121900" tIns="71975" rIns="121900" bIns="60950" anchor="ctr" anchorCtr="0">
              <a:noAutofit/>
            </a:bodyPr>
            <a:lstStyle/>
            <a:p>
              <a:pPr marL="0" marR="0" lvl="0" indent="0" algn="ct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300"/>
                <a:buFont typeface="Noto Sans Symbols"/>
                <a:buNone/>
              </a:pPr>
              <a:r>
                <a:rPr lang="zh-CN" altLang="en-US" sz="1300" b="1" dirty="0">
                  <a:solidFill>
                    <a:schemeClr val="lt1"/>
                  </a:solidFill>
                  <a:latin typeface="Microsoft Yahei"/>
                  <a:ea typeface="Microsoft Yahei"/>
                  <a:sym typeface="Microsoft Yahei"/>
                </a:rPr>
                <a:t>协作</a:t>
              </a:r>
              <a:endParaRPr dirty="0"/>
            </a:p>
          </p:txBody>
        </p:sp>
      </p:grpSp>
      <p:sp>
        <p:nvSpPr>
          <p:cNvPr id="136" name="Google Shape;1255;p24">
            <a:extLst>
              <a:ext uri="{FF2B5EF4-FFF2-40B4-BE49-F238E27FC236}">
                <a16:creationId xmlns:a16="http://schemas.microsoft.com/office/drawing/2014/main" id="{2FA3F3FF-D2D5-D75B-326B-30EE501B985A}"/>
              </a:ext>
            </a:extLst>
          </p:cNvPr>
          <p:cNvSpPr/>
          <p:nvPr/>
        </p:nvSpPr>
        <p:spPr>
          <a:xfrm>
            <a:off x="2850439" y="2298329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需求审批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37" name="Google Shape;1255;p24">
            <a:extLst>
              <a:ext uri="{FF2B5EF4-FFF2-40B4-BE49-F238E27FC236}">
                <a16:creationId xmlns:a16="http://schemas.microsoft.com/office/drawing/2014/main" id="{30CCC73B-305F-5880-C985-F3EF7FEFE71A}"/>
              </a:ext>
            </a:extLst>
          </p:cNvPr>
          <p:cNvSpPr/>
          <p:nvPr/>
        </p:nvSpPr>
        <p:spPr>
          <a:xfrm>
            <a:off x="5367128" y="2298329"/>
            <a:ext cx="1260000" cy="288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指派技术负责人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38" name="Google Shape;1255;p24">
            <a:extLst>
              <a:ext uri="{FF2B5EF4-FFF2-40B4-BE49-F238E27FC236}">
                <a16:creationId xmlns:a16="http://schemas.microsoft.com/office/drawing/2014/main" id="{FDE655E2-37DF-3119-837B-6B5375CBAF76}"/>
              </a:ext>
            </a:extLst>
          </p:cNvPr>
          <p:cNvSpPr/>
          <p:nvPr/>
        </p:nvSpPr>
        <p:spPr>
          <a:xfrm>
            <a:off x="2850439" y="3585513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调研问卷补录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39" name="Google Shape;1255;p24">
            <a:extLst>
              <a:ext uri="{FF2B5EF4-FFF2-40B4-BE49-F238E27FC236}">
                <a16:creationId xmlns:a16="http://schemas.microsoft.com/office/drawing/2014/main" id="{D1B5BF3A-25A3-2729-E065-AEC159BA42E7}"/>
              </a:ext>
            </a:extLst>
          </p:cNvPr>
          <p:cNvSpPr/>
          <p:nvPr/>
        </p:nvSpPr>
        <p:spPr>
          <a:xfrm>
            <a:off x="5193477" y="3589710"/>
            <a:ext cx="1433651" cy="288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飞书提醒需求提出人</a:t>
            </a:r>
            <a:endParaRPr sz="12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3" name="Google Shape;1255;p24">
            <a:extLst>
              <a:ext uri="{FF2B5EF4-FFF2-40B4-BE49-F238E27FC236}">
                <a16:creationId xmlns:a16="http://schemas.microsoft.com/office/drawing/2014/main" id="{7A104021-4122-1584-6AB7-4D8CDE175D27}"/>
              </a:ext>
            </a:extLst>
          </p:cNvPr>
          <p:cNvSpPr/>
          <p:nvPr/>
        </p:nvSpPr>
        <p:spPr>
          <a:xfrm>
            <a:off x="5193477" y="2940526"/>
            <a:ext cx="1433651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飞书提醒技术负责人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44" name="Google Shape;1255;p24">
            <a:extLst>
              <a:ext uri="{FF2B5EF4-FFF2-40B4-BE49-F238E27FC236}">
                <a16:creationId xmlns:a16="http://schemas.microsoft.com/office/drawing/2014/main" id="{A7963929-EDCD-425A-176F-1BE91348521A}"/>
              </a:ext>
            </a:extLst>
          </p:cNvPr>
          <p:cNvSpPr/>
          <p:nvPr/>
        </p:nvSpPr>
        <p:spPr>
          <a:xfrm>
            <a:off x="2850439" y="2940526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方案提交审批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48" name="Google Shape;1255;p24">
            <a:extLst>
              <a:ext uri="{FF2B5EF4-FFF2-40B4-BE49-F238E27FC236}">
                <a16:creationId xmlns:a16="http://schemas.microsoft.com/office/drawing/2014/main" id="{C0A2D285-0FF0-5898-DEDD-04D537BE0FCF}"/>
              </a:ext>
            </a:extLst>
          </p:cNvPr>
          <p:cNvSpPr/>
          <p:nvPr/>
        </p:nvSpPr>
        <p:spPr>
          <a:xfrm>
            <a:off x="5193477" y="4238894"/>
            <a:ext cx="1406493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实施通知提交审批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1" name="Google Shape;1255;p24">
            <a:extLst>
              <a:ext uri="{FF2B5EF4-FFF2-40B4-BE49-F238E27FC236}">
                <a16:creationId xmlns:a16="http://schemas.microsoft.com/office/drawing/2014/main" id="{49DC42A0-B5F4-397D-BAC3-97FA98833F43}"/>
              </a:ext>
            </a:extLst>
          </p:cNvPr>
          <p:cNvSpPr/>
          <p:nvPr/>
        </p:nvSpPr>
        <p:spPr>
          <a:xfrm>
            <a:off x="5339970" y="4872698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项目立项审批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2" name="Google Shape;1255;p24">
            <a:extLst>
              <a:ext uri="{FF2B5EF4-FFF2-40B4-BE49-F238E27FC236}">
                <a16:creationId xmlns:a16="http://schemas.microsoft.com/office/drawing/2014/main" id="{BDC11F38-F7E7-78F3-E64A-C104373C5EE9}"/>
              </a:ext>
            </a:extLst>
          </p:cNvPr>
          <p:cNvSpPr/>
          <p:nvPr/>
        </p:nvSpPr>
        <p:spPr>
          <a:xfrm>
            <a:off x="2523326" y="5438908"/>
            <a:ext cx="158677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里程碑负责人飞书提醒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3" name="Google Shape;1255;p24">
            <a:extLst>
              <a:ext uri="{FF2B5EF4-FFF2-40B4-BE49-F238E27FC236}">
                <a16:creationId xmlns:a16="http://schemas.microsoft.com/office/drawing/2014/main" id="{E5D239D6-4BF2-05F8-4253-CEAC606605BA}"/>
              </a:ext>
            </a:extLst>
          </p:cNvPr>
          <p:cNvSpPr/>
          <p:nvPr/>
        </p:nvSpPr>
        <p:spPr>
          <a:xfrm>
            <a:off x="2850439" y="4230500"/>
            <a:ext cx="126000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指派项目经理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4" name="Google Shape;1255;p24">
            <a:extLst>
              <a:ext uri="{FF2B5EF4-FFF2-40B4-BE49-F238E27FC236}">
                <a16:creationId xmlns:a16="http://schemas.microsoft.com/office/drawing/2014/main" id="{902B2E87-FCC6-F458-8372-35716D9F08AD}"/>
              </a:ext>
            </a:extLst>
          </p:cNvPr>
          <p:cNvSpPr/>
          <p:nvPr/>
        </p:nvSpPr>
        <p:spPr>
          <a:xfrm>
            <a:off x="2703603" y="4884468"/>
            <a:ext cx="1406493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飞书提醒项目经理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5" name="Google Shape;1255;p24">
            <a:extLst>
              <a:ext uri="{FF2B5EF4-FFF2-40B4-BE49-F238E27FC236}">
                <a16:creationId xmlns:a16="http://schemas.microsoft.com/office/drawing/2014/main" id="{90C0A4A5-AD2F-7219-77A7-546D7B35658C}"/>
              </a:ext>
            </a:extLst>
          </p:cNvPr>
          <p:cNvSpPr/>
          <p:nvPr/>
        </p:nvSpPr>
        <p:spPr>
          <a:xfrm>
            <a:off x="5004927" y="5438908"/>
            <a:ext cx="1586770" cy="288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制定里程碑计划</a:t>
            </a:r>
            <a:endParaRPr sz="12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6" name="Google Shape;1255;p24">
            <a:extLst>
              <a:ext uri="{FF2B5EF4-FFF2-40B4-BE49-F238E27FC236}">
                <a16:creationId xmlns:a16="http://schemas.microsoft.com/office/drawing/2014/main" id="{EC77610C-D51B-AB35-6E15-8605AD0DABCE}"/>
              </a:ext>
            </a:extLst>
          </p:cNvPr>
          <p:cNvSpPr/>
          <p:nvPr/>
        </p:nvSpPr>
        <p:spPr>
          <a:xfrm>
            <a:off x="5185204" y="5944092"/>
            <a:ext cx="1406493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阶段负责人进度填报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7" name="Google Shape;1255;p24">
            <a:extLst>
              <a:ext uri="{FF2B5EF4-FFF2-40B4-BE49-F238E27FC236}">
                <a16:creationId xmlns:a16="http://schemas.microsoft.com/office/drawing/2014/main" id="{57F3DCDD-E182-F1F8-1274-B62AA5674D46}"/>
              </a:ext>
            </a:extLst>
          </p:cNvPr>
          <p:cNvSpPr/>
          <p:nvPr/>
        </p:nvSpPr>
        <p:spPr>
          <a:xfrm>
            <a:off x="2523326" y="5955095"/>
            <a:ext cx="1586770" cy="28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7100" tIns="17100" rIns="17100" bIns="17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里程碑详细计划</a:t>
            </a:r>
            <a:endParaRPr sz="12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158" name="Google Shape;1306;p24">
            <a:extLst>
              <a:ext uri="{FF2B5EF4-FFF2-40B4-BE49-F238E27FC236}">
                <a16:creationId xmlns:a16="http://schemas.microsoft.com/office/drawing/2014/main" id="{26837009-F1B0-7457-85EB-100E717DB287}"/>
              </a:ext>
            </a:extLst>
          </p:cNvPr>
          <p:cNvCxnSpPr>
            <a:cxnSpLocks/>
            <a:stCxn id="132" idx="3"/>
            <a:endCxn id="136" idx="1"/>
          </p:cNvCxnSpPr>
          <p:nvPr/>
        </p:nvCxnSpPr>
        <p:spPr>
          <a:xfrm>
            <a:off x="1759864" y="2442329"/>
            <a:ext cx="1090575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61" name="Google Shape;1306;p24">
            <a:extLst>
              <a:ext uri="{FF2B5EF4-FFF2-40B4-BE49-F238E27FC236}">
                <a16:creationId xmlns:a16="http://schemas.microsoft.com/office/drawing/2014/main" id="{AF40787C-96B2-7C74-F67A-96C802521964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>
            <a:off x="4110439" y="2442329"/>
            <a:ext cx="1256689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64" name="Google Shape;1306;p24">
            <a:extLst>
              <a:ext uri="{FF2B5EF4-FFF2-40B4-BE49-F238E27FC236}">
                <a16:creationId xmlns:a16="http://schemas.microsoft.com/office/drawing/2014/main" id="{7A396B25-1012-EED6-D97C-97ABBA8847D8}"/>
              </a:ext>
            </a:extLst>
          </p:cNvPr>
          <p:cNvCxnSpPr>
            <a:cxnSpLocks/>
            <a:stCxn id="137" idx="2"/>
            <a:endCxn id="143" idx="0"/>
          </p:cNvCxnSpPr>
          <p:nvPr/>
        </p:nvCxnSpPr>
        <p:spPr>
          <a:xfrm flipH="1">
            <a:off x="5910303" y="2586329"/>
            <a:ext cx="86825" cy="35419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67" name="Google Shape;1306;p24">
            <a:extLst>
              <a:ext uri="{FF2B5EF4-FFF2-40B4-BE49-F238E27FC236}">
                <a16:creationId xmlns:a16="http://schemas.microsoft.com/office/drawing/2014/main" id="{5434BC24-59E2-C8F2-DD1A-ABB25A2892E7}"/>
              </a:ext>
            </a:extLst>
          </p:cNvPr>
          <p:cNvCxnSpPr>
            <a:cxnSpLocks/>
            <a:stCxn id="143" idx="1"/>
            <a:endCxn id="144" idx="3"/>
          </p:cNvCxnSpPr>
          <p:nvPr/>
        </p:nvCxnSpPr>
        <p:spPr>
          <a:xfrm flipH="1">
            <a:off x="4110439" y="3084526"/>
            <a:ext cx="1083038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70" name="Google Shape;1306;p24">
            <a:extLst>
              <a:ext uri="{FF2B5EF4-FFF2-40B4-BE49-F238E27FC236}">
                <a16:creationId xmlns:a16="http://schemas.microsoft.com/office/drawing/2014/main" id="{11CF0E42-CF81-11F5-21C1-507F34636108}"/>
              </a:ext>
            </a:extLst>
          </p:cNvPr>
          <p:cNvCxnSpPr>
            <a:cxnSpLocks/>
            <a:stCxn id="144" idx="2"/>
            <a:endCxn id="138" idx="0"/>
          </p:cNvCxnSpPr>
          <p:nvPr/>
        </p:nvCxnSpPr>
        <p:spPr>
          <a:xfrm>
            <a:off x="3480439" y="3228526"/>
            <a:ext cx="0" cy="35698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73" name="Google Shape;1306;p24">
            <a:extLst>
              <a:ext uri="{FF2B5EF4-FFF2-40B4-BE49-F238E27FC236}">
                <a16:creationId xmlns:a16="http://schemas.microsoft.com/office/drawing/2014/main" id="{834D6965-EA6F-6213-2997-A81450D39482}"/>
              </a:ext>
            </a:extLst>
          </p:cNvPr>
          <p:cNvCxnSpPr>
            <a:cxnSpLocks/>
            <a:stCxn id="138" idx="3"/>
            <a:endCxn id="139" idx="1"/>
          </p:cNvCxnSpPr>
          <p:nvPr/>
        </p:nvCxnSpPr>
        <p:spPr>
          <a:xfrm>
            <a:off x="4110439" y="3729513"/>
            <a:ext cx="1083038" cy="419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76" name="Google Shape;1306;p24">
            <a:extLst>
              <a:ext uri="{FF2B5EF4-FFF2-40B4-BE49-F238E27FC236}">
                <a16:creationId xmlns:a16="http://schemas.microsoft.com/office/drawing/2014/main" id="{6C44051A-8864-8745-64C1-29F678750130}"/>
              </a:ext>
            </a:extLst>
          </p:cNvPr>
          <p:cNvCxnSpPr>
            <a:cxnSpLocks/>
            <a:stCxn id="139" idx="2"/>
            <a:endCxn id="148" idx="0"/>
          </p:cNvCxnSpPr>
          <p:nvPr/>
        </p:nvCxnSpPr>
        <p:spPr>
          <a:xfrm flipH="1">
            <a:off x="5896724" y="3877710"/>
            <a:ext cx="13579" cy="361184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79" name="Google Shape;1306;p24">
            <a:extLst>
              <a:ext uri="{FF2B5EF4-FFF2-40B4-BE49-F238E27FC236}">
                <a16:creationId xmlns:a16="http://schemas.microsoft.com/office/drawing/2014/main" id="{1E229AC9-459A-593D-638E-39929161D497}"/>
              </a:ext>
            </a:extLst>
          </p:cNvPr>
          <p:cNvCxnSpPr>
            <a:cxnSpLocks/>
            <a:stCxn id="148" idx="1"/>
            <a:endCxn id="153" idx="3"/>
          </p:cNvCxnSpPr>
          <p:nvPr/>
        </p:nvCxnSpPr>
        <p:spPr>
          <a:xfrm flipH="1" flipV="1">
            <a:off x="4110439" y="4374500"/>
            <a:ext cx="1083038" cy="8394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82" name="Google Shape;1306;p24">
            <a:extLst>
              <a:ext uri="{FF2B5EF4-FFF2-40B4-BE49-F238E27FC236}">
                <a16:creationId xmlns:a16="http://schemas.microsoft.com/office/drawing/2014/main" id="{EF86C2BD-B72F-9834-ACDB-A0091E1636B2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 flipH="1">
            <a:off x="3406850" y="4518500"/>
            <a:ext cx="73589" cy="365968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85" name="Google Shape;1306;p24">
            <a:extLst>
              <a:ext uri="{FF2B5EF4-FFF2-40B4-BE49-F238E27FC236}">
                <a16:creationId xmlns:a16="http://schemas.microsoft.com/office/drawing/2014/main" id="{819B4163-CF5A-A6C3-3FA6-89C0947F832D}"/>
              </a:ext>
            </a:extLst>
          </p:cNvPr>
          <p:cNvCxnSpPr>
            <a:cxnSpLocks/>
            <a:stCxn id="154" idx="3"/>
            <a:endCxn id="151" idx="1"/>
          </p:cNvCxnSpPr>
          <p:nvPr/>
        </p:nvCxnSpPr>
        <p:spPr>
          <a:xfrm flipV="1">
            <a:off x="4110096" y="5016698"/>
            <a:ext cx="1229874" cy="1177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88" name="Google Shape;1306;p24">
            <a:extLst>
              <a:ext uri="{FF2B5EF4-FFF2-40B4-BE49-F238E27FC236}">
                <a16:creationId xmlns:a16="http://schemas.microsoft.com/office/drawing/2014/main" id="{2708A4A4-75A8-EC80-9303-E97E5FEF33F2}"/>
              </a:ext>
            </a:extLst>
          </p:cNvPr>
          <p:cNvCxnSpPr>
            <a:cxnSpLocks/>
            <a:stCxn id="151" idx="2"/>
            <a:endCxn id="155" idx="0"/>
          </p:cNvCxnSpPr>
          <p:nvPr/>
        </p:nvCxnSpPr>
        <p:spPr>
          <a:xfrm flipH="1">
            <a:off x="5798312" y="5160698"/>
            <a:ext cx="171658" cy="27821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91" name="Google Shape;1306;p24">
            <a:extLst>
              <a:ext uri="{FF2B5EF4-FFF2-40B4-BE49-F238E27FC236}">
                <a16:creationId xmlns:a16="http://schemas.microsoft.com/office/drawing/2014/main" id="{8E728C39-7403-6FE7-D065-6B34148956E8}"/>
              </a:ext>
            </a:extLst>
          </p:cNvPr>
          <p:cNvCxnSpPr>
            <a:cxnSpLocks/>
            <a:stCxn id="155" idx="1"/>
            <a:endCxn id="152" idx="3"/>
          </p:cNvCxnSpPr>
          <p:nvPr/>
        </p:nvCxnSpPr>
        <p:spPr>
          <a:xfrm flipH="1">
            <a:off x="4110096" y="5582908"/>
            <a:ext cx="894831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94" name="Google Shape;1306;p24">
            <a:extLst>
              <a:ext uri="{FF2B5EF4-FFF2-40B4-BE49-F238E27FC236}">
                <a16:creationId xmlns:a16="http://schemas.microsoft.com/office/drawing/2014/main" id="{70C0F198-BFA9-480C-6350-BD948B2BEC02}"/>
              </a:ext>
            </a:extLst>
          </p:cNvPr>
          <p:cNvCxnSpPr>
            <a:cxnSpLocks/>
            <a:stCxn id="152" idx="2"/>
            <a:endCxn id="157" idx="0"/>
          </p:cNvCxnSpPr>
          <p:nvPr/>
        </p:nvCxnSpPr>
        <p:spPr>
          <a:xfrm>
            <a:off x="3316711" y="5726908"/>
            <a:ext cx="0" cy="22818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cxnSp>
        <p:nvCxnSpPr>
          <p:cNvPr id="197" name="Google Shape;1306;p24">
            <a:extLst>
              <a:ext uri="{FF2B5EF4-FFF2-40B4-BE49-F238E27FC236}">
                <a16:creationId xmlns:a16="http://schemas.microsoft.com/office/drawing/2014/main" id="{1D51F116-9D36-BF3A-0DB0-761D538B2F21}"/>
              </a:ext>
            </a:extLst>
          </p:cNvPr>
          <p:cNvCxnSpPr>
            <a:cxnSpLocks/>
            <a:stCxn id="157" idx="3"/>
            <a:endCxn id="156" idx="1"/>
          </p:cNvCxnSpPr>
          <p:nvPr/>
        </p:nvCxnSpPr>
        <p:spPr>
          <a:xfrm flipV="1">
            <a:off x="4110096" y="6088092"/>
            <a:ext cx="1075108" cy="11003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oval" w="med" len="med"/>
            <a:tailEnd type="stealth" w="med" len="med"/>
          </a:ln>
        </p:spPr>
      </p:cxn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99A86B1A-97A3-2A1C-DC63-704F1A83B880}"/>
              </a:ext>
            </a:extLst>
          </p:cNvPr>
          <p:cNvGrpSpPr/>
          <p:nvPr/>
        </p:nvGrpSpPr>
        <p:grpSpPr>
          <a:xfrm>
            <a:off x="8053641" y="2586328"/>
            <a:ext cx="3943043" cy="2965019"/>
            <a:chOff x="1263435" y="4668202"/>
            <a:chExt cx="9138641" cy="1190873"/>
          </a:xfrm>
        </p:grpSpPr>
        <p:sp>
          <p:nvSpPr>
            <p:cNvPr id="203" name="Rounded Rectangle 113">
              <a:extLst>
                <a:ext uri="{FF2B5EF4-FFF2-40B4-BE49-F238E27FC236}">
                  <a16:creationId xmlns:a16="http://schemas.microsoft.com/office/drawing/2014/main" id="{A68CCA7B-0B0B-851F-CF9E-6DC89550C9F1}"/>
                </a:ext>
              </a:extLst>
            </p:cNvPr>
            <p:cNvSpPr/>
            <p:nvPr/>
          </p:nvSpPr>
          <p:spPr bwMode="auto">
            <a:xfrm>
              <a:off x="1263436" y="4668202"/>
              <a:ext cx="2140923" cy="423862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 eaLnBrk="0" hangingPunct="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我的审核（我司）</a:t>
              </a:r>
            </a:p>
          </p:txBody>
        </p:sp>
        <p:sp>
          <p:nvSpPr>
            <p:cNvPr id="204" name="Rounded Rectangle 113">
              <a:extLst>
                <a:ext uri="{FF2B5EF4-FFF2-40B4-BE49-F238E27FC236}">
                  <a16:creationId xmlns:a16="http://schemas.microsoft.com/office/drawing/2014/main" id="{A5C70C17-BC38-90AD-0C84-DC2749F1B577}"/>
                </a:ext>
              </a:extLst>
            </p:cNvPr>
            <p:cNvSpPr/>
            <p:nvPr/>
          </p:nvSpPr>
          <p:spPr bwMode="auto">
            <a:xfrm>
              <a:off x="4762295" y="4668202"/>
              <a:ext cx="2140923" cy="423862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 eaLnBrk="0" hangingPunct="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我的任务（我司）</a:t>
              </a:r>
            </a:p>
          </p:txBody>
        </p:sp>
        <p:sp>
          <p:nvSpPr>
            <p:cNvPr id="205" name="Rounded Rectangle 113">
              <a:extLst>
                <a:ext uri="{FF2B5EF4-FFF2-40B4-BE49-F238E27FC236}">
                  <a16:creationId xmlns:a16="http://schemas.microsoft.com/office/drawing/2014/main" id="{67675876-C323-A0A0-5812-8988B4ECB29E}"/>
                </a:ext>
              </a:extLst>
            </p:cNvPr>
            <p:cNvSpPr/>
            <p:nvPr/>
          </p:nvSpPr>
          <p:spPr bwMode="auto">
            <a:xfrm>
              <a:off x="8261153" y="4668202"/>
              <a:ext cx="2140923" cy="423862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 eaLnBrk="0" hangingPunct="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我的任务（跨司）</a:t>
              </a:r>
            </a:p>
          </p:txBody>
        </p:sp>
        <p:sp>
          <p:nvSpPr>
            <p:cNvPr id="206" name="Rounded Rectangle 113">
              <a:extLst>
                <a:ext uri="{FF2B5EF4-FFF2-40B4-BE49-F238E27FC236}">
                  <a16:creationId xmlns:a16="http://schemas.microsoft.com/office/drawing/2014/main" id="{E079A1C7-D27C-46FC-2319-95888850453B}"/>
                </a:ext>
              </a:extLst>
            </p:cNvPr>
            <p:cNvSpPr/>
            <p:nvPr/>
          </p:nvSpPr>
          <p:spPr bwMode="auto">
            <a:xfrm>
              <a:off x="1263435" y="5435213"/>
              <a:ext cx="5639783" cy="423862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 eaLnBrk="0" hangingPunct="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项目全流程台账</a:t>
              </a:r>
            </a:p>
          </p:txBody>
        </p:sp>
        <p:sp>
          <p:nvSpPr>
            <p:cNvPr id="207" name="Rounded Rectangle 113">
              <a:extLst>
                <a:ext uri="{FF2B5EF4-FFF2-40B4-BE49-F238E27FC236}">
                  <a16:creationId xmlns:a16="http://schemas.microsoft.com/office/drawing/2014/main" id="{75B2EEA0-4A25-CDFE-BD6F-3C611465AADD}"/>
                </a:ext>
              </a:extLst>
            </p:cNvPr>
            <p:cNvSpPr/>
            <p:nvPr/>
          </p:nvSpPr>
          <p:spPr bwMode="auto">
            <a:xfrm>
              <a:off x="8261152" y="5435213"/>
              <a:ext cx="2140923" cy="423862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 eaLnBrk="0" hangingPunct="0"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跨司协同台账</a:t>
              </a:r>
            </a:p>
          </p:txBody>
        </p:sp>
        <p:cxnSp>
          <p:nvCxnSpPr>
            <p:cNvPr id="208" name="连接符: 曲线 207">
              <a:extLst>
                <a:ext uri="{FF2B5EF4-FFF2-40B4-BE49-F238E27FC236}">
                  <a16:creationId xmlns:a16="http://schemas.microsoft.com/office/drawing/2014/main" id="{EFD6CB7A-3E59-3474-F83D-8F6CD4DB550A}"/>
                </a:ext>
              </a:extLst>
            </p:cNvPr>
            <p:cNvCxnSpPr>
              <a:stCxn id="203" idx="2"/>
              <a:endCxn id="206" idx="0"/>
            </p:cNvCxnSpPr>
            <p:nvPr/>
          </p:nvCxnSpPr>
          <p:spPr>
            <a:xfrm rot="16200000" flipH="1">
              <a:off x="3037038" y="4388923"/>
              <a:ext cx="343149" cy="1749429"/>
            </a:xfrm>
            <a:prstGeom prst="curved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连接符: 曲线 208">
              <a:extLst>
                <a:ext uri="{FF2B5EF4-FFF2-40B4-BE49-F238E27FC236}">
                  <a16:creationId xmlns:a16="http://schemas.microsoft.com/office/drawing/2014/main" id="{091C1719-C95A-F85E-B790-F08EA9AFBFB5}"/>
                </a:ext>
              </a:extLst>
            </p:cNvPr>
            <p:cNvCxnSpPr>
              <a:stCxn id="204" idx="2"/>
              <a:endCxn id="206" idx="0"/>
            </p:cNvCxnSpPr>
            <p:nvPr/>
          </p:nvCxnSpPr>
          <p:spPr>
            <a:xfrm rot="5400000">
              <a:off x="4786468" y="4388923"/>
              <a:ext cx="343149" cy="1749430"/>
            </a:xfrm>
            <a:prstGeom prst="curved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连接符: 曲线 209">
              <a:extLst>
                <a:ext uri="{FF2B5EF4-FFF2-40B4-BE49-F238E27FC236}">
                  <a16:creationId xmlns:a16="http://schemas.microsoft.com/office/drawing/2014/main" id="{61B39DEE-02B7-5FB7-C715-61FE80338175}"/>
                </a:ext>
              </a:extLst>
            </p:cNvPr>
            <p:cNvCxnSpPr>
              <a:stCxn id="205" idx="2"/>
              <a:endCxn id="207" idx="0"/>
            </p:cNvCxnSpPr>
            <p:nvPr/>
          </p:nvCxnSpPr>
          <p:spPr>
            <a:xfrm rot="5400000">
              <a:off x="9160041" y="5263638"/>
              <a:ext cx="343149" cy="1"/>
            </a:xfrm>
            <a:prstGeom prst="curved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5" name="连接符: 肘形 214">
            <a:extLst>
              <a:ext uri="{FF2B5EF4-FFF2-40B4-BE49-F238E27FC236}">
                <a16:creationId xmlns:a16="http://schemas.microsoft.com/office/drawing/2014/main" id="{B147FD70-E808-2A00-752F-74E81F27017A}"/>
              </a:ext>
            </a:extLst>
          </p:cNvPr>
          <p:cNvCxnSpPr>
            <a:stCxn id="132" idx="2"/>
            <a:endCxn id="138" idx="1"/>
          </p:cNvCxnSpPr>
          <p:nvPr/>
        </p:nvCxnSpPr>
        <p:spPr>
          <a:xfrm rot="16200000" flipH="1">
            <a:off x="1418559" y="2297633"/>
            <a:ext cx="1143184" cy="1720575"/>
          </a:xfrm>
          <a:prstGeom prst="bentConnector2">
            <a:avLst/>
          </a:prstGeom>
          <a:noFill/>
          <a:ln w="15875" cap="flat" cmpd="sng">
            <a:solidFill>
              <a:schemeClr val="accent2"/>
            </a:solidFill>
            <a:prstDash val="dash"/>
            <a:round/>
            <a:headEnd type="oval" w="med" len="med"/>
            <a:tailEnd type="stealth" w="med" len="med"/>
          </a:ln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4EE3F20-4F93-8900-1F1E-35E63D18BA7C}"/>
              </a:ext>
            </a:extLst>
          </p:cNvPr>
          <p:cNvSpPr txBox="1"/>
          <p:nvPr/>
        </p:nvSpPr>
        <p:spPr>
          <a:xfrm>
            <a:off x="282984" y="6365089"/>
            <a:ext cx="11323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方案二：正常线上按项目主责公司推进协作，线下交接工作事项，保证系统高效使用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889423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流程差异讨论：武汉</a:t>
            </a:r>
            <a:r>
              <a:rPr lang="en-US" altLang="zh-CN" sz="2400" dirty="0">
                <a:latin typeface="微软雅黑" panose="020B0503020204020204" pitchFamily="34" charset="-122"/>
              </a:rPr>
              <a:t>&amp;</a:t>
            </a:r>
            <a:r>
              <a:rPr lang="zh-CN" altLang="en-US" sz="2400" dirty="0">
                <a:latin typeface="微软雅黑" panose="020B0503020204020204" pitchFamily="34" charset="-122"/>
              </a:rPr>
              <a:t>长沙项目方案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9E8E16-44AD-87FE-C097-7D2C701CF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4" y="782317"/>
            <a:ext cx="4787773" cy="4750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800F1E-90B6-02E5-FE73-2A56D9629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871" y="1484683"/>
            <a:ext cx="6588954" cy="18824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2F6F482-C20F-EBC0-20BA-456EFEFD4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871" y="4014350"/>
            <a:ext cx="6688345" cy="19481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6727F4F-DE95-6BCE-A0E9-8B68832D3159}"/>
              </a:ext>
            </a:extLst>
          </p:cNvPr>
          <p:cNvSpPr txBox="1"/>
          <p:nvPr/>
        </p:nvSpPr>
        <p:spPr>
          <a:xfrm>
            <a:off x="5373757" y="895513"/>
            <a:ext cx="1537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武汉流程：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F2559D-ACC6-AC2C-2A2D-B29A43751630}"/>
              </a:ext>
            </a:extLst>
          </p:cNvPr>
          <p:cNvSpPr txBox="1"/>
          <p:nvPr/>
        </p:nvSpPr>
        <p:spPr>
          <a:xfrm>
            <a:off x="5373757" y="3547194"/>
            <a:ext cx="1537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长沙流程：</a:t>
            </a:r>
          </a:p>
        </p:txBody>
      </p:sp>
    </p:spTree>
    <p:extLst>
      <p:ext uri="{BB962C8B-B14F-4D97-AF65-F5344CB8AC3E}">
        <p14:creationId xmlns:p14="http://schemas.microsoft.com/office/powerpoint/2010/main" val="260501414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待决策事项及工作安排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B8DA4E-F4DE-CFBF-2A4B-D3F09DFFEF07}"/>
              </a:ext>
            </a:extLst>
          </p:cNvPr>
          <p:cNvSpPr txBox="1"/>
          <p:nvPr/>
        </p:nvSpPr>
        <p:spPr>
          <a:xfrm>
            <a:off x="6029739" y="1065069"/>
            <a:ext cx="5481859" cy="4372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b="1" dirty="0"/>
              <a:t>工作计划：</a:t>
            </a:r>
            <a:endParaRPr lang="en-US" altLang="zh-CN" b="1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、组织架构、数据调整及上线包括：昕彤赋能（无锡）、昕彤赋能（东莞）、昕彤赋能（杭州）、上海混凕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、跨司协同任务开发、需求池排期开发、用户体检优化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3</a:t>
            </a:r>
            <a:r>
              <a:rPr lang="zh-CN" altLang="en-US" sz="1600" dirty="0"/>
              <a:t>、已上线主体包括昕彤长沙、昕彤武汉设计的数据合规定期校验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4</a:t>
            </a:r>
            <a:r>
              <a:rPr lang="zh-CN" altLang="en-US" sz="1600" dirty="0"/>
              <a:t>、业财融合业务方案及需求设计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9BB8C6-24BF-8C20-2A21-8A70BCEE6D73}"/>
              </a:ext>
            </a:extLst>
          </p:cNvPr>
          <p:cNvSpPr txBox="1"/>
          <p:nvPr/>
        </p:nvSpPr>
        <p:spPr>
          <a:xfrm>
            <a:off x="415359" y="1066801"/>
            <a:ext cx="4971650" cy="4370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b="1" dirty="0"/>
              <a:t>待决策事项：</a:t>
            </a:r>
            <a:endParaRPr lang="en-US" altLang="zh-CN" b="1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、调研问卷系统录入责任归集到技术负责人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、项目主责公司指认项目经理只能是主责公司人员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3</a:t>
            </a:r>
            <a:r>
              <a:rPr lang="zh-CN" altLang="en-US" sz="1600" dirty="0"/>
              <a:t>、项目实施通知谁来发起？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4</a:t>
            </a:r>
            <a:r>
              <a:rPr lang="zh-CN" altLang="en-US" sz="1600" dirty="0"/>
              <a:t>、项目进度填报统一由项目经理每周填写一次进度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en-US" altLang="zh-CN" sz="1600" dirty="0"/>
              <a:t>5</a:t>
            </a:r>
            <a:r>
              <a:rPr lang="zh-CN" altLang="en-US" sz="1600" dirty="0"/>
              <a:t>、武汉商务方案、技术方案同长沙技术方案讨论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2507248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906F0FE4-8E51-0A24-06ED-D2574AB8408B}"/>
              </a:ext>
            </a:extLst>
          </p:cNvPr>
          <p:cNvSpPr txBox="1"/>
          <p:nvPr/>
        </p:nvSpPr>
        <p:spPr>
          <a:xfrm>
            <a:off x="3768532" y="1780098"/>
            <a:ext cx="4634865" cy="1258570"/>
          </a:xfrm>
          <a:prstGeom prst="rect">
            <a:avLst/>
          </a:prstGeom>
          <a:noFill/>
        </p:spPr>
        <p:txBody>
          <a:bodyPr wrap="square" lIns="28925" tIns="14462" rIns="28925" bIns="14462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8000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感谢观看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9F475AC9-AE9B-6C51-0828-DBD1CD4710B2}"/>
              </a:ext>
            </a:extLst>
          </p:cNvPr>
          <p:cNvSpPr txBox="1"/>
          <p:nvPr/>
        </p:nvSpPr>
        <p:spPr>
          <a:xfrm>
            <a:off x="4457567" y="3609063"/>
            <a:ext cx="3944937" cy="65976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地址：湖南省长沙市岳麓区咸嘉湖街道王府井写字楼1306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电话：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0731-82441008</a:t>
            </a:r>
            <a:endParaRPr lang="en-US" altLang="zh-CN" sz="11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网址：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https://www.hunmingai.com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5" name="图片 4" descr="C:/Users/HUAWEI/Desktop/扫码_搜索联合传播样式-白色版.png扫码_搜索联合传播样式-白色版">
            <a:extLst>
              <a:ext uri="{FF2B5EF4-FFF2-40B4-BE49-F238E27FC236}">
                <a16:creationId xmlns:a16="http://schemas.microsoft.com/office/drawing/2014/main" id="{BDA1770F-817C-566F-E027-69D4BE38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3414577" y="3263390"/>
            <a:ext cx="1006894" cy="1006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EB0A00-A713-5771-BA4E-34DA85C0C3C2}"/>
              </a:ext>
            </a:extLst>
          </p:cNvPr>
          <p:cNvSpPr/>
          <p:nvPr/>
        </p:nvSpPr>
        <p:spPr>
          <a:xfrm>
            <a:off x="4457507" y="3271078"/>
            <a:ext cx="47491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昕彤赋能（长沙）人工智能行业应用系统有限公司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B03AC9-A463-C527-9DA1-C2212DFE0994}"/>
              </a:ext>
            </a:extLst>
          </p:cNvPr>
          <p:cNvSpPr/>
          <p:nvPr/>
        </p:nvSpPr>
        <p:spPr>
          <a:xfrm>
            <a:off x="3330794" y="1849243"/>
            <a:ext cx="4954526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书宋二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3394994-c40b-46c8-80ca-5c36dbb6afdc"/>
  <p:tag name="COMMONDATA" val="eyJoZGlkIjoiMjI1ZmQyMTYzOTAwNjg5YzAwODM1NGYzNWEzODcyYjk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 w="22225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40228</TotalTime>
  <Words>1052</Words>
  <Application>Microsoft Office PowerPoint</Application>
  <PresentationFormat>宽屏</PresentationFormat>
  <Paragraphs>86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Noto Sans Symbols</vt:lpstr>
      <vt:lpstr>微软雅黑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贵 张</cp:lastModifiedBy>
  <cp:revision>1864</cp:revision>
  <cp:lastPrinted>2021-06-16T06:29:00Z</cp:lastPrinted>
  <dcterms:created xsi:type="dcterms:W3CDTF">2019-06-19T02:08:00Z</dcterms:created>
  <dcterms:modified xsi:type="dcterms:W3CDTF">2026-08-03T01:15:22Z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702A9507C5A14EB0BECAC24DB445FB33</vt:lpwstr>
  </property>
</Properties>
</file>