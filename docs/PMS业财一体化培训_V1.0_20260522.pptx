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10210" r:id="rId2"/>
    <p:sldId id="10367" r:id="rId3"/>
    <p:sldId id="10354" r:id="rId4"/>
    <p:sldId id="10355" r:id="rId5"/>
    <p:sldId id="10356" r:id="rId6"/>
    <p:sldId id="10345" r:id="rId7"/>
    <p:sldId id="10359" r:id="rId8"/>
    <p:sldId id="10360" r:id="rId9"/>
    <p:sldId id="10361" r:id="rId10"/>
    <p:sldId id="10362" r:id="rId11"/>
    <p:sldId id="10363" r:id="rId12"/>
    <p:sldId id="10364" r:id="rId13"/>
    <p:sldId id="10365" r:id="rId14"/>
    <p:sldId id="10358" r:id="rId15"/>
    <p:sldId id="10357" r:id="rId16"/>
    <p:sldId id="10349" r:id="rId17"/>
    <p:sldId id="10366" r:id="rId18"/>
    <p:sldId id="418" r:id="rId19"/>
  </p:sldIdLst>
  <p:sldSz cx="12192000" cy="6858000"/>
  <p:notesSz cx="6797675" cy="9926638"/>
  <p:custDataLst>
    <p:tags r:id="rId2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737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2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本" initials="本" lastIdx="1" clrIdx="0"/>
  <p:cmAuthor id="2" name="Jason" initials="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BA"/>
    <a:srgbClr val="6DABD8"/>
    <a:srgbClr val="7EB7D8"/>
    <a:srgbClr val="F6F6F6"/>
    <a:srgbClr val="BFD732"/>
    <a:srgbClr val="FFFFFF"/>
    <a:srgbClr val="2094CE"/>
    <a:srgbClr val="F8F8FA"/>
    <a:srgbClr val="CACACA"/>
    <a:srgbClr val="446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5" autoAdjust="0"/>
    <p:restoredTop sz="86332" autoAdjust="0"/>
  </p:normalViewPr>
  <p:slideViewPr>
    <p:cSldViewPr snapToGrid="0">
      <p:cViewPr varScale="1">
        <p:scale>
          <a:sx n="91" d="100"/>
          <a:sy n="91" d="100"/>
        </p:scale>
        <p:origin x="80" y="156"/>
      </p:cViewPr>
      <p:guideLst>
        <p:guide pos="3737"/>
        <p:guide orient="horz" pos="2160"/>
      </p:guideLst>
    </p:cSldViewPr>
  </p:slideViewPr>
  <p:outlineViewPr>
    <p:cViewPr>
      <p:scale>
        <a:sx n="33" d="100"/>
        <a:sy n="33" d="100"/>
      </p:scale>
      <p:origin x="0" y="-1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4260"/>
    </p:cViewPr>
  </p:sorterViewPr>
  <p:notesViewPr>
    <p:cSldViewPr snapToGrid="0">
      <p:cViewPr varScale="1">
        <p:scale>
          <a:sx n="47" d="100"/>
          <a:sy n="47" d="100"/>
        </p:scale>
        <p:origin x="2792" y="48"/>
      </p:cViewPr>
      <p:guideLst>
        <p:guide orient="horz" pos="3252"/>
        <p:guide pos="2141"/>
      </p:guideLst>
    </p:cSldViewPr>
  </p:notes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135A90-B6C7-4DA4-BD33-3A240A77BB8C}" type="datetimeFigureOut">
              <a:rPr lang="zh-CN" altLang="en-US"/>
              <a:t>2026-05-25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DFB826EF-C3E9-4C5A-8F5E-C9EDAF071AE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0D130321-0F65-4BC9-8A6C-8A8C5484039F}" type="datetimeFigureOut">
              <a:rPr lang="zh-CN" altLang="en-US"/>
              <a:t>2026-05-25</a:t>
            </a:fld>
            <a:endParaRPr lang="zh-CN" altLang="en-US"/>
          </a:p>
        </p:txBody>
      </p:sp>
      <p:sp>
        <p:nvSpPr>
          <p:cNvPr id="717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</p:sp>
      <p:sp>
        <p:nvSpPr>
          <p:cNvPr id="9221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79768" y="4777194"/>
            <a:ext cx="5438140" cy="39086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431FBF55-2C81-49EB-ADF0-0995E9D08B3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 descr="002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C6EDB94D-3CEC-46A8-F24C-0DFDBE959C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02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588"/>
            <a:ext cx="12192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>
            <a:spLocks noChangeArrowheads="1"/>
          </p:cNvSpPr>
          <p:nvPr userDrawn="1"/>
        </p:nvSpPr>
        <p:spPr bwMode="auto">
          <a:xfrm rot="5400000">
            <a:off x="165894" y="229394"/>
            <a:ext cx="274638" cy="273050"/>
          </a:xfrm>
          <a:prstGeom prst="rtTriangle">
            <a:avLst/>
          </a:prstGeom>
          <a:solidFill>
            <a:srgbClr val="0043A5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0043A5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Isosceles Triangle 3"/>
          <p:cNvSpPr/>
          <p:nvPr userDrawn="1"/>
        </p:nvSpPr>
        <p:spPr>
          <a:xfrm rot="16200000">
            <a:off x="11626850" y="6221413"/>
            <a:ext cx="358775" cy="774700"/>
          </a:xfrm>
          <a:prstGeom prst="triangle">
            <a:avLst/>
          </a:prstGeom>
          <a:solidFill>
            <a:srgbClr val="0E57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wrap="none" lIns="0" tIns="0" rIns="0" bIns="0" anchor="ctr"/>
          <a:lstStyle/>
          <a:p>
            <a:pPr algn="ctr" eaLnBrk="1" hangingPunct="1"/>
            <a:fld id="{D6ED0BA3-7E75-4C26-B4B8-F12C990C7A51}" type="slidenum">
              <a:rPr lang="zh-CN" altLang="en-US" sz="1200">
                <a:solidFill>
                  <a:srgbClr val="FFFFFF"/>
                </a:solidFill>
              </a:rPr>
              <a:t>‹#›</a:t>
            </a:fld>
            <a:endParaRPr lang="zh-CN" altLang="en-US" sz="1200">
              <a:solidFill>
                <a:srgbClr val="FFFFFF"/>
              </a:solidFill>
            </a:endParaRPr>
          </a:p>
        </p:txBody>
      </p:sp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E55C29AE-8285-51BC-6A0B-0D86351898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文字带英文与中文左右排列">
            <a:extLst>
              <a:ext uri="{FF2B5EF4-FFF2-40B4-BE49-F238E27FC236}">
                <a16:creationId xmlns:a16="http://schemas.microsoft.com/office/drawing/2014/main" id="{C654F6C1-9057-AC68-44AC-8153428C62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logo文字带英文与中文左右排列">
            <a:extLst>
              <a:ext uri="{FF2B5EF4-FFF2-40B4-BE49-F238E27FC236}">
                <a16:creationId xmlns:a16="http://schemas.microsoft.com/office/drawing/2014/main" id="{0428E576-3439-CDE9-1C1C-201ECED9C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8758" y="127221"/>
            <a:ext cx="1882140" cy="4533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" y="0"/>
            <a:ext cx="12191999" cy="1032038"/>
          </a:xfrm>
          <a:prstGeom prst="rect">
            <a:avLst/>
          </a:prstGeom>
        </p:spPr>
        <p:txBody>
          <a:bodyPr lIns="539959" tIns="45717" rIns="91433" bIns="45717" anchor="ctr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64" y="-92"/>
            <a:ext cx="12224107" cy="1444752"/>
          </a:xfrm>
          <a:prstGeom prst="rect">
            <a:avLst/>
          </a:prstGeom>
        </p:spPr>
      </p:pic>
      <p:pic>
        <p:nvPicPr>
          <p:cNvPr id="9" name="图片 8" descr="MTC Logo-Registered.png"/>
          <p:cNvPicPr>
            <a:picLocks noChangeAspect="1"/>
          </p:cNvPicPr>
          <p:nvPr userDrawn="1"/>
        </p:nvPicPr>
        <p:blipFill>
          <a:blip r:embed="rId3" cstate="screen">
            <a:biLevel thresh="25000"/>
          </a:blip>
          <a:stretch>
            <a:fillRect/>
          </a:stretch>
        </p:blipFill>
        <p:spPr>
          <a:xfrm>
            <a:off x="10867300" y="389628"/>
            <a:ext cx="1171191" cy="292798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/>
        </p:nvSpPr>
        <p:spPr>
          <a:xfrm>
            <a:off x="-1151731" y="580173"/>
            <a:ext cx="511961" cy="204069"/>
          </a:xfrm>
          <a:prstGeom prst="rect">
            <a:avLst/>
          </a:prstGeom>
          <a:solidFill>
            <a:srgbClr val="0E43F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-1151731" y="354504"/>
            <a:ext cx="511962" cy="204069"/>
          </a:xfrm>
          <a:prstGeom prst="rect">
            <a:avLst/>
          </a:prstGeom>
          <a:solidFill>
            <a:srgbClr val="718EF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-1151731" y="128835"/>
            <a:ext cx="511961" cy="204069"/>
          </a:xfrm>
          <a:prstGeom prst="rect">
            <a:avLst/>
          </a:prstGeom>
          <a:solidFill>
            <a:srgbClr val="A1B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567762" y="576007"/>
            <a:ext cx="511961" cy="20406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-567762" y="350338"/>
            <a:ext cx="511962" cy="204069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-567762" y="124669"/>
            <a:ext cx="511961" cy="204069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Rectangle 37"/>
          <p:cNvSpPr/>
          <p:nvPr userDrawn="1"/>
        </p:nvSpPr>
        <p:spPr bwMode="auto">
          <a:xfrm>
            <a:off x="8906623" y="6558176"/>
            <a:ext cx="3833840" cy="1618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zh-CN" altLang="en-US" sz="1000" b="0" i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lang="en-US" altLang="zh-CN" sz="1000" b="0" i="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©1996-2022 </a:t>
            </a:r>
            <a:r>
              <a:rPr lang="zh-CN" altLang="en-US" sz="1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普菲特计算机技术股份有限公司</a:t>
            </a:r>
            <a:endParaRPr lang="zh-CN" altLang="en-US" sz="1000" b="0" i="0" spc="0" baseline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Microsoft YaHei Bold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60" y="6408995"/>
            <a:ext cx="1169634" cy="3946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536" y="138194"/>
            <a:ext cx="1197968" cy="2701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32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7.jpe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17" Type="http://schemas.openxmlformats.org/officeDocument/2006/relationships/image" Target="../media/image41.sv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5" Type="http://schemas.openxmlformats.org/officeDocument/2006/relationships/image" Target="../media/image3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Relationship Id="rId1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230628" y="1217384"/>
            <a:ext cx="569899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6000" b="1" dirty="0"/>
              <a:t>PMS</a:t>
            </a:r>
            <a:r>
              <a:rPr lang="zh-CN" altLang="en-US" sz="6000" b="1" dirty="0"/>
              <a:t>业财一体化</a:t>
            </a:r>
            <a:endParaRPr lang="en-US" altLang="zh-CN" sz="6000" b="1" dirty="0"/>
          </a:p>
          <a:p>
            <a:pPr algn="ctr"/>
            <a:r>
              <a:rPr lang="zh-CN" altLang="en-US" sz="6000" b="1" dirty="0"/>
              <a:t>一期规划汇报</a:t>
            </a:r>
            <a:endParaRPr lang="en-US" altLang="zh-CN" sz="6000" b="1" dirty="0"/>
          </a:p>
        </p:txBody>
      </p:sp>
      <p:sp>
        <p:nvSpPr>
          <p:cNvPr id="2" name="文本框 31">
            <a:extLst>
              <a:ext uri="{FF2B5EF4-FFF2-40B4-BE49-F238E27FC236}">
                <a16:creationId xmlns:a16="http://schemas.microsoft.com/office/drawing/2014/main" id="{AC550207-EEB7-380A-9BFA-68A84AE9D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197" y="3539843"/>
            <a:ext cx="4987606" cy="390602"/>
          </a:xfrm>
          <a:prstGeom prst="rect">
            <a:avLst/>
          </a:prstGeom>
          <a:noFill/>
          <a:ln w="12700">
            <a:noFill/>
            <a:round/>
          </a:ln>
        </p:spPr>
        <p:txBody>
          <a:bodyPr lIns="0" tIns="0" rIns="0" bIns="0" anchor="ctr"/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昕彤赋能（长沙）人工智能行业应用系统有限公司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B5A5829-2C62-CE32-B327-6239CAA34D17}"/>
              </a:ext>
            </a:extLst>
          </p:cNvPr>
          <p:cNvGrpSpPr/>
          <p:nvPr/>
        </p:nvGrpSpPr>
        <p:grpSpPr>
          <a:xfrm>
            <a:off x="2487402" y="3294902"/>
            <a:ext cx="2506980" cy="922020"/>
            <a:chOff x="3085" y="4964"/>
            <a:chExt cx="3948" cy="1452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0E9C80F-EACB-7A8D-5225-0D4ADD169280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085" y="4964"/>
              <a:ext cx="3088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5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01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53BAEB3-7B62-2A39-D6BE-5BA8BA3E409D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4862" y="5727"/>
              <a:ext cx="291" cy="43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altLang="zh-CN" sz="1200" b="1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60B9866-E36F-2F4D-702A-D56316CE988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4803" y="5128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微软雅黑" panose="020B0503020204020204" charset="-122"/>
                  <a:sym typeface="+mn-ea"/>
                </a:rPr>
                <a:t>总体介绍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cs typeface="微软雅黑" panose="020B0503020204020204" charset="-122"/>
                <a:sym typeface="+mn-ea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685AEBA-D838-5D2B-D01F-E5D9FB6246CD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 flipH="1">
              <a:off x="4719" y="5241"/>
              <a:ext cx="3" cy="812"/>
            </a:xfrm>
            <a:prstGeom prst="line">
              <a:avLst/>
            </a:prstGeom>
            <a:ln w="349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BAF1B4B-1E89-14AB-78AA-67ADC3895150}"/>
              </a:ext>
            </a:extLst>
          </p:cNvPr>
          <p:cNvGrpSpPr/>
          <p:nvPr/>
        </p:nvGrpSpPr>
        <p:grpSpPr>
          <a:xfrm>
            <a:off x="2489307" y="4390277"/>
            <a:ext cx="2506980" cy="922020"/>
            <a:chOff x="3085" y="4964"/>
            <a:chExt cx="3948" cy="1452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922A049-3B19-C764-25F7-B67051C80161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3085" y="4964"/>
              <a:ext cx="3088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5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69C22BD-4A69-42EB-FD64-B11BC322EC1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4803" y="5128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</a:pPr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uLnTx/>
                  <a:uFillTx/>
                  <a:cs typeface="微软雅黑" panose="020B0503020204020204" charset="-122"/>
                  <a:sym typeface="+mn-ea"/>
                </a:rPr>
                <a:t>迭代规划</a:t>
              </a: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D66309A-BCFB-CE7D-7937-35EE3FF054C0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 flipH="1">
              <a:off x="4719" y="5241"/>
              <a:ext cx="3" cy="812"/>
            </a:xfrm>
            <a:prstGeom prst="line">
              <a:avLst/>
            </a:prstGeom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F279C61-6539-C820-FD54-683467C6E358}"/>
              </a:ext>
            </a:extLst>
          </p:cNvPr>
          <p:cNvGrpSpPr/>
          <p:nvPr/>
        </p:nvGrpSpPr>
        <p:grpSpPr>
          <a:xfrm>
            <a:off x="7098137" y="3294902"/>
            <a:ext cx="3122295" cy="922020"/>
            <a:chOff x="3085" y="4964"/>
            <a:chExt cx="4917" cy="1452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B1F9031-A2D4-5174-649B-327B6B4FA01C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085" y="4964"/>
              <a:ext cx="3088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5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02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E529589-8BFC-68A6-A7D7-1F72EC457F68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803" y="5128"/>
              <a:ext cx="3199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uLnTx/>
                  <a:uFillTx/>
                  <a:cs typeface="微软雅黑" panose="020B0503020204020204" charset="-122"/>
                  <a:sym typeface="+mn-ea"/>
                </a:rPr>
                <a:t>现有业务支撑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B753DBC9-0E79-9BBE-7AFA-DF597B5E8341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 flipH="1">
              <a:off x="4719" y="5241"/>
              <a:ext cx="3" cy="812"/>
            </a:xfrm>
            <a:prstGeom prst="line">
              <a:avLst/>
            </a:prstGeom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086FF83-6080-CDCE-ABEE-4D81B1D5F2B9}"/>
              </a:ext>
            </a:extLst>
          </p:cNvPr>
          <p:cNvGrpSpPr/>
          <p:nvPr/>
        </p:nvGrpSpPr>
        <p:grpSpPr>
          <a:xfrm>
            <a:off x="7100042" y="4390277"/>
            <a:ext cx="3499485" cy="922020"/>
            <a:chOff x="3085" y="4964"/>
            <a:chExt cx="5511" cy="145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3F46A4F-5AFA-8B61-A447-9D2DCFD9425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085" y="4964"/>
              <a:ext cx="3088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5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04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B3BB8C9-EF1D-5E97-1E01-67D4C348A70F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4803" y="5128"/>
              <a:ext cx="3793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微软雅黑" panose="020B0503020204020204" charset="-122"/>
                  <a:sym typeface="+mn-ea"/>
                </a:rPr>
                <a:t>推广与项目进度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cs typeface="微软雅黑" panose="020B0503020204020204" charset="-122"/>
                <a:sym typeface="+mn-ea"/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EFAE3B05-175B-D09B-58A7-6A496CD1E5E7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flipH="1">
              <a:off x="4719" y="5241"/>
              <a:ext cx="3" cy="812"/>
            </a:xfrm>
            <a:prstGeom prst="line">
              <a:avLst/>
            </a:prstGeom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图片 32" descr="目录素材">
            <a:extLst>
              <a:ext uri="{FF2B5EF4-FFF2-40B4-BE49-F238E27FC236}">
                <a16:creationId xmlns:a16="http://schemas.microsoft.com/office/drawing/2014/main" id="{24A95AF6-54F0-E050-D43B-EAEC4F4B4578}"/>
              </a:ext>
            </a:extLst>
          </p:cNvPr>
          <p:cNvPicPr>
            <a:picLocks noChangeAspect="1"/>
          </p:cNvPicPr>
          <p:nvPr/>
        </p:nvPicPr>
        <p:blipFill>
          <a:blip r:embed="rId15" cstate="screen"/>
          <a:stretch>
            <a:fillRect/>
          </a:stretch>
        </p:blipFill>
        <p:spPr>
          <a:xfrm>
            <a:off x="0" y="-15875"/>
            <a:ext cx="12192000" cy="278765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74BF20E9-10FC-01F4-32A8-EC41E4FB7399}"/>
              </a:ext>
            </a:extLst>
          </p:cNvPr>
          <p:cNvSpPr/>
          <p:nvPr/>
        </p:nvSpPr>
        <p:spPr>
          <a:xfrm>
            <a:off x="3641725" y="859790"/>
            <a:ext cx="4909820" cy="1515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</a:rPr>
              <a:t>目</a:t>
            </a: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</a:rPr>
              <a:t>   </a:t>
            </a:r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</a:rPr>
              <a:t>录</a:t>
            </a:r>
          </a:p>
          <a:p>
            <a:pPr algn="ctr">
              <a:lnSpc>
                <a:spcPct val="100000"/>
              </a:lnSpc>
            </a:pPr>
            <a:r>
              <a:rPr lang="zh-CN" altLang="en-US" sz="4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lt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4262723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9EAEE1C-54C2-BFD6-3969-A8D879CFB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47" y="1171293"/>
            <a:ext cx="9600000" cy="5114286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0D32B7E-5100-7B82-6997-34D327121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276" y="2371693"/>
            <a:ext cx="8305377" cy="3592872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C0CF7D8-D884-9AC2-F1C3-82BAE0728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4655" y="971912"/>
            <a:ext cx="8305377" cy="4938332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D4A3CDC-A64B-5EEF-2D04-BDCA2EE7C2C0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项目实施问题发现</a:t>
            </a:r>
          </a:p>
        </p:txBody>
      </p:sp>
    </p:spTree>
    <p:extLst>
      <p:ext uri="{BB962C8B-B14F-4D97-AF65-F5344CB8AC3E}">
        <p14:creationId xmlns:p14="http://schemas.microsoft.com/office/powerpoint/2010/main" val="38522551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08DF8-68F2-3E66-C8AA-C8F7D6D04CA7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项目问题总结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8933D3-634D-AC0D-ACA2-25FE51EDD1FF}"/>
              </a:ext>
            </a:extLst>
          </p:cNvPr>
          <p:cNvSpPr/>
          <p:nvPr/>
        </p:nvSpPr>
        <p:spPr bwMode="auto">
          <a:xfrm>
            <a:off x="323424" y="2563470"/>
            <a:ext cx="3605600" cy="2373467"/>
          </a:xfrm>
          <a:prstGeom prst="rect">
            <a:avLst/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zh-CN" altLang="en-US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D81FF9-D70C-0294-4B18-3856E14AE99D}"/>
              </a:ext>
            </a:extLst>
          </p:cNvPr>
          <p:cNvSpPr txBox="1"/>
          <p:nvPr/>
        </p:nvSpPr>
        <p:spPr>
          <a:xfrm>
            <a:off x="323424" y="3097192"/>
            <a:ext cx="3605600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dirty="0"/>
              <a:t>现场参数、操作经验、实施流程等关键信息，没有统一入口高效流转，导致沟通成本高、效率低。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9300A0D2-8D78-0167-1703-078AF1328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424" y="2541628"/>
            <a:ext cx="3605600" cy="418486"/>
          </a:xfrm>
          <a:prstGeom prst="rect">
            <a:avLst/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可复用项目资产流转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583871-BE33-7D88-81D8-E54BC5B662ED}"/>
              </a:ext>
            </a:extLst>
          </p:cNvPr>
          <p:cNvSpPr/>
          <p:nvPr/>
        </p:nvSpPr>
        <p:spPr bwMode="auto">
          <a:xfrm>
            <a:off x="4268709" y="2563470"/>
            <a:ext cx="3605600" cy="2373467"/>
          </a:xfrm>
          <a:prstGeom prst="rect">
            <a:avLst/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zh-CN" altLang="en-US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7759991-0355-9FDC-F85B-C390B0FD1B6D}"/>
              </a:ext>
            </a:extLst>
          </p:cNvPr>
          <p:cNvSpPr txBox="1"/>
          <p:nvPr/>
        </p:nvSpPr>
        <p:spPr>
          <a:xfrm>
            <a:off x="4268709" y="3097192"/>
            <a:ext cx="3605600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dirty="0"/>
              <a:t>关键节点（如数据采集、系统配置、端口开通）没有明确的留痕、同步和验收要求，管理层无法穿透看到项目真实状态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E6DBE1B2-8DF4-FB89-4D6E-EDEE0ACB8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09" y="2541628"/>
            <a:ext cx="3605600" cy="418486"/>
          </a:xfrm>
          <a:prstGeom prst="rect">
            <a:avLst/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穿透式的过程管控体系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61951C-654C-6244-7414-DEEAD81E3F80}"/>
              </a:ext>
            </a:extLst>
          </p:cNvPr>
          <p:cNvSpPr/>
          <p:nvPr/>
        </p:nvSpPr>
        <p:spPr bwMode="auto">
          <a:xfrm>
            <a:off x="8213994" y="2563470"/>
            <a:ext cx="3605600" cy="2373467"/>
          </a:xfrm>
          <a:prstGeom prst="rect">
            <a:avLst/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zh-CN" altLang="en-US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C32ABE3-EDBC-6FF4-0672-2E48DE437F05}"/>
              </a:ext>
            </a:extLst>
          </p:cNvPr>
          <p:cNvSpPr txBox="1"/>
          <p:nvPr/>
        </p:nvSpPr>
        <p:spPr>
          <a:xfrm>
            <a:off x="8213994" y="3097192"/>
            <a:ext cx="3605600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dirty="0"/>
              <a:t>流程和制度没有与项目负责人的责任绑定，缺乏落地监督和机制，导致 “流程制定了但没人执行，要求提出了但没人跟进”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883AE72C-1174-C507-60B9-7B8BFCAE2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3994" y="2541628"/>
            <a:ext cx="3605600" cy="418486"/>
          </a:xfrm>
          <a:prstGeom prst="rect">
            <a:avLst/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责任绑定的执行闭环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F859B57B-4481-254A-D4F7-73B2AF8EA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424" y="1533725"/>
            <a:ext cx="11496170" cy="747464"/>
          </a:xfrm>
          <a:prstGeom prst="rect">
            <a:avLst/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/>
                <a:latin typeface="ui-sans-serif"/>
              </a:rPr>
              <a:t>项目无法实时把控、团队协作成本飙升，数字化 </a:t>
            </a:r>
            <a:r>
              <a:rPr lang="en-US" altLang="zh-CN" b="1" dirty="0">
                <a:solidFill>
                  <a:schemeClr val="bg1"/>
                </a:solidFill>
                <a:effectLst/>
                <a:latin typeface="ui-sans-serif"/>
              </a:rPr>
              <a:t>/ </a:t>
            </a:r>
            <a:r>
              <a:rPr lang="zh-CN" altLang="en-US" b="1" dirty="0">
                <a:solidFill>
                  <a:schemeClr val="bg1"/>
                </a:solidFill>
                <a:effectLst/>
                <a:latin typeface="ui-sans-serif"/>
              </a:rPr>
              <a:t>智能化项目无法真正高效落地</a:t>
            </a:r>
            <a:endParaRPr lang="zh-CN" altLang="en-US" b="0" dirty="0">
              <a:solidFill>
                <a:schemeClr val="bg1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2991162957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9F712-520C-A903-07C9-381299E4BB83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+mn-ea"/>
                <a:ea typeface="+mn-ea"/>
              </a:rPr>
              <a:t>PMS</a:t>
            </a:r>
            <a:r>
              <a:rPr lang="zh-CN" altLang="en-US" sz="2400" dirty="0">
                <a:latin typeface="+mn-ea"/>
                <a:ea typeface="+mn-ea"/>
              </a:rPr>
              <a:t>业财务一体化总体介绍（一期）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35A98C-C5F8-CCD4-9307-64E028836BA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45083" y="537338"/>
            <a:ext cx="11235055" cy="1116781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b="1" dirty="0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以</a:t>
            </a:r>
            <a:r>
              <a:rPr b="1" dirty="0">
                <a:solidFill>
                  <a:srgbClr val="FF0000"/>
                </a:solidFill>
                <a:effectLst/>
                <a:latin typeface="+mn-ea"/>
                <a:ea typeface="+mn-ea"/>
                <a:sym typeface="+mn-ea"/>
              </a:rPr>
              <a:t>项目</a:t>
            </a:r>
            <a:r>
              <a:rPr b="1" dirty="0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为主线，实现从项目立项、项目预算、项目合同、项目收入/成本/利润、项目计划/执行/反馈</a:t>
            </a:r>
            <a:r>
              <a:rPr lang="zh-CN" b="1" dirty="0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等</a:t>
            </a:r>
            <a:r>
              <a:rPr b="1" dirty="0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，</a:t>
            </a:r>
          </a:p>
          <a:p>
            <a:pPr indent="457200" algn="ctr">
              <a:lnSpc>
                <a:spcPct val="200000"/>
              </a:lnSpc>
            </a:pPr>
            <a:r>
              <a:rPr b="1" dirty="0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到项目</a:t>
            </a:r>
            <a:r>
              <a:rPr lang="zh-CN" b="1" dirty="0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财务</a:t>
            </a:r>
            <a:r>
              <a:rPr b="1" dirty="0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、项目</a:t>
            </a:r>
            <a:r>
              <a:rPr lang="zh-CN" b="1" dirty="0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分析</a:t>
            </a:r>
            <a:r>
              <a:rPr b="1" dirty="0" err="1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的</a:t>
            </a:r>
            <a:r>
              <a:rPr b="1" dirty="0" err="1">
                <a:solidFill>
                  <a:srgbClr val="FF0000"/>
                </a:solidFill>
                <a:effectLst/>
                <a:latin typeface="+mn-ea"/>
                <a:ea typeface="+mn-ea"/>
                <a:sym typeface="+mn-ea"/>
              </a:rPr>
              <a:t>业财一体化管理</a:t>
            </a:r>
            <a:r>
              <a:rPr b="1" dirty="0" err="1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。帮助企业规范业务流程，促进</a:t>
            </a:r>
            <a:r>
              <a:rPr lang="zh-CN" b="1" dirty="0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项目</a:t>
            </a:r>
            <a:r>
              <a:rPr b="1" dirty="0">
                <a:solidFill>
                  <a:srgbClr val="FFC000"/>
                </a:solidFill>
                <a:effectLst/>
                <a:latin typeface="+mn-ea"/>
                <a:ea typeface="+mn-ea"/>
                <a:sym typeface="+mn-ea"/>
              </a:rPr>
              <a:t>利润提升！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319E492-38C9-F3B6-680A-6BD990DED073}"/>
              </a:ext>
            </a:extLst>
          </p:cNvPr>
          <p:cNvSpPr txBox="1"/>
          <p:nvPr/>
        </p:nvSpPr>
        <p:spPr>
          <a:xfrm>
            <a:off x="3048000" y="6123768"/>
            <a:ext cx="6096000" cy="40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1800" b="1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全流程数字化留痕</a:t>
            </a:r>
            <a:r>
              <a:rPr lang="en-US" altLang="zh-CN" sz="1800" b="1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800" b="1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业财深度融合</a:t>
            </a:r>
            <a:r>
              <a:rPr lang="en-US" altLang="zh-CN" sz="1800" b="1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altLang="zh-CN" sz="1800" b="1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管理透明高效</a:t>
            </a:r>
            <a:endParaRPr lang="en-US" altLang="zh-CN" sz="12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CF34992-E30D-9ADE-5B45-56CDBFC04B9C}"/>
              </a:ext>
            </a:extLst>
          </p:cNvPr>
          <p:cNvSpPr/>
          <p:nvPr/>
        </p:nvSpPr>
        <p:spPr bwMode="auto">
          <a:xfrm>
            <a:off x="1145057" y="2066512"/>
            <a:ext cx="4396253" cy="1880629"/>
          </a:xfrm>
          <a:prstGeom prst="rect">
            <a:avLst/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zh-CN" altLang="en-US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1918171-C4E0-FB85-0475-872314E7EE94}"/>
              </a:ext>
            </a:extLst>
          </p:cNvPr>
          <p:cNvSpPr txBox="1"/>
          <p:nvPr/>
        </p:nvSpPr>
        <p:spPr>
          <a:xfrm>
            <a:off x="1145057" y="2600234"/>
            <a:ext cx="4396253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dirty="0"/>
              <a:t>内置项目过程审批，覆盖需求、方案、立项、计划、执行、验收、运维等关键节点，确保流程合规、全程可追溯 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13">
            <a:extLst>
              <a:ext uri="{FF2B5EF4-FFF2-40B4-BE49-F238E27FC236}">
                <a16:creationId xmlns:a16="http://schemas.microsoft.com/office/drawing/2014/main" id="{153F65C7-577B-B064-4F4B-CA6EE46A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057" y="2044670"/>
            <a:ext cx="4396253" cy="418486"/>
          </a:xfrm>
          <a:prstGeom prst="rect">
            <a:avLst/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项目全生命周期流程管控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48038BE-1056-CC69-FFB2-C070DF447B61}"/>
              </a:ext>
            </a:extLst>
          </p:cNvPr>
          <p:cNvSpPr/>
          <p:nvPr/>
        </p:nvSpPr>
        <p:spPr bwMode="auto">
          <a:xfrm>
            <a:off x="6501698" y="2066512"/>
            <a:ext cx="4396253" cy="1880629"/>
          </a:xfrm>
          <a:prstGeom prst="rect">
            <a:avLst/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zh-CN" altLang="en-US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258BCB1-6A5D-FF74-0198-3C94EBEC77AE}"/>
              </a:ext>
            </a:extLst>
          </p:cNvPr>
          <p:cNvSpPr txBox="1"/>
          <p:nvPr/>
        </p:nvSpPr>
        <p:spPr>
          <a:xfrm>
            <a:off x="6501698" y="2600234"/>
            <a:ext cx="4396253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dirty="0"/>
              <a:t>统一数据口径，建立项目唯一身份与台账，实现数据在全流程高效流转、集中共享，为过程监控提供依据 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13">
            <a:extLst>
              <a:ext uri="{FF2B5EF4-FFF2-40B4-BE49-F238E27FC236}">
                <a16:creationId xmlns:a16="http://schemas.microsoft.com/office/drawing/2014/main" id="{41EF386D-B2D1-755E-B689-0D1E28931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1698" y="2044670"/>
            <a:ext cx="4396253" cy="418486"/>
          </a:xfrm>
          <a:prstGeom prst="rect">
            <a:avLst/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项目基础数据与标准化管理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243A857-6F7A-B2CC-C4A8-F502E37C429E}"/>
              </a:ext>
            </a:extLst>
          </p:cNvPr>
          <p:cNvSpPr/>
          <p:nvPr/>
        </p:nvSpPr>
        <p:spPr bwMode="auto">
          <a:xfrm>
            <a:off x="1145057" y="4106061"/>
            <a:ext cx="4396253" cy="1880629"/>
          </a:xfrm>
          <a:prstGeom prst="rect">
            <a:avLst/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zh-CN" altLang="en-US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79A21CB-348F-B01B-04F1-FE0513A256D1}"/>
              </a:ext>
            </a:extLst>
          </p:cNvPr>
          <p:cNvSpPr txBox="1"/>
          <p:nvPr/>
        </p:nvSpPr>
        <p:spPr>
          <a:xfrm>
            <a:off x="1145057" y="4639783"/>
            <a:ext cx="4396253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dirty="0"/>
              <a:t>拆解项目关键路径，明确责任分工，通过可视化看板实现任务进度、需求状态、智能体运行情况的实时跟踪，让项目执行过程透明可查 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13">
            <a:extLst>
              <a:ext uri="{FF2B5EF4-FFF2-40B4-BE49-F238E27FC236}">
                <a16:creationId xmlns:a16="http://schemas.microsoft.com/office/drawing/2014/main" id="{5651ADA2-5EF3-D8E3-3A1E-8579F5C92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057" y="4084219"/>
            <a:ext cx="4396253" cy="418486"/>
          </a:xfrm>
          <a:prstGeom prst="rect">
            <a:avLst/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项目过程数据可视化与跟踪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DD18ABB-032F-E5AD-3284-AC93E48D676C}"/>
              </a:ext>
            </a:extLst>
          </p:cNvPr>
          <p:cNvSpPr/>
          <p:nvPr/>
        </p:nvSpPr>
        <p:spPr bwMode="auto">
          <a:xfrm>
            <a:off x="6501698" y="4106061"/>
            <a:ext cx="4396253" cy="1880629"/>
          </a:xfrm>
          <a:prstGeom prst="rect">
            <a:avLst/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zh-CN" altLang="en-US" sz="14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9C957E9-4DF5-0D7A-E6B5-16EDD0B950C1}"/>
              </a:ext>
            </a:extLst>
          </p:cNvPr>
          <p:cNvSpPr txBox="1"/>
          <p:nvPr/>
        </p:nvSpPr>
        <p:spPr>
          <a:xfrm>
            <a:off x="6501698" y="4639783"/>
            <a:ext cx="4396253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400" dirty="0"/>
              <a:t>通过飞书端实现任务通知、进度反馈、协作沟通，同时借助</a:t>
            </a:r>
            <a:r>
              <a:rPr lang="en-US" altLang="zh-CN" sz="1400" dirty="0"/>
              <a:t>LLM-Agent</a:t>
            </a:r>
            <a:r>
              <a:rPr lang="zh-CN" altLang="en-US" sz="1400" dirty="0"/>
              <a:t>实现方案生成、进度预警，推进任务落地并及时同步进展，形成高效执行闭环。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13">
            <a:extLst>
              <a:ext uri="{FF2B5EF4-FFF2-40B4-BE49-F238E27FC236}">
                <a16:creationId xmlns:a16="http://schemas.microsoft.com/office/drawing/2014/main" id="{BAD917BA-FDE0-3577-8418-9EAEFCA69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1698" y="4084219"/>
            <a:ext cx="4396253" cy="418486"/>
          </a:xfrm>
          <a:prstGeom prst="rect">
            <a:avLst/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多端协同与智能辅助执行</a:t>
            </a:r>
          </a:p>
        </p:txBody>
      </p:sp>
    </p:spTree>
    <p:extLst>
      <p:ext uri="{BB962C8B-B14F-4D97-AF65-F5344CB8AC3E}">
        <p14:creationId xmlns:p14="http://schemas.microsoft.com/office/powerpoint/2010/main" val="32322585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E61E13-8498-3387-6C18-DF79E5F1CFA7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业财一体化业务形式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832B4C05-9243-7045-318A-D81AC79CBB6A}"/>
              </a:ext>
            </a:extLst>
          </p:cNvPr>
          <p:cNvSpPr/>
          <p:nvPr/>
        </p:nvSpPr>
        <p:spPr>
          <a:xfrm>
            <a:off x="501374" y="1062387"/>
            <a:ext cx="5461000" cy="4826000"/>
          </a:xfrm>
          <a:prstGeom prst="roundRect">
            <a:avLst>
              <a:gd name="adj" fmla="val 315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F8C52EF9-AC07-D469-8DD1-B461A9307859}"/>
              </a:ext>
            </a:extLst>
          </p:cNvPr>
          <p:cNvSpPr/>
          <p:nvPr/>
        </p:nvSpPr>
        <p:spPr>
          <a:xfrm>
            <a:off x="755374" y="1316387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b="1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8FB50D-17CC-90F2-495B-32E331849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874" y="1494187"/>
            <a:ext cx="533400" cy="533400"/>
          </a:xfrm>
          <a:prstGeom prst="rect">
            <a:avLst/>
          </a:prstGeom>
        </p:spPr>
      </p:pic>
      <p:sp>
        <p:nvSpPr>
          <p:cNvPr id="10" name="AutoShape 8">
            <a:extLst>
              <a:ext uri="{FF2B5EF4-FFF2-40B4-BE49-F238E27FC236}">
                <a16:creationId xmlns:a16="http://schemas.microsoft.com/office/drawing/2014/main" id="{5B1BEED2-3290-44F0-09E4-7F89C061921F}"/>
              </a:ext>
            </a:extLst>
          </p:cNvPr>
          <p:cNvSpPr/>
          <p:nvPr/>
        </p:nvSpPr>
        <p:spPr>
          <a:xfrm>
            <a:off x="1644374" y="1417987"/>
            <a:ext cx="3556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电脑 WEB 端</a:t>
            </a:r>
            <a:endParaRPr lang="en-US" sz="1100"/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36D5F032-173D-471F-498B-58BAFB8681C3}"/>
              </a:ext>
            </a:extLst>
          </p:cNvPr>
          <p:cNvSpPr/>
          <p:nvPr/>
        </p:nvSpPr>
        <p:spPr>
          <a:xfrm>
            <a:off x="6216374" y="1062387"/>
            <a:ext cx="5461000" cy="4826000"/>
          </a:xfrm>
          <a:prstGeom prst="roundRect">
            <a:avLst>
              <a:gd name="adj" fmla="val 315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CDA3C9D5-05BA-2042-4029-501F2F2173AD}"/>
              </a:ext>
            </a:extLst>
          </p:cNvPr>
          <p:cNvSpPr/>
          <p:nvPr/>
        </p:nvSpPr>
        <p:spPr>
          <a:xfrm>
            <a:off x="6470374" y="1316387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b="1">
              <a:solidFill>
                <a:schemeClr val="bg1"/>
              </a:solidFill>
            </a:endParaRPr>
          </a:p>
        </p:txBody>
      </p:sp>
      <p:pic>
        <p:nvPicPr>
          <p:cNvPr id="15" name="Picture 12">
            <a:extLst>
              <a:ext uri="{FF2B5EF4-FFF2-40B4-BE49-F238E27FC236}">
                <a16:creationId xmlns:a16="http://schemas.microsoft.com/office/drawing/2014/main" id="{C9042CDB-15C7-5503-D469-AC88F0AEEC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0874" y="1494187"/>
            <a:ext cx="533400" cy="533400"/>
          </a:xfrm>
          <a:prstGeom prst="rect">
            <a:avLst/>
          </a:prstGeom>
        </p:spPr>
      </p:pic>
      <p:sp>
        <p:nvSpPr>
          <p:cNvPr id="16" name="AutoShape 13">
            <a:extLst>
              <a:ext uri="{FF2B5EF4-FFF2-40B4-BE49-F238E27FC236}">
                <a16:creationId xmlns:a16="http://schemas.microsoft.com/office/drawing/2014/main" id="{9C313561-2FB2-B0B2-CFDF-ECFC2436A759}"/>
              </a:ext>
            </a:extLst>
          </p:cNvPr>
          <p:cNvSpPr/>
          <p:nvPr/>
        </p:nvSpPr>
        <p:spPr>
          <a:xfrm>
            <a:off x="7359374" y="1417987"/>
            <a:ext cx="381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移动端：飞书自研应用</a:t>
            </a:r>
            <a:endParaRPr lang="en-US" sz="1100"/>
          </a:p>
        </p:txBody>
      </p:sp>
      <p:sp>
        <p:nvSpPr>
          <p:cNvPr id="18" name="AutoShape 15">
            <a:extLst>
              <a:ext uri="{FF2B5EF4-FFF2-40B4-BE49-F238E27FC236}">
                <a16:creationId xmlns:a16="http://schemas.microsoft.com/office/drawing/2014/main" id="{716F6901-5DEE-12CB-CBCB-67042BBE14F4}"/>
              </a:ext>
            </a:extLst>
          </p:cNvPr>
          <p:cNvSpPr/>
          <p:nvPr/>
        </p:nvSpPr>
        <p:spPr>
          <a:xfrm>
            <a:off x="6470374" y="4745387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BBF24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9" name="Picture 16">
            <a:extLst>
              <a:ext uri="{FF2B5EF4-FFF2-40B4-BE49-F238E27FC236}">
                <a16:creationId xmlns:a16="http://schemas.microsoft.com/office/drawing/2014/main" id="{D8FA093D-516B-09CA-D8F2-A4264EFC18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0874" y="4923187"/>
            <a:ext cx="406400" cy="406400"/>
          </a:xfrm>
          <a:prstGeom prst="rect">
            <a:avLst/>
          </a:prstGeom>
        </p:spPr>
      </p:pic>
      <p:sp>
        <p:nvSpPr>
          <p:cNvPr id="20" name="AutoShape 17">
            <a:extLst>
              <a:ext uri="{FF2B5EF4-FFF2-40B4-BE49-F238E27FC236}">
                <a16:creationId xmlns:a16="http://schemas.microsoft.com/office/drawing/2014/main" id="{C70038BC-0DCA-CAE5-4A6B-321C009004C6}"/>
              </a:ext>
            </a:extLst>
          </p:cNvPr>
          <p:cNvSpPr/>
          <p:nvPr/>
        </p:nvSpPr>
        <p:spPr>
          <a:xfrm>
            <a:off x="7232374" y="4872387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注意：首次登录移动端应用时，需输入企业账号完成身份绑定。</a:t>
            </a:r>
            <a:endParaRPr lang="en-US" sz="110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2BFE6E8-289D-CDEF-9E9E-366845B346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374" y="2383187"/>
            <a:ext cx="4953000" cy="2593009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C61AC44-9EA6-8DDA-0B84-D6BD9017D23F}"/>
              </a:ext>
            </a:extLst>
          </p:cNvPr>
          <p:cNvSpPr txBox="1"/>
          <p:nvPr/>
        </p:nvSpPr>
        <p:spPr>
          <a:xfrm>
            <a:off x="728318" y="5022641"/>
            <a:ext cx="6135756" cy="714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/>
            </a:pPr>
            <a:r>
              <a:rPr lang="zh-CN" altLang="en-US" sz="1600" dirty="0">
                <a:solidFill>
                  <a:srgbClr val="374151"/>
                </a:solidFill>
                <a:latin typeface="Noto Sans SC"/>
                <a:ea typeface="Noto Sans SC"/>
                <a:sym typeface="Arial"/>
              </a:rPr>
              <a:t>登录地址：</a:t>
            </a:r>
            <a:r>
              <a:rPr lang="en-US" altLang="zh-CN" sz="1600" dirty="0">
                <a:solidFill>
                  <a:srgbClr val="374151"/>
                </a:solidFill>
                <a:latin typeface="Noto Sans SC"/>
                <a:ea typeface="Noto Sans SC"/>
                <a:sym typeface="Arial"/>
              </a:rPr>
              <a:t>https://pms.xtfnai.com</a:t>
            </a:r>
          </a:p>
          <a:p>
            <a:pPr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/>
            </a:pPr>
            <a:r>
              <a:rPr lang="zh-CN" altLang="en-US" sz="1600" dirty="0">
                <a:solidFill>
                  <a:srgbClr val="374151"/>
                </a:solidFill>
                <a:latin typeface="Noto Sans SC"/>
                <a:ea typeface="Noto Sans SC"/>
                <a:sym typeface="Arial"/>
              </a:rPr>
              <a:t>用户名</a:t>
            </a:r>
            <a:r>
              <a:rPr lang="en-US" altLang="zh-CN" sz="1600" dirty="0">
                <a:solidFill>
                  <a:srgbClr val="374151"/>
                </a:solidFill>
                <a:latin typeface="Noto Sans SC"/>
                <a:ea typeface="Noto Sans SC"/>
                <a:sym typeface="Arial"/>
              </a:rPr>
              <a:t>/</a:t>
            </a:r>
            <a:r>
              <a:rPr lang="zh-CN" altLang="en-US" sz="1600" dirty="0">
                <a:solidFill>
                  <a:srgbClr val="374151"/>
                </a:solidFill>
                <a:latin typeface="Noto Sans SC"/>
                <a:ea typeface="Noto Sans SC"/>
                <a:sym typeface="Arial"/>
              </a:rPr>
              <a:t>密码：姓名拼音</a:t>
            </a:r>
            <a:r>
              <a:rPr lang="en-US" altLang="zh-CN" sz="1600" dirty="0">
                <a:solidFill>
                  <a:srgbClr val="374151"/>
                </a:solidFill>
                <a:latin typeface="Noto Sans SC"/>
                <a:ea typeface="Noto Sans SC"/>
                <a:sym typeface="Arial"/>
              </a:rPr>
              <a:t>/12345678</a:t>
            </a:r>
            <a:r>
              <a:rPr lang="zh-CN" altLang="en-US" sz="1600" dirty="0">
                <a:solidFill>
                  <a:srgbClr val="374151"/>
                </a:solidFill>
                <a:latin typeface="Noto Sans SC"/>
                <a:ea typeface="Noto Sans SC"/>
                <a:sym typeface="Arial"/>
              </a:rPr>
              <a:t>（初始密码）</a:t>
            </a:r>
            <a:endParaRPr lang="en-US" altLang="zh-CN" sz="1600" dirty="0">
              <a:solidFill>
                <a:srgbClr val="374151"/>
              </a:solidFill>
              <a:latin typeface="Noto Sans SC"/>
              <a:ea typeface="Noto Sans SC"/>
              <a:sym typeface="Arial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E054034-DD05-0655-9604-88D027CBC4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0748" y="2265584"/>
            <a:ext cx="1866348" cy="2424022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8688678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50EB3BA-81D8-F7D5-C387-5EF4EEBB9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06" y="1186069"/>
            <a:ext cx="10833588" cy="4810784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E5FBD5F6-3FCF-C6D0-C203-9AA9ECCCEEDC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+mn-ea"/>
                <a:ea typeface="+mn-ea"/>
              </a:rPr>
              <a:t>项目全生命周期管理流程</a:t>
            </a:r>
          </a:p>
        </p:txBody>
      </p:sp>
    </p:spTree>
    <p:extLst>
      <p:ext uri="{BB962C8B-B14F-4D97-AF65-F5344CB8AC3E}">
        <p14:creationId xmlns:p14="http://schemas.microsoft.com/office/powerpoint/2010/main" val="230449207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975F0-FE02-C974-5556-1D5CFC556F14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+mn-ea"/>
                <a:ea typeface="+mn-ea"/>
              </a:rPr>
              <a:t>新客户报备流程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C93F4D-64FE-0795-67D1-BDEECE281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13" y="1875181"/>
            <a:ext cx="11368173" cy="273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1013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E4461-3B03-4195-015F-4F4A99A45B9D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+mn-ea"/>
                <a:ea typeface="+mn-ea"/>
              </a:rPr>
              <a:t>项目需求审批流程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574A84-4892-A42D-5D39-63B6160A1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37" y="2115631"/>
            <a:ext cx="10744083" cy="262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737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E4461-3B03-4195-015F-4F4A99A45B9D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+mn-ea"/>
                <a:ea typeface="+mn-ea"/>
              </a:rPr>
              <a:t>项目方案审批流程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A0AF70-2E9B-57D4-BE40-D5F739986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27" y="1948070"/>
            <a:ext cx="11027346" cy="263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85188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E4461-3B03-4195-015F-4F4A99A45B9D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+mn-ea"/>
                <a:ea typeface="+mn-ea"/>
              </a:rPr>
              <a:t>项目实施通知审批流程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EB6218-5F35-43BD-1FA1-7B271332D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7" y="1986879"/>
            <a:ext cx="11198087" cy="268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99882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E4461-3B03-4195-015F-4F4A99A45B9D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+mn-ea"/>
                <a:ea typeface="+mn-ea"/>
              </a:rPr>
              <a:t>项目立项审批流程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F39B51-A801-A6F2-2B46-6C484087C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69" y="1976309"/>
            <a:ext cx="10734261" cy="261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1389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9F5C3-91EC-1D0A-5C9D-3FE6FFD02FC0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+mn-ea"/>
                <a:ea typeface="+mn-ea"/>
              </a:rPr>
              <a:t>项目计划与进度填报业务流程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5EE302-FEF5-CDB6-97BB-4BCAA3389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101" y="2069458"/>
            <a:ext cx="10380890" cy="255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31804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47B63-2299-7F05-5126-5F64CFAB13BD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功能迭代计划</a:t>
            </a:r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F317EA36-9D18-944A-7C01-61DDDD026AD6}"/>
              </a:ext>
            </a:extLst>
          </p:cNvPr>
          <p:cNvSpPr/>
          <p:nvPr/>
        </p:nvSpPr>
        <p:spPr>
          <a:xfrm>
            <a:off x="444500" y="1435583"/>
            <a:ext cx="2667000" cy="2019300"/>
          </a:xfrm>
          <a:prstGeom prst="roundRect">
            <a:avLst>
              <a:gd name="adj" fmla="val 9230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20" name="Picture 7">
            <a:extLst>
              <a:ext uri="{FF2B5EF4-FFF2-40B4-BE49-F238E27FC236}">
                <a16:creationId xmlns:a16="http://schemas.microsoft.com/office/drawing/2014/main" id="{80F78F71-7797-CCCC-EBF7-5CC94A344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1988863"/>
            <a:ext cx="508000" cy="508000"/>
          </a:xfrm>
          <a:prstGeom prst="rect">
            <a:avLst/>
          </a:prstGeom>
        </p:spPr>
      </p:pic>
      <p:sp>
        <p:nvSpPr>
          <p:cNvPr id="21" name="AutoShape 8">
            <a:extLst>
              <a:ext uri="{FF2B5EF4-FFF2-40B4-BE49-F238E27FC236}">
                <a16:creationId xmlns:a16="http://schemas.microsoft.com/office/drawing/2014/main" id="{6E94356D-FCFD-6134-C15E-B702E25C9FC4}"/>
              </a:ext>
            </a:extLst>
          </p:cNvPr>
          <p:cNvSpPr/>
          <p:nvPr/>
        </p:nvSpPr>
        <p:spPr>
          <a:xfrm>
            <a:off x="1333500" y="1686827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endParaRPr lang="en-US" altLang="zh-CN" sz="1800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数字员工</a:t>
            </a:r>
            <a:endParaRPr lang="en-US" altLang="zh-CN" sz="1800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通过语音交互快速操作入口，降低操作门槛，提升效率</a:t>
            </a:r>
            <a:endParaRPr lang="en-US" sz="12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9">
            <a:extLst>
              <a:ext uri="{FF2B5EF4-FFF2-40B4-BE49-F238E27FC236}">
                <a16:creationId xmlns:a16="http://schemas.microsoft.com/office/drawing/2014/main" id="{BC3E9EC3-6F5A-3B7D-915D-6F04CFE55D88}"/>
              </a:ext>
            </a:extLst>
          </p:cNvPr>
          <p:cNvSpPr/>
          <p:nvPr/>
        </p:nvSpPr>
        <p:spPr>
          <a:xfrm>
            <a:off x="3365500" y="1435583"/>
            <a:ext cx="2667000" cy="2019300"/>
          </a:xfrm>
          <a:prstGeom prst="roundRect">
            <a:avLst>
              <a:gd name="adj" fmla="val 9230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23" name="Picture 10">
            <a:extLst>
              <a:ext uri="{FF2B5EF4-FFF2-40B4-BE49-F238E27FC236}">
                <a16:creationId xmlns:a16="http://schemas.microsoft.com/office/drawing/2014/main" id="{F6E04FE3-5836-7191-507C-61F071BE5A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1988863"/>
            <a:ext cx="508000" cy="508000"/>
          </a:xfrm>
          <a:prstGeom prst="rect">
            <a:avLst/>
          </a:prstGeom>
        </p:spPr>
      </p:pic>
      <p:sp>
        <p:nvSpPr>
          <p:cNvPr id="24" name="AutoShape 11">
            <a:extLst>
              <a:ext uri="{FF2B5EF4-FFF2-40B4-BE49-F238E27FC236}">
                <a16:creationId xmlns:a16="http://schemas.microsoft.com/office/drawing/2014/main" id="{24804ABE-2E09-6E63-E284-20A3044BCD66}"/>
              </a:ext>
            </a:extLst>
          </p:cNvPr>
          <p:cNvSpPr/>
          <p:nvPr/>
        </p:nvSpPr>
        <p:spPr>
          <a:xfrm>
            <a:off x="4254500" y="1686827"/>
            <a:ext cx="1675848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项目管理</a:t>
            </a:r>
            <a:r>
              <a:rPr lang="en-US" altLang="zh-CN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Agent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Noto Sans SC"/>
              </a:rPr>
              <a:t>实时查询项目进度及相关文件信息，并支持自定义角度分析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Noto Sans SC"/>
            </a:endParaRPr>
          </a:p>
        </p:txBody>
      </p:sp>
      <p:sp>
        <p:nvSpPr>
          <p:cNvPr id="25" name="AutoShape 12">
            <a:extLst>
              <a:ext uri="{FF2B5EF4-FFF2-40B4-BE49-F238E27FC236}">
                <a16:creationId xmlns:a16="http://schemas.microsoft.com/office/drawing/2014/main" id="{01AE32D0-90FC-CE25-D2AB-BB25E554EFCB}"/>
              </a:ext>
            </a:extLst>
          </p:cNvPr>
          <p:cNvSpPr/>
          <p:nvPr/>
        </p:nvSpPr>
        <p:spPr>
          <a:xfrm>
            <a:off x="6286500" y="1435583"/>
            <a:ext cx="2667000" cy="2019300"/>
          </a:xfrm>
          <a:prstGeom prst="roundRect">
            <a:avLst>
              <a:gd name="adj" fmla="val 9230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26" name="Picture 13">
            <a:extLst>
              <a:ext uri="{FF2B5EF4-FFF2-40B4-BE49-F238E27FC236}">
                <a16:creationId xmlns:a16="http://schemas.microsoft.com/office/drawing/2014/main" id="{7BC9BF31-CF59-24E8-B940-2C6327302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1988863"/>
            <a:ext cx="508000" cy="508000"/>
          </a:xfrm>
          <a:prstGeom prst="rect">
            <a:avLst/>
          </a:prstGeom>
        </p:spPr>
      </p:pic>
      <p:sp>
        <p:nvSpPr>
          <p:cNvPr id="27" name="AutoShape 14">
            <a:extLst>
              <a:ext uri="{FF2B5EF4-FFF2-40B4-BE49-F238E27FC236}">
                <a16:creationId xmlns:a16="http://schemas.microsoft.com/office/drawing/2014/main" id="{894A8359-64AC-C479-100A-EECC2045330B}"/>
              </a:ext>
            </a:extLst>
          </p:cNvPr>
          <p:cNvSpPr/>
          <p:nvPr/>
        </p:nvSpPr>
        <p:spPr>
          <a:xfrm>
            <a:off x="7175499" y="1686827"/>
            <a:ext cx="1716709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方案预</a:t>
            </a:r>
            <a:r>
              <a:rPr lang="zh-CN" altLang="en-US" sz="1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编</a:t>
            </a:r>
            <a:r>
              <a:rPr lang="en-US" altLang="zh-CN" sz="1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Agent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Noto Sans SC"/>
              </a:rPr>
              <a:t>依据调研问卷及方案模版，生成标准的可参考解决方案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Noto Sans SC"/>
            </a:endParaRPr>
          </a:p>
        </p:txBody>
      </p:sp>
      <p:sp>
        <p:nvSpPr>
          <p:cNvPr id="28" name="AutoShape 15">
            <a:extLst>
              <a:ext uri="{FF2B5EF4-FFF2-40B4-BE49-F238E27FC236}">
                <a16:creationId xmlns:a16="http://schemas.microsoft.com/office/drawing/2014/main" id="{32E95572-AE8B-F700-8D48-720A2058E41E}"/>
              </a:ext>
            </a:extLst>
          </p:cNvPr>
          <p:cNvSpPr/>
          <p:nvPr/>
        </p:nvSpPr>
        <p:spPr>
          <a:xfrm>
            <a:off x="9080500" y="1435583"/>
            <a:ext cx="2667000" cy="2019300"/>
          </a:xfrm>
          <a:prstGeom prst="roundRect">
            <a:avLst>
              <a:gd name="adj" fmla="val 9230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29" name="Picture 16">
            <a:extLst>
              <a:ext uri="{FF2B5EF4-FFF2-40B4-BE49-F238E27FC236}">
                <a16:creationId xmlns:a16="http://schemas.microsoft.com/office/drawing/2014/main" id="{0FF9E0B9-0E21-5C74-C2BE-2ABAFC1CAE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34500" y="1988863"/>
            <a:ext cx="508000" cy="508000"/>
          </a:xfrm>
          <a:prstGeom prst="rect">
            <a:avLst/>
          </a:prstGeom>
        </p:spPr>
      </p:pic>
      <p:sp>
        <p:nvSpPr>
          <p:cNvPr id="30" name="AutoShape 17">
            <a:extLst>
              <a:ext uri="{FF2B5EF4-FFF2-40B4-BE49-F238E27FC236}">
                <a16:creationId xmlns:a16="http://schemas.microsoft.com/office/drawing/2014/main" id="{24801A6D-2A5A-5723-82D3-6138A37FA7F3}"/>
              </a:ext>
            </a:extLst>
          </p:cNvPr>
          <p:cNvSpPr/>
          <p:nvPr/>
        </p:nvSpPr>
        <p:spPr>
          <a:xfrm>
            <a:off x="9856858" y="1686827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endParaRPr lang="en-US" altLang="zh-CN" sz="1800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altLang="zh-CN" sz="1800" b="1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节能降耗</a:t>
            </a:r>
            <a:r>
              <a:rPr lang="en-US" altLang="zh-CN" sz="1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Agent</a:t>
            </a:r>
            <a:br>
              <a:rPr lang="en-US" altLang="zh-CN" sz="1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Noto Sans SC"/>
              </a:rPr>
              <a:t>依据调研情况、节能规则库，生成相应的节能降耗评估指标（目前收集曝气智能体的评估规则）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Noto Sans SC"/>
            </a:endParaRPr>
          </a:p>
        </p:txBody>
      </p:sp>
      <p:sp>
        <p:nvSpPr>
          <p:cNvPr id="31" name="AutoShape 18">
            <a:extLst>
              <a:ext uri="{FF2B5EF4-FFF2-40B4-BE49-F238E27FC236}">
                <a16:creationId xmlns:a16="http://schemas.microsoft.com/office/drawing/2014/main" id="{468C4568-B593-6E1F-3CFA-838DCB2B9833}"/>
              </a:ext>
            </a:extLst>
          </p:cNvPr>
          <p:cNvSpPr/>
          <p:nvPr/>
        </p:nvSpPr>
        <p:spPr>
          <a:xfrm>
            <a:off x="444500" y="4380333"/>
            <a:ext cx="2667000" cy="2019299"/>
          </a:xfrm>
          <a:prstGeom prst="roundRect">
            <a:avLst>
              <a:gd name="adj" fmla="val 9230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32" name="Picture 19">
            <a:extLst>
              <a:ext uri="{FF2B5EF4-FFF2-40B4-BE49-F238E27FC236}">
                <a16:creationId xmlns:a16="http://schemas.microsoft.com/office/drawing/2014/main" id="{FEBE21E8-4071-36B5-99DF-8904A452CA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8500" y="4916492"/>
            <a:ext cx="508000" cy="508000"/>
          </a:xfrm>
          <a:prstGeom prst="rect">
            <a:avLst/>
          </a:prstGeom>
        </p:spPr>
      </p:pic>
      <p:sp>
        <p:nvSpPr>
          <p:cNvPr id="33" name="AutoShape 20">
            <a:extLst>
              <a:ext uri="{FF2B5EF4-FFF2-40B4-BE49-F238E27FC236}">
                <a16:creationId xmlns:a16="http://schemas.microsoft.com/office/drawing/2014/main" id="{1ABAE554-22B4-2115-AB6A-3C9E46600B89}"/>
              </a:ext>
            </a:extLst>
          </p:cNvPr>
          <p:cNvSpPr/>
          <p:nvPr/>
        </p:nvSpPr>
        <p:spPr>
          <a:xfrm>
            <a:off x="1333500" y="4647586"/>
            <a:ext cx="1687996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合同管理</a:t>
            </a:r>
            <a:br>
              <a:rPr lang="en-US" altLang="zh-CN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覆盖合同从签订、执行到结算的全生命周期管理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Noto Sans SC"/>
            </a:endParaRPr>
          </a:p>
        </p:txBody>
      </p:sp>
      <p:sp>
        <p:nvSpPr>
          <p:cNvPr id="34" name="AutoShape 21">
            <a:extLst>
              <a:ext uri="{FF2B5EF4-FFF2-40B4-BE49-F238E27FC236}">
                <a16:creationId xmlns:a16="http://schemas.microsoft.com/office/drawing/2014/main" id="{1D7A0102-6F75-4D13-3B62-007C8D70A730}"/>
              </a:ext>
            </a:extLst>
          </p:cNvPr>
          <p:cNvSpPr/>
          <p:nvPr/>
        </p:nvSpPr>
        <p:spPr>
          <a:xfrm>
            <a:off x="3365500" y="4380333"/>
            <a:ext cx="2667000" cy="2019299"/>
          </a:xfrm>
          <a:prstGeom prst="roundRect">
            <a:avLst>
              <a:gd name="adj" fmla="val 9230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35" name="Picture 22">
            <a:extLst>
              <a:ext uri="{FF2B5EF4-FFF2-40B4-BE49-F238E27FC236}">
                <a16:creationId xmlns:a16="http://schemas.microsoft.com/office/drawing/2014/main" id="{A0C1DD9F-3D8A-6A85-CA97-540512149B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19500" y="4916492"/>
            <a:ext cx="508000" cy="508000"/>
          </a:xfrm>
          <a:prstGeom prst="rect">
            <a:avLst/>
          </a:prstGeom>
        </p:spPr>
      </p:pic>
      <p:sp>
        <p:nvSpPr>
          <p:cNvPr id="36" name="AutoShape 23">
            <a:extLst>
              <a:ext uri="{FF2B5EF4-FFF2-40B4-BE49-F238E27FC236}">
                <a16:creationId xmlns:a16="http://schemas.microsoft.com/office/drawing/2014/main" id="{0190D053-4A2C-8784-46CB-92F7D20C2539}"/>
              </a:ext>
            </a:extLst>
          </p:cNvPr>
          <p:cNvSpPr/>
          <p:nvPr/>
        </p:nvSpPr>
        <p:spPr>
          <a:xfrm>
            <a:off x="4254500" y="4647586"/>
            <a:ext cx="1675848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endParaRPr lang="en-US" altLang="zh-CN" sz="1800" b="1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应收</a:t>
            </a:r>
            <a:r>
              <a:rPr lang="zh-CN" alt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管理</a:t>
            </a:r>
            <a:endParaRPr lang="en-US" altLang="zh-CN" sz="1800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dirty="0"/>
              <a:t>以合同 </a:t>
            </a:r>
            <a:r>
              <a:rPr lang="en-US" altLang="zh-CN" dirty="0"/>
              <a:t>/ </a:t>
            </a:r>
            <a:r>
              <a:rPr lang="zh-CN" altLang="en-US" dirty="0"/>
              <a:t>结算为依据，对项目全周期的应收款进行跟踪、预警与管理。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Noto Sans SC"/>
            </a:endParaRPr>
          </a:p>
        </p:txBody>
      </p:sp>
      <p:sp>
        <p:nvSpPr>
          <p:cNvPr id="37" name="AutoShape 24">
            <a:extLst>
              <a:ext uri="{FF2B5EF4-FFF2-40B4-BE49-F238E27FC236}">
                <a16:creationId xmlns:a16="http://schemas.microsoft.com/office/drawing/2014/main" id="{8649B27C-1C83-C1D5-36C1-723EF7ACD746}"/>
              </a:ext>
            </a:extLst>
          </p:cNvPr>
          <p:cNvSpPr/>
          <p:nvPr/>
        </p:nvSpPr>
        <p:spPr>
          <a:xfrm>
            <a:off x="6286500" y="4380333"/>
            <a:ext cx="2667000" cy="2019299"/>
          </a:xfrm>
          <a:prstGeom prst="roundRect">
            <a:avLst>
              <a:gd name="adj" fmla="val 9230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38" name="Picture 25">
            <a:extLst>
              <a:ext uri="{FF2B5EF4-FFF2-40B4-BE49-F238E27FC236}">
                <a16:creationId xmlns:a16="http://schemas.microsoft.com/office/drawing/2014/main" id="{6092B8C3-CF5B-6BE8-4020-AE819C588A6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4916492"/>
            <a:ext cx="508000" cy="508000"/>
          </a:xfrm>
          <a:prstGeom prst="rect">
            <a:avLst/>
          </a:prstGeom>
        </p:spPr>
      </p:pic>
      <p:sp>
        <p:nvSpPr>
          <p:cNvPr id="39" name="AutoShape 26">
            <a:extLst>
              <a:ext uri="{FF2B5EF4-FFF2-40B4-BE49-F238E27FC236}">
                <a16:creationId xmlns:a16="http://schemas.microsoft.com/office/drawing/2014/main" id="{09AD2697-D3E3-1D10-03CD-53A84252905C}"/>
              </a:ext>
            </a:extLst>
          </p:cNvPr>
          <p:cNvSpPr/>
          <p:nvPr/>
        </p:nvSpPr>
        <p:spPr>
          <a:xfrm>
            <a:off x="7175500" y="4647586"/>
            <a:ext cx="165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发票管理</a:t>
            </a:r>
            <a:endParaRPr lang="en-US" altLang="zh-CN" sz="1800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以项目为中心，打通全流程的票据管控体系。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Noto Sans SC"/>
            </a:endParaRPr>
          </a:p>
        </p:txBody>
      </p:sp>
      <p:sp>
        <p:nvSpPr>
          <p:cNvPr id="40" name="AutoShape 27">
            <a:extLst>
              <a:ext uri="{FF2B5EF4-FFF2-40B4-BE49-F238E27FC236}">
                <a16:creationId xmlns:a16="http://schemas.microsoft.com/office/drawing/2014/main" id="{9FFE7BD6-7FBD-3A98-8405-201D44A23CCA}"/>
              </a:ext>
            </a:extLst>
          </p:cNvPr>
          <p:cNvSpPr/>
          <p:nvPr/>
        </p:nvSpPr>
        <p:spPr>
          <a:xfrm>
            <a:off x="9080500" y="4380333"/>
            <a:ext cx="2667000" cy="2019299"/>
          </a:xfrm>
          <a:prstGeom prst="roundRect">
            <a:avLst>
              <a:gd name="adj" fmla="val 9230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41" name="Picture 28">
            <a:extLst>
              <a:ext uri="{FF2B5EF4-FFF2-40B4-BE49-F238E27FC236}">
                <a16:creationId xmlns:a16="http://schemas.microsoft.com/office/drawing/2014/main" id="{DFBC3DE1-02C0-D237-7CF8-F8A30C42843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34500" y="4916492"/>
            <a:ext cx="508000" cy="508000"/>
          </a:xfrm>
          <a:prstGeom prst="rect">
            <a:avLst/>
          </a:prstGeom>
        </p:spPr>
      </p:pic>
      <p:sp>
        <p:nvSpPr>
          <p:cNvPr id="42" name="AutoShape 29">
            <a:extLst>
              <a:ext uri="{FF2B5EF4-FFF2-40B4-BE49-F238E27FC236}">
                <a16:creationId xmlns:a16="http://schemas.microsoft.com/office/drawing/2014/main" id="{224B442E-5F69-A4FF-211D-957A7C017CB7}"/>
              </a:ext>
            </a:extLst>
          </p:cNvPr>
          <p:cNvSpPr/>
          <p:nvPr/>
        </p:nvSpPr>
        <p:spPr>
          <a:xfrm>
            <a:off x="9969500" y="4647586"/>
            <a:ext cx="1665358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财务对接</a:t>
            </a:r>
            <a:endParaRPr lang="en-US" altLang="zh-CN" sz="1800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负责和用友财务系统对接，支撑财务结算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Noto Sans SC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6C73463B-DA89-5E02-1BB6-23A2CA9E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958261"/>
            <a:ext cx="3605600" cy="418486"/>
          </a:xfrm>
          <a:prstGeom prst="rect">
            <a:avLst/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调试优化中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5B9F442-2021-0B7B-9782-B25D73E91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359" y="3896583"/>
            <a:ext cx="3605600" cy="418486"/>
          </a:xfrm>
          <a:prstGeom prst="rect">
            <a:avLst/>
          </a:prstGeom>
          <a:solidFill>
            <a:srgbClr val="0563C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lIns="0" tIns="0" rIns="0" bIns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</a:rPr>
              <a:t>待调研规划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9110800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9C79F9-B984-158F-A51D-350F9C483211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</a:rPr>
              <a:t>PMS</a:t>
            </a:r>
            <a:r>
              <a:rPr lang="zh-CN" altLang="en-US" sz="2400" dirty="0">
                <a:latin typeface="微软雅黑" panose="020B0503020204020204" pitchFamily="34" charset="-122"/>
              </a:rPr>
              <a:t>业财一体化推广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688BD798-6BCA-A133-1895-21A1C4E28257}"/>
              </a:ext>
            </a:extLst>
          </p:cNvPr>
          <p:cNvSpPr/>
          <p:nvPr/>
        </p:nvSpPr>
        <p:spPr>
          <a:xfrm>
            <a:off x="763212" y="2128262"/>
            <a:ext cx="3429000" cy="304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0464EC65-1D63-EA61-B8F9-806F9FC96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212" y="2382262"/>
            <a:ext cx="508000" cy="508000"/>
          </a:xfrm>
          <a:prstGeom prst="rect">
            <a:avLst/>
          </a:prstGeom>
        </p:spPr>
      </p:pic>
      <p:sp>
        <p:nvSpPr>
          <p:cNvPr id="5" name="AutoShape 7">
            <a:extLst>
              <a:ext uri="{FF2B5EF4-FFF2-40B4-BE49-F238E27FC236}">
                <a16:creationId xmlns:a16="http://schemas.microsoft.com/office/drawing/2014/main" id="{13EA0481-52F4-F9C6-F804-0BAB22D80009}"/>
              </a:ext>
            </a:extLst>
          </p:cNvPr>
          <p:cNvSpPr/>
          <p:nvPr/>
        </p:nvSpPr>
        <p:spPr>
          <a:xfrm>
            <a:off x="1652212" y="2382262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PMS</a:t>
            </a:r>
            <a:r>
              <a:rPr lang="zh-CN" altLang="en-US" sz="20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项目文档</a:t>
            </a:r>
            <a:endParaRPr lang="en-US" sz="1100" dirty="0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FA9168E1-F167-C801-623D-F31CC3534A5A}"/>
              </a:ext>
            </a:extLst>
          </p:cNvPr>
          <p:cNvSpPr/>
          <p:nvPr/>
        </p:nvSpPr>
        <p:spPr>
          <a:xfrm>
            <a:off x="1017212" y="3271262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16666"/>
              </a:lnSpc>
              <a:defRPr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Noto Sans SC"/>
              </a:rPr>
              <a:t>PMS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Noto Sans SC"/>
              </a:rPr>
              <a:t>系统支持操作指引、编制操作手册、录制操作视频等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4562FA1A-AEAA-C9B9-7AA3-4F69CC79E3A1}"/>
              </a:ext>
            </a:extLst>
          </p:cNvPr>
          <p:cNvSpPr/>
          <p:nvPr/>
        </p:nvSpPr>
        <p:spPr>
          <a:xfrm>
            <a:off x="4509712" y="2128262"/>
            <a:ext cx="3429000" cy="3048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8C9115D9-BE6E-76E8-516E-268315802A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3712" y="2382262"/>
            <a:ext cx="508000" cy="508000"/>
          </a:xfrm>
          <a:prstGeom prst="rect">
            <a:avLst/>
          </a:prstGeom>
        </p:spPr>
      </p:pic>
      <p:sp>
        <p:nvSpPr>
          <p:cNvPr id="9" name="AutoShape 11">
            <a:extLst>
              <a:ext uri="{FF2B5EF4-FFF2-40B4-BE49-F238E27FC236}">
                <a16:creationId xmlns:a16="http://schemas.microsoft.com/office/drawing/2014/main" id="{2F47193F-D964-AA95-E274-E4E42A0DEEE4}"/>
              </a:ext>
            </a:extLst>
          </p:cNvPr>
          <p:cNvSpPr/>
          <p:nvPr/>
        </p:nvSpPr>
        <p:spPr>
          <a:xfrm>
            <a:off x="5398712" y="2382262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项目组关键用户</a:t>
            </a:r>
            <a:r>
              <a:rPr lang="zh-CN" altLang="en-US" sz="20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陪跑</a:t>
            </a:r>
            <a:endParaRPr lang="en-US" sz="1100" dirty="0"/>
          </a:p>
        </p:txBody>
      </p:sp>
      <p:sp>
        <p:nvSpPr>
          <p:cNvPr id="10" name="AutoShape 12">
            <a:extLst>
              <a:ext uri="{FF2B5EF4-FFF2-40B4-BE49-F238E27FC236}">
                <a16:creationId xmlns:a16="http://schemas.microsoft.com/office/drawing/2014/main" id="{335FA5E8-86D8-8B8B-F5B3-40BE7F1A6FB1}"/>
              </a:ext>
            </a:extLst>
          </p:cNvPr>
          <p:cNvSpPr/>
          <p:nvPr/>
        </p:nvSpPr>
        <p:spPr>
          <a:xfrm>
            <a:off x="4763712" y="3271262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Noto Sans SC"/>
              </a:rPr>
              <a:t>项目组关键用户罗梓亮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Noto Sans SC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Noto Sans SC"/>
              </a:rPr>
              <a:t>张贵，各部门业务全流程支撑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FE0BA5-6D9A-4EE3-C71C-1E6F6D460B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60554" y="928856"/>
            <a:ext cx="11235055" cy="562783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>
              <a:lnSpc>
                <a:spcPct val="20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  <a:sym typeface="+mn-ea"/>
              </a:rPr>
              <a:t>目前，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  <a:sym typeface="+mn-ea"/>
              </a:rPr>
              <a:t>PMS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  <a:sym typeface="+mn-ea"/>
              </a:rPr>
              <a:t>业财一体化推广使用是长沙公司、东莞公司，其余公司以基线版本适配差异需求推广</a:t>
            </a:r>
            <a:endParaRPr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ea typeface="+mn-ea"/>
              <a:sym typeface="+mn-ea"/>
            </a:endParaRPr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8BB4482E-42AC-F2EA-4777-D52386D948BA}"/>
              </a:ext>
            </a:extLst>
          </p:cNvPr>
          <p:cNvSpPr/>
          <p:nvPr/>
        </p:nvSpPr>
        <p:spPr>
          <a:xfrm>
            <a:off x="8192712" y="2128262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AAB3474F-0246-9CC8-177D-839C47F870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46712" y="2382262"/>
            <a:ext cx="508000" cy="508000"/>
          </a:xfrm>
          <a:prstGeom prst="rect">
            <a:avLst/>
          </a:prstGeom>
        </p:spPr>
      </p:pic>
      <p:sp>
        <p:nvSpPr>
          <p:cNvPr id="14" name="AutoShape 15">
            <a:extLst>
              <a:ext uri="{FF2B5EF4-FFF2-40B4-BE49-F238E27FC236}">
                <a16:creationId xmlns:a16="http://schemas.microsoft.com/office/drawing/2014/main" id="{213254FD-96F9-3E1B-84E6-15F44AB9FCBC}"/>
              </a:ext>
            </a:extLst>
          </p:cNvPr>
          <p:cNvSpPr/>
          <p:nvPr/>
        </p:nvSpPr>
        <p:spPr>
          <a:xfrm>
            <a:off x="9081712" y="2382262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1F2329"/>
                </a:solidFill>
                <a:latin typeface="Noto Sans SC"/>
                <a:ea typeface="Noto Sans SC"/>
              </a:rPr>
              <a:t>交互体验优化</a:t>
            </a:r>
            <a:endParaRPr lang="en-US" sz="2000" b="1" dirty="0">
              <a:solidFill>
                <a:srgbClr val="1F2329"/>
              </a:solidFill>
              <a:latin typeface="Noto Sans SC"/>
              <a:ea typeface="Noto Sans SC"/>
            </a:endParaRPr>
          </a:p>
        </p:txBody>
      </p:sp>
      <p:sp>
        <p:nvSpPr>
          <p:cNvPr id="15" name="AutoShape 16">
            <a:extLst>
              <a:ext uri="{FF2B5EF4-FFF2-40B4-BE49-F238E27FC236}">
                <a16:creationId xmlns:a16="http://schemas.microsoft.com/office/drawing/2014/main" id="{AE8A8B33-23D0-9953-5289-6B34E094E616}"/>
              </a:ext>
            </a:extLst>
          </p:cNvPr>
          <p:cNvSpPr/>
          <p:nvPr/>
        </p:nvSpPr>
        <p:spPr>
          <a:xfrm>
            <a:off x="8446712" y="3271262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6666"/>
              </a:lnSpc>
              <a:defRPr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Noto Sans SC"/>
              </a:rPr>
              <a:t>用户使用问题反馈，项目组人员测试试跑反馈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Noto Sans SC"/>
              </a:rPr>
              <a:t>。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809260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64638-4F11-6B88-816D-1563DA0A5373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需求管理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D55BFF-E52D-522D-CAD9-A23F3142B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59" y="797239"/>
            <a:ext cx="11107406" cy="5722829"/>
          </a:xfrm>
          <a:prstGeom prst="rect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152929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5CD2E-9729-4AD2-A1D7-63D9B0688A9C}"/>
              </a:ext>
            </a:extLst>
          </p:cNvPr>
          <p:cNvSpPr txBox="1"/>
          <p:nvPr/>
        </p:nvSpPr>
        <p:spPr>
          <a:xfrm>
            <a:off x="415359" y="84966"/>
            <a:ext cx="10380890" cy="43053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 spc="3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</a:rPr>
              <a:t>目前项目推广进度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5CAA7EAE-0151-B0F2-5F98-974489A52F62}"/>
              </a:ext>
            </a:extLst>
          </p:cNvPr>
          <p:cNvSpPr/>
          <p:nvPr/>
        </p:nvSpPr>
        <p:spPr>
          <a:xfrm>
            <a:off x="762000" y="2411835"/>
            <a:ext cx="5207000" cy="254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CE2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43591D12-6F9D-3700-9960-29836B194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792835"/>
            <a:ext cx="609600" cy="609600"/>
          </a:xfrm>
          <a:prstGeom prst="rect">
            <a:avLst/>
          </a:prstGeom>
        </p:spPr>
      </p:pic>
      <p:sp>
        <p:nvSpPr>
          <p:cNvPr id="13" name="AutoShape 8">
            <a:extLst>
              <a:ext uri="{FF2B5EF4-FFF2-40B4-BE49-F238E27FC236}">
                <a16:creationId xmlns:a16="http://schemas.microsoft.com/office/drawing/2014/main" id="{A9875B20-4F1E-0C6C-C831-5AFE3FD7C681}"/>
              </a:ext>
            </a:extLst>
          </p:cNvPr>
          <p:cNvSpPr/>
          <p:nvPr/>
        </p:nvSpPr>
        <p:spPr>
          <a:xfrm>
            <a:off x="1905000" y="2729335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客户数据：20条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500" b="0" i="0" u="none" strike="noStrike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• 期初系统录入：14条</a:t>
            </a: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• 上线后新增数据：6条</a:t>
            </a:r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D3E9D61C-4B8C-E43A-BBA3-8C0022C6CA6B}"/>
              </a:ext>
            </a:extLst>
          </p:cNvPr>
          <p:cNvSpPr/>
          <p:nvPr/>
        </p:nvSpPr>
        <p:spPr>
          <a:xfrm>
            <a:off x="6223000" y="2411835"/>
            <a:ext cx="5207000" cy="2540000"/>
          </a:xfrm>
          <a:prstGeom prst="roundRect">
            <a:avLst>
              <a:gd name="adj" fmla="val 8000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CE2F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8A819D5A-46D7-9F17-BE03-35133DFE70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792835"/>
            <a:ext cx="609600" cy="609600"/>
          </a:xfrm>
          <a:prstGeom prst="rect">
            <a:avLst/>
          </a:prstGeom>
        </p:spPr>
      </p:pic>
      <p:sp>
        <p:nvSpPr>
          <p:cNvPr id="16" name="AutoShape 11">
            <a:extLst>
              <a:ext uri="{FF2B5EF4-FFF2-40B4-BE49-F238E27FC236}">
                <a16:creationId xmlns:a16="http://schemas.microsoft.com/office/drawing/2014/main" id="{6B003896-0985-1ED9-0D4D-A08521F112FA}"/>
              </a:ext>
            </a:extLst>
          </p:cNvPr>
          <p:cNvSpPr/>
          <p:nvPr/>
        </p:nvSpPr>
        <p:spPr>
          <a:xfrm>
            <a:off x="7366000" y="2729335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项目需求：13条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500" b="0" i="0" u="none" strike="noStrike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• 期初系统录入：12条</a:t>
            </a: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646A73"/>
                </a:solidFill>
                <a:latin typeface="微软雅黑"/>
                <a:ea typeface="微软雅黑"/>
                <a:cs typeface="微软雅黑"/>
                <a:sym typeface="微软雅黑"/>
              </a:rPr>
              <a:t>• 上线后新增需求：1条</a:t>
            </a:r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2F7D08B5-62BE-2F39-606B-7B3A72863553}"/>
              </a:ext>
            </a:extLst>
          </p:cNvPr>
          <p:cNvSpPr/>
          <p:nvPr/>
        </p:nvSpPr>
        <p:spPr>
          <a:xfrm>
            <a:off x="537527" y="779156"/>
            <a:ext cx="1104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0" rtlCol="0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6666"/>
              </a:lnSpc>
              <a:defRPr/>
            </a:pP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  <a:sym typeface="+mn-ea"/>
              </a:rPr>
              <a:t>PMS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  <a:sym typeface="+mn-ea"/>
              </a:rPr>
              <a:t>业财一体化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系统已完成一期功能，支持上线使用。截止目前系统使用数据：客户（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20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条、期初录入     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14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条，新增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6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条）、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项目需求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13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条（期初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12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条，新增</a:t>
            </a: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条），其余未有信息在系统执行。</a:t>
            </a:r>
            <a:endParaRPr lang="en-US" sz="1100" dirty="0"/>
          </a:p>
          <a:p>
            <a:pPr marL="0"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800" b="1" i="0" u="none" strike="noStrike" dirty="0">
                <a:solidFill>
                  <a:srgbClr val="0043A5"/>
                </a:solidFill>
                <a:latin typeface="微软雅黑"/>
                <a:ea typeface="微软雅黑"/>
                <a:cs typeface="微软雅黑"/>
                <a:sym typeface="微软雅黑"/>
              </a:rPr>
              <a:t>▍</a:t>
            </a:r>
            <a:r>
              <a:rPr lang="en-US" sz="1800" b="1" i="0" u="none" strike="noStrike" dirty="0" err="1">
                <a:solidFill>
                  <a:srgbClr val="0043A5"/>
                </a:solidFill>
                <a:latin typeface="微软雅黑"/>
                <a:ea typeface="微软雅黑"/>
                <a:cs typeface="微软雅黑"/>
                <a:sym typeface="微软雅黑"/>
              </a:rPr>
              <a:t>系统使用数据（截至当前</a:t>
            </a:r>
            <a:r>
              <a:rPr lang="en-US" sz="1800" b="1" i="0" u="none" strike="noStrike" dirty="0">
                <a:solidFill>
                  <a:srgbClr val="0043A5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8072184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906F0FE4-8E51-0A24-06ED-D2574AB8408B}"/>
              </a:ext>
            </a:extLst>
          </p:cNvPr>
          <p:cNvSpPr txBox="1"/>
          <p:nvPr/>
        </p:nvSpPr>
        <p:spPr>
          <a:xfrm>
            <a:off x="3768532" y="1780098"/>
            <a:ext cx="4634865" cy="1258570"/>
          </a:xfrm>
          <a:prstGeom prst="rect">
            <a:avLst/>
          </a:prstGeom>
          <a:noFill/>
        </p:spPr>
        <p:txBody>
          <a:bodyPr wrap="square" lIns="28925" tIns="14462" rIns="28925" bIns="14462" rtlCol="0">
            <a:spAutoFit/>
          </a:bodyPr>
          <a:lstStyle>
            <a:defPPr>
              <a:defRPr lang="zh-CN"/>
            </a:defPPr>
            <a:lvl1pPr>
              <a:defRPr sz="5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algn="dist"/>
            <a:r>
              <a:rPr lang="zh-CN" altLang="en-US" sz="8000" spc="169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感谢观看</a:t>
            </a:r>
          </a:p>
        </p:txBody>
      </p:sp>
      <p:sp>
        <p:nvSpPr>
          <p:cNvPr id="4" name="TextBox 48">
            <a:extLst>
              <a:ext uri="{FF2B5EF4-FFF2-40B4-BE49-F238E27FC236}">
                <a16:creationId xmlns:a16="http://schemas.microsoft.com/office/drawing/2014/main" id="{9F475AC9-AE9B-6C51-0828-DBD1CD4710B2}"/>
              </a:ext>
            </a:extLst>
          </p:cNvPr>
          <p:cNvSpPr txBox="1"/>
          <p:nvPr/>
        </p:nvSpPr>
        <p:spPr>
          <a:xfrm>
            <a:off x="4457567" y="3609063"/>
            <a:ext cx="3944937" cy="659765"/>
          </a:xfrm>
          <a:prstGeom prst="rect">
            <a:avLst/>
          </a:prstGeom>
          <a:noFill/>
        </p:spPr>
        <p:txBody>
          <a:bodyPr wrap="square" lIns="68571" tIns="34285" rIns="68571" bIns="34285" rtlCol="0">
            <a:sp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地址：湖南省长沙市岳麓区咸嘉湖街道王府井写字楼1306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17000"/>
              </a:lnSpc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电话：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0731-82441008</a:t>
            </a:r>
            <a:endParaRPr lang="en-US" altLang="zh-CN" sz="1100" b="0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网址：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https://www.hunmingai.com</a:t>
            </a:r>
            <a:r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</a:t>
            </a:r>
            <a:endParaRPr lang="en-US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pic>
        <p:nvPicPr>
          <p:cNvPr id="5" name="图片 4" descr="C:/Users/HUAWEI/Desktop/扫码_搜索联合传播样式-白色版.png扫码_搜索联合传播样式-白色版">
            <a:extLst>
              <a:ext uri="{FF2B5EF4-FFF2-40B4-BE49-F238E27FC236}">
                <a16:creationId xmlns:a16="http://schemas.microsoft.com/office/drawing/2014/main" id="{BDA1770F-817C-566F-E027-69D4BE380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" b="21"/>
          <a:stretch>
            <a:fillRect/>
          </a:stretch>
        </p:blipFill>
        <p:spPr>
          <a:xfrm>
            <a:off x="3414577" y="3263390"/>
            <a:ext cx="1006894" cy="100689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EB0A00-A713-5771-BA4E-34DA85C0C3C2}"/>
              </a:ext>
            </a:extLst>
          </p:cNvPr>
          <p:cNvSpPr/>
          <p:nvPr/>
        </p:nvSpPr>
        <p:spPr>
          <a:xfrm>
            <a:off x="4457507" y="3271078"/>
            <a:ext cx="47491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昕彤赋能（长沙）人工智能行业应用系统有限公司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B03AC9-A463-C527-9DA1-C2212DFE0994}"/>
              </a:ext>
            </a:extLst>
          </p:cNvPr>
          <p:cNvSpPr/>
          <p:nvPr/>
        </p:nvSpPr>
        <p:spPr>
          <a:xfrm>
            <a:off x="3330794" y="1849243"/>
            <a:ext cx="4954526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500"/>
              </a:lnSpc>
            </a:pP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汉仪书宋二简" panose="0201060000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3394994-c40b-46c8-80ca-5c36dbb6afdc"/>
  <p:tag name="COMMONDATA" val="eyJoZGlkIjoiMjI1ZmQyMTYzOTAwNjg5YzAwODM1NGYzNWEzODcyY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5.1,&quot;left&quot;:196.5,&quot;top&quot;:250.05,&quot;width&quot;:621.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 sz="1200" b="1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36219</TotalTime>
  <Words>815</Words>
  <Application>Microsoft Office PowerPoint</Application>
  <PresentationFormat>宽屏</PresentationFormat>
  <Paragraphs>90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Noto Sans SC</vt:lpstr>
      <vt:lpstr>ui-sans-serif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贵 张</cp:lastModifiedBy>
  <cp:revision>1931</cp:revision>
  <cp:lastPrinted>2021-06-16T06:29:00Z</cp:lastPrinted>
  <dcterms:created xsi:type="dcterms:W3CDTF">2019-06-19T02:08:00Z</dcterms:created>
  <dcterms:modified xsi:type="dcterms:W3CDTF">2026-05-25T12:44:01Z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702A9507C5A14EB0BECAC24DB445FB33</vt:lpwstr>
  </property>
</Properties>
</file>