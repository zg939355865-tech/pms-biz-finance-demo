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0210" r:id="rId2"/>
    <p:sldId id="10366" r:id="rId3"/>
    <p:sldId id="10367" r:id="rId4"/>
    <p:sldId id="10368" r:id="rId5"/>
    <p:sldId id="10369" r:id="rId6"/>
    <p:sldId id="10370" r:id="rId7"/>
    <p:sldId id="418" r:id="rId8"/>
  </p:sldIdLst>
  <p:sldSz cx="12192000" cy="6858000"/>
  <p:notesSz cx="6797675" cy="9926638"/>
  <p:custDataLst>
    <p:tags r:id="rId1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3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2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本" initials="本" lastIdx="1" clrIdx="0"/>
  <p:cmAuthor id="2" name="Jason" initials="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BA"/>
    <a:srgbClr val="6DABD8"/>
    <a:srgbClr val="7EB7D8"/>
    <a:srgbClr val="F6F6F6"/>
    <a:srgbClr val="BFD732"/>
    <a:srgbClr val="FFFFFF"/>
    <a:srgbClr val="2094CE"/>
    <a:srgbClr val="F8F8FA"/>
    <a:srgbClr val="CACACA"/>
    <a:srgbClr val="446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5" autoAdjust="0"/>
    <p:restoredTop sz="86332" autoAdjust="0"/>
  </p:normalViewPr>
  <p:slideViewPr>
    <p:cSldViewPr snapToGrid="0">
      <p:cViewPr varScale="1">
        <p:scale>
          <a:sx n="91" d="100"/>
          <a:sy n="91" d="100"/>
        </p:scale>
        <p:origin x="80" y="156"/>
      </p:cViewPr>
      <p:guideLst>
        <p:guide pos="3737"/>
        <p:guide orient="horz" pos="2160"/>
      </p:guideLst>
    </p:cSldViewPr>
  </p:slideViewPr>
  <p:outlineViewPr>
    <p:cViewPr>
      <p:scale>
        <a:sx n="33" d="100"/>
        <a:sy n="33" d="100"/>
      </p:scale>
      <p:origin x="0" y="-1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4260"/>
    </p:cViewPr>
  </p:sorterViewPr>
  <p:notesViewPr>
    <p:cSldViewPr snapToGrid="0">
      <p:cViewPr varScale="1">
        <p:scale>
          <a:sx n="47" d="100"/>
          <a:sy n="47" d="100"/>
        </p:scale>
        <p:origin x="2792" y="48"/>
      </p:cViewPr>
      <p:guideLst>
        <p:guide orient="horz" pos="3252"/>
        <p:guide pos="2141"/>
      </p:guideLst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135A90-B6C7-4DA4-BD33-3A240A77BB8C}" type="datetimeFigureOut">
              <a:rPr lang="zh-CN" altLang="en-US"/>
              <a:t>2026-05-27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DFB826EF-C3E9-4C5A-8F5E-C9EDAF071AE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D130321-0F65-4BC9-8A6C-8A8C5484039F}" type="datetimeFigureOut">
              <a:rPr lang="zh-CN" altLang="en-US"/>
              <a:t>2026-05-27</a:t>
            </a:fld>
            <a:endParaRPr lang="zh-CN" altLang="en-US"/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9221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9768" y="4777194"/>
            <a:ext cx="5438140" cy="39086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31FBF55-2C81-49EB-ADF0-0995E9D08B3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C6EDB94D-3CEC-46A8-F24C-0DFDBE959C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>
            <a:spLocks noChangeArrowheads="1"/>
          </p:cNvSpPr>
          <p:nvPr userDrawn="1"/>
        </p:nvSpPr>
        <p:spPr bwMode="auto">
          <a:xfrm rot="5400000">
            <a:off x="165894" y="229394"/>
            <a:ext cx="274638" cy="273050"/>
          </a:xfrm>
          <a:prstGeom prst="rtTriangle">
            <a:avLst/>
          </a:prstGeom>
          <a:solidFill>
            <a:srgbClr val="0043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0043A5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Isosceles Triangle 3"/>
          <p:cNvSpPr/>
          <p:nvPr userDrawn="1"/>
        </p:nvSpPr>
        <p:spPr>
          <a:xfrm rot="16200000">
            <a:off x="11626850" y="6221413"/>
            <a:ext cx="358775" cy="774700"/>
          </a:xfrm>
          <a:prstGeom prst="triangle">
            <a:avLst/>
          </a:prstGeom>
          <a:solidFill>
            <a:srgbClr val="0E5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anchor="ctr"/>
          <a:lstStyle/>
          <a:p>
            <a:pPr algn="ctr" eaLnBrk="1" hangingPunct="1"/>
            <a:fld id="{D6ED0BA3-7E75-4C26-B4B8-F12C990C7A51}" type="slidenum">
              <a:rPr lang="zh-CN" altLang="en-US" sz="1200">
                <a:solidFill>
                  <a:srgbClr val="FFFFFF"/>
                </a:solidFill>
              </a:rPr>
              <a:t>‹#›</a:t>
            </a:fld>
            <a:endParaRPr lang="zh-CN" altLang="en-US" sz="1200">
              <a:solidFill>
                <a:srgbClr val="FFFFFF"/>
              </a:solidFill>
            </a:endParaRPr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E55C29AE-8285-51BC-6A0B-0D8635189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文字带英文与中文左右排列">
            <a:extLst>
              <a:ext uri="{FF2B5EF4-FFF2-40B4-BE49-F238E27FC236}">
                <a16:creationId xmlns:a16="http://schemas.microsoft.com/office/drawing/2014/main" id="{C654F6C1-9057-AC68-44AC-8153428C62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0428E576-3439-CDE9-1C1C-201ECED9C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" y="0"/>
            <a:ext cx="12191999" cy="1032038"/>
          </a:xfrm>
          <a:prstGeom prst="rect">
            <a:avLst/>
          </a:prstGeom>
        </p:spPr>
        <p:txBody>
          <a:bodyPr lIns="539959" tIns="45717" rIns="91433" bIns="45717"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64" y="-92"/>
            <a:ext cx="12224107" cy="1444752"/>
          </a:xfrm>
          <a:prstGeom prst="rect">
            <a:avLst/>
          </a:prstGeom>
        </p:spPr>
      </p:pic>
      <p:pic>
        <p:nvPicPr>
          <p:cNvPr id="9" name="图片 8" descr="MTC Logo-Registered.png"/>
          <p:cNvPicPr>
            <a:picLocks noChangeAspect="1"/>
          </p:cNvPicPr>
          <p:nvPr userDrawn="1"/>
        </p:nvPicPr>
        <p:blipFill>
          <a:blip r:embed="rId3" cstate="screen">
            <a:biLevel thresh="25000"/>
          </a:blip>
          <a:stretch>
            <a:fillRect/>
          </a:stretch>
        </p:blipFill>
        <p:spPr>
          <a:xfrm>
            <a:off x="10867300" y="389628"/>
            <a:ext cx="1171191" cy="29279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-1151731" y="580173"/>
            <a:ext cx="511961" cy="204069"/>
          </a:xfrm>
          <a:prstGeom prst="rect">
            <a:avLst/>
          </a:prstGeom>
          <a:solidFill>
            <a:srgbClr val="0E43F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-1151731" y="354504"/>
            <a:ext cx="511962" cy="204069"/>
          </a:xfrm>
          <a:prstGeom prst="rect">
            <a:avLst/>
          </a:prstGeom>
          <a:solidFill>
            <a:srgbClr val="718EF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-1151731" y="128835"/>
            <a:ext cx="511961" cy="204069"/>
          </a:xfrm>
          <a:prstGeom prst="rect">
            <a:avLst/>
          </a:prstGeom>
          <a:solidFill>
            <a:srgbClr val="A1B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567762" y="576007"/>
            <a:ext cx="511961" cy="20406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-567762" y="350338"/>
            <a:ext cx="511962" cy="204069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-567762" y="124669"/>
            <a:ext cx="511961" cy="204069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Rectangle 37"/>
          <p:cNvSpPr/>
          <p:nvPr userDrawn="1"/>
        </p:nvSpPr>
        <p:spPr bwMode="auto">
          <a:xfrm>
            <a:off x="8906623" y="6558176"/>
            <a:ext cx="3833840" cy="1618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zh-CN" altLang="en-US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lang="en-US" altLang="zh-CN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©1996-2022 </a:t>
            </a:r>
            <a:r>
              <a:rPr lang="zh-CN" altLang="en-US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普菲特计算机技术股份有限公司</a:t>
            </a:r>
            <a:endParaRPr lang="zh-CN" altLang="en-US" sz="1000" b="0" i="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0" y="6408995"/>
            <a:ext cx="1169634" cy="3946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536" y="138194"/>
            <a:ext cx="1197968" cy="2701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86425" y="1217384"/>
            <a:ext cx="10187404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/>
              <a:t>PMS</a:t>
            </a:r>
            <a:r>
              <a:rPr lang="zh-CN" altLang="en-US" sz="4000" b="1" dirty="0"/>
              <a:t>业财一体化</a:t>
            </a:r>
            <a:endParaRPr lang="en-US" altLang="zh-CN" sz="4000" b="1" dirty="0"/>
          </a:p>
          <a:p>
            <a:pPr algn="ctr"/>
            <a:r>
              <a:rPr lang="zh-CN" altLang="en-US" sz="6000" b="1" dirty="0"/>
              <a:t>智能体项目运维监控规划方案</a:t>
            </a:r>
            <a:endParaRPr lang="en-US" altLang="zh-CN" sz="6000" b="1" dirty="0"/>
          </a:p>
        </p:txBody>
      </p:sp>
      <p:sp>
        <p:nvSpPr>
          <p:cNvPr id="2" name="文本框 31">
            <a:extLst>
              <a:ext uri="{FF2B5EF4-FFF2-40B4-BE49-F238E27FC236}">
                <a16:creationId xmlns:a16="http://schemas.microsoft.com/office/drawing/2014/main" id="{AC550207-EEB7-380A-9BFA-68A84AE9D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197" y="3539843"/>
            <a:ext cx="4987606" cy="390602"/>
          </a:xfrm>
          <a:prstGeom prst="rect">
            <a:avLst/>
          </a:prstGeom>
          <a:noFill/>
          <a:ln w="12700">
            <a:noFill/>
            <a:round/>
          </a:ln>
        </p:spPr>
        <p:txBody>
          <a:bodyPr lIns="0" tIns="0" rIns="0" bIns="0" anchor="ctr"/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昕彤赋能（长沙）人工智能行业应用系统有限公司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5CD2E-9729-4AD2-A1D7-63D9B0688A9C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场景梳理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5CAA7EAE-0151-B0F2-5F98-974489A52F62}"/>
              </a:ext>
            </a:extLst>
          </p:cNvPr>
          <p:cNvSpPr/>
          <p:nvPr/>
        </p:nvSpPr>
        <p:spPr>
          <a:xfrm>
            <a:off x="727099" y="1015805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CE2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43591D12-6F9D-3700-9960-29836B194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599" y="1396805"/>
            <a:ext cx="609600" cy="609600"/>
          </a:xfrm>
          <a:prstGeom prst="rect">
            <a:avLst/>
          </a:prstGeom>
        </p:spPr>
      </p:pic>
      <p:sp>
        <p:nvSpPr>
          <p:cNvPr id="13" name="AutoShape 8">
            <a:extLst>
              <a:ext uri="{FF2B5EF4-FFF2-40B4-BE49-F238E27FC236}">
                <a16:creationId xmlns:a16="http://schemas.microsoft.com/office/drawing/2014/main" id="{A9875B20-4F1E-0C6C-C831-5AFE3FD7C681}"/>
              </a:ext>
            </a:extLst>
          </p:cNvPr>
          <p:cNvSpPr/>
          <p:nvPr/>
        </p:nvSpPr>
        <p:spPr>
          <a:xfrm>
            <a:off x="1870099" y="1333305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Wingdings" panose="05000000000000000000" pitchFamily="2" charset="2"/>
              </a:rPr>
              <a:t></a:t>
            </a:r>
            <a:r>
              <a:rPr lang="zh-CN" altLang="en-US" sz="22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系统服务状态</a:t>
            </a:r>
            <a:endParaRPr lang="en-US" altLang="zh-CN" sz="2200" b="1" i="0" u="none" strike="noStrike" dirty="0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•AI-OS</a:t>
            </a:r>
            <a:r>
              <a:rPr lang="zh-CN" alt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正常运行、正常访问</a:t>
            </a:r>
            <a:endParaRPr lang="en-US" altLang="zh-CN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zh-CN" altLang="en-US" sz="1500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云端浏览器系统界面查看</a:t>
            </a:r>
            <a:endParaRPr lang="en-US" altLang="zh-CN" sz="1500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D3E9D61C-4B8C-E43A-BBA3-8C0022C6CA6B}"/>
              </a:ext>
            </a:extLst>
          </p:cNvPr>
          <p:cNvSpPr/>
          <p:nvPr/>
        </p:nvSpPr>
        <p:spPr>
          <a:xfrm>
            <a:off x="6188099" y="1015805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CE2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8A819D5A-46D7-9F17-BE03-35133DFE7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5599" y="1396805"/>
            <a:ext cx="609600" cy="609600"/>
          </a:xfrm>
          <a:prstGeom prst="rect">
            <a:avLst/>
          </a:prstGeom>
        </p:spPr>
      </p:pic>
      <p:sp>
        <p:nvSpPr>
          <p:cNvPr id="16" name="AutoShape 11">
            <a:extLst>
              <a:ext uri="{FF2B5EF4-FFF2-40B4-BE49-F238E27FC236}">
                <a16:creationId xmlns:a16="http://schemas.microsoft.com/office/drawing/2014/main" id="{6B003896-0985-1ED9-0D4D-A08521F112FA}"/>
              </a:ext>
            </a:extLst>
          </p:cNvPr>
          <p:cNvSpPr/>
          <p:nvPr/>
        </p:nvSpPr>
        <p:spPr>
          <a:xfrm>
            <a:off x="7331099" y="1333305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1F2329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</a:t>
            </a:r>
            <a:r>
              <a:rPr lang="zh-CN" altLang="en-US" sz="2200" b="1" dirty="0">
                <a:solidFill>
                  <a:srgbClr val="1F2329"/>
                </a:solidFill>
                <a:latin typeface="微软雅黑"/>
                <a:ea typeface="微软雅黑"/>
                <a:sym typeface="微软雅黑"/>
              </a:rPr>
              <a:t>系统服务期限</a:t>
            </a:r>
            <a:endParaRPr lang="en-US" sz="1100" dirty="0"/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zh-CN" alt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系统服务有效控制时长</a:t>
            </a:r>
            <a:endParaRPr lang="en-US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B4142542-CC71-54BB-04C7-AEF762027C5F}"/>
              </a:ext>
            </a:extLst>
          </p:cNvPr>
          <p:cNvSpPr/>
          <p:nvPr/>
        </p:nvSpPr>
        <p:spPr>
          <a:xfrm>
            <a:off x="727099" y="3792743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CE2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EC4B11E-056C-19AE-D25B-34FBC9B30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599" y="4173743"/>
            <a:ext cx="609600" cy="609600"/>
          </a:xfrm>
          <a:prstGeom prst="rect">
            <a:avLst/>
          </a:prstGeom>
        </p:spPr>
      </p:pic>
      <p:sp>
        <p:nvSpPr>
          <p:cNvPr id="5" name="AutoShape 8">
            <a:extLst>
              <a:ext uri="{FF2B5EF4-FFF2-40B4-BE49-F238E27FC236}">
                <a16:creationId xmlns:a16="http://schemas.microsoft.com/office/drawing/2014/main" id="{1C57C209-9402-8304-44CE-D23BD5D288BD}"/>
              </a:ext>
            </a:extLst>
          </p:cNvPr>
          <p:cNvSpPr/>
          <p:nvPr/>
        </p:nvSpPr>
        <p:spPr>
          <a:xfrm>
            <a:off x="1870099" y="4110243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Wingdings" panose="05000000000000000000" pitchFamily="2" charset="2"/>
              </a:rPr>
              <a:t></a:t>
            </a:r>
            <a:r>
              <a:rPr lang="zh-CN" altLang="en-US" sz="2200" b="1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系统控制状态</a:t>
            </a:r>
            <a:endParaRPr lang="en-US" altLang="zh-CN" sz="2200" b="1" dirty="0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altLang="zh-CN" sz="2200" b="1" dirty="0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zh-CN" altLang="en-US" sz="1500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控制</a:t>
            </a:r>
            <a:r>
              <a:rPr lang="en-US" altLang="zh-CN" sz="1500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zh-CN" altLang="en-US" sz="1500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停止策略</a:t>
            </a:r>
            <a:endParaRPr lang="en-US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zh-CN" alt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整体控制策略</a:t>
            </a:r>
            <a:endParaRPr lang="en-US" altLang="zh-CN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B6F0D38-D51B-4E7F-8A1B-5970690D3E5A}"/>
              </a:ext>
            </a:extLst>
          </p:cNvPr>
          <p:cNvSpPr/>
          <p:nvPr/>
        </p:nvSpPr>
        <p:spPr>
          <a:xfrm>
            <a:off x="6188099" y="3784818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CE2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2433FF28-F8D2-9C77-6322-0D4B3BDE1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5599" y="4165818"/>
            <a:ext cx="609600" cy="609600"/>
          </a:xfrm>
          <a:prstGeom prst="rect">
            <a:avLst/>
          </a:prstGeom>
        </p:spPr>
      </p:pic>
      <p:sp>
        <p:nvSpPr>
          <p:cNvPr id="17" name="AutoShape 11">
            <a:extLst>
              <a:ext uri="{FF2B5EF4-FFF2-40B4-BE49-F238E27FC236}">
                <a16:creationId xmlns:a16="http://schemas.microsoft.com/office/drawing/2014/main" id="{C83CC154-9EA9-A590-34A9-5C245EF9977B}"/>
              </a:ext>
            </a:extLst>
          </p:cNvPr>
          <p:cNvSpPr/>
          <p:nvPr/>
        </p:nvSpPr>
        <p:spPr>
          <a:xfrm>
            <a:off x="7331099" y="4102318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Wingdings" panose="05000000000000000000" pitchFamily="2" charset="2"/>
              </a:rPr>
              <a:t></a:t>
            </a:r>
            <a:r>
              <a:rPr lang="zh-CN" altLang="en-US" sz="22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远程控制</a:t>
            </a:r>
            <a:endParaRPr lang="en-US" altLang="zh-CN" sz="2200" b="1" i="0" u="none" strike="noStrike" dirty="0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altLang="zh-CN" sz="2200" b="1" i="0" u="none" strike="noStrike" dirty="0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zh-CN" altLang="en-US" sz="1500" b="0" i="0" u="none" strike="noStrike" dirty="0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远程调整控有效控制时长</a:t>
            </a:r>
            <a:endParaRPr lang="en-US" altLang="zh-CN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lnSpc>
                <a:spcPct val="125000"/>
              </a:lnSpc>
              <a:defRPr/>
            </a:pPr>
            <a:endParaRPr lang="en-US" sz="1500" b="0" i="0" u="none" strike="noStrike" dirty="0">
              <a:solidFill>
                <a:srgbClr val="646A73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4807218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2CE26-7BC2-6B4F-FC57-7B6B7EDE7000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方案规划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77AFE9-909B-4B58-BD24-B680488AD3AF}"/>
              </a:ext>
            </a:extLst>
          </p:cNvPr>
          <p:cNvSpPr/>
          <p:nvPr/>
        </p:nvSpPr>
        <p:spPr>
          <a:xfrm>
            <a:off x="2531165" y="5115339"/>
            <a:ext cx="7620000" cy="10204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工艺智控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AI-OS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751345-5A26-FF90-21C6-36B8390CF84A}"/>
              </a:ext>
            </a:extLst>
          </p:cNvPr>
          <p:cNvSpPr/>
          <p:nvPr/>
        </p:nvSpPr>
        <p:spPr>
          <a:xfrm>
            <a:off x="2531165" y="998049"/>
            <a:ext cx="7620000" cy="10204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业财一体化（运维监控模块）</a:t>
            </a: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65049877-D294-2A33-5889-A6F35151F6AF}"/>
              </a:ext>
            </a:extLst>
          </p:cNvPr>
          <p:cNvSpPr/>
          <p:nvPr/>
        </p:nvSpPr>
        <p:spPr>
          <a:xfrm>
            <a:off x="3231338" y="2159377"/>
            <a:ext cx="660019" cy="1698171"/>
          </a:xfrm>
          <a:prstGeom prst="down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B4A03DB2-C129-511B-F022-2F364F92F9C1}"/>
              </a:ext>
            </a:extLst>
          </p:cNvPr>
          <p:cNvSpPr/>
          <p:nvPr/>
        </p:nvSpPr>
        <p:spPr>
          <a:xfrm rot="10800000">
            <a:off x="6080530" y="2189979"/>
            <a:ext cx="660019" cy="1698171"/>
          </a:xfrm>
          <a:prstGeom prst="down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D07AF2BE-F449-A0D4-51FB-C01D98B0DAC1}"/>
              </a:ext>
            </a:extLst>
          </p:cNvPr>
          <p:cNvSpPr/>
          <p:nvPr/>
        </p:nvSpPr>
        <p:spPr>
          <a:xfrm rot="10800000">
            <a:off x="8929722" y="2159376"/>
            <a:ext cx="660019" cy="1698171"/>
          </a:xfrm>
          <a:prstGeom prst="down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86D87-9865-290E-4443-E6B770C95698}"/>
              </a:ext>
            </a:extLst>
          </p:cNvPr>
          <p:cNvSpPr txBox="1"/>
          <p:nvPr/>
        </p:nvSpPr>
        <p:spPr>
          <a:xfrm>
            <a:off x="2562104" y="4241817"/>
            <a:ext cx="233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+mn-ea"/>
                <a:ea typeface="+mn-ea"/>
              </a:rPr>
              <a:t>系统服务状态：通过</a:t>
            </a:r>
            <a:r>
              <a:rPr lang="en-US" altLang="zh-CN" sz="1200" dirty="0">
                <a:latin typeface="+mn-ea"/>
                <a:ea typeface="+mn-ea"/>
              </a:rPr>
              <a:t>VPN</a:t>
            </a:r>
            <a:r>
              <a:rPr lang="zh-CN" altLang="en-US" sz="1200" dirty="0">
                <a:latin typeface="+mn-ea"/>
                <a:ea typeface="+mn-ea"/>
              </a:rPr>
              <a:t>访问识别系统是否正常运行、网络正常（开发中）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2DC735-19A8-D297-7662-399EE9A309F3}"/>
              </a:ext>
            </a:extLst>
          </p:cNvPr>
          <p:cNvSpPr txBox="1"/>
          <p:nvPr/>
        </p:nvSpPr>
        <p:spPr>
          <a:xfrm>
            <a:off x="3306394" y="2515844"/>
            <a:ext cx="364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Wingdings" panose="05000000000000000000" pitchFamily="2" charset="2"/>
              </a:rPr>
              <a:t>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01953C-4347-FD34-F126-4FFE5EF7DA99}"/>
              </a:ext>
            </a:extLst>
          </p:cNvPr>
          <p:cNvSpPr txBox="1"/>
          <p:nvPr/>
        </p:nvSpPr>
        <p:spPr>
          <a:xfrm>
            <a:off x="6158686" y="2509639"/>
            <a:ext cx="364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Wingdings" panose="05000000000000000000" pitchFamily="2" charset="2"/>
              </a:rPr>
              <a:t>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BC0721-CC6A-BFFF-E7E9-2830149CE00C}"/>
              </a:ext>
            </a:extLst>
          </p:cNvPr>
          <p:cNvSpPr txBox="1"/>
          <p:nvPr/>
        </p:nvSpPr>
        <p:spPr>
          <a:xfrm>
            <a:off x="9013035" y="2509639"/>
            <a:ext cx="364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Wingdings" panose="05000000000000000000" pitchFamily="2" charset="2"/>
              </a:rPr>
              <a:t>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DBE6AB-0620-76C7-0262-1D9DF0913088}"/>
              </a:ext>
            </a:extLst>
          </p:cNvPr>
          <p:cNvSpPr txBox="1"/>
          <p:nvPr/>
        </p:nvSpPr>
        <p:spPr>
          <a:xfrm>
            <a:off x="5243202" y="4216405"/>
            <a:ext cx="2334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+mn-ea"/>
                <a:ea typeface="+mn-ea"/>
              </a:rPr>
              <a:t>系统服务期限：以项目</a:t>
            </a:r>
            <a:r>
              <a:rPr lang="en-US" altLang="zh-CN" sz="1200" dirty="0">
                <a:latin typeface="+mn-ea"/>
                <a:ea typeface="+mn-ea"/>
              </a:rPr>
              <a:t>ID</a:t>
            </a:r>
            <a:r>
              <a:rPr lang="zh-CN" altLang="en-US" sz="1200" dirty="0">
                <a:latin typeface="+mn-ea"/>
                <a:ea typeface="+mn-ea"/>
              </a:rPr>
              <a:t>为标识，上传控制开始时间、控制结束时间；控制开始、控制结束有变化即推送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8238E1-5F33-B030-8493-B8F505060389}"/>
              </a:ext>
            </a:extLst>
          </p:cNvPr>
          <p:cNvSpPr txBox="1"/>
          <p:nvPr/>
        </p:nvSpPr>
        <p:spPr>
          <a:xfrm>
            <a:off x="8092394" y="4241816"/>
            <a:ext cx="233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+mn-ea"/>
                <a:ea typeface="+mn-ea"/>
              </a:rPr>
              <a:t>系统控制状态：以项目</a:t>
            </a:r>
            <a:r>
              <a:rPr lang="en-US" altLang="zh-CN" sz="1200" dirty="0">
                <a:latin typeface="+mn-ea"/>
                <a:ea typeface="+mn-ea"/>
              </a:rPr>
              <a:t>ID</a:t>
            </a:r>
            <a:r>
              <a:rPr lang="zh-CN" altLang="en-US" sz="1200" dirty="0">
                <a:latin typeface="+mn-ea"/>
                <a:ea typeface="+mn-ea"/>
              </a:rPr>
              <a:t>为标识，上传智能体控制状态，有变化即推送</a:t>
            </a:r>
          </a:p>
        </p:txBody>
      </p:sp>
    </p:spTree>
    <p:extLst>
      <p:ext uri="{BB962C8B-B14F-4D97-AF65-F5344CB8AC3E}">
        <p14:creationId xmlns:p14="http://schemas.microsoft.com/office/powerpoint/2010/main" val="3064864607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4677A0-3EE0-6067-3022-4BED38C4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04" y="741546"/>
            <a:ext cx="10134401" cy="5990557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0BD8512D-E0FA-D4F2-9F03-BF21FD805165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项目驾驶舱</a:t>
            </a:r>
          </a:p>
        </p:txBody>
      </p:sp>
    </p:spTree>
    <p:extLst>
      <p:ext uri="{BB962C8B-B14F-4D97-AF65-F5344CB8AC3E}">
        <p14:creationId xmlns:p14="http://schemas.microsoft.com/office/powerpoint/2010/main" val="64097830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C2226A-4B9F-3360-8EBD-9DD22A40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65" y="721967"/>
            <a:ext cx="9355552" cy="5784850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6C08786E-0BC5-37F4-B0AD-87D4A25B2BD2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项目运营监控</a:t>
            </a:r>
          </a:p>
        </p:txBody>
      </p:sp>
    </p:spTree>
    <p:extLst>
      <p:ext uri="{BB962C8B-B14F-4D97-AF65-F5344CB8AC3E}">
        <p14:creationId xmlns:p14="http://schemas.microsoft.com/office/powerpoint/2010/main" val="267500782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A0FD71-2867-31E4-1E0B-D2EDF3D0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30" y="866445"/>
            <a:ext cx="9876780" cy="5719886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FF3E4851-8068-C7FA-F464-3C8736843101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智能体总览</a:t>
            </a:r>
          </a:p>
        </p:txBody>
      </p:sp>
    </p:spTree>
    <p:extLst>
      <p:ext uri="{BB962C8B-B14F-4D97-AF65-F5344CB8AC3E}">
        <p14:creationId xmlns:p14="http://schemas.microsoft.com/office/powerpoint/2010/main" val="342681320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906F0FE4-8E51-0A24-06ED-D2574AB8408B}"/>
              </a:ext>
            </a:extLst>
          </p:cNvPr>
          <p:cNvSpPr txBox="1"/>
          <p:nvPr/>
        </p:nvSpPr>
        <p:spPr>
          <a:xfrm>
            <a:off x="3768532" y="1780098"/>
            <a:ext cx="4634865" cy="1258570"/>
          </a:xfrm>
          <a:prstGeom prst="rect">
            <a:avLst/>
          </a:prstGeom>
          <a:noFill/>
        </p:spPr>
        <p:txBody>
          <a:bodyPr wrap="square" lIns="28925" tIns="14462" rIns="28925" bIns="14462" rtlCol="0">
            <a:spAutoFit/>
          </a:bodyPr>
          <a:lstStyle>
            <a:defPPr>
              <a:defRPr lang="zh-CN"/>
            </a:defPPr>
            <a:lvl1pPr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dist"/>
            <a:r>
              <a:rPr lang="zh-CN" altLang="en-US" sz="8000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感谢观看</a:t>
            </a:r>
          </a:p>
        </p:txBody>
      </p:sp>
      <p:sp>
        <p:nvSpPr>
          <p:cNvPr id="4" name="TextBox 48">
            <a:extLst>
              <a:ext uri="{FF2B5EF4-FFF2-40B4-BE49-F238E27FC236}">
                <a16:creationId xmlns:a16="http://schemas.microsoft.com/office/drawing/2014/main" id="{9F475AC9-AE9B-6C51-0828-DBD1CD4710B2}"/>
              </a:ext>
            </a:extLst>
          </p:cNvPr>
          <p:cNvSpPr txBox="1"/>
          <p:nvPr/>
        </p:nvSpPr>
        <p:spPr>
          <a:xfrm>
            <a:off x="4457567" y="3609063"/>
            <a:ext cx="3944937" cy="65976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地址：湖南省长沙市岳麓区咸嘉湖街道王府井写字楼1306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电话：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0731-82441008</a:t>
            </a:r>
            <a:endParaRPr lang="en-US" altLang="zh-CN" sz="11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网址：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https://www.hunmingai.com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5" name="图片 4" descr="C:/Users/HUAWEI/Desktop/扫码_搜索联合传播样式-白色版.png扫码_搜索联合传播样式-白色版">
            <a:extLst>
              <a:ext uri="{FF2B5EF4-FFF2-40B4-BE49-F238E27FC236}">
                <a16:creationId xmlns:a16="http://schemas.microsoft.com/office/drawing/2014/main" id="{BDA1770F-817C-566F-E027-69D4BE38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3414577" y="3263390"/>
            <a:ext cx="1006894" cy="10068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EB0A00-A713-5771-BA4E-34DA85C0C3C2}"/>
              </a:ext>
            </a:extLst>
          </p:cNvPr>
          <p:cNvSpPr/>
          <p:nvPr/>
        </p:nvSpPr>
        <p:spPr>
          <a:xfrm>
            <a:off x="4457507" y="3271078"/>
            <a:ext cx="47491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昕彤赋能（长沙）人工智能行业应用系统有限公司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B03AC9-A463-C527-9DA1-C2212DFE0994}"/>
              </a:ext>
            </a:extLst>
          </p:cNvPr>
          <p:cNvSpPr/>
          <p:nvPr/>
        </p:nvSpPr>
        <p:spPr>
          <a:xfrm>
            <a:off x="3330794" y="1849243"/>
            <a:ext cx="4954526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书宋二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3394994-c40b-46c8-80ca-5c36dbb6afdc"/>
  <p:tag name="COMMONDATA" val="eyJoZGlkIjoiMjI1ZmQyMTYzOTAwNjg5YzAwODM1NGYzNWEzODcyYjk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 sz="12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36334</TotalTime>
  <Words>204</Words>
  <Application>Microsoft Office PowerPoint</Application>
  <PresentationFormat>宽屏</PresentationFormat>
  <Paragraphs>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贵 张</cp:lastModifiedBy>
  <cp:revision>1973</cp:revision>
  <cp:lastPrinted>2021-06-16T06:29:00Z</cp:lastPrinted>
  <dcterms:created xsi:type="dcterms:W3CDTF">2019-06-19T02:08:00Z</dcterms:created>
  <dcterms:modified xsi:type="dcterms:W3CDTF">2026-05-27T10:36:44Z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702A9507C5A14EB0BECAC24DB445FB33</vt:lpwstr>
  </property>
</Properties>
</file>