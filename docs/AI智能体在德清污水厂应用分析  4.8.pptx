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3.xml" ContentType="application/vnd.openxmlformats-officedocument.them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1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charts/chart1.xml" ContentType="application/vnd.openxmlformats-officedocument.drawingml.chart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charts/chart2.xml" ContentType="application/vnd.openxmlformats-officedocument.drawingml.chart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charts/chart3.xml" ContentType="application/vnd.openxmlformats-officedocument.drawingml.chart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charts/chart4.xml" ContentType="application/vnd.openxmlformats-officedocument.drawingml.chart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charts/chart5.xml" ContentType="application/vnd.openxmlformats-officedocument.drawingml.chart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charts/chart6.xml" ContentType="application/vnd.openxmlformats-officedocument.drawingml.chart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1"/>
  </p:notesMasterIdLst>
  <p:sldIdLst>
    <p:sldId id="257" r:id="rId3"/>
    <p:sldId id="259" r:id="rId4"/>
    <p:sldId id="418" r:id="rId5"/>
    <p:sldId id="463" r:id="rId6"/>
    <p:sldId id="423" r:id="rId7"/>
    <p:sldId id="424" r:id="rId8"/>
    <p:sldId id="459" r:id="rId9"/>
    <p:sldId id="460" r:id="rId10"/>
    <p:sldId id="461" r:id="rId11"/>
    <p:sldId id="462" r:id="rId12"/>
    <p:sldId id="365" r:id="rId13"/>
    <p:sldId id="465" r:id="rId14"/>
    <p:sldId id="467" r:id="rId15"/>
    <p:sldId id="468" r:id="rId16"/>
    <p:sldId id="473" r:id="rId17"/>
    <p:sldId id="475" r:id="rId18"/>
    <p:sldId id="271" r:id="rId19"/>
    <p:sldId id="436" r:id="rId20"/>
    <p:sldId id="471" r:id="rId21"/>
    <p:sldId id="431" r:id="rId22"/>
    <p:sldId id="477" r:id="rId23"/>
    <p:sldId id="474" r:id="rId24"/>
    <p:sldId id="425" r:id="rId25"/>
    <p:sldId id="478" r:id="rId26"/>
    <p:sldId id="479" r:id="rId27"/>
    <p:sldId id="426" r:id="rId28"/>
    <p:sldId id="449" r:id="rId29"/>
    <p:sldId id="283" r:id="rId30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2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47274"/>
    <a:srgbClr val="E7E6E6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44" y="204"/>
      </p:cViewPr>
      <p:guideLst>
        <p:guide orient="horz" pos="2252"/>
        <p:guide pos="381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esktop\&#24503;&#28165;&#35843;&#35797;\&#24503;&#28165;&#27599;&#26376;&#36816;&#33829;&#25253;&#34920;&#65288;&#21547;&#35843;&#35797;&#35760;&#24405;&#65289;4.7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esktop\&#24503;&#28165;&#35843;&#35797;\&#24503;&#28165;&#27599;&#26376;&#36816;&#33829;&#25253;&#34920;&#65288;&#21547;&#35843;&#35797;&#35760;&#24405;&#65289;4.7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esktop\&#24503;&#28165;&#35843;&#35797;\&#24503;&#28165;&#30005;&#32791;&#25253;&#34920;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esktop\&#24503;&#28165;&#35843;&#35797;\&#24503;&#28165;&#27599;&#26376;&#36816;&#33829;&#25253;&#34920;&#65288;&#21547;&#35843;&#35797;&#35760;&#24405;&#65289;4.7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esktop\&#24503;&#28165;&#35843;&#35797;\&#24503;&#28165;&#27700;&#36136;&#25253;&#34920;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esktop\&#24503;&#28165;&#35843;&#35797;\&#24503;&#28165;&#27700;&#36136;&#25253;&#34920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 rot="0" vert="horz"/>
          <a:lstStyle/>
          <a:p>
            <a:pPr>
              <a:defRPr/>
            </a:pPr>
            <a:r>
              <a:rPr lang="en-US"/>
              <a:t>26</a:t>
            </a:r>
            <a:r>
              <a:rPr lang="zh-CN"/>
              <a:t>年</a:t>
            </a:r>
            <a:r>
              <a:rPr lang="en-US"/>
              <a:t>1-3</a:t>
            </a:r>
            <a:r>
              <a:rPr lang="zh-CN"/>
              <a:t>月生化池溶氧</a:t>
            </a:r>
          </a:p>
        </c:rich>
      </c:tx>
      <c:overlay val="1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一期DO（mg/L）</c:v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zh-CN"/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每月运营指标分析!$Q$19:$Q$21</c:f>
              <c:numCache>
                <c:formatCode>0.00_ </c:formatCode>
                <c:ptCount val="3"/>
                <c:pt idx="0">
                  <c:v>2.583346419354839</c:v>
                </c:pt>
                <c:pt idx="1">
                  <c:v>2.66627939285714</c:v>
                </c:pt>
                <c:pt idx="2">
                  <c:v>2.028011666666671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81-4967-8E0E-771D8C9AF73E}"/>
            </c:ext>
          </c:extLst>
        </c:ser>
        <c:ser>
          <c:idx val="1"/>
          <c:order val="1"/>
          <c:tx>
            <c:v>二期DO（mg/L)</c:v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zh-CN"/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每月运营指标分析!$R$19:$R$21</c:f>
              <c:numCache>
                <c:formatCode>0.00_ </c:formatCode>
                <c:ptCount val="3"/>
                <c:pt idx="0">
                  <c:v>3.903117935483869</c:v>
                </c:pt>
                <c:pt idx="1">
                  <c:v>4.4657586428571401</c:v>
                </c:pt>
                <c:pt idx="2">
                  <c:v>2.7956865666666699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81-4967-8E0E-771D8C9AF73E}"/>
            </c:ext>
          </c:extLst>
        </c:ser>
        <c:dLbls>
          <c:showLegendKey val="1"/>
          <c:showVal val="1"/>
          <c:showCatName val="1"/>
          <c:showSerName val="1"/>
          <c:showPercent val="1"/>
          <c:showBubbleSize val="1"/>
        </c:dLbls>
        <c:gapWidth val="150"/>
        <c:axId val="301485056"/>
        <c:axId val="301499136"/>
      </c:barChart>
      <c:catAx>
        <c:axId val="301485056"/>
        <c:scaling>
          <c:orientation val="minMax"/>
        </c:scaling>
        <c:delete val="1"/>
        <c:axPos val="b"/>
        <c:majorTickMark val="cross"/>
        <c:minorTickMark val="cross"/>
        <c:tickLblPos val="nextTo"/>
        <c:crossAx val="301499136"/>
        <c:crosses val="autoZero"/>
        <c:auto val="1"/>
        <c:lblAlgn val="ctr"/>
        <c:lblOffset val="100"/>
        <c:noMultiLvlLbl val="1"/>
      </c:catAx>
      <c:valAx>
        <c:axId val="301499136"/>
        <c:scaling>
          <c:orientation val="minMax"/>
        </c:scaling>
        <c:delete val="1"/>
        <c:axPos val="l"/>
        <c:numFmt formatCode="0.00_ " sourceLinked="1"/>
        <c:majorTickMark val="cross"/>
        <c:minorTickMark val="cross"/>
        <c:tickLblPos val="nextTo"/>
        <c:crossAx val="301485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6186671921851834"/>
          <c:y val="0.49177334926972227"/>
          <c:w val="0.23020053299320375"/>
          <c:h val="0.14807296298029671"/>
        </c:manualLayout>
      </c:layout>
      <c:overlay val="1"/>
      <c:txPr>
        <a:bodyPr rot="0" vert="horz"/>
        <a:lstStyle/>
        <a:p>
          <a:pPr>
            <a:defRPr/>
          </a:pPr>
          <a:endParaRPr lang="zh-CN"/>
        </a:p>
      </c:txPr>
    </c:legend>
    <c:plotVisOnly val="1"/>
    <c:dispBlanksAs val="gap"/>
    <c:showDLblsOverMax val="1"/>
    <c:extLst>
      <c:ext uri="{0b15fc19-7d7d-44ad-8c2d-2c3a37ce22c3}">
        <chartProps xmlns="https://web.wps.cn/et/2018/main" chartId="{ade38e7e-aa62-475f-8d83-59e7a2e4ca65}"/>
      </c:ext>
    </c:extLst>
  </c:chart>
  <c:txPr>
    <a:bodyPr/>
    <a:lstStyle/>
    <a:p>
      <a:pPr>
        <a:defRPr lang="zh-CN" sz="1800"/>
      </a:pPr>
      <a:endParaRPr lang="zh-CN"/>
    </a:p>
  </c:tx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dirty="0"/>
              <a:t>吨水电耗</a:t>
            </a:r>
            <a:r>
              <a:rPr lang="en-US" dirty="0"/>
              <a:t>(</a:t>
            </a:r>
            <a:r>
              <a:rPr lang="en-US" dirty="0" err="1"/>
              <a:t>kwh</a:t>
            </a:r>
            <a:r>
              <a:rPr lang="en-US" dirty="0"/>
              <a:t>/m3)</a:t>
            </a:r>
            <a:endParaRPr lang="zh-CN" dirty="0"/>
          </a:p>
        </c:rich>
      </c:tx>
      <c:overlay val="1"/>
    </c:title>
    <c:autoTitleDeleted val="0"/>
    <c:view3D>
      <c:rotX val="0"/>
      <c:rotY val="0"/>
      <c:rAngAx val="1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1362624771900549"/>
          <c:y val="9.9986160318264961E-2"/>
          <c:w val="0.874131780472855"/>
          <c:h val="0.64408010329573462"/>
        </c:manualLayout>
      </c:layout>
      <c:bar3DChart>
        <c:barDir val="col"/>
        <c:grouping val="clustered"/>
        <c:varyColors val="1"/>
        <c:ser>
          <c:idx val="0"/>
          <c:order val="0"/>
          <c:invertIfNegative val="1"/>
          <c:dLbls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Sheet1!$D$4:$D$18</c:f>
              <c:numCache>
                <c:formatCode>yyyy"年"m"月";@</c:formatCode>
                <c:ptCount val="15"/>
                <c:pt idx="0">
                  <c:v>45658</c:v>
                </c:pt>
                <c:pt idx="1">
                  <c:v>45689</c:v>
                </c:pt>
                <c:pt idx="2">
                  <c:v>45717</c:v>
                </c:pt>
                <c:pt idx="3">
                  <c:v>45748</c:v>
                </c:pt>
                <c:pt idx="4">
                  <c:v>45778</c:v>
                </c:pt>
                <c:pt idx="5">
                  <c:v>45809</c:v>
                </c:pt>
                <c:pt idx="6">
                  <c:v>45839</c:v>
                </c:pt>
                <c:pt idx="7">
                  <c:v>45870</c:v>
                </c:pt>
                <c:pt idx="8">
                  <c:v>45901</c:v>
                </c:pt>
                <c:pt idx="9">
                  <c:v>45931</c:v>
                </c:pt>
                <c:pt idx="10">
                  <c:v>45962</c:v>
                </c:pt>
                <c:pt idx="11">
                  <c:v>45992</c:v>
                </c:pt>
                <c:pt idx="12" formatCode="yyyy&quot;年&quot;m&quot;月&quot;">
                  <c:v>46023</c:v>
                </c:pt>
                <c:pt idx="13" formatCode="yyyy&quot;年&quot;m&quot;月&quot;">
                  <c:v>46054</c:v>
                </c:pt>
                <c:pt idx="14" formatCode="yyyy&quot;年&quot;m&quot;月&quot;">
                  <c:v>46082</c:v>
                </c:pt>
              </c:numCache>
            </c:numRef>
          </c:cat>
          <c:val>
            <c:numRef>
              <c:f>Sheet1!$E$4:$E$18</c:f>
              <c:numCache>
                <c:formatCode>0.000_ </c:formatCode>
                <c:ptCount val="15"/>
                <c:pt idx="0">
                  <c:v>0.77060428741527376</c:v>
                </c:pt>
                <c:pt idx="1">
                  <c:v>0.67576521547471902</c:v>
                </c:pt>
                <c:pt idx="2">
                  <c:v>0.45560743162099493</c:v>
                </c:pt>
                <c:pt idx="3">
                  <c:v>0.49793100294917902</c:v>
                </c:pt>
                <c:pt idx="4">
                  <c:v>0.50072975913525797</c:v>
                </c:pt>
                <c:pt idx="5">
                  <c:v>0.41258659388599545</c:v>
                </c:pt>
                <c:pt idx="6">
                  <c:v>0.49903997875123002</c:v>
                </c:pt>
                <c:pt idx="7">
                  <c:v>0.52993747140460501</c:v>
                </c:pt>
                <c:pt idx="8">
                  <c:v>0.46118679507068144</c:v>
                </c:pt>
                <c:pt idx="9">
                  <c:v>0.49032111802099898</c:v>
                </c:pt>
                <c:pt idx="10">
                  <c:v>0.4345892742644486</c:v>
                </c:pt>
                <c:pt idx="11">
                  <c:v>0.42680892999279857</c:v>
                </c:pt>
                <c:pt idx="12" formatCode="General">
                  <c:v>0.43200000000000022</c:v>
                </c:pt>
                <c:pt idx="13" formatCode="General">
                  <c:v>0.51600000000000001</c:v>
                </c:pt>
                <c:pt idx="14" formatCode="General">
                  <c:v>0.40700000000000008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F6-4A75-9E83-FA4854D840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01798144"/>
        <c:axId val="301799680"/>
        <c:axId val="0"/>
      </c:bar3DChart>
      <c:dateAx>
        <c:axId val="301798144"/>
        <c:scaling>
          <c:orientation val="minMax"/>
        </c:scaling>
        <c:delete val="1"/>
        <c:axPos val="b"/>
        <c:numFmt formatCode="yyyy&quot;年&quot;m&quot;月&quot;;@" sourceLinked="1"/>
        <c:majorTickMark val="cross"/>
        <c:minorTickMark val="cross"/>
        <c:tickLblPos val="nextTo"/>
        <c:crossAx val="301799680"/>
        <c:crosses val="autoZero"/>
        <c:auto val="1"/>
        <c:lblOffset val="100"/>
        <c:baseTimeUnit val="months"/>
      </c:dateAx>
      <c:valAx>
        <c:axId val="301799680"/>
        <c:scaling>
          <c:orientation val="minMax"/>
        </c:scaling>
        <c:delete val="1"/>
        <c:axPos val="l"/>
        <c:numFmt formatCode="0.000_ " sourceLinked="1"/>
        <c:majorTickMark val="cross"/>
        <c:minorTickMark val="cross"/>
        <c:tickLblPos val="nextTo"/>
        <c:crossAx val="301798144"/>
        <c:crosses val="autoZero"/>
        <c:crossBetween val="between"/>
      </c:valAx>
    </c:plotArea>
    <c:plotVisOnly val="1"/>
    <c:dispBlanksAs val="zero"/>
    <c:showDLblsOverMax val="1"/>
  </c:chart>
  <c:txPr>
    <a:bodyPr/>
    <a:lstStyle/>
    <a:p>
      <a:pPr>
        <a:defRPr sz="1400"/>
      </a:pPr>
      <a:endParaRPr lang="zh-CN"/>
    </a:p>
  </c:txPr>
  <c:externalData r:id="rId1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26</a:t>
            </a:r>
            <a:r>
              <a:rPr lang="zh-CN"/>
              <a:t>年</a:t>
            </a:r>
            <a:r>
              <a:rPr lang="en-US"/>
              <a:t>2-4</a:t>
            </a:r>
            <a:r>
              <a:rPr lang="zh-CN"/>
              <a:t>月风机吨水电耗</a:t>
            </a:r>
            <a:r>
              <a:rPr lang="en-US"/>
              <a:t>(KWh/m³)</a:t>
            </a:r>
            <a:endParaRPr lang="zh-CN"/>
          </a:p>
        </c:rich>
      </c:tx>
      <c:layout>
        <c:manualLayout>
          <c:xMode val="edge"/>
          <c:yMode val="edge"/>
          <c:x val="0.33435476498181066"/>
          <c:y val="0.91167483668285998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9.0841180397474006E-2"/>
          <c:y val="8.9283010196290646E-2"/>
          <c:w val="0.8303290998577787"/>
          <c:h val="0.60148557590915253"/>
        </c:manualLayout>
      </c:layout>
      <c:lineChart>
        <c:grouping val="standard"/>
        <c:varyColors val="1"/>
        <c:ser>
          <c:idx val="0"/>
          <c:order val="0"/>
          <c:marker>
            <c:symbol val="none"/>
          </c:marker>
          <c:cat>
            <c:numRef>
              <c:f>Sheet1!$A$4:$A$69</c:f>
              <c:numCache>
                <c:formatCode>yyyy/m/d</c:formatCode>
                <c:ptCount val="66"/>
                <c:pt idx="0">
                  <c:v>46054</c:v>
                </c:pt>
                <c:pt idx="1">
                  <c:v>46055</c:v>
                </c:pt>
                <c:pt idx="2">
                  <c:v>46056</c:v>
                </c:pt>
                <c:pt idx="3">
                  <c:v>46057</c:v>
                </c:pt>
                <c:pt idx="4">
                  <c:v>46058</c:v>
                </c:pt>
                <c:pt idx="5">
                  <c:v>46059</c:v>
                </c:pt>
                <c:pt idx="6">
                  <c:v>46060</c:v>
                </c:pt>
                <c:pt idx="7">
                  <c:v>46061</c:v>
                </c:pt>
                <c:pt idx="8">
                  <c:v>46062</c:v>
                </c:pt>
                <c:pt idx="9">
                  <c:v>46063</c:v>
                </c:pt>
                <c:pt idx="10">
                  <c:v>46064</c:v>
                </c:pt>
                <c:pt idx="11">
                  <c:v>46065</c:v>
                </c:pt>
                <c:pt idx="12">
                  <c:v>46066</c:v>
                </c:pt>
                <c:pt idx="13">
                  <c:v>46067</c:v>
                </c:pt>
                <c:pt idx="14">
                  <c:v>46068</c:v>
                </c:pt>
                <c:pt idx="15">
                  <c:v>46069</c:v>
                </c:pt>
                <c:pt idx="16">
                  <c:v>46070</c:v>
                </c:pt>
                <c:pt idx="17">
                  <c:v>46071</c:v>
                </c:pt>
                <c:pt idx="18">
                  <c:v>46072</c:v>
                </c:pt>
                <c:pt idx="19">
                  <c:v>46073</c:v>
                </c:pt>
                <c:pt idx="20">
                  <c:v>46074</c:v>
                </c:pt>
                <c:pt idx="21">
                  <c:v>46075</c:v>
                </c:pt>
                <c:pt idx="22">
                  <c:v>46076</c:v>
                </c:pt>
                <c:pt idx="23">
                  <c:v>46077</c:v>
                </c:pt>
                <c:pt idx="24">
                  <c:v>46078</c:v>
                </c:pt>
                <c:pt idx="25">
                  <c:v>46079</c:v>
                </c:pt>
                <c:pt idx="26">
                  <c:v>46080</c:v>
                </c:pt>
                <c:pt idx="27">
                  <c:v>46081</c:v>
                </c:pt>
                <c:pt idx="28">
                  <c:v>46082</c:v>
                </c:pt>
                <c:pt idx="29">
                  <c:v>46083</c:v>
                </c:pt>
                <c:pt idx="30">
                  <c:v>46084</c:v>
                </c:pt>
                <c:pt idx="31">
                  <c:v>46085</c:v>
                </c:pt>
                <c:pt idx="32">
                  <c:v>46086</c:v>
                </c:pt>
                <c:pt idx="33">
                  <c:v>46087</c:v>
                </c:pt>
                <c:pt idx="34">
                  <c:v>46088</c:v>
                </c:pt>
                <c:pt idx="35">
                  <c:v>46089</c:v>
                </c:pt>
                <c:pt idx="36">
                  <c:v>46090</c:v>
                </c:pt>
                <c:pt idx="37">
                  <c:v>46091</c:v>
                </c:pt>
                <c:pt idx="38">
                  <c:v>46092</c:v>
                </c:pt>
                <c:pt idx="39">
                  <c:v>46093</c:v>
                </c:pt>
                <c:pt idx="40">
                  <c:v>46094</c:v>
                </c:pt>
                <c:pt idx="41">
                  <c:v>46095</c:v>
                </c:pt>
                <c:pt idx="42">
                  <c:v>46096</c:v>
                </c:pt>
                <c:pt idx="43">
                  <c:v>46097</c:v>
                </c:pt>
                <c:pt idx="44">
                  <c:v>46098</c:v>
                </c:pt>
                <c:pt idx="45">
                  <c:v>46099</c:v>
                </c:pt>
                <c:pt idx="46">
                  <c:v>46100</c:v>
                </c:pt>
                <c:pt idx="47">
                  <c:v>46101</c:v>
                </c:pt>
                <c:pt idx="48">
                  <c:v>46102</c:v>
                </c:pt>
                <c:pt idx="49">
                  <c:v>46103</c:v>
                </c:pt>
                <c:pt idx="50">
                  <c:v>46104</c:v>
                </c:pt>
                <c:pt idx="51">
                  <c:v>46105</c:v>
                </c:pt>
                <c:pt idx="52">
                  <c:v>46106</c:v>
                </c:pt>
                <c:pt idx="53">
                  <c:v>46107</c:v>
                </c:pt>
                <c:pt idx="54">
                  <c:v>46108</c:v>
                </c:pt>
                <c:pt idx="55">
                  <c:v>46109</c:v>
                </c:pt>
                <c:pt idx="56">
                  <c:v>46110</c:v>
                </c:pt>
                <c:pt idx="57">
                  <c:v>46111</c:v>
                </c:pt>
                <c:pt idx="58">
                  <c:v>46112</c:v>
                </c:pt>
                <c:pt idx="59">
                  <c:v>46113</c:v>
                </c:pt>
                <c:pt idx="60">
                  <c:v>46114</c:v>
                </c:pt>
                <c:pt idx="61">
                  <c:v>46115</c:v>
                </c:pt>
                <c:pt idx="62">
                  <c:v>46116</c:v>
                </c:pt>
                <c:pt idx="63">
                  <c:v>46117</c:v>
                </c:pt>
                <c:pt idx="64">
                  <c:v>46118</c:v>
                </c:pt>
                <c:pt idx="65">
                  <c:v>46119</c:v>
                </c:pt>
              </c:numCache>
            </c:numRef>
          </c:cat>
          <c:val>
            <c:numRef>
              <c:f>Sheet1!$C$4:$C$69</c:f>
              <c:numCache>
                <c:formatCode>General</c:formatCode>
                <c:ptCount val="66"/>
                <c:pt idx="0">
                  <c:v>3.500000000000001E-2</c:v>
                </c:pt>
                <c:pt idx="1">
                  <c:v>6.8000000000000019E-2</c:v>
                </c:pt>
                <c:pt idx="2">
                  <c:v>7.1999999999999995E-2</c:v>
                </c:pt>
                <c:pt idx="3">
                  <c:v>6.5000000000000002E-2</c:v>
                </c:pt>
                <c:pt idx="4">
                  <c:v>7.1999999999999995E-2</c:v>
                </c:pt>
                <c:pt idx="5">
                  <c:v>7.9000000000000042E-2</c:v>
                </c:pt>
                <c:pt idx="6">
                  <c:v>0.10199999999999998</c:v>
                </c:pt>
                <c:pt idx="7">
                  <c:v>8.800000000000005E-2</c:v>
                </c:pt>
                <c:pt idx="8">
                  <c:v>0.10100000000000002</c:v>
                </c:pt>
                <c:pt idx="9">
                  <c:v>0.114</c:v>
                </c:pt>
                <c:pt idx="10">
                  <c:v>9.9000000000000046E-2</c:v>
                </c:pt>
                <c:pt idx="11">
                  <c:v>0.11799999999999998</c:v>
                </c:pt>
                <c:pt idx="12">
                  <c:v>0.10500000000000002</c:v>
                </c:pt>
                <c:pt idx="13">
                  <c:v>0.11799999999999998</c:v>
                </c:pt>
                <c:pt idx="14">
                  <c:v>0.13300000000000001</c:v>
                </c:pt>
                <c:pt idx="15">
                  <c:v>0.10100000000000002</c:v>
                </c:pt>
                <c:pt idx="16">
                  <c:v>0.112</c:v>
                </c:pt>
                <c:pt idx="17">
                  <c:v>0.127</c:v>
                </c:pt>
                <c:pt idx="18">
                  <c:v>0.126</c:v>
                </c:pt>
                <c:pt idx="19">
                  <c:v>0.12400000000000004</c:v>
                </c:pt>
                <c:pt idx="20">
                  <c:v>0.125</c:v>
                </c:pt>
                <c:pt idx="21">
                  <c:v>0.10900000000000004</c:v>
                </c:pt>
                <c:pt idx="22">
                  <c:v>0.13200000000000001</c:v>
                </c:pt>
                <c:pt idx="23">
                  <c:v>9.3000000000000069E-2</c:v>
                </c:pt>
                <c:pt idx="24">
                  <c:v>0.111</c:v>
                </c:pt>
                <c:pt idx="25">
                  <c:v>9.0000000000000024E-2</c:v>
                </c:pt>
                <c:pt idx="26">
                  <c:v>8.800000000000005E-2</c:v>
                </c:pt>
                <c:pt idx="27">
                  <c:v>7.8000000000000014E-2</c:v>
                </c:pt>
                <c:pt idx="28">
                  <c:v>8.5000000000000006E-2</c:v>
                </c:pt>
                <c:pt idx="29">
                  <c:v>8.9000000000000065E-2</c:v>
                </c:pt>
                <c:pt idx="30">
                  <c:v>9.2000000000000026E-2</c:v>
                </c:pt>
                <c:pt idx="31">
                  <c:v>0.11700000000000002</c:v>
                </c:pt>
                <c:pt idx="32">
                  <c:v>0.115</c:v>
                </c:pt>
                <c:pt idx="33">
                  <c:v>0.115</c:v>
                </c:pt>
                <c:pt idx="34">
                  <c:v>0.113</c:v>
                </c:pt>
                <c:pt idx="35">
                  <c:v>0.113</c:v>
                </c:pt>
                <c:pt idx="36">
                  <c:v>0.11899999999999998</c:v>
                </c:pt>
                <c:pt idx="37">
                  <c:v>0.10299999999999998</c:v>
                </c:pt>
                <c:pt idx="38">
                  <c:v>9.7000000000000003E-2</c:v>
                </c:pt>
                <c:pt idx="39">
                  <c:v>8.9000000000000065E-2</c:v>
                </c:pt>
                <c:pt idx="40">
                  <c:v>9.1000000000000025E-2</c:v>
                </c:pt>
                <c:pt idx="41">
                  <c:v>9.1000000000000025E-2</c:v>
                </c:pt>
                <c:pt idx="42">
                  <c:v>8.800000000000005E-2</c:v>
                </c:pt>
                <c:pt idx="43">
                  <c:v>9.0000000000000024E-2</c:v>
                </c:pt>
                <c:pt idx="44">
                  <c:v>8.4000000000000047E-2</c:v>
                </c:pt>
                <c:pt idx="45">
                  <c:v>8.4000000000000047E-2</c:v>
                </c:pt>
                <c:pt idx="46">
                  <c:v>8.0000000000000043E-2</c:v>
                </c:pt>
                <c:pt idx="47">
                  <c:v>8.0000000000000043E-2</c:v>
                </c:pt>
                <c:pt idx="48">
                  <c:v>7.3999999999999996E-2</c:v>
                </c:pt>
                <c:pt idx="49">
                  <c:v>8.5000000000000006E-2</c:v>
                </c:pt>
                <c:pt idx="50">
                  <c:v>8.3000000000000046E-2</c:v>
                </c:pt>
                <c:pt idx="51">
                  <c:v>7.8000000000000014E-2</c:v>
                </c:pt>
                <c:pt idx="52">
                  <c:v>8.6000000000000021E-2</c:v>
                </c:pt>
                <c:pt idx="53">
                  <c:v>8.4000000000000047E-2</c:v>
                </c:pt>
                <c:pt idx="54">
                  <c:v>8.1000000000000003E-2</c:v>
                </c:pt>
                <c:pt idx="55">
                  <c:v>9.8000000000000059E-2</c:v>
                </c:pt>
                <c:pt idx="56">
                  <c:v>0.11</c:v>
                </c:pt>
                <c:pt idx="57">
                  <c:v>9.9000000000000046E-2</c:v>
                </c:pt>
                <c:pt idx="58">
                  <c:v>9.3000000000000069E-2</c:v>
                </c:pt>
                <c:pt idx="59">
                  <c:v>7.5999999999999998E-2</c:v>
                </c:pt>
                <c:pt idx="60">
                  <c:v>6.8000000000000019E-2</c:v>
                </c:pt>
                <c:pt idx="61">
                  <c:v>7.3000000000000009E-2</c:v>
                </c:pt>
                <c:pt idx="62">
                  <c:v>6.4000000000000043E-2</c:v>
                </c:pt>
                <c:pt idx="63">
                  <c:v>7.3000000000000009E-2</c:v>
                </c:pt>
                <c:pt idx="64">
                  <c:v>8.0000000000000043E-2</c:v>
                </c:pt>
                <c:pt idx="65">
                  <c:v>8.0000000000000043E-2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B0E-44B4-9C9B-B7A4F5414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01854080"/>
        <c:axId val="302068864"/>
      </c:lineChart>
      <c:dateAx>
        <c:axId val="301854080"/>
        <c:scaling>
          <c:orientation val="minMax"/>
        </c:scaling>
        <c:delete val="1"/>
        <c:axPos val="b"/>
        <c:numFmt formatCode="yyyy/m/d" sourceLinked="1"/>
        <c:majorTickMark val="in"/>
        <c:minorTickMark val="cross"/>
        <c:tickLblPos val="nextTo"/>
        <c:crossAx val="302068864"/>
        <c:crosses val="autoZero"/>
        <c:auto val="1"/>
        <c:lblOffset val="100"/>
        <c:baseTimeUnit val="days"/>
      </c:dateAx>
      <c:valAx>
        <c:axId val="302068864"/>
        <c:scaling>
          <c:orientation val="minMax"/>
          <c:max val="0.16"/>
        </c:scaling>
        <c:delete val="1"/>
        <c:axPos val="l"/>
        <c:numFmt formatCode="General" sourceLinked="1"/>
        <c:majorTickMark val="in"/>
        <c:minorTickMark val="cross"/>
        <c:tickLblPos val="nextTo"/>
        <c:crossAx val="301854080"/>
        <c:crosses val="autoZero"/>
        <c:crossBetween val="between"/>
      </c:valAx>
      <c:spPr>
        <a:ln>
          <a:solidFill>
            <a:sysClr val="windowText" lastClr="000000"/>
          </a:solidFill>
        </a:ln>
      </c:spPr>
    </c:plotArea>
    <c:plotVisOnly val="1"/>
    <c:dispBlanksAs val="zero"/>
    <c:showDLblsOverMax val="1"/>
  </c:chart>
  <c:txPr>
    <a:bodyPr/>
    <a:lstStyle/>
    <a:p>
      <a:pPr>
        <a:defRPr sz="1400"/>
      </a:pPr>
      <a:endParaRPr lang="zh-CN"/>
    </a:p>
  </c:txPr>
  <c:externalData r:id="rId1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6"/>
  <c:chart>
    <c:title>
      <c:tx>
        <c:rich>
          <a:bodyPr rot="0" vert="horz"/>
          <a:lstStyle/>
          <a:p>
            <a:pPr algn="ctr" rtl="0">
              <a:defRPr/>
            </a:pPr>
            <a:r>
              <a:rPr lang="en-US"/>
              <a:t>26</a:t>
            </a:r>
            <a:r>
              <a:rPr lang="zh-CN"/>
              <a:t>年</a:t>
            </a:r>
            <a:r>
              <a:rPr lang="en-US"/>
              <a:t>1-3</a:t>
            </a:r>
            <a:r>
              <a:rPr lang="zh-CN"/>
              <a:t>月碳源投加量（</a:t>
            </a:r>
            <a:r>
              <a:rPr lang="en-US"/>
              <a:t>mg/L</a:t>
            </a:r>
            <a:r>
              <a:rPr lang="zh-CN"/>
              <a:t>）</a:t>
            </a:r>
          </a:p>
        </c:rich>
      </c:tx>
      <c:layout>
        <c:manualLayout>
          <c:xMode val="edge"/>
          <c:yMode val="edge"/>
          <c:x val="0.34576377952755927"/>
          <c:y val="2.7777777777777853E-2"/>
        </c:manualLayout>
      </c:layout>
      <c:overlay val="1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zh-CN"/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每月运营指标分析!$H$19:$H$21</c:f>
              <c:numCache>
                <c:formatCode>0.0_ </c:formatCode>
                <c:ptCount val="3"/>
                <c:pt idx="0">
                  <c:v>77.463854622629</c:v>
                </c:pt>
                <c:pt idx="1">
                  <c:v>69.217838425788599</c:v>
                </c:pt>
                <c:pt idx="2">
                  <c:v>46.695846178563102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94-4D8A-B112-408D40B5EE3A}"/>
            </c:ext>
          </c:extLst>
        </c:ser>
        <c:dLbls>
          <c:showLegendKey val="1"/>
          <c:showVal val="1"/>
          <c:showCatName val="1"/>
          <c:showSerName val="1"/>
          <c:showPercent val="1"/>
          <c:showBubbleSize val="1"/>
        </c:dLbls>
        <c:gapWidth val="150"/>
        <c:axId val="301886848"/>
        <c:axId val="301888640"/>
      </c:barChart>
      <c:catAx>
        <c:axId val="301886848"/>
        <c:scaling>
          <c:orientation val="minMax"/>
        </c:scaling>
        <c:delete val="1"/>
        <c:axPos val="b"/>
        <c:majorTickMark val="cross"/>
        <c:minorTickMark val="cross"/>
        <c:tickLblPos val="nextTo"/>
        <c:crossAx val="301888640"/>
        <c:crosses val="autoZero"/>
        <c:auto val="1"/>
        <c:lblAlgn val="ctr"/>
        <c:lblOffset val="100"/>
        <c:noMultiLvlLbl val="1"/>
      </c:catAx>
      <c:valAx>
        <c:axId val="301888640"/>
        <c:scaling>
          <c:orientation val="minMax"/>
        </c:scaling>
        <c:delete val="1"/>
        <c:axPos val="l"/>
        <c:numFmt formatCode="0.0_ " sourceLinked="1"/>
        <c:majorTickMark val="cross"/>
        <c:minorTickMark val="cross"/>
        <c:tickLblPos val="nextTo"/>
        <c:crossAx val="3018868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  <c:extLst>
      <c:ext uri="{0b15fc19-7d7d-44ad-8c2d-2c3a37ce22c3}">
        <chartProps xmlns="https://web.wps.cn/et/2018/main" chartId="{d1a642f2-ce7a-47ee-8319-10992f7bc85b}"/>
      </c:ext>
    </c:extLst>
  </c:chart>
  <c:txPr>
    <a:bodyPr/>
    <a:lstStyle/>
    <a:p>
      <a:pPr>
        <a:defRPr lang="zh-CN" sz="1800"/>
      </a:pPr>
      <a:endParaRPr lang="zh-CN"/>
    </a:p>
  </c:txPr>
  <c:externalData r:id="rId1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altLang="zh-CN"/>
              <a:t>26</a:t>
            </a:r>
            <a:r>
              <a:rPr lang="zh-CN" altLang="en-US"/>
              <a:t>年</a:t>
            </a:r>
            <a:r>
              <a:rPr lang="en-US" altLang="zh-CN"/>
              <a:t>1-3</a:t>
            </a:r>
            <a:r>
              <a:rPr lang="zh-CN" altLang="en-US"/>
              <a:t>月出水</a:t>
            </a:r>
            <a:r>
              <a:rPr lang="en-US"/>
              <a:t>COD</a:t>
            </a:r>
            <a:r>
              <a:rPr lang="zh-CN" altLang="en-US"/>
              <a:t>、</a:t>
            </a:r>
            <a:r>
              <a:rPr lang="en-US"/>
              <a:t>TN</a:t>
            </a:r>
          </a:p>
        </c:rich>
      </c:tx>
      <c:layout>
        <c:manualLayout>
          <c:xMode val="edge"/>
          <c:yMode val="edge"/>
          <c:x val="0.34322085526078738"/>
          <c:y val="2.9801615106743776E-3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6.6975990568725399E-2"/>
          <c:y val="6.0185185185185182E-2"/>
          <c:w val="0.72684202686383215"/>
          <c:h val="0.61221773470445251"/>
        </c:manualLayout>
      </c:layout>
      <c:lineChart>
        <c:grouping val="standard"/>
        <c:varyColors val="1"/>
        <c:ser>
          <c:idx val="0"/>
          <c:order val="0"/>
          <c:tx>
            <c:v>出水COD</c:v>
          </c:tx>
          <c:marker>
            <c:symbol val="none"/>
          </c:marker>
          <c:cat>
            <c:strRef>
              <c:f>Sheet2!$A$4:$A$93</c:f>
              <c:strCache>
                <c:ptCount val="90"/>
                <c:pt idx="0">
                  <c:v>2026-01-01</c:v>
                </c:pt>
                <c:pt idx="1">
                  <c:v>2026-01-02</c:v>
                </c:pt>
                <c:pt idx="2">
                  <c:v>2026-01-03</c:v>
                </c:pt>
                <c:pt idx="3">
                  <c:v>2026-01-04</c:v>
                </c:pt>
                <c:pt idx="4">
                  <c:v>2026-01-05</c:v>
                </c:pt>
                <c:pt idx="5">
                  <c:v>2026-01-06</c:v>
                </c:pt>
                <c:pt idx="6">
                  <c:v>2026-01-07</c:v>
                </c:pt>
                <c:pt idx="7">
                  <c:v>2026-01-08</c:v>
                </c:pt>
                <c:pt idx="8">
                  <c:v>2026-01-09</c:v>
                </c:pt>
                <c:pt idx="9">
                  <c:v>2026-01-10</c:v>
                </c:pt>
                <c:pt idx="10">
                  <c:v>2026-01-11</c:v>
                </c:pt>
                <c:pt idx="11">
                  <c:v>2026-01-12</c:v>
                </c:pt>
                <c:pt idx="12">
                  <c:v>2026-01-13</c:v>
                </c:pt>
                <c:pt idx="13">
                  <c:v>2026-01-14</c:v>
                </c:pt>
                <c:pt idx="14">
                  <c:v>2026-01-15</c:v>
                </c:pt>
                <c:pt idx="15">
                  <c:v>2026-01-16</c:v>
                </c:pt>
                <c:pt idx="16">
                  <c:v>2026-01-17</c:v>
                </c:pt>
                <c:pt idx="17">
                  <c:v>2026-01-18</c:v>
                </c:pt>
                <c:pt idx="18">
                  <c:v>2026-01-19</c:v>
                </c:pt>
                <c:pt idx="19">
                  <c:v>2026-01-20</c:v>
                </c:pt>
                <c:pt idx="20">
                  <c:v>2026-01-21</c:v>
                </c:pt>
                <c:pt idx="21">
                  <c:v>2026-01-22</c:v>
                </c:pt>
                <c:pt idx="22">
                  <c:v>2026-01-23</c:v>
                </c:pt>
                <c:pt idx="23">
                  <c:v>2026-01-24</c:v>
                </c:pt>
                <c:pt idx="24">
                  <c:v>2026-01-25</c:v>
                </c:pt>
                <c:pt idx="25">
                  <c:v>2026-01-26</c:v>
                </c:pt>
                <c:pt idx="26">
                  <c:v>2026-01-27</c:v>
                </c:pt>
                <c:pt idx="27">
                  <c:v>2026-01-28</c:v>
                </c:pt>
                <c:pt idx="28">
                  <c:v>2026-01-29</c:v>
                </c:pt>
                <c:pt idx="29">
                  <c:v>2026-01-30</c:v>
                </c:pt>
                <c:pt idx="30">
                  <c:v>2026-01-31</c:v>
                </c:pt>
                <c:pt idx="31">
                  <c:v>2026-02-01</c:v>
                </c:pt>
                <c:pt idx="32">
                  <c:v>2026-02-02</c:v>
                </c:pt>
                <c:pt idx="33">
                  <c:v>2026-02-03</c:v>
                </c:pt>
                <c:pt idx="34">
                  <c:v>2026-02-04</c:v>
                </c:pt>
                <c:pt idx="35">
                  <c:v>2026-02-05</c:v>
                </c:pt>
                <c:pt idx="36">
                  <c:v>2026-02-06</c:v>
                </c:pt>
                <c:pt idx="37">
                  <c:v>2026-02-07</c:v>
                </c:pt>
                <c:pt idx="38">
                  <c:v>2026-02-08</c:v>
                </c:pt>
                <c:pt idx="39">
                  <c:v>2026-02-09</c:v>
                </c:pt>
                <c:pt idx="40">
                  <c:v>2026-02-10</c:v>
                </c:pt>
                <c:pt idx="41">
                  <c:v>2026-02-11</c:v>
                </c:pt>
                <c:pt idx="42">
                  <c:v>2026-02-12</c:v>
                </c:pt>
                <c:pt idx="43">
                  <c:v>2026-02-13</c:v>
                </c:pt>
                <c:pt idx="44">
                  <c:v>2026-02-14</c:v>
                </c:pt>
                <c:pt idx="45">
                  <c:v>2026-02-15</c:v>
                </c:pt>
                <c:pt idx="46">
                  <c:v>2026-02-16</c:v>
                </c:pt>
                <c:pt idx="47">
                  <c:v>2026-02-17</c:v>
                </c:pt>
                <c:pt idx="48">
                  <c:v>2026-02-18</c:v>
                </c:pt>
                <c:pt idx="49">
                  <c:v>2026-02-19</c:v>
                </c:pt>
                <c:pt idx="50">
                  <c:v>2026-02-20</c:v>
                </c:pt>
                <c:pt idx="51">
                  <c:v>2026-02-21</c:v>
                </c:pt>
                <c:pt idx="52">
                  <c:v>2026-02-22</c:v>
                </c:pt>
                <c:pt idx="53">
                  <c:v>2026-02-23</c:v>
                </c:pt>
                <c:pt idx="54">
                  <c:v>2026-02-24</c:v>
                </c:pt>
                <c:pt idx="55">
                  <c:v>2026-02-25</c:v>
                </c:pt>
                <c:pt idx="56">
                  <c:v>2026-02-26</c:v>
                </c:pt>
                <c:pt idx="57">
                  <c:v>2026-02-27</c:v>
                </c:pt>
                <c:pt idx="58">
                  <c:v>2026-02-28</c:v>
                </c:pt>
                <c:pt idx="59">
                  <c:v>2026-03-01</c:v>
                </c:pt>
                <c:pt idx="60">
                  <c:v>2026-03-02</c:v>
                </c:pt>
                <c:pt idx="61">
                  <c:v>2026-03-03</c:v>
                </c:pt>
                <c:pt idx="62">
                  <c:v>2026-03-04</c:v>
                </c:pt>
                <c:pt idx="63">
                  <c:v>2026-03-05</c:v>
                </c:pt>
                <c:pt idx="64">
                  <c:v>2026-03-06</c:v>
                </c:pt>
                <c:pt idx="65">
                  <c:v>2026-03-07</c:v>
                </c:pt>
                <c:pt idx="66">
                  <c:v>2026-03-08</c:v>
                </c:pt>
                <c:pt idx="67">
                  <c:v>2026-03-09</c:v>
                </c:pt>
                <c:pt idx="68">
                  <c:v>2026-03-10</c:v>
                </c:pt>
                <c:pt idx="69">
                  <c:v>2026-03-11</c:v>
                </c:pt>
                <c:pt idx="70">
                  <c:v>2026-03-12</c:v>
                </c:pt>
                <c:pt idx="71">
                  <c:v>2026-03-13</c:v>
                </c:pt>
                <c:pt idx="72">
                  <c:v>2026-03-14</c:v>
                </c:pt>
                <c:pt idx="73">
                  <c:v>2026-03-15</c:v>
                </c:pt>
                <c:pt idx="74">
                  <c:v>2026-03-16</c:v>
                </c:pt>
                <c:pt idx="75">
                  <c:v>2026-03-17</c:v>
                </c:pt>
                <c:pt idx="76">
                  <c:v>2026-03-18</c:v>
                </c:pt>
                <c:pt idx="77">
                  <c:v>2026-03-19</c:v>
                </c:pt>
                <c:pt idx="78">
                  <c:v>2026-03-20</c:v>
                </c:pt>
                <c:pt idx="79">
                  <c:v>2026-03-21</c:v>
                </c:pt>
                <c:pt idx="80">
                  <c:v>2026-03-22</c:v>
                </c:pt>
                <c:pt idx="81">
                  <c:v>2026-03-23</c:v>
                </c:pt>
                <c:pt idx="82">
                  <c:v>2026-03-24</c:v>
                </c:pt>
                <c:pt idx="83">
                  <c:v>2026-03-25</c:v>
                </c:pt>
                <c:pt idx="84">
                  <c:v>2026-03-26</c:v>
                </c:pt>
                <c:pt idx="85">
                  <c:v>2026-03-27</c:v>
                </c:pt>
                <c:pt idx="86">
                  <c:v>2026-03-28</c:v>
                </c:pt>
                <c:pt idx="87">
                  <c:v>2026-03-29</c:v>
                </c:pt>
                <c:pt idx="88">
                  <c:v>2026-03-30</c:v>
                </c:pt>
                <c:pt idx="89">
                  <c:v>2026-03-31</c:v>
                </c:pt>
              </c:strCache>
            </c:strRef>
          </c:cat>
          <c:val>
            <c:numRef>
              <c:f>Sheet2!$D$4:$D$93</c:f>
              <c:numCache>
                <c:formatCode>General</c:formatCode>
                <c:ptCount val="90"/>
                <c:pt idx="0">
                  <c:v>32.319000000000003</c:v>
                </c:pt>
                <c:pt idx="1">
                  <c:v>32.499000000000002</c:v>
                </c:pt>
                <c:pt idx="2">
                  <c:v>27.62</c:v>
                </c:pt>
                <c:pt idx="3">
                  <c:v>24.667999999999999</c:v>
                </c:pt>
                <c:pt idx="4">
                  <c:v>26.941999999999993</c:v>
                </c:pt>
                <c:pt idx="5">
                  <c:v>31.977</c:v>
                </c:pt>
                <c:pt idx="6">
                  <c:v>32.127000000000002</c:v>
                </c:pt>
                <c:pt idx="7">
                  <c:v>33.35</c:v>
                </c:pt>
                <c:pt idx="8">
                  <c:v>31.91</c:v>
                </c:pt>
                <c:pt idx="9">
                  <c:v>33.173000000000002</c:v>
                </c:pt>
                <c:pt idx="10">
                  <c:v>32.78</c:v>
                </c:pt>
                <c:pt idx="11">
                  <c:v>31.118000000000006</c:v>
                </c:pt>
                <c:pt idx="12">
                  <c:v>33.908000000000001</c:v>
                </c:pt>
                <c:pt idx="13">
                  <c:v>32.833000000000006</c:v>
                </c:pt>
                <c:pt idx="14">
                  <c:v>31.943999999999992</c:v>
                </c:pt>
                <c:pt idx="15">
                  <c:v>32.213000000000001</c:v>
                </c:pt>
                <c:pt idx="16">
                  <c:v>31.835999999999999</c:v>
                </c:pt>
                <c:pt idx="17">
                  <c:v>29.808</c:v>
                </c:pt>
                <c:pt idx="18">
                  <c:v>33.642000000000003</c:v>
                </c:pt>
                <c:pt idx="19">
                  <c:v>31.731000000000005</c:v>
                </c:pt>
                <c:pt idx="20">
                  <c:v>33.630000000000003</c:v>
                </c:pt>
                <c:pt idx="21">
                  <c:v>32.74</c:v>
                </c:pt>
                <c:pt idx="22">
                  <c:v>33.247</c:v>
                </c:pt>
                <c:pt idx="23">
                  <c:v>34.085000000000001</c:v>
                </c:pt>
                <c:pt idx="24">
                  <c:v>33.636000000000003</c:v>
                </c:pt>
                <c:pt idx="25">
                  <c:v>32.856999999999999</c:v>
                </c:pt>
                <c:pt idx="26">
                  <c:v>32.978000000000002</c:v>
                </c:pt>
                <c:pt idx="27">
                  <c:v>34.296000000000021</c:v>
                </c:pt>
                <c:pt idx="28">
                  <c:v>34.341000000000001</c:v>
                </c:pt>
                <c:pt idx="29">
                  <c:v>34.245000000000012</c:v>
                </c:pt>
                <c:pt idx="30">
                  <c:v>31.939999999999994</c:v>
                </c:pt>
                <c:pt idx="31">
                  <c:v>30.074000000000005</c:v>
                </c:pt>
                <c:pt idx="32">
                  <c:v>28.984000000000002</c:v>
                </c:pt>
                <c:pt idx="33">
                  <c:v>27.943999999999992</c:v>
                </c:pt>
                <c:pt idx="34">
                  <c:v>30.367999999999999</c:v>
                </c:pt>
                <c:pt idx="35">
                  <c:v>29.183</c:v>
                </c:pt>
                <c:pt idx="36">
                  <c:v>25.850999999999999</c:v>
                </c:pt>
                <c:pt idx="37">
                  <c:v>28.102</c:v>
                </c:pt>
                <c:pt idx="38">
                  <c:v>24.893000000000001</c:v>
                </c:pt>
                <c:pt idx="39">
                  <c:v>21.178999999999991</c:v>
                </c:pt>
                <c:pt idx="40">
                  <c:v>19.227</c:v>
                </c:pt>
                <c:pt idx="41">
                  <c:v>24.091000000000001</c:v>
                </c:pt>
                <c:pt idx="42">
                  <c:v>20.417000000000005</c:v>
                </c:pt>
                <c:pt idx="43">
                  <c:v>17.771000000000001</c:v>
                </c:pt>
                <c:pt idx="44">
                  <c:v>16.471</c:v>
                </c:pt>
                <c:pt idx="45">
                  <c:v>15.451000000000002</c:v>
                </c:pt>
                <c:pt idx="46">
                  <c:v>14.809000000000003</c:v>
                </c:pt>
                <c:pt idx="47">
                  <c:v>12.781000000000001</c:v>
                </c:pt>
                <c:pt idx="48">
                  <c:v>11.6</c:v>
                </c:pt>
                <c:pt idx="49">
                  <c:v>13.329000000000002</c:v>
                </c:pt>
                <c:pt idx="50">
                  <c:v>10.040000000000001</c:v>
                </c:pt>
                <c:pt idx="51">
                  <c:v>9.5650000000000031</c:v>
                </c:pt>
                <c:pt idx="52">
                  <c:v>9.65</c:v>
                </c:pt>
                <c:pt idx="53">
                  <c:v>9.6710000000000012</c:v>
                </c:pt>
                <c:pt idx="54">
                  <c:v>10.066000000000004</c:v>
                </c:pt>
                <c:pt idx="55">
                  <c:v>10.961</c:v>
                </c:pt>
                <c:pt idx="56">
                  <c:v>11.707000000000001</c:v>
                </c:pt>
                <c:pt idx="57">
                  <c:v>13.675000000000002</c:v>
                </c:pt>
                <c:pt idx="58">
                  <c:v>11.07</c:v>
                </c:pt>
                <c:pt idx="59">
                  <c:v>9.7089999999999996</c:v>
                </c:pt>
                <c:pt idx="60">
                  <c:v>12.487</c:v>
                </c:pt>
                <c:pt idx="61">
                  <c:v>13.861000000000002</c:v>
                </c:pt>
                <c:pt idx="62">
                  <c:v>16.677000000000007</c:v>
                </c:pt>
                <c:pt idx="63">
                  <c:v>22.300999999999991</c:v>
                </c:pt>
                <c:pt idx="64">
                  <c:v>33.025000000000013</c:v>
                </c:pt>
                <c:pt idx="65">
                  <c:v>32.518000000000001</c:v>
                </c:pt>
                <c:pt idx="66">
                  <c:v>33.981999999999999</c:v>
                </c:pt>
                <c:pt idx="67">
                  <c:v>35.079000000000001</c:v>
                </c:pt>
                <c:pt idx="68">
                  <c:v>32.936</c:v>
                </c:pt>
                <c:pt idx="69">
                  <c:v>32.727000000000011</c:v>
                </c:pt>
                <c:pt idx="70">
                  <c:v>33.133000000000003</c:v>
                </c:pt>
                <c:pt idx="71">
                  <c:v>36.123000000000012</c:v>
                </c:pt>
                <c:pt idx="72">
                  <c:v>33.527000000000001</c:v>
                </c:pt>
                <c:pt idx="73">
                  <c:v>34.246000000000002</c:v>
                </c:pt>
                <c:pt idx="74">
                  <c:v>32.627000000000002</c:v>
                </c:pt>
                <c:pt idx="75">
                  <c:v>33.381999999999998</c:v>
                </c:pt>
                <c:pt idx="76">
                  <c:v>34.775000000000013</c:v>
                </c:pt>
                <c:pt idx="77">
                  <c:v>34.287000000000006</c:v>
                </c:pt>
                <c:pt idx="78">
                  <c:v>34.565000000000012</c:v>
                </c:pt>
                <c:pt idx="79">
                  <c:v>34.515000000000001</c:v>
                </c:pt>
                <c:pt idx="80">
                  <c:v>33.118000000000002</c:v>
                </c:pt>
                <c:pt idx="81">
                  <c:v>31.997</c:v>
                </c:pt>
                <c:pt idx="82">
                  <c:v>34.57</c:v>
                </c:pt>
                <c:pt idx="83">
                  <c:v>34.807000000000002</c:v>
                </c:pt>
                <c:pt idx="84">
                  <c:v>30.864000000000001</c:v>
                </c:pt>
                <c:pt idx="85">
                  <c:v>31.937000000000001</c:v>
                </c:pt>
                <c:pt idx="86">
                  <c:v>32.880999999999993</c:v>
                </c:pt>
                <c:pt idx="87">
                  <c:v>31.960999999999988</c:v>
                </c:pt>
                <c:pt idx="88">
                  <c:v>31.917999999999999</c:v>
                </c:pt>
                <c:pt idx="89">
                  <c:v>30.756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0E4-4CD3-8E30-B4830AE4BA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2167168"/>
        <c:axId val="302168704"/>
      </c:lineChart>
      <c:lineChart>
        <c:grouping val="standard"/>
        <c:varyColors val="1"/>
        <c:ser>
          <c:idx val="1"/>
          <c:order val="1"/>
          <c:tx>
            <c:v>出水TN</c:v>
          </c:tx>
          <c:marker>
            <c:symbol val="none"/>
          </c:marker>
          <c:cat>
            <c:strRef>
              <c:f>Sheet2!$A$4:$A$93</c:f>
              <c:strCache>
                <c:ptCount val="90"/>
                <c:pt idx="0">
                  <c:v>2026-01-01</c:v>
                </c:pt>
                <c:pt idx="1">
                  <c:v>2026-01-02</c:v>
                </c:pt>
                <c:pt idx="2">
                  <c:v>2026-01-03</c:v>
                </c:pt>
                <c:pt idx="3">
                  <c:v>2026-01-04</c:v>
                </c:pt>
                <c:pt idx="4">
                  <c:v>2026-01-05</c:v>
                </c:pt>
                <c:pt idx="5">
                  <c:v>2026-01-06</c:v>
                </c:pt>
                <c:pt idx="6">
                  <c:v>2026-01-07</c:v>
                </c:pt>
                <c:pt idx="7">
                  <c:v>2026-01-08</c:v>
                </c:pt>
                <c:pt idx="8">
                  <c:v>2026-01-09</c:v>
                </c:pt>
                <c:pt idx="9">
                  <c:v>2026-01-10</c:v>
                </c:pt>
                <c:pt idx="10">
                  <c:v>2026-01-11</c:v>
                </c:pt>
                <c:pt idx="11">
                  <c:v>2026-01-12</c:v>
                </c:pt>
                <c:pt idx="12">
                  <c:v>2026-01-13</c:v>
                </c:pt>
                <c:pt idx="13">
                  <c:v>2026-01-14</c:v>
                </c:pt>
                <c:pt idx="14">
                  <c:v>2026-01-15</c:v>
                </c:pt>
                <c:pt idx="15">
                  <c:v>2026-01-16</c:v>
                </c:pt>
                <c:pt idx="16">
                  <c:v>2026-01-17</c:v>
                </c:pt>
                <c:pt idx="17">
                  <c:v>2026-01-18</c:v>
                </c:pt>
                <c:pt idx="18">
                  <c:v>2026-01-19</c:v>
                </c:pt>
                <c:pt idx="19">
                  <c:v>2026-01-20</c:v>
                </c:pt>
                <c:pt idx="20">
                  <c:v>2026-01-21</c:v>
                </c:pt>
                <c:pt idx="21">
                  <c:v>2026-01-22</c:v>
                </c:pt>
                <c:pt idx="22">
                  <c:v>2026-01-23</c:v>
                </c:pt>
                <c:pt idx="23">
                  <c:v>2026-01-24</c:v>
                </c:pt>
                <c:pt idx="24">
                  <c:v>2026-01-25</c:v>
                </c:pt>
                <c:pt idx="25">
                  <c:v>2026-01-26</c:v>
                </c:pt>
                <c:pt idx="26">
                  <c:v>2026-01-27</c:v>
                </c:pt>
                <c:pt idx="27">
                  <c:v>2026-01-28</c:v>
                </c:pt>
                <c:pt idx="28">
                  <c:v>2026-01-29</c:v>
                </c:pt>
                <c:pt idx="29">
                  <c:v>2026-01-30</c:v>
                </c:pt>
                <c:pt idx="30">
                  <c:v>2026-01-31</c:v>
                </c:pt>
                <c:pt idx="31">
                  <c:v>2026-02-01</c:v>
                </c:pt>
                <c:pt idx="32">
                  <c:v>2026-02-02</c:v>
                </c:pt>
                <c:pt idx="33">
                  <c:v>2026-02-03</c:v>
                </c:pt>
                <c:pt idx="34">
                  <c:v>2026-02-04</c:v>
                </c:pt>
                <c:pt idx="35">
                  <c:v>2026-02-05</c:v>
                </c:pt>
                <c:pt idx="36">
                  <c:v>2026-02-06</c:v>
                </c:pt>
                <c:pt idx="37">
                  <c:v>2026-02-07</c:v>
                </c:pt>
                <c:pt idx="38">
                  <c:v>2026-02-08</c:v>
                </c:pt>
                <c:pt idx="39">
                  <c:v>2026-02-09</c:v>
                </c:pt>
                <c:pt idx="40">
                  <c:v>2026-02-10</c:v>
                </c:pt>
                <c:pt idx="41">
                  <c:v>2026-02-11</c:v>
                </c:pt>
                <c:pt idx="42">
                  <c:v>2026-02-12</c:v>
                </c:pt>
                <c:pt idx="43">
                  <c:v>2026-02-13</c:v>
                </c:pt>
                <c:pt idx="44">
                  <c:v>2026-02-14</c:v>
                </c:pt>
                <c:pt idx="45">
                  <c:v>2026-02-15</c:v>
                </c:pt>
                <c:pt idx="46">
                  <c:v>2026-02-16</c:v>
                </c:pt>
                <c:pt idx="47">
                  <c:v>2026-02-17</c:v>
                </c:pt>
                <c:pt idx="48">
                  <c:v>2026-02-18</c:v>
                </c:pt>
                <c:pt idx="49">
                  <c:v>2026-02-19</c:v>
                </c:pt>
                <c:pt idx="50">
                  <c:v>2026-02-20</c:v>
                </c:pt>
                <c:pt idx="51">
                  <c:v>2026-02-21</c:v>
                </c:pt>
                <c:pt idx="52">
                  <c:v>2026-02-22</c:v>
                </c:pt>
                <c:pt idx="53">
                  <c:v>2026-02-23</c:v>
                </c:pt>
                <c:pt idx="54">
                  <c:v>2026-02-24</c:v>
                </c:pt>
                <c:pt idx="55">
                  <c:v>2026-02-25</c:v>
                </c:pt>
                <c:pt idx="56">
                  <c:v>2026-02-26</c:v>
                </c:pt>
                <c:pt idx="57">
                  <c:v>2026-02-27</c:v>
                </c:pt>
                <c:pt idx="58">
                  <c:v>2026-02-28</c:v>
                </c:pt>
                <c:pt idx="59">
                  <c:v>2026-03-01</c:v>
                </c:pt>
                <c:pt idx="60">
                  <c:v>2026-03-02</c:v>
                </c:pt>
                <c:pt idx="61">
                  <c:v>2026-03-03</c:v>
                </c:pt>
                <c:pt idx="62">
                  <c:v>2026-03-04</c:v>
                </c:pt>
                <c:pt idx="63">
                  <c:v>2026-03-05</c:v>
                </c:pt>
                <c:pt idx="64">
                  <c:v>2026-03-06</c:v>
                </c:pt>
                <c:pt idx="65">
                  <c:v>2026-03-07</c:v>
                </c:pt>
                <c:pt idx="66">
                  <c:v>2026-03-08</c:v>
                </c:pt>
                <c:pt idx="67">
                  <c:v>2026-03-09</c:v>
                </c:pt>
                <c:pt idx="68">
                  <c:v>2026-03-10</c:v>
                </c:pt>
                <c:pt idx="69">
                  <c:v>2026-03-11</c:v>
                </c:pt>
                <c:pt idx="70">
                  <c:v>2026-03-12</c:v>
                </c:pt>
                <c:pt idx="71">
                  <c:v>2026-03-13</c:v>
                </c:pt>
                <c:pt idx="72">
                  <c:v>2026-03-14</c:v>
                </c:pt>
                <c:pt idx="73">
                  <c:v>2026-03-15</c:v>
                </c:pt>
                <c:pt idx="74">
                  <c:v>2026-03-16</c:v>
                </c:pt>
                <c:pt idx="75">
                  <c:v>2026-03-17</c:v>
                </c:pt>
                <c:pt idx="76">
                  <c:v>2026-03-18</c:v>
                </c:pt>
                <c:pt idx="77">
                  <c:v>2026-03-19</c:v>
                </c:pt>
                <c:pt idx="78">
                  <c:v>2026-03-20</c:v>
                </c:pt>
                <c:pt idx="79">
                  <c:v>2026-03-21</c:v>
                </c:pt>
                <c:pt idx="80">
                  <c:v>2026-03-22</c:v>
                </c:pt>
                <c:pt idx="81">
                  <c:v>2026-03-23</c:v>
                </c:pt>
                <c:pt idx="82">
                  <c:v>2026-03-24</c:v>
                </c:pt>
                <c:pt idx="83">
                  <c:v>2026-03-25</c:v>
                </c:pt>
                <c:pt idx="84">
                  <c:v>2026-03-26</c:v>
                </c:pt>
                <c:pt idx="85">
                  <c:v>2026-03-27</c:v>
                </c:pt>
                <c:pt idx="86">
                  <c:v>2026-03-28</c:v>
                </c:pt>
                <c:pt idx="87">
                  <c:v>2026-03-29</c:v>
                </c:pt>
                <c:pt idx="88">
                  <c:v>2026-03-30</c:v>
                </c:pt>
                <c:pt idx="89">
                  <c:v>2026-03-31</c:v>
                </c:pt>
              </c:strCache>
            </c:strRef>
          </c:cat>
          <c:val>
            <c:numRef>
              <c:f>Sheet2!$M$4:$M$93</c:f>
              <c:numCache>
                <c:formatCode>General</c:formatCode>
                <c:ptCount val="90"/>
                <c:pt idx="0">
                  <c:v>10.187000000000001</c:v>
                </c:pt>
                <c:pt idx="1">
                  <c:v>10.151</c:v>
                </c:pt>
                <c:pt idx="2">
                  <c:v>10.11</c:v>
                </c:pt>
                <c:pt idx="3">
                  <c:v>10.417</c:v>
                </c:pt>
                <c:pt idx="4">
                  <c:v>10.178000000000001</c:v>
                </c:pt>
                <c:pt idx="5">
                  <c:v>11.272</c:v>
                </c:pt>
                <c:pt idx="6">
                  <c:v>11.695</c:v>
                </c:pt>
                <c:pt idx="7">
                  <c:v>11.702</c:v>
                </c:pt>
                <c:pt idx="8">
                  <c:v>13.158000000000001</c:v>
                </c:pt>
                <c:pt idx="9">
                  <c:v>11.677</c:v>
                </c:pt>
                <c:pt idx="10">
                  <c:v>10.147</c:v>
                </c:pt>
                <c:pt idx="11">
                  <c:v>11.527000000000001</c:v>
                </c:pt>
                <c:pt idx="12">
                  <c:v>10.801</c:v>
                </c:pt>
                <c:pt idx="13">
                  <c:v>11.596</c:v>
                </c:pt>
                <c:pt idx="14">
                  <c:v>11.215</c:v>
                </c:pt>
                <c:pt idx="15">
                  <c:v>11.653</c:v>
                </c:pt>
                <c:pt idx="16">
                  <c:v>11.137</c:v>
                </c:pt>
                <c:pt idx="17">
                  <c:v>10.492000000000004</c:v>
                </c:pt>
                <c:pt idx="18">
                  <c:v>10.761000000000001</c:v>
                </c:pt>
                <c:pt idx="19">
                  <c:v>11.328000000000001</c:v>
                </c:pt>
                <c:pt idx="20">
                  <c:v>11.975000000000003</c:v>
                </c:pt>
                <c:pt idx="21">
                  <c:v>11.988</c:v>
                </c:pt>
                <c:pt idx="22">
                  <c:v>12.141</c:v>
                </c:pt>
                <c:pt idx="23">
                  <c:v>11.289</c:v>
                </c:pt>
                <c:pt idx="24">
                  <c:v>11.319000000000004</c:v>
                </c:pt>
                <c:pt idx="25">
                  <c:v>10.421000000000001</c:v>
                </c:pt>
                <c:pt idx="26">
                  <c:v>10.486000000000002</c:v>
                </c:pt>
                <c:pt idx="27">
                  <c:v>9.8770000000000007</c:v>
                </c:pt>
                <c:pt idx="28">
                  <c:v>10.268000000000001</c:v>
                </c:pt>
                <c:pt idx="29">
                  <c:v>10.134</c:v>
                </c:pt>
                <c:pt idx="30">
                  <c:v>11.384</c:v>
                </c:pt>
                <c:pt idx="31">
                  <c:v>9.8630000000000049</c:v>
                </c:pt>
                <c:pt idx="32">
                  <c:v>8.5610000000000035</c:v>
                </c:pt>
                <c:pt idx="33">
                  <c:v>8.5460000000000012</c:v>
                </c:pt>
                <c:pt idx="34">
                  <c:v>9.1950000000000003</c:v>
                </c:pt>
                <c:pt idx="35">
                  <c:v>9.5720000000000027</c:v>
                </c:pt>
                <c:pt idx="36">
                  <c:v>9.1240000000000006</c:v>
                </c:pt>
                <c:pt idx="37">
                  <c:v>9.1419999999999995</c:v>
                </c:pt>
                <c:pt idx="38">
                  <c:v>9.69</c:v>
                </c:pt>
                <c:pt idx="39">
                  <c:v>7.8049999999999979</c:v>
                </c:pt>
                <c:pt idx="40">
                  <c:v>6.94</c:v>
                </c:pt>
                <c:pt idx="41">
                  <c:v>6.532</c:v>
                </c:pt>
                <c:pt idx="42">
                  <c:v>7.1099999999999985</c:v>
                </c:pt>
                <c:pt idx="43">
                  <c:v>7.9939999999999998</c:v>
                </c:pt>
                <c:pt idx="44">
                  <c:v>7.2380000000000004</c:v>
                </c:pt>
                <c:pt idx="45">
                  <c:v>7.3519999999999985</c:v>
                </c:pt>
                <c:pt idx="46">
                  <c:v>7.7269999999999985</c:v>
                </c:pt>
                <c:pt idx="47">
                  <c:v>9.2580000000000009</c:v>
                </c:pt>
                <c:pt idx="48">
                  <c:v>9.08</c:v>
                </c:pt>
                <c:pt idx="49">
                  <c:v>8.48</c:v>
                </c:pt>
                <c:pt idx="50">
                  <c:v>9.4150000000000027</c:v>
                </c:pt>
                <c:pt idx="51">
                  <c:v>8.4330000000000016</c:v>
                </c:pt>
                <c:pt idx="52">
                  <c:v>7.3129999999999979</c:v>
                </c:pt>
                <c:pt idx="53">
                  <c:v>8.1020000000000003</c:v>
                </c:pt>
                <c:pt idx="54">
                  <c:v>8.4860000000000007</c:v>
                </c:pt>
                <c:pt idx="55">
                  <c:v>9.891</c:v>
                </c:pt>
                <c:pt idx="56">
                  <c:v>8.2460000000000004</c:v>
                </c:pt>
                <c:pt idx="57">
                  <c:v>9.3750000000000036</c:v>
                </c:pt>
                <c:pt idx="58">
                  <c:v>8.39</c:v>
                </c:pt>
                <c:pt idx="59">
                  <c:v>7.73</c:v>
                </c:pt>
                <c:pt idx="60">
                  <c:v>8.6189999999999998</c:v>
                </c:pt>
                <c:pt idx="61">
                  <c:v>7.8049999999999979</c:v>
                </c:pt>
                <c:pt idx="62">
                  <c:v>8.31</c:v>
                </c:pt>
                <c:pt idx="63">
                  <c:v>8.1020000000000003</c:v>
                </c:pt>
                <c:pt idx="64">
                  <c:v>9.141</c:v>
                </c:pt>
                <c:pt idx="65">
                  <c:v>10.316000000000004</c:v>
                </c:pt>
                <c:pt idx="66">
                  <c:v>10.015000000000002</c:v>
                </c:pt>
                <c:pt idx="67">
                  <c:v>10.436</c:v>
                </c:pt>
                <c:pt idx="68">
                  <c:v>11.188000000000001</c:v>
                </c:pt>
                <c:pt idx="69">
                  <c:v>10.901</c:v>
                </c:pt>
                <c:pt idx="70">
                  <c:v>10.875000000000004</c:v>
                </c:pt>
                <c:pt idx="71">
                  <c:v>11.527000000000001</c:v>
                </c:pt>
                <c:pt idx="72">
                  <c:v>11.231999999999999</c:v>
                </c:pt>
                <c:pt idx="73">
                  <c:v>10.407</c:v>
                </c:pt>
                <c:pt idx="74">
                  <c:v>10.368</c:v>
                </c:pt>
                <c:pt idx="75">
                  <c:v>10.343</c:v>
                </c:pt>
                <c:pt idx="76">
                  <c:v>10.605</c:v>
                </c:pt>
                <c:pt idx="77">
                  <c:v>9.6560000000000006</c:v>
                </c:pt>
                <c:pt idx="78">
                  <c:v>8.7810000000000006</c:v>
                </c:pt>
                <c:pt idx="79">
                  <c:v>8.1870000000000012</c:v>
                </c:pt>
                <c:pt idx="80">
                  <c:v>8.0210000000000008</c:v>
                </c:pt>
                <c:pt idx="81">
                  <c:v>8.6389999999999993</c:v>
                </c:pt>
                <c:pt idx="82">
                  <c:v>9.0670000000000002</c:v>
                </c:pt>
                <c:pt idx="83">
                  <c:v>9.3800000000000008</c:v>
                </c:pt>
                <c:pt idx="84">
                  <c:v>9.8850000000000033</c:v>
                </c:pt>
                <c:pt idx="85">
                  <c:v>8.7680000000000025</c:v>
                </c:pt>
                <c:pt idx="86">
                  <c:v>8.5540000000000003</c:v>
                </c:pt>
                <c:pt idx="87">
                  <c:v>8.3390000000000004</c:v>
                </c:pt>
                <c:pt idx="88">
                  <c:v>8.9630000000000027</c:v>
                </c:pt>
                <c:pt idx="89">
                  <c:v>11.093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0E4-4CD3-8E30-B4830AE4BA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2179072"/>
        <c:axId val="302180608"/>
      </c:lineChart>
      <c:catAx>
        <c:axId val="302167168"/>
        <c:scaling>
          <c:orientation val="minMax"/>
        </c:scaling>
        <c:delete val="1"/>
        <c:axPos val="b"/>
        <c:numFmt formatCode="General" sourceLinked="0"/>
        <c:majorTickMark val="in"/>
        <c:minorTickMark val="cross"/>
        <c:tickLblPos val="nextTo"/>
        <c:crossAx val="302168704"/>
        <c:crosses val="autoZero"/>
        <c:auto val="1"/>
        <c:lblAlgn val="ctr"/>
        <c:lblOffset val="100"/>
        <c:noMultiLvlLbl val="1"/>
      </c:catAx>
      <c:valAx>
        <c:axId val="302168704"/>
        <c:scaling>
          <c:orientation val="minMax"/>
        </c:scaling>
        <c:delete val="1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zh-CN"/>
                  <a:t>出水</a:t>
                </a:r>
                <a:r>
                  <a:rPr lang="en-US"/>
                  <a:t>COD</a:t>
                </a:r>
                <a:r>
                  <a:rPr lang="zh-CN"/>
                  <a:t>浓度</a:t>
                </a:r>
                <a:r>
                  <a:rPr lang="en-US"/>
                  <a:t>(mg/L)</a:t>
                </a:r>
                <a:endParaRPr lang="zh-CN"/>
              </a:p>
            </c:rich>
          </c:tx>
          <c:overlay val="1"/>
        </c:title>
        <c:numFmt formatCode="General" sourceLinked="1"/>
        <c:majorTickMark val="in"/>
        <c:minorTickMark val="cross"/>
        <c:tickLblPos val="nextTo"/>
        <c:crossAx val="302167168"/>
        <c:crosses val="autoZero"/>
        <c:crossBetween val="between"/>
      </c:valAx>
      <c:catAx>
        <c:axId val="302179072"/>
        <c:scaling>
          <c:orientation val="minMax"/>
        </c:scaling>
        <c:delete val="1"/>
        <c:axPos val="b"/>
        <c:numFmt formatCode="General" sourceLinked="0"/>
        <c:majorTickMark val="cross"/>
        <c:minorTickMark val="cross"/>
        <c:tickLblPos val="nextTo"/>
        <c:crossAx val="302180608"/>
        <c:crosses val="autoZero"/>
        <c:auto val="1"/>
        <c:lblAlgn val="ctr"/>
        <c:lblOffset val="100"/>
        <c:noMultiLvlLbl val="1"/>
      </c:catAx>
      <c:valAx>
        <c:axId val="302180608"/>
        <c:scaling>
          <c:orientation val="minMax"/>
        </c:scaling>
        <c:delete val="1"/>
        <c:axPos val="r"/>
        <c:title>
          <c:tx>
            <c:rich>
              <a:bodyPr rot="-5400000" vert="horz"/>
              <a:lstStyle/>
              <a:p>
                <a:pPr algn="ctr" rtl="0">
                  <a:defRPr/>
                </a:pPr>
                <a:r>
                  <a:rPr lang="zh-CN"/>
                  <a:t>出水TN浓度(mg/L)</a:t>
                </a:r>
              </a:p>
            </c:rich>
          </c:tx>
          <c:overlay val="1"/>
        </c:title>
        <c:numFmt formatCode="General" sourceLinked="1"/>
        <c:majorTickMark val="in"/>
        <c:minorTickMark val="cross"/>
        <c:tickLblPos val="nextTo"/>
        <c:crossAx val="302179072"/>
        <c:crosses val="max"/>
        <c:crossBetween val="between"/>
      </c:valAx>
    </c:plotArea>
    <c:legend>
      <c:legendPos val="r"/>
      <c:layout>
        <c:manualLayout>
          <c:xMode val="edge"/>
          <c:yMode val="edge"/>
          <c:x val="0.85038989566172452"/>
          <c:y val="0.166832531350248"/>
          <c:w val="0.12764415156507414"/>
          <c:h val="0.36540901137357834"/>
        </c:manualLayout>
      </c:layout>
      <c:overlay val="1"/>
      <c:txPr>
        <a:bodyPr rot="0" vert="horz"/>
        <a:lstStyle/>
        <a:p>
          <a:pPr>
            <a:defRPr/>
          </a:pPr>
          <a:endParaRPr lang="zh-CN"/>
        </a:p>
      </c:txPr>
    </c:legend>
    <c:plotVisOnly val="1"/>
    <c:dispBlanksAs val="gap"/>
    <c:showDLblsOverMax val="1"/>
    <c:extLst>
      <c:ext uri="{0b15fc19-7d7d-44ad-8c2d-2c3a37ce22c3}">
        <chartProps xmlns="https://web.wps.cn/et/2018/main" chartId="{5052fe2a-2643-4877-8359-49b94284bdb9}"/>
      </c:ext>
    </c:extLst>
  </c:chart>
  <c:txPr>
    <a:bodyPr/>
    <a:lstStyle/>
    <a:p>
      <a:pPr>
        <a:defRPr lang="zh-CN" sz="1400">
          <a:latin typeface="Times New Roman" panose="02020603050405020304" pitchFamily="18" charset="0"/>
          <a:cs typeface="Times New Roman" panose="02020603050405020304" pitchFamily="18" charset="0"/>
        </a:defRPr>
      </a:pPr>
      <a:endParaRPr lang="zh-CN"/>
    </a:p>
  </c:txPr>
  <c:externalData r:id="rId1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dirty="0"/>
              <a:t>26年1-3月出水TP、</a:t>
            </a:r>
            <a:r>
              <a:rPr lang="zh-CN" dirty="0"/>
              <a:t>氨氮</a:t>
            </a:r>
            <a:endParaRPr lang="en-US" dirty="0"/>
          </a:p>
        </c:rich>
      </c:tx>
      <c:layout>
        <c:manualLayout>
          <c:xMode val="edge"/>
          <c:yMode val="edge"/>
          <c:x val="0.33154716364893483"/>
          <c:y val="2.0284591217570608E-2"/>
        </c:manualLayout>
      </c:layout>
      <c:overlay val="1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出水TP</c:v>
          </c:tx>
          <c:marker>
            <c:symbol val="none"/>
          </c:marker>
          <c:cat>
            <c:strRef>
              <c:f>Sheet2!$A$4:$A$93</c:f>
              <c:strCache>
                <c:ptCount val="90"/>
                <c:pt idx="0">
                  <c:v>2026-01-01</c:v>
                </c:pt>
                <c:pt idx="1">
                  <c:v>2026-01-02</c:v>
                </c:pt>
                <c:pt idx="2">
                  <c:v>2026-01-03</c:v>
                </c:pt>
                <c:pt idx="3">
                  <c:v>2026-01-04</c:v>
                </c:pt>
                <c:pt idx="4">
                  <c:v>2026-01-05</c:v>
                </c:pt>
                <c:pt idx="5">
                  <c:v>2026-01-06</c:v>
                </c:pt>
                <c:pt idx="6">
                  <c:v>2026-01-07</c:v>
                </c:pt>
                <c:pt idx="7">
                  <c:v>2026-01-08</c:v>
                </c:pt>
                <c:pt idx="8">
                  <c:v>2026-01-09</c:v>
                </c:pt>
                <c:pt idx="9">
                  <c:v>2026-01-10</c:v>
                </c:pt>
                <c:pt idx="10">
                  <c:v>2026-01-11</c:v>
                </c:pt>
                <c:pt idx="11">
                  <c:v>2026-01-12</c:v>
                </c:pt>
                <c:pt idx="12">
                  <c:v>2026-01-13</c:v>
                </c:pt>
                <c:pt idx="13">
                  <c:v>2026-01-14</c:v>
                </c:pt>
                <c:pt idx="14">
                  <c:v>2026-01-15</c:v>
                </c:pt>
                <c:pt idx="15">
                  <c:v>2026-01-16</c:v>
                </c:pt>
                <c:pt idx="16">
                  <c:v>2026-01-17</c:v>
                </c:pt>
                <c:pt idx="17">
                  <c:v>2026-01-18</c:v>
                </c:pt>
                <c:pt idx="18">
                  <c:v>2026-01-19</c:v>
                </c:pt>
                <c:pt idx="19">
                  <c:v>2026-01-20</c:v>
                </c:pt>
                <c:pt idx="20">
                  <c:v>2026-01-21</c:v>
                </c:pt>
                <c:pt idx="21">
                  <c:v>2026-01-22</c:v>
                </c:pt>
                <c:pt idx="22">
                  <c:v>2026-01-23</c:v>
                </c:pt>
                <c:pt idx="23">
                  <c:v>2026-01-24</c:v>
                </c:pt>
                <c:pt idx="24">
                  <c:v>2026-01-25</c:v>
                </c:pt>
                <c:pt idx="25">
                  <c:v>2026-01-26</c:v>
                </c:pt>
                <c:pt idx="26">
                  <c:v>2026-01-27</c:v>
                </c:pt>
                <c:pt idx="27">
                  <c:v>2026-01-28</c:v>
                </c:pt>
                <c:pt idx="28">
                  <c:v>2026-01-29</c:v>
                </c:pt>
                <c:pt idx="29">
                  <c:v>2026-01-30</c:v>
                </c:pt>
                <c:pt idx="30">
                  <c:v>2026-01-31</c:v>
                </c:pt>
                <c:pt idx="31">
                  <c:v>2026-02-01</c:v>
                </c:pt>
                <c:pt idx="32">
                  <c:v>2026-02-02</c:v>
                </c:pt>
                <c:pt idx="33">
                  <c:v>2026-02-03</c:v>
                </c:pt>
                <c:pt idx="34">
                  <c:v>2026-02-04</c:v>
                </c:pt>
                <c:pt idx="35">
                  <c:v>2026-02-05</c:v>
                </c:pt>
                <c:pt idx="36">
                  <c:v>2026-02-06</c:v>
                </c:pt>
                <c:pt idx="37">
                  <c:v>2026-02-07</c:v>
                </c:pt>
                <c:pt idx="38">
                  <c:v>2026-02-08</c:v>
                </c:pt>
                <c:pt idx="39">
                  <c:v>2026-02-09</c:v>
                </c:pt>
                <c:pt idx="40">
                  <c:v>2026-02-10</c:v>
                </c:pt>
                <c:pt idx="41">
                  <c:v>2026-02-11</c:v>
                </c:pt>
                <c:pt idx="42">
                  <c:v>2026-02-12</c:v>
                </c:pt>
                <c:pt idx="43">
                  <c:v>2026-02-13</c:v>
                </c:pt>
                <c:pt idx="44">
                  <c:v>2026-02-14</c:v>
                </c:pt>
                <c:pt idx="45">
                  <c:v>2026-02-15</c:v>
                </c:pt>
                <c:pt idx="46">
                  <c:v>2026-02-16</c:v>
                </c:pt>
                <c:pt idx="47">
                  <c:v>2026-02-17</c:v>
                </c:pt>
                <c:pt idx="48">
                  <c:v>2026-02-18</c:v>
                </c:pt>
                <c:pt idx="49">
                  <c:v>2026-02-19</c:v>
                </c:pt>
                <c:pt idx="50">
                  <c:v>2026-02-20</c:v>
                </c:pt>
                <c:pt idx="51">
                  <c:v>2026-02-21</c:v>
                </c:pt>
                <c:pt idx="52">
                  <c:v>2026-02-22</c:v>
                </c:pt>
                <c:pt idx="53">
                  <c:v>2026-02-23</c:v>
                </c:pt>
                <c:pt idx="54">
                  <c:v>2026-02-24</c:v>
                </c:pt>
                <c:pt idx="55">
                  <c:v>2026-02-25</c:v>
                </c:pt>
                <c:pt idx="56">
                  <c:v>2026-02-26</c:v>
                </c:pt>
                <c:pt idx="57">
                  <c:v>2026-02-27</c:v>
                </c:pt>
                <c:pt idx="58">
                  <c:v>2026-02-28</c:v>
                </c:pt>
                <c:pt idx="59">
                  <c:v>2026-03-01</c:v>
                </c:pt>
                <c:pt idx="60">
                  <c:v>2026-03-02</c:v>
                </c:pt>
                <c:pt idx="61">
                  <c:v>2026-03-03</c:v>
                </c:pt>
                <c:pt idx="62">
                  <c:v>2026-03-04</c:v>
                </c:pt>
                <c:pt idx="63">
                  <c:v>2026-03-05</c:v>
                </c:pt>
                <c:pt idx="64">
                  <c:v>2026-03-06</c:v>
                </c:pt>
                <c:pt idx="65">
                  <c:v>2026-03-07</c:v>
                </c:pt>
                <c:pt idx="66">
                  <c:v>2026-03-08</c:v>
                </c:pt>
                <c:pt idx="67">
                  <c:v>2026-03-09</c:v>
                </c:pt>
                <c:pt idx="68">
                  <c:v>2026-03-10</c:v>
                </c:pt>
                <c:pt idx="69">
                  <c:v>2026-03-11</c:v>
                </c:pt>
                <c:pt idx="70">
                  <c:v>2026-03-12</c:v>
                </c:pt>
                <c:pt idx="71">
                  <c:v>2026-03-13</c:v>
                </c:pt>
                <c:pt idx="72">
                  <c:v>2026-03-14</c:v>
                </c:pt>
                <c:pt idx="73">
                  <c:v>2026-03-15</c:v>
                </c:pt>
                <c:pt idx="74">
                  <c:v>2026-03-16</c:v>
                </c:pt>
                <c:pt idx="75">
                  <c:v>2026-03-17</c:v>
                </c:pt>
                <c:pt idx="76">
                  <c:v>2026-03-18</c:v>
                </c:pt>
                <c:pt idx="77">
                  <c:v>2026-03-19</c:v>
                </c:pt>
                <c:pt idx="78">
                  <c:v>2026-03-20</c:v>
                </c:pt>
                <c:pt idx="79">
                  <c:v>2026-03-21</c:v>
                </c:pt>
                <c:pt idx="80">
                  <c:v>2026-03-22</c:v>
                </c:pt>
                <c:pt idx="81">
                  <c:v>2026-03-23</c:v>
                </c:pt>
                <c:pt idx="82">
                  <c:v>2026-03-24</c:v>
                </c:pt>
                <c:pt idx="83">
                  <c:v>2026-03-25</c:v>
                </c:pt>
                <c:pt idx="84">
                  <c:v>2026-03-26</c:v>
                </c:pt>
                <c:pt idx="85">
                  <c:v>2026-03-27</c:v>
                </c:pt>
                <c:pt idx="86">
                  <c:v>2026-03-28</c:v>
                </c:pt>
                <c:pt idx="87">
                  <c:v>2026-03-29</c:v>
                </c:pt>
                <c:pt idx="88">
                  <c:v>2026-03-30</c:v>
                </c:pt>
                <c:pt idx="89">
                  <c:v>2026-03-31</c:v>
                </c:pt>
              </c:strCache>
            </c:strRef>
          </c:cat>
          <c:val>
            <c:numRef>
              <c:f>Sheet2!$G$4:$G$93</c:f>
              <c:numCache>
                <c:formatCode>General</c:formatCode>
                <c:ptCount val="90"/>
                <c:pt idx="0">
                  <c:v>0.10900000000000003</c:v>
                </c:pt>
                <c:pt idx="1">
                  <c:v>0.14900000000000005</c:v>
                </c:pt>
                <c:pt idx="2">
                  <c:v>0.15400000000000005</c:v>
                </c:pt>
                <c:pt idx="3">
                  <c:v>0.18400000000000005</c:v>
                </c:pt>
                <c:pt idx="4">
                  <c:v>0.125</c:v>
                </c:pt>
                <c:pt idx="5">
                  <c:v>0.16</c:v>
                </c:pt>
                <c:pt idx="6">
                  <c:v>0.129</c:v>
                </c:pt>
                <c:pt idx="7">
                  <c:v>0.18800000000000006</c:v>
                </c:pt>
                <c:pt idx="8">
                  <c:v>0.18800000000000006</c:v>
                </c:pt>
                <c:pt idx="9">
                  <c:v>0.22600000000000001</c:v>
                </c:pt>
                <c:pt idx="10">
                  <c:v>0.11899999999999998</c:v>
                </c:pt>
                <c:pt idx="11">
                  <c:v>0.10400000000000002</c:v>
                </c:pt>
                <c:pt idx="12">
                  <c:v>0.16800000000000001</c:v>
                </c:pt>
                <c:pt idx="13">
                  <c:v>0.113</c:v>
                </c:pt>
                <c:pt idx="14">
                  <c:v>0.14100000000000001</c:v>
                </c:pt>
                <c:pt idx="15">
                  <c:v>0.161</c:v>
                </c:pt>
                <c:pt idx="16">
                  <c:v>0.23700000000000004</c:v>
                </c:pt>
                <c:pt idx="17">
                  <c:v>0.28100000000000008</c:v>
                </c:pt>
                <c:pt idx="18">
                  <c:v>0.25</c:v>
                </c:pt>
                <c:pt idx="19">
                  <c:v>0.15900000000000006</c:v>
                </c:pt>
                <c:pt idx="20">
                  <c:v>0.10299999999999998</c:v>
                </c:pt>
                <c:pt idx="21">
                  <c:v>9.0000000000000024E-2</c:v>
                </c:pt>
                <c:pt idx="22">
                  <c:v>8.2000000000000003E-2</c:v>
                </c:pt>
                <c:pt idx="23">
                  <c:v>7.5000000000000011E-2</c:v>
                </c:pt>
                <c:pt idx="24">
                  <c:v>7.9000000000000029E-2</c:v>
                </c:pt>
                <c:pt idx="25">
                  <c:v>0.125</c:v>
                </c:pt>
                <c:pt idx="26">
                  <c:v>0.12000000000000002</c:v>
                </c:pt>
                <c:pt idx="27">
                  <c:v>9.5000000000000029E-2</c:v>
                </c:pt>
                <c:pt idx="28">
                  <c:v>0.129</c:v>
                </c:pt>
                <c:pt idx="29">
                  <c:v>0.14200000000000004</c:v>
                </c:pt>
                <c:pt idx="30">
                  <c:v>0.14800000000000005</c:v>
                </c:pt>
                <c:pt idx="31">
                  <c:v>9.5000000000000029E-2</c:v>
                </c:pt>
                <c:pt idx="32">
                  <c:v>8.1000000000000003E-2</c:v>
                </c:pt>
                <c:pt idx="33">
                  <c:v>0.10500000000000002</c:v>
                </c:pt>
                <c:pt idx="34">
                  <c:v>0.129</c:v>
                </c:pt>
                <c:pt idx="35">
                  <c:v>0.14800000000000005</c:v>
                </c:pt>
                <c:pt idx="36">
                  <c:v>0.12400000000000003</c:v>
                </c:pt>
                <c:pt idx="37">
                  <c:v>0.12200000000000003</c:v>
                </c:pt>
                <c:pt idx="38">
                  <c:v>0.161</c:v>
                </c:pt>
                <c:pt idx="39">
                  <c:v>9.8000000000000032E-2</c:v>
                </c:pt>
                <c:pt idx="40">
                  <c:v>8.7000000000000022E-2</c:v>
                </c:pt>
                <c:pt idx="41">
                  <c:v>7.5999999999999998E-2</c:v>
                </c:pt>
                <c:pt idx="42">
                  <c:v>9.2000000000000026E-2</c:v>
                </c:pt>
                <c:pt idx="43">
                  <c:v>6.0000000000000019E-2</c:v>
                </c:pt>
                <c:pt idx="44">
                  <c:v>5.1000000000000004E-2</c:v>
                </c:pt>
                <c:pt idx="45">
                  <c:v>4.3999999999999997E-2</c:v>
                </c:pt>
                <c:pt idx="46">
                  <c:v>5.3999999999999999E-2</c:v>
                </c:pt>
                <c:pt idx="47">
                  <c:v>6.3E-2</c:v>
                </c:pt>
                <c:pt idx="48">
                  <c:v>6.9000000000000034E-2</c:v>
                </c:pt>
                <c:pt idx="49">
                  <c:v>7.9000000000000029E-2</c:v>
                </c:pt>
                <c:pt idx="50">
                  <c:v>6.7000000000000004E-2</c:v>
                </c:pt>
                <c:pt idx="51">
                  <c:v>9.0000000000000024E-2</c:v>
                </c:pt>
                <c:pt idx="52">
                  <c:v>8.8000000000000037E-2</c:v>
                </c:pt>
                <c:pt idx="53">
                  <c:v>0.10100000000000002</c:v>
                </c:pt>
                <c:pt idx="54">
                  <c:v>0.10100000000000002</c:v>
                </c:pt>
                <c:pt idx="55">
                  <c:v>0.14600000000000005</c:v>
                </c:pt>
                <c:pt idx="56">
                  <c:v>0.114</c:v>
                </c:pt>
                <c:pt idx="57">
                  <c:v>6.200000000000002E-2</c:v>
                </c:pt>
                <c:pt idx="58">
                  <c:v>0.10500000000000002</c:v>
                </c:pt>
                <c:pt idx="59">
                  <c:v>5.1000000000000004E-2</c:v>
                </c:pt>
                <c:pt idx="60">
                  <c:v>6.6000000000000003E-2</c:v>
                </c:pt>
                <c:pt idx="61">
                  <c:v>7.5000000000000011E-2</c:v>
                </c:pt>
                <c:pt idx="62">
                  <c:v>8.3000000000000032E-2</c:v>
                </c:pt>
                <c:pt idx="63">
                  <c:v>0.115</c:v>
                </c:pt>
                <c:pt idx="64">
                  <c:v>0.12300000000000003</c:v>
                </c:pt>
                <c:pt idx="65">
                  <c:v>0.11799999999999998</c:v>
                </c:pt>
                <c:pt idx="66">
                  <c:v>0.129</c:v>
                </c:pt>
                <c:pt idx="67">
                  <c:v>0.161</c:v>
                </c:pt>
                <c:pt idx="68">
                  <c:v>0.15200000000000005</c:v>
                </c:pt>
                <c:pt idx="69">
                  <c:v>0.13800000000000001</c:v>
                </c:pt>
                <c:pt idx="70">
                  <c:v>0.17700000000000005</c:v>
                </c:pt>
                <c:pt idx="71">
                  <c:v>0.14100000000000001</c:v>
                </c:pt>
                <c:pt idx="72">
                  <c:v>0.15800000000000006</c:v>
                </c:pt>
                <c:pt idx="73">
                  <c:v>0.14000000000000001</c:v>
                </c:pt>
                <c:pt idx="74">
                  <c:v>9.4000000000000028E-2</c:v>
                </c:pt>
                <c:pt idx="75">
                  <c:v>6.8000000000000019E-2</c:v>
                </c:pt>
                <c:pt idx="76">
                  <c:v>7.0999999999999994E-2</c:v>
                </c:pt>
                <c:pt idx="77">
                  <c:v>7.3999999999999996E-2</c:v>
                </c:pt>
                <c:pt idx="78">
                  <c:v>5.3999999999999999E-2</c:v>
                </c:pt>
                <c:pt idx="79">
                  <c:v>4.8000000000000001E-2</c:v>
                </c:pt>
                <c:pt idx="80">
                  <c:v>5.1999999999999998E-2</c:v>
                </c:pt>
                <c:pt idx="81">
                  <c:v>4.8000000000000001E-2</c:v>
                </c:pt>
                <c:pt idx="82">
                  <c:v>4.7000000000000014E-2</c:v>
                </c:pt>
                <c:pt idx="83">
                  <c:v>4.9000000000000016E-2</c:v>
                </c:pt>
                <c:pt idx="84">
                  <c:v>6.7000000000000004E-2</c:v>
                </c:pt>
                <c:pt idx="85">
                  <c:v>0.05</c:v>
                </c:pt>
                <c:pt idx="86">
                  <c:v>5.6000000000000001E-2</c:v>
                </c:pt>
                <c:pt idx="87">
                  <c:v>5.5000000000000014E-2</c:v>
                </c:pt>
                <c:pt idx="88">
                  <c:v>6.8000000000000019E-2</c:v>
                </c:pt>
                <c:pt idx="89">
                  <c:v>0.13200000000000001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0E2-489A-99A2-1039D9368C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1128704"/>
        <c:axId val="302252800"/>
      </c:lineChart>
      <c:lineChart>
        <c:grouping val="standard"/>
        <c:varyColors val="1"/>
        <c:ser>
          <c:idx val="1"/>
          <c:order val="1"/>
          <c:tx>
            <c:v>出水氨氮</c:v>
          </c:tx>
          <c:marker>
            <c:symbol val="none"/>
          </c:marker>
          <c:cat>
            <c:strRef>
              <c:f>Sheet2!$A$4:$A$93</c:f>
              <c:strCache>
                <c:ptCount val="90"/>
                <c:pt idx="0">
                  <c:v>2026-01-01</c:v>
                </c:pt>
                <c:pt idx="1">
                  <c:v>2026-01-02</c:v>
                </c:pt>
                <c:pt idx="2">
                  <c:v>2026-01-03</c:v>
                </c:pt>
                <c:pt idx="3">
                  <c:v>2026-01-04</c:v>
                </c:pt>
                <c:pt idx="4">
                  <c:v>2026-01-05</c:v>
                </c:pt>
                <c:pt idx="5">
                  <c:v>2026-01-06</c:v>
                </c:pt>
                <c:pt idx="6">
                  <c:v>2026-01-07</c:v>
                </c:pt>
                <c:pt idx="7">
                  <c:v>2026-01-08</c:v>
                </c:pt>
                <c:pt idx="8">
                  <c:v>2026-01-09</c:v>
                </c:pt>
                <c:pt idx="9">
                  <c:v>2026-01-10</c:v>
                </c:pt>
                <c:pt idx="10">
                  <c:v>2026-01-11</c:v>
                </c:pt>
                <c:pt idx="11">
                  <c:v>2026-01-12</c:v>
                </c:pt>
                <c:pt idx="12">
                  <c:v>2026-01-13</c:v>
                </c:pt>
                <c:pt idx="13">
                  <c:v>2026-01-14</c:v>
                </c:pt>
                <c:pt idx="14">
                  <c:v>2026-01-15</c:v>
                </c:pt>
                <c:pt idx="15">
                  <c:v>2026-01-16</c:v>
                </c:pt>
                <c:pt idx="16">
                  <c:v>2026-01-17</c:v>
                </c:pt>
                <c:pt idx="17">
                  <c:v>2026-01-18</c:v>
                </c:pt>
                <c:pt idx="18">
                  <c:v>2026-01-19</c:v>
                </c:pt>
                <c:pt idx="19">
                  <c:v>2026-01-20</c:v>
                </c:pt>
                <c:pt idx="20">
                  <c:v>2026-01-21</c:v>
                </c:pt>
                <c:pt idx="21">
                  <c:v>2026-01-22</c:v>
                </c:pt>
                <c:pt idx="22">
                  <c:v>2026-01-23</c:v>
                </c:pt>
                <c:pt idx="23">
                  <c:v>2026-01-24</c:v>
                </c:pt>
                <c:pt idx="24">
                  <c:v>2026-01-25</c:v>
                </c:pt>
                <c:pt idx="25">
                  <c:v>2026-01-26</c:v>
                </c:pt>
                <c:pt idx="26">
                  <c:v>2026-01-27</c:v>
                </c:pt>
                <c:pt idx="27">
                  <c:v>2026-01-28</c:v>
                </c:pt>
                <c:pt idx="28">
                  <c:v>2026-01-29</c:v>
                </c:pt>
                <c:pt idx="29">
                  <c:v>2026-01-30</c:v>
                </c:pt>
                <c:pt idx="30">
                  <c:v>2026-01-31</c:v>
                </c:pt>
                <c:pt idx="31">
                  <c:v>2026-02-01</c:v>
                </c:pt>
                <c:pt idx="32">
                  <c:v>2026-02-02</c:v>
                </c:pt>
                <c:pt idx="33">
                  <c:v>2026-02-03</c:v>
                </c:pt>
                <c:pt idx="34">
                  <c:v>2026-02-04</c:v>
                </c:pt>
                <c:pt idx="35">
                  <c:v>2026-02-05</c:v>
                </c:pt>
                <c:pt idx="36">
                  <c:v>2026-02-06</c:v>
                </c:pt>
                <c:pt idx="37">
                  <c:v>2026-02-07</c:v>
                </c:pt>
                <c:pt idx="38">
                  <c:v>2026-02-08</c:v>
                </c:pt>
                <c:pt idx="39">
                  <c:v>2026-02-09</c:v>
                </c:pt>
                <c:pt idx="40">
                  <c:v>2026-02-10</c:v>
                </c:pt>
                <c:pt idx="41">
                  <c:v>2026-02-11</c:v>
                </c:pt>
                <c:pt idx="42">
                  <c:v>2026-02-12</c:v>
                </c:pt>
                <c:pt idx="43">
                  <c:v>2026-02-13</c:v>
                </c:pt>
                <c:pt idx="44">
                  <c:v>2026-02-14</c:v>
                </c:pt>
                <c:pt idx="45">
                  <c:v>2026-02-15</c:v>
                </c:pt>
                <c:pt idx="46">
                  <c:v>2026-02-16</c:v>
                </c:pt>
                <c:pt idx="47">
                  <c:v>2026-02-17</c:v>
                </c:pt>
                <c:pt idx="48">
                  <c:v>2026-02-18</c:v>
                </c:pt>
                <c:pt idx="49">
                  <c:v>2026-02-19</c:v>
                </c:pt>
                <c:pt idx="50">
                  <c:v>2026-02-20</c:v>
                </c:pt>
                <c:pt idx="51">
                  <c:v>2026-02-21</c:v>
                </c:pt>
                <c:pt idx="52">
                  <c:v>2026-02-22</c:v>
                </c:pt>
                <c:pt idx="53">
                  <c:v>2026-02-23</c:v>
                </c:pt>
                <c:pt idx="54">
                  <c:v>2026-02-24</c:v>
                </c:pt>
                <c:pt idx="55">
                  <c:v>2026-02-25</c:v>
                </c:pt>
                <c:pt idx="56">
                  <c:v>2026-02-26</c:v>
                </c:pt>
                <c:pt idx="57">
                  <c:v>2026-02-27</c:v>
                </c:pt>
                <c:pt idx="58">
                  <c:v>2026-02-28</c:v>
                </c:pt>
                <c:pt idx="59">
                  <c:v>2026-03-01</c:v>
                </c:pt>
                <c:pt idx="60">
                  <c:v>2026-03-02</c:v>
                </c:pt>
                <c:pt idx="61">
                  <c:v>2026-03-03</c:v>
                </c:pt>
                <c:pt idx="62">
                  <c:v>2026-03-04</c:v>
                </c:pt>
                <c:pt idx="63">
                  <c:v>2026-03-05</c:v>
                </c:pt>
                <c:pt idx="64">
                  <c:v>2026-03-06</c:v>
                </c:pt>
                <c:pt idx="65">
                  <c:v>2026-03-07</c:v>
                </c:pt>
                <c:pt idx="66">
                  <c:v>2026-03-08</c:v>
                </c:pt>
                <c:pt idx="67">
                  <c:v>2026-03-09</c:v>
                </c:pt>
                <c:pt idx="68">
                  <c:v>2026-03-10</c:v>
                </c:pt>
                <c:pt idx="69">
                  <c:v>2026-03-11</c:v>
                </c:pt>
                <c:pt idx="70">
                  <c:v>2026-03-12</c:v>
                </c:pt>
                <c:pt idx="71">
                  <c:v>2026-03-13</c:v>
                </c:pt>
                <c:pt idx="72">
                  <c:v>2026-03-14</c:v>
                </c:pt>
                <c:pt idx="73">
                  <c:v>2026-03-15</c:v>
                </c:pt>
                <c:pt idx="74">
                  <c:v>2026-03-16</c:v>
                </c:pt>
                <c:pt idx="75">
                  <c:v>2026-03-17</c:v>
                </c:pt>
                <c:pt idx="76">
                  <c:v>2026-03-18</c:v>
                </c:pt>
                <c:pt idx="77">
                  <c:v>2026-03-19</c:v>
                </c:pt>
                <c:pt idx="78">
                  <c:v>2026-03-20</c:v>
                </c:pt>
                <c:pt idx="79">
                  <c:v>2026-03-21</c:v>
                </c:pt>
                <c:pt idx="80">
                  <c:v>2026-03-22</c:v>
                </c:pt>
                <c:pt idx="81">
                  <c:v>2026-03-23</c:v>
                </c:pt>
                <c:pt idx="82">
                  <c:v>2026-03-24</c:v>
                </c:pt>
                <c:pt idx="83">
                  <c:v>2026-03-25</c:v>
                </c:pt>
                <c:pt idx="84">
                  <c:v>2026-03-26</c:v>
                </c:pt>
                <c:pt idx="85">
                  <c:v>2026-03-27</c:v>
                </c:pt>
                <c:pt idx="86">
                  <c:v>2026-03-28</c:v>
                </c:pt>
                <c:pt idx="87">
                  <c:v>2026-03-29</c:v>
                </c:pt>
                <c:pt idx="88">
                  <c:v>2026-03-30</c:v>
                </c:pt>
                <c:pt idx="89">
                  <c:v>2026-03-31</c:v>
                </c:pt>
              </c:strCache>
            </c:strRef>
          </c:cat>
          <c:val>
            <c:numRef>
              <c:f>Sheet2!$J$4:$J$93</c:f>
              <c:numCache>
                <c:formatCode>General</c:formatCode>
                <c:ptCount val="90"/>
                <c:pt idx="0">
                  <c:v>2.1000000000000008E-2</c:v>
                </c:pt>
                <c:pt idx="1">
                  <c:v>2.3E-2</c:v>
                </c:pt>
                <c:pt idx="2">
                  <c:v>2.3E-2</c:v>
                </c:pt>
                <c:pt idx="3">
                  <c:v>2.1999999999999999E-2</c:v>
                </c:pt>
                <c:pt idx="4">
                  <c:v>3.2000000000000015E-2</c:v>
                </c:pt>
                <c:pt idx="5">
                  <c:v>0.14000000000000001</c:v>
                </c:pt>
                <c:pt idx="6">
                  <c:v>2.0000000000000007E-2</c:v>
                </c:pt>
                <c:pt idx="7">
                  <c:v>2.3E-2</c:v>
                </c:pt>
                <c:pt idx="8">
                  <c:v>9.0000000000000028E-3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2.0000000000000009E-3</c:v>
                </c:pt>
                <c:pt idx="13">
                  <c:v>0</c:v>
                </c:pt>
                <c:pt idx="14">
                  <c:v>7.0999999999999994E-2</c:v>
                </c:pt>
                <c:pt idx="15">
                  <c:v>5.0000000000000018E-3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3.2000000000000015E-2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1.0999999999999998E-2</c:v>
                </c:pt>
                <c:pt idx="29">
                  <c:v>0</c:v>
                </c:pt>
                <c:pt idx="30">
                  <c:v>0</c:v>
                </c:pt>
                <c:pt idx="31">
                  <c:v>1.0000000000000004E-2</c:v>
                </c:pt>
                <c:pt idx="32">
                  <c:v>1.0000000000000004E-2</c:v>
                </c:pt>
                <c:pt idx="33">
                  <c:v>6.4000000000000029E-2</c:v>
                </c:pt>
                <c:pt idx="34">
                  <c:v>1.0000000000000004E-2</c:v>
                </c:pt>
                <c:pt idx="35">
                  <c:v>2.4E-2</c:v>
                </c:pt>
                <c:pt idx="36">
                  <c:v>1.0000000000000004E-2</c:v>
                </c:pt>
                <c:pt idx="37">
                  <c:v>1.0000000000000005E-3</c:v>
                </c:pt>
                <c:pt idx="38">
                  <c:v>1.0000000000000004E-2</c:v>
                </c:pt>
                <c:pt idx="39">
                  <c:v>2.0000000000000007E-2</c:v>
                </c:pt>
                <c:pt idx="40">
                  <c:v>3.5999999999999997E-2</c:v>
                </c:pt>
                <c:pt idx="41">
                  <c:v>5.5000000000000014E-2</c:v>
                </c:pt>
                <c:pt idx="42">
                  <c:v>9.1000000000000025E-2</c:v>
                </c:pt>
                <c:pt idx="43">
                  <c:v>6.8000000000000019E-2</c:v>
                </c:pt>
                <c:pt idx="44">
                  <c:v>7.5999999999999998E-2</c:v>
                </c:pt>
                <c:pt idx="45">
                  <c:v>8.2000000000000003E-2</c:v>
                </c:pt>
                <c:pt idx="46">
                  <c:v>8.7000000000000022E-2</c:v>
                </c:pt>
                <c:pt idx="47">
                  <c:v>9.0000000000000024E-2</c:v>
                </c:pt>
                <c:pt idx="48">
                  <c:v>9.2000000000000026E-2</c:v>
                </c:pt>
                <c:pt idx="49">
                  <c:v>0.1</c:v>
                </c:pt>
                <c:pt idx="50">
                  <c:v>9.7000000000000003E-2</c:v>
                </c:pt>
                <c:pt idx="51">
                  <c:v>0.1</c:v>
                </c:pt>
                <c:pt idx="52">
                  <c:v>0.10299999999999998</c:v>
                </c:pt>
                <c:pt idx="53">
                  <c:v>0.10299999999999998</c:v>
                </c:pt>
                <c:pt idx="54">
                  <c:v>0.10600000000000002</c:v>
                </c:pt>
                <c:pt idx="55">
                  <c:v>0.10700000000000003</c:v>
                </c:pt>
                <c:pt idx="56">
                  <c:v>0.16800000000000001</c:v>
                </c:pt>
                <c:pt idx="57">
                  <c:v>0.18100000000000005</c:v>
                </c:pt>
                <c:pt idx="58">
                  <c:v>8.0000000000000029E-2</c:v>
                </c:pt>
                <c:pt idx="59">
                  <c:v>1.0000000000000004E-2</c:v>
                </c:pt>
                <c:pt idx="60">
                  <c:v>1.0000000000000004E-2</c:v>
                </c:pt>
                <c:pt idx="61">
                  <c:v>1.0000000000000004E-2</c:v>
                </c:pt>
                <c:pt idx="62">
                  <c:v>1.0000000000000004E-2</c:v>
                </c:pt>
                <c:pt idx="63">
                  <c:v>3.7999999999999999E-2</c:v>
                </c:pt>
                <c:pt idx="64">
                  <c:v>1.0000000000000004E-2</c:v>
                </c:pt>
                <c:pt idx="65">
                  <c:v>1.0000000000000004E-2</c:v>
                </c:pt>
                <c:pt idx="66">
                  <c:v>1.0000000000000004E-2</c:v>
                </c:pt>
                <c:pt idx="67">
                  <c:v>1.0000000000000004E-2</c:v>
                </c:pt>
                <c:pt idx="68">
                  <c:v>1.0000000000000004E-2</c:v>
                </c:pt>
                <c:pt idx="69">
                  <c:v>1.0000000000000004E-2</c:v>
                </c:pt>
                <c:pt idx="70">
                  <c:v>3.4000000000000002E-2</c:v>
                </c:pt>
                <c:pt idx="71">
                  <c:v>4.0000000000000018E-3</c:v>
                </c:pt>
                <c:pt idx="72">
                  <c:v>7.0000000000000019E-3</c:v>
                </c:pt>
                <c:pt idx="73">
                  <c:v>5.0000000000000018E-3</c:v>
                </c:pt>
                <c:pt idx="74">
                  <c:v>1.0000000000000005E-3</c:v>
                </c:pt>
                <c:pt idx="75">
                  <c:v>1.0000000000000004E-2</c:v>
                </c:pt>
                <c:pt idx="76">
                  <c:v>1.0000000000000005E-3</c:v>
                </c:pt>
                <c:pt idx="77">
                  <c:v>1.7000000000000001E-2</c:v>
                </c:pt>
                <c:pt idx="78">
                  <c:v>2.0000000000000009E-3</c:v>
                </c:pt>
                <c:pt idx="79">
                  <c:v>1.0000000000000005E-3</c:v>
                </c:pt>
                <c:pt idx="80">
                  <c:v>3.0000000000000009E-3</c:v>
                </c:pt>
                <c:pt idx="81">
                  <c:v>4.0000000000000018E-3</c:v>
                </c:pt>
                <c:pt idx="82">
                  <c:v>4.0000000000000018E-3</c:v>
                </c:pt>
                <c:pt idx="83">
                  <c:v>5.0000000000000018E-3</c:v>
                </c:pt>
                <c:pt idx="84">
                  <c:v>4.1000000000000002E-2</c:v>
                </c:pt>
                <c:pt idx="85">
                  <c:v>1.2E-2</c:v>
                </c:pt>
                <c:pt idx="86">
                  <c:v>1.0999999999999998E-2</c:v>
                </c:pt>
                <c:pt idx="87">
                  <c:v>1.4E-2</c:v>
                </c:pt>
                <c:pt idx="88">
                  <c:v>1.2999999999999998E-2</c:v>
                </c:pt>
                <c:pt idx="89">
                  <c:v>1.4999999999999998E-2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0E2-489A-99A2-1039D9368C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2254720"/>
        <c:axId val="302260608"/>
      </c:lineChart>
      <c:catAx>
        <c:axId val="301128704"/>
        <c:scaling>
          <c:orientation val="minMax"/>
        </c:scaling>
        <c:delete val="1"/>
        <c:axPos val="b"/>
        <c:numFmt formatCode="General" sourceLinked="0"/>
        <c:majorTickMark val="in"/>
        <c:minorTickMark val="cross"/>
        <c:tickLblPos val="nextTo"/>
        <c:crossAx val="302252800"/>
        <c:crosses val="autoZero"/>
        <c:auto val="1"/>
        <c:lblAlgn val="ctr"/>
        <c:lblOffset val="100"/>
        <c:noMultiLvlLbl val="1"/>
      </c:catAx>
      <c:valAx>
        <c:axId val="302252800"/>
        <c:scaling>
          <c:orientation val="minMax"/>
        </c:scaling>
        <c:delete val="1"/>
        <c:axPos val="l"/>
        <c:title>
          <c:tx>
            <c:rich>
              <a:bodyPr rot="-5400000" vert="horz"/>
              <a:lstStyle/>
              <a:p>
                <a:pPr algn="ctr" rtl="0">
                  <a:defRPr/>
                </a:pPr>
                <a:r>
                  <a:rPr lang="zh-CN"/>
                  <a:t>出水</a:t>
                </a:r>
                <a:r>
                  <a:rPr lang="en-US"/>
                  <a:t>TP</a:t>
                </a:r>
                <a:r>
                  <a:rPr lang="zh-CN"/>
                  <a:t>浓度(mg/L)</a:t>
                </a:r>
              </a:p>
            </c:rich>
          </c:tx>
          <c:overlay val="1"/>
        </c:title>
        <c:numFmt formatCode="General" sourceLinked="1"/>
        <c:majorTickMark val="in"/>
        <c:minorTickMark val="cross"/>
        <c:tickLblPos val="nextTo"/>
        <c:crossAx val="301128704"/>
        <c:crosses val="autoZero"/>
        <c:crossBetween val="between"/>
      </c:valAx>
      <c:catAx>
        <c:axId val="302254720"/>
        <c:scaling>
          <c:orientation val="minMax"/>
        </c:scaling>
        <c:delete val="1"/>
        <c:axPos val="b"/>
        <c:numFmt formatCode="General" sourceLinked="0"/>
        <c:majorTickMark val="cross"/>
        <c:minorTickMark val="cross"/>
        <c:tickLblPos val="nextTo"/>
        <c:crossAx val="302260608"/>
        <c:crosses val="autoZero"/>
        <c:auto val="1"/>
        <c:lblAlgn val="ctr"/>
        <c:lblOffset val="100"/>
        <c:noMultiLvlLbl val="1"/>
      </c:catAx>
      <c:valAx>
        <c:axId val="302260608"/>
        <c:scaling>
          <c:orientation val="minMax"/>
        </c:scaling>
        <c:delete val="1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zh-CN"/>
                  <a:t>出水氨氮浓度(mg/L)</a:t>
                </a:r>
              </a:p>
            </c:rich>
          </c:tx>
          <c:overlay val="1"/>
        </c:title>
        <c:numFmt formatCode="General" sourceLinked="1"/>
        <c:majorTickMark val="in"/>
        <c:minorTickMark val="cross"/>
        <c:tickLblPos val="nextTo"/>
        <c:crossAx val="302254720"/>
        <c:crosses val="max"/>
        <c:crossBetween val="between"/>
      </c:valAx>
    </c:plotArea>
    <c:legend>
      <c:legendPos val="r"/>
      <c:overlay val="1"/>
      <c:txPr>
        <a:bodyPr rot="0" vert="horz"/>
        <a:lstStyle/>
        <a:p>
          <a:pPr>
            <a:defRPr/>
          </a:pPr>
          <a:endParaRPr lang="zh-CN"/>
        </a:p>
      </c:txPr>
    </c:legend>
    <c:plotVisOnly val="1"/>
    <c:dispBlanksAs val="gap"/>
    <c:showDLblsOverMax val="1"/>
    <c:extLst>
      <c:ext uri="{0b15fc19-7d7d-44ad-8c2d-2c3a37ce22c3}">
        <chartProps xmlns="https://web.wps.cn/et/2018/main" chartId="{7cf62dbc-9fe0-42a9-b70b-77a37d1330d2}"/>
      </c:ext>
    </c:extLst>
  </c:chart>
  <c:txPr>
    <a:bodyPr/>
    <a:lstStyle/>
    <a:p>
      <a:pPr>
        <a:defRPr lang="zh-CN" sz="1400">
          <a:latin typeface="Times New Roman" panose="02020603050405020304" pitchFamily="18" charset="0"/>
          <a:cs typeface="Times New Roman" panose="02020603050405020304" pitchFamily="18" charset="0"/>
        </a:defRPr>
      </a:pPr>
      <a:endParaRPr lang="zh-CN"/>
    </a:p>
  </c:txPr>
  <c:externalData r:id="rId1">
    <c:autoUpdate val="1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2026-04-28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5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72.xml"/><Relationship Id="rId10" Type="http://schemas.openxmlformats.org/officeDocument/2006/relationships/tags" Target="../tags/tag77.xml"/><Relationship Id="rId4" Type="http://schemas.openxmlformats.org/officeDocument/2006/relationships/tags" Target="../tags/tag71.xml"/><Relationship Id="rId9" Type="http://schemas.openxmlformats.org/officeDocument/2006/relationships/tags" Target="../tags/tag76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2.xml"/><Relationship Id="rId4" Type="http://schemas.openxmlformats.org/officeDocument/2006/relationships/tags" Target="../tags/tag8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89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94.xml"/><Relationship Id="rId4" Type="http://schemas.openxmlformats.org/officeDocument/2006/relationships/tags" Target="../tags/tag9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98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ctor_#color_$accent1_3_$accent1_3-2084&amp;11826"/>
          <p:cNvSpPr/>
          <p:nvPr>
            <p:custDataLst>
              <p:tags r:id="rId1"/>
            </p:custDataLst>
          </p:nvPr>
        </p:nvSpPr>
        <p:spPr>
          <a:xfrm>
            <a:off x="6272784" y="0"/>
            <a:ext cx="5678424" cy="4005072"/>
          </a:xfrm>
          <a:custGeom>
            <a:avLst/>
            <a:gdLst/>
            <a:ahLst/>
            <a:cxnLst/>
            <a:rect l="l" t="t" r="r" b="b"/>
            <a:pathLst>
              <a:path w="5678424" h="4005072">
                <a:moveTo>
                  <a:pt x="2020824" y="0"/>
                </a:moveTo>
                <a:lnTo>
                  <a:pt x="5614416" y="3584448"/>
                </a:lnTo>
                <a:cubicBezTo>
                  <a:pt x="5769864" y="3739896"/>
                  <a:pt x="5650992" y="4005072"/>
                  <a:pt x="5440680" y="4005072"/>
                </a:cubicBezTo>
                <a:lnTo>
                  <a:pt x="4187952" y="4005072"/>
                </a:lnTo>
                <a:cubicBezTo>
                  <a:pt x="4078224" y="4005072"/>
                  <a:pt x="3959352" y="3959352"/>
                  <a:pt x="3877056" y="3877056"/>
                </a:cubicBezTo>
                <a:lnTo>
                  <a:pt x="0" y="0"/>
                </a:lnTo>
                <a:lnTo>
                  <a:pt x="2020824" y="0"/>
                </a:lnTo>
              </a:path>
            </a:pathLst>
          </a:custGeom>
          <a:gradFill>
            <a:gsLst>
              <a:gs pos="0">
                <a:schemeClr val="accent5">
                  <a:lumMod val="92329"/>
                  <a:alpha val="46000"/>
                </a:schemeClr>
              </a:gs>
              <a:gs pos="57000">
                <a:schemeClr val="accent5">
                  <a:lumMod val="92329"/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9" name="Vector_#color_$accent1_$accent1_3-2084&amp;11829"/>
          <p:cNvSpPr/>
          <p:nvPr>
            <p:custDataLst>
              <p:tags r:id="rId2"/>
            </p:custDataLst>
          </p:nvPr>
        </p:nvSpPr>
        <p:spPr>
          <a:xfrm>
            <a:off x="5032248" y="0"/>
            <a:ext cx="7159752" cy="3026664"/>
          </a:xfrm>
          <a:custGeom>
            <a:avLst/>
            <a:gdLst/>
            <a:ahLst/>
            <a:cxnLst/>
            <a:rect l="l" t="t" r="r" b="b"/>
            <a:pathLst>
              <a:path w="7159752" h="3026664">
                <a:moveTo>
                  <a:pt x="5769864" y="0"/>
                </a:moveTo>
                <a:lnTo>
                  <a:pt x="0" y="0"/>
                </a:lnTo>
                <a:lnTo>
                  <a:pt x="960120" y="960120"/>
                </a:lnTo>
                <a:cubicBezTo>
                  <a:pt x="1060704" y="1060704"/>
                  <a:pt x="1197864" y="1115568"/>
                  <a:pt x="1353312" y="1115568"/>
                </a:cubicBezTo>
                <a:lnTo>
                  <a:pt x="4206240" y="1115568"/>
                </a:lnTo>
                <a:cubicBezTo>
                  <a:pt x="4425696" y="1115568"/>
                  <a:pt x="4636008" y="1207008"/>
                  <a:pt x="4782312" y="1353312"/>
                </a:cubicBezTo>
                <a:lnTo>
                  <a:pt x="6455664" y="3026664"/>
                </a:lnTo>
                <a:lnTo>
                  <a:pt x="7159752" y="3026664"/>
                </a:lnTo>
                <a:lnTo>
                  <a:pt x="7159752" y="1645920"/>
                </a:lnTo>
                <a:lnTo>
                  <a:pt x="5769864" y="0"/>
                </a:lnTo>
              </a:path>
            </a:pathLst>
          </a:custGeom>
          <a:gradFill>
            <a:gsLst>
              <a:gs pos="0">
                <a:schemeClr val="accent5">
                  <a:lumMod val="64021"/>
                  <a:alpha val="39600"/>
                </a:schemeClr>
              </a:gs>
              <a:gs pos="100000">
                <a:schemeClr val="accent5">
                  <a:lumMod val="92329"/>
                  <a:alpha val="60000"/>
                </a:schemeClr>
              </a:gs>
            </a:gsLst>
            <a:lin ang="108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0" name="Subtract_#color_$accent1_1_$accent1_1-2086&amp;195"/>
          <p:cNvSpPr/>
          <p:nvPr>
            <p:custDataLst>
              <p:tags r:id="rId3"/>
            </p:custDataLst>
          </p:nvPr>
        </p:nvSpPr>
        <p:spPr>
          <a:xfrm>
            <a:off x="6460109" y="1115568"/>
            <a:ext cx="3355848" cy="2148840"/>
          </a:xfrm>
          <a:custGeom>
            <a:avLst/>
            <a:gdLst/>
            <a:ahLst/>
            <a:cxnLst/>
            <a:rect l="l" t="t" r="r" b="b"/>
            <a:pathLst>
              <a:path w="3355848" h="2148840">
                <a:moveTo>
                  <a:pt x="1453896" y="0"/>
                </a:moveTo>
                <a:lnTo>
                  <a:pt x="3300984" y="1847088"/>
                </a:lnTo>
                <a:cubicBezTo>
                  <a:pt x="3419856" y="1956816"/>
                  <a:pt x="3337560" y="2148840"/>
                  <a:pt x="3182112" y="2148840"/>
                </a:cubicBezTo>
                <a:lnTo>
                  <a:pt x="2286000" y="2148840"/>
                </a:lnTo>
                <a:cubicBezTo>
                  <a:pt x="2194560" y="2148840"/>
                  <a:pt x="2121408" y="2112264"/>
                  <a:pt x="2057400" y="2057400"/>
                </a:cubicBezTo>
                <a:lnTo>
                  <a:pt x="0" y="0"/>
                </a:lnTo>
                <a:lnTo>
                  <a:pt x="1453896" y="0"/>
                </a:lnTo>
              </a:path>
            </a:pathLst>
          </a:custGeom>
          <a:gradFill>
            <a:gsLst>
              <a:gs pos="0">
                <a:schemeClr val="accent5">
                  <a:lumMod val="81058"/>
                  <a:lumOff val="18942"/>
                  <a:alpha val="28000"/>
                </a:schemeClr>
              </a:gs>
              <a:gs pos="51000">
                <a:schemeClr val="accent5">
                  <a:lumMod val="40909"/>
                  <a:lumOff val="59091"/>
                  <a:alpha val="0"/>
                </a:schemeClr>
              </a:gs>
            </a:gsLst>
            <a:lin ang="210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Subtract_#color_$accent1_1_$accent1_1-2086&amp;194"/>
          <p:cNvSpPr/>
          <p:nvPr>
            <p:custDataLst>
              <p:tags r:id="rId4"/>
            </p:custDataLst>
          </p:nvPr>
        </p:nvSpPr>
        <p:spPr>
          <a:xfrm>
            <a:off x="2194560" y="3493008"/>
            <a:ext cx="3355848" cy="2148840"/>
          </a:xfrm>
          <a:custGeom>
            <a:avLst/>
            <a:gdLst/>
            <a:ahLst/>
            <a:cxnLst/>
            <a:rect l="l" t="t" r="r" b="b"/>
            <a:pathLst>
              <a:path w="3355848" h="2148840">
                <a:moveTo>
                  <a:pt x="1901952" y="2148840"/>
                </a:moveTo>
                <a:lnTo>
                  <a:pt x="54864" y="301752"/>
                </a:lnTo>
                <a:cubicBezTo>
                  <a:pt x="-54864" y="192024"/>
                  <a:pt x="18288" y="0"/>
                  <a:pt x="173736" y="0"/>
                </a:cubicBezTo>
                <a:lnTo>
                  <a:pt x="1069848" y="0"/>
                </a:lnTo>
                <a:cubicBezTo>
                  <a:pt x="1161288" y="0"/>
                  <a:pt x="1243584" y="36576"/>
                  <a:pt x="1298448" y="91440"/>
                </a:cubicBezTo>
                <a:lnTo>
                  <a:pt x="3355848" y="2148840"/>
                </a:lnTo>
                <a:lnTo>
                  <a:pt x="1901952" y="2148840"/>
                </a:lnTo>
              </a:path>
            </a:pathLst>
          </a:custGeom>
          <a:gradFill>
            <a:gsLst>
              <a:gs pos="100000">
                <a:schemeClr val="accent5">
                  <a:lumMod val="81058"/>
                  <a:lumOff val="18942"/>
                  <a:alpha val="28000"/>
                </a:schemeClr>
              </a:gs>
              <a:gs pos="56000">
                <a:schemeClr val="accent5">
                  <a:lumMod val="40909"/>
                  <a:lumOff val="59091"/>
                  <a:alpha val="0"/>
                </a:schemeClr>
              </a:gs>
            </a:gsLst>
            <a:lin ang="2100000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2" name="Vector_#color_$accent1_$accent3-2084&amp;11832"/>
          <p:cNvSpPr/>
          <p:nvPr>
            <p:custDataLst>
              <p:tags r:id="rId5"/>
            </p:custDataLst>
          </p:nvPr>
        </p:nvSpPr>
        <p:spPr>
          <a:xfrm>
            <a:off x="7214616" y="0"/>
            <a:ext cx="3849624" cy="1645920"/>
          </a:xfrm>
          <a:custGeom>
            <a:avLst/>
            <a:gdLst/>
            <a:ahLst/>
            <a:cxnLst/>
            <a:rect l="l" t="t" r="r" b="b"/>
            <a:pathLst>
              <a:path w="3849624" h="1645920">
                <a:moveTo>
                  <a:pt x="2532888" y="0"/>
                </a:moveTo>
                <a:lnTo>
                  <a:pt x="3785616" y="1261872"/>
                </a:lnTo>
                <a:cubicBezTo>
                  <a:pt x="3922776" y="1399032"/>
                  <a:pt x="3822192" y="1645920"/>
                  <a:pt x="3630168" y="1645920"/>
                </a:cubicBezTo>
                <a:lnTo>
                  <a:pt x="1929384" y="1645920"/>
                </a:lnTo>
                <a:cubicBezTo>
                  <a:pt x="1746504" y="1645920"/>
                  <a:pt x="1572768" y="1572768"/>
                  <a:pt x="1435608" y="1435608"/>
                </a:cubicBezTo>
                <a:lnTo>
                  <a:pt x="0" y="0"/>
                </a:lnTo>
                <a:lnTo>
                  <a:pt x="2532888" y="0"/>
                </a:lnTo>
              </a:path>
            </a:pathLst>
          </a:custGeom>
          <a:gradFill>
            <a:gsLst>
              <a:gs pos="0">
                <a:schemeClr val="accent5">
                  <a:lumMod val="64021"/>
                  <a:alpha val="23000"/>
                </a:schemeClr>
              </a:gs>
              <a:gs pos="100000">
                <a:schemeClr val="accent6">
                  <a:lumMod val="79310"/>
                  <a:alpha val="50000"/>
                </a:schemeClr>
              </a:gs>
            </a:gsLst>
            <a:lin ang="1549745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3" name="Vector_#color_$accent1_3_$accent1_3-2084&amp;11835"/>
          <p:cNvSpPr/>
          <p:nvPr>
            <p:custDataLst>
              <p:tags r:id="rId6"/>
            </p:custDataLst>
          </p:nvPr>
        </p:nvSpPr>
        <p:spPr>
          <a:xfrm>
            <a:off x="0" y="2752344"/>
            <a:ext cx="5779008" cy="4105656"/>
          </a:xfrm>
          <a:custGeom>
            <a:avLst/>
            <a:gdLst/>
            <a:ahLst/>
            <a:cxnLst/>
            <a:rect l="l" t="t" r="r" b="b"/>
            <a:pathLst>
              <a:path w="5779008" h="4105656">
                <a:moveTo>
                  <a:pt x="5779008" y="4105656"/>
                </a:moveTo>
                <a:lnTo>
                  <a:pt x="3758184" y="4105656"/>
                </a:lnTo>
                <a:lnTo>
                  <a:pt x="73152" y="420624"/>
                </a:lnTo>
                <a:cubicBezTo>
                  <a:pt x="-82296" y="265176"/>
                  <a:pt x="27432" y="0"/>
                  <a:pt x="246888" y="0"/>
                </a:cubicBezTo>
                <a:lnTo>
                  <a:pt x="1490472" y="0"/>
                </a:lnTo>
                <a:cubicBezTo>
                  <a:pt x="1609344" y="0"/>
                  <a:pt x="1719072" y="45720"/>
                  <a:pt x="1801368" y="128016"/>
                </a:cubicBezTo>
                <a:lnTo>
                  <a:pt x="5779008" y="4105656"/>
                </a:lnTo>
              </a:path>
            </a:pathLst>
          </a:custGeom>
          <a:gradFill>
            <a:gsLst>
              <a:gs pos="0">
                <a:schemeClr val="accent5">
                  <a:lumMod val="92329"/>
                  <a:alpha val="67000"/>
                </a:schemeClr>
              </a:gs>
              <a:gs pos="51000">
                <a:schemeClr val="accent5">
                  <a:lumMod val="92329"/>
                  <a:alpha val="0"/>
                </a:schemeClr>
              </a:gs>
            </a:gsLst>
            <a:lin ang="150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4" name="Vector_#color_$accent1_$accent1_3-2084&amp;11838"/>
          <p:cNvSpPr/>
          <p:nvPr>
            <p:custDataLst>
              <p:tags r:id="rId7"/>
            </p:custDataLst>
          </p:nvPr>
        </p:nvSpPr>
        <p:spPr>
          <a:xfrm>
            <a:off x="0" y="3730752"/>
            <a:ext cx="7114032" cy="3127248"/>
          </a:xfrm>
          <a:custGeom>
            <a:avLst/>
            <a:gdLst/>
            <a:ahLst/>
            <a:cxnLst/>
            <a:rect l="l" t="t" r="r" b="b"/>
            <a:pathLst>
              <a:path w="7114032" h="3127248">
                <a:moveTo>
                  <a:pt x="0" y="1545336"/>
                </a:moveTo>
                <a:lnTo>
                  <a:pt x="0" y="0"/>
                </a:lnTo>
                <a:lnTo>
                  <a:pt x="557784" y="0"/>
                </a:lnTo>
                <a:lnTo>
                  <a:pt x="2231136" y="1673352"/>
                </a:lnTo>
                <a:cubicBezTo>
                  <a:pt x="2386584" y="1819656"/>
                  <a:pt x="2587752" y="1911096"/>
                  <a:pt x="2807208" y="1911096"/>
                </a:cubicBezTo>
                <a:lnTo>
                  <a:pt x="5669280" y="1911096"/>
                </a:lnTo>
                <a:cubicBezTo>
                  <a:pt x="5815584" y="1911096"/>
                  <a:pt x="5952744" y="1965960"/>
                  <a:pt x="6062472" y="2075688"/>
                </a:cubicBezTo>
                <a:lnTo>
                  <a:pt x="7114032" y="3127248"/>
                </a:lnTo>
                <a:lnTo>
                  <a:pt x="1335024" y="3127248"/>
                </a:lnTo>
                <a:lnTo>
                  <a:pt x="0" y="1545336"/>
                </a:lnTo>
              </a:path>
            </a:pathLst>
          </a:custGeom>
          <a:gradFill>
            <a:gsLst>
              <a:gs pos="0">
                <a:schemeClr val="accent5">
                  <a:lumMod val="64021"/>
                  <a:alpha val="39600"/>
                </a:schemeClr>
              </a:gs>
              <a:gs pos="100000">
                <a:schemeClr val="accent5">
                  <a:lumMod val="92329"/>
                  <a:alpha val="6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" name="Vector_#color_$accent1_$accent3-2084&amp;11841"/>
          <p:cNvSpPr/>
          <p:nvPr>
            <p:custDataLst>
              <p:tags r:id="rId8"/>
            </p:custDataLst>
          </p:nvPr>
        </p:nvSpPr>
        <p:spPr>
          <a:xfrm>
            <a:off x="987552" y="5120640"/>
            <a:ext cx="3950208" cy="1737360"/>
          </a:xfrm>
          <a:custGeom>
            <a:avLst/>
            <a:gdLst/>
            <a:ahLst/>
            <a:cxnLst/>
            <a:rect l="l" t="t" r="r" b="b"/>
            <a:pathLst>
              <a:path w="3950208" h="1737360">
                <a:moveTo>
                  <a:pt x="3950208" y="1737360"/>
                </a:moveTo>
                <a:lnTo>
                  <a:pt x="1408176" y="1737360"/>
                </a:lnTo>
                <a:lnTo>
                  <a:pt x="64008" y="374904"/>
                </a:lnTo>
                <a:cubicBezTo>
                  <a:pt x="-73152" y="237744"/>
                  <a:pt x="27432" y="0"/>
                  <a:pt x="219456" y="0"/>
                </a:cubicBezTo>
                <a:lnTo>
                  <a:pt x="1920240" y="0"/>
                </a:lnTo>
                <a:cubicBezTo>
                  <a:pt x="2103120" y="0"/>
                  <a:pt x="2286000" y="73152"/>
                  <a:pt x="2414016" y="201168"/>
                </a:cubicBezTo>
                <a:lnTo>
                  <a:pt x="3950208" y="1737360"/>
                </a:lnTo>
              </a:path>
            </a:pathLst>
          </a:custGeom>
          <a:gradFill>
            <a:gsLst>
              <a:gs pos="100000">
                <a:schemeClr val="accent5">
                  <a:lumMod val="64021"/>
                  <a:alpha val="23000"/>
                </a:schemeClr>
              </a:gs>
              <a:gs pos="0">
                <a:schemeClr val="accent6">
                  <a:lumMod val="79310"/>
                  <a:alpha val="50000"/>
                </a:schemeClr>
              </a:gs>
            </a:gsLst>
            <a:lin ang="15497459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4824582" y="4188985"/>
            <a:ext cx="2340000" cy="468000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18000" rIns="71755" bIns="1800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lt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署名</a:t>
            </a:r>
          </a:p>
        </p:txBody>
      </p:sp>
      <p:sp>
        <p:nvSpPr>
          <p:cNvPr id="16" name="副标题 2"/>
          <p:cNvSpPr txBox="1">
            <a:spLocks noGrp="1"/>
          </p:cNvSpPr>
          <p:nvPr>
            <p:ph type="body" idx="1" hasCustomPrompt="1"/>
            <p:custDataLst>
              <p:tags r:id="rId10"/>
            </p:custDataLst>
          </p:nvPr>
        </p:nvSpPr>
        <p:spPr>
          <a:xfrm>
            <a:off x="2009775" y="3252153"/>
            <a:ext cx="7969250" cy="462280"/>
          </a:xfr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8" name="标题 7"/>
          <p:cNvSpPr txBox="1"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2009775" y="2049463"/>
            <a:ext cx="7969250" cy="1186180"/>
          </a:xfr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000" b="1" i="0" u="none" strike="noStrike" kern="1200" cap="none" spc="0" normalizeH="0" baseline="0" noProof="1" dirty="0">
                <a:solidFill>
                  <a:schemeClr val="accent5">
                    <a:lumMod val="48148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单击编辑母版标题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1301749"/>
            <a:ext cx="10800000" cy="48736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2026-04-28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132387" y="836663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zh-CN" altLang="en-US" sz="6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pPr/>
              <a:t>2026-04-28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6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pPr/>
              <a:t>2026-04-28</a:t>
            </a:fld>
            <a:endParaRPr lang="zh-CN" altLang="en-US"/>
          </a:p>
        </p:txBody>
      </p:sp>
      <p:sp>
        <p:nvSpPr>
          <p:cNvPr id="9" name="节编号 3"/>
          <p:cNvSpPr>
            <a:spLocks noGrp="1" noChangeAspect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646000" y="2102803"/>
            <a:ext cx="900000" cy="89977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txBody>
          <a:bodyPr wrap="none"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400" b="1">
                <a:ln>
                  <a:noFill/>
                </a:ln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2903855" y="4243388"/>
            <a:ext cx="6384290" cy="563245"/>
          </a:xfrm>
        </p:spPr>
        <p:txBody>
          <a:bodyPr wrap="square">
            <a:normAutofit/>
          </a:bodyPr>
          <a:lstStyle>
            <a:lvl1pPr marL="0" indent="0" algn="ctr">
              <a:buNone/>
              <a:defRPr sz="2400" b="1" u="none" strike="noStrike" kern="1200" cap="none" spc="0" normalizeH="0">
                <a:solidFill>
                  <a:schemeClr val="tx1">
                    <a:lumMod val="75000"/>
                    <a:lumOff val="25000"/>
                  </a:schemeClr>
                </a:solidFill>
                <a:uFillTx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单击此处编辑副标题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903855" y="3153728"/>
            <a:ext cx="6384290" cy="1051560"/>
          </a:xfrm>
        </p:spPr>
        <p:txBody>
          <a:bodyPr wrap="square" anchor="b">
            <a:normAutofit/>
          </a:bodyPr>
          <a:lstStyle>
            <a:lvl1pPr algn="ctr">
              <a:defRPr kumimoji="0" lang="zh-CN" altLang="en-US" sz="54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r>
              <a:rPr lang="zh-CN" altLang="en-US" dirty="0"/>
              <a:t>单击编辑母版标题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2026-04-28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3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2026-04-28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2026-04-28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2026-04-28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2026-04-28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2026-04-28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3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/>
          <a:p>
            <a:pPr lvl="0"/>
            <a:r>
              <a:t>单击此处编辑副标题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ctor_#color_$accent1_3_$accent1_3-2084&amp;11826"/>
          <p:cNvSpPr/>
          <p:nvPr>
            <p:custDataLst>
              <p:tags r:id="rId1"/>
            </p:custDataLst>
          </p:nvPr>
        </p:nvSpPr>
        <p:spPr>
          <a:xfrm>
            <a:off x="6272784" y="0"/>
            <a:ext cx="5678424" cy="4005072"/>
          </a:xfrm>
          <a:custGeom>
            <a:avLst/>
            <a:gdLst/>
            <a:ahLst/>
            <a:cxnLst/>
            <a:rect l="l" t="t" r="r" b="b"/>
            <a:pathLst>
              <a:path w="5678424" h="4005072">
                <a:moveTo>
                  <a:pt x="2020824" y="0"/>
                </a:moveTo>
                <a:lnTo>
                  <a:pt x="5614416" y="3584448"/>
                </a:lnTo>
                <a:cubicBezTo>
                  <a:pt x="5769864" y="3739896"/>
                  <a:pt x="5650992" y="4005072"/>
                  <a:pt x="5440680" y="4005072"/>
                </a:cubicBezTo>
                <a:lnTo>
                  <a:pt x="4187952" y="4005072"/>
                </a:lnTo>
                <a:cubicBezTo>
                  <a:pt x="4078224" y="4005072"/>
                  <a:pt x="3959352" y="3959352"/>
                  <a:pt x="3877056" y="3877056"/>
                </a:cubicBezTo>
                <a:lnTo>
                  <a:pt x="0" y="0"/>
                </a:lnTo>
                <a:lnTo>
                  <a:pt x="2020824" y="0"/>
                </a:lnTo>
              </a:path>
            </a:pathLst>
          </a:custGeom>
          <a:gradFill>
            <a:gsLst>
              <a:gs pos="0">
                <a:schemeClr val="accent5">
                  <a:lumMod val="92329"/>
                  <a:alpha val="46000"/>
                </a:schemeClr>
              </a:gs>
              <a:gs pos="57000">
                <a:schemeClr val="accent5">
                  <a:lumMod val="92329"/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9" name="Vector_#color_$accent1_$accent1_3-2084&amp;11829"/>
          <p:cNvSpPr/>
          <p:nvPr>
            <p:custDataLst>
              <p:tags r:id="rId2"/>
            </p:custDataLst>
          </p:nvPr>
        </p:nvSpPr>
        <p:spPr>
          <a:xfrm>
            <a:off x="5032248" y="0"/>
            <a:ext cx="7159752" cy="3026664"/>
          </a:xfrm>
          <a:custGeom>
            <a:avLst/>
            <a:gdLst/>
            <a:ahLst/>
            <a:cxnLst/>
            <a:rect l="l" t="t" r="r" b="b"/>
            <a:pathLst>
              <a:path w="7159752" h="3026664">
                <a:moveTo>
                  <a:pt x="5769864" y="0"/>
                </a:moveTo>
                <a:lnTo>
                  <a:pt x="0" y="0"/>
                </a:lnTo>
                <a:lnTo>
                  <a:pt x="960120" y="960120"/>
                </a:lnTo>
                <a:cubicBezTo>
                  <a:pt x="1060704" y="1060704"/>
                  <a:pt x="1197864" y="1115568"/>
                  <a:pt x="1353312" y="1115568"/>
                </a:cubicBezTo>
                <a:lnTo>
                  <a:pt x="4206240" y="1115568"/>
                </a:lnTo>
                <a:cubicBezTo>
                  <a:pt x="4425696" y="1115568"/>
                  <a:pt x="4636008" y="1207008"/>
                  <a:pt x="4782312" y="1353312"/>
                </a:cubicBezTo>
                <a:lnTo>
                  <a:pt x="6455664" y="3026664"/>
                </a:lnTo>
                <a:lnTo>
                  <a:pt x="7159752" y="3026664"/>
                </a:lnTo>
                <a:lnTo>
                  <a:pt x="7159752" y="1645920"/>
                </a:lnTo>
                <a:lnTo>
                  <a:pt x="5769864" y="0"/>
                </a:lnTo>
              </a:path>
            </a:pathLst>
          </a:custGeom>
          <a:gradFill>
            <a:gsLst>
              <a:gs pos="0">
                <a:schemeClr val="accent5">
                  <a:lumMod val="64021"/>
                  <a:alpha val="39600"/>
                </a:schemeClr>
              </a:gs>
              <a:gs pos="100000">
                <a:schemeClr val="accent5">
                  <a:lumMod val="92329"/>
                  <a:alpha val="60000"/>
                </a:schemeClr>
              </a:gs>
            </a:gsLst>
            <a:lin ang="108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0" name="Subtract_#color_$accent1_1_$accent1_1-2086&amp;195"/>
          <p:cNvSpPr/>
          <p:nvPr>
            <p:custDataLst>
              <p:tags r:id="rId3"/>
            </p:custDataLst>
          </p:nvPr>
        </p:nvSpPr>
        <p:spPr>
          <a:xfrm>
            <a:off x="6460109" y="1115568"/>
            <a:ext cx="3355848" cy="2148840"/>
          </a:xfrm>
          <a:custGeom>
            <a:avLst/>
            <a:gdLst/>
            <a:ahLst/>
            <a:cxnLst/>
            <a:rect l="l" t="t" r="r" b="b"/>
            <a:pathLst>
              <a:path w="3355848" h="2148840">
                <a:moveTo>
                  <a:pt x="1453896" y="0"/>
                </a:moveTo>
                <a:lnTo>
                  <a:pt x="3300984" y="1847088"/>
                </a:lnTo>
                <a:cubicBezTo>
                  <a:pt x="3419856" y="1956816"/>
                  <a:pt x="3337560" y="2148840"/>
                  <a:pt x="3182112" y="2148840"/>
                </a:cubicBezTo>
                <a:lnTo>
                  <a:pt x="2286000" y="2148840"/>
                </a:lnTo>
                <a:cubicBezTo>
                  <a:pt x="2194560" y="2148840"/>
                  <a:pt x="2121408" y="2112264"/>
                  <a:pt x="2057400" y="2057400"/>
                </a:cubicBezTo>
                <a:lnTo>
                  <a:pt x="0" y="0"/>
                </a:lnTo>
                <a:lnTo>
                  <a:pt x="1453896" y="0"/>
                </a:lnTo>
              </a:path>
            </a:pathLst>
          </a:custGeom>
          <a:gradFill>
            <a:gsLst>
              <a:gs pos="0">
                <a:schemeClr val="accent5">
                  <a:lumMod val="81058"/>
                  <a:lumOff val="18942"/>
                  <a:alpha val="28000"/>
                </a:schemeClr>
              </a:gs>
              <a:gs pos="51000">
                <a:schemeClr val="accent5">
                  <a:lumMod val="40909"/>
                  <a:lumOff val="59091"/>
                  <a:alpha val="0"/>
                </a:schemeClr>
              </a:gs>
            </a:gsLst>
            <a:lin ang="210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Subtract_#color_$accent1_1_$accent1_1-2086&amp;194"/>
          <p:cNvSpPr/>
          <p:nvPr>
            <p:custDataLst>
              <p:tags r:id="rId4"/>
            </p:custDataLst>
          </p:nvPr>
        </p:nvSpPr>
        <p:spPr>
          <a:xfrm>
            <a:off x="2194560" y="3493008"/>
            <a:ext cx="3355848" cy="2148840"/>
          </a:xfrm>
          <a:custGeom>
            <a:avLst/>
            <a:gdLst/>
            <a:ahLst/>
            <a:cxnLst/>
            <a:rect l="l" t="t" r="r" b="b"/>
            <a:pathLst>
              <a:path w="3355848" h="2148840">
                <a:moveTo>
                  <a:pt x="1901952" y="2148840"/>
                </a:moveTo>
                <a:lnTo>
                  <a:pt x="54864" y="301752"/>
                </a:lnTo>
                <a:cubicBezTo>
                  <a:pt x="-54864" y="192024"/>
                  <a:pt x="18288" y="0"/>
                  <a:pt x="173736" y="0"/>
                </a:cubicBezTo>
                <a:lnTo>
                  <a:pt x="1069848" y="0"/>
                </a:lnTo>
                <a:cubicBezTo>
                  <a:pt x="1161288" y="0"/>
                  <a:pt x="1243584" y="36576"/>
                  <a:pt x="1298448" y="91440"/>
                </a:cubicBezTo>
                <a:lnTo>
                  <a:pt x="3355848" y="2148840"/>
                </a:lnTo>
                <a:lnTo>
                  <a:pt x="1901952" y="2148840"/>
                </a:lnTo>
              </a:path>
            </a:pathLst>
          </a:custGeom>
          <a:gradFill>
            <a:gsLst>
              <a:gs pos="100000">
                <a:schemeClr val="accent5">
                  <a:lumMod val="81058"/>
                  <a:lumOff val="18942"/>
                  <a:alpha val="28000"/>
                </a:schemeClr>
              </a:gs>
              <a:gs pos="56000">
                <a:schemeClr val="accent5">
                  <a:lumMod val="40909"/>
                  <a:lumOff val="59091"/>
                  <a:alpha val="0"/>
                </a:schemeClr>
              </a:gs>
            </a:gsLst>
            <a:lin ang="2100000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2" name="Vector_#color_$accent1_$accent3-2084&amp;11832"/>
          <p:cNvSpPr/>
          <p:nvPr>
            <p:custDataLst>
              <p:tags r:id="rId5"/>
            </p:custDataLst>
          </p:nvPr>
        </p:nvSpPr>
        <p:spPr>
          <a:xfrm>
            <a:off x="7214616" y="0"/>
            <a:ext cx="3849624" cy="1645920"/>
          </a:xfrm>
          <a:custGeom>
            <a:avLst/>
            <a:gdLst/>
            <a:ahLst/>
            <a:cxnLst/>
            <a:rect l="l" t="t" r="r" b="b"/>
            <a:pathLst>
              <a:path w="3849624" h="1645920">
                <a:moveTo>
                  <a:pt x="2532888" y="0"/>
                </a:moveTo>
                <a:lnTo>
                  <a:pt x="3785616" y="1261872"/>
                </a:lnTo>
                <a:cubicBezTo>
                  <a:pt x="3922776" y="1399032"/>
                  <a:pt x="3822192" y="1645920"/>
                  <a:pt x="3630168" y="1645920"/>
                </a:cubicBezTo>
                <a:lnTo>
                  <a:pt x="1929384" y="1645920"/>
                </a:lnTo>
                <a:cubicBezTo>
                  <a:pt x="1746504" y="1645920"/>
                  <a:pt x="1572768" y="1572768"/>
                  <a:pt x="1435608" y="1435608"/>
                </a:cubicBezTo>
                <a:lnTo>
                  <a:pt x="0" y="0"/>
                </a:lnTo>
                <a:lnTo>
                  <a:pt x="2532888" y="0"/>
                </a:lnTo>
              </a:path>
            </a:pathLst>
          </a:custGeom>
          <a:gradFill>
            <a:gsLst>
              <a:gs pos="0">
                <a:schemeClr val="accent5">
                  <a:lumMod val="64021"/>
                  <a:alpha val="23000"/>
                </a:schemeClr>
              </a:gs>
              <a:gs pos="100000">
                <a:schemeClr val="accent6">
                  <a:lumMod val="79310"/>
                  <a:alpha val="50000"/>
                </a:schemeClr>
              </a:gs>
            </a:gsLst>
            <a:lin ang="1549745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3" name="Vector_#color_$accent1_3_$accent1_3-2084&amp;11835"/>
          <p:cNvSpPr/>
          <p:nvPr>
            <p:custDataLst>
              <p:tags r:id="rId6"/>
            </p:custDataLst>
          </p:nvPr>
        </p:nvSpPr>
        <p:spPr>
          <a:xfrm>
            <a:off x="0" y="2752344"/>
            <a:ext cx="5779008" cy="4105656"/>
          </a:xfrm>
          <a:custGeom>
            <a:avLst/>
            <a:gdLst/>
            <a:ahLst/>
            <a:cxnLst/>
            <a:rect l="l" t="t" r="r" b="b"/>
            <a:pathLst>
              <a:path w="5779008" h="4105656">
                <a:moveTo>
                  <a:pt x="5779008" y="4105656"/>
                </a:moveTo>
                <a:lnTo>
                  <a:pt x="3758184" y="4105656"/>
                </a:lnTo>
                <a:lnTo>
                  <a:pt x="73152" y="420624"/>
                </a:lnTo>
                <a:cubicBezTo>
                  <a:pt x="-82296" y="265176"/>
                  <a:pt x="27432" y="0"/>
                  <a:pt x="246888" y="0"/>
                </a:cubicBezTo>
                <a:lnTo>
                  <a:pt x="1490472" y="0"/>
                </a:lnTo>
                <a:cubicBezTo>
                  <a:pt x="1609344" y="0"/>
                  <a:pt x="1719072" y="45720"/>
                  <a:pt x="1801368" y="128016"/>
                </a:cubicBezTo>
                <a:lnTo>
                  <a:pt x="5779008" y="4105656"/>
                </a:lnTo>
              </a:path>
            </a:pathLst>
          </a:custGeom>
          <a:gradFill>
            <a:gsLst>
              <a:gs pos="0">
                <a:schemeClr val="accent5">
                  <a:lumMod val="92329"/>
                  <a:alpha val="67000"/>
                </a:schemeClr>
              </a:gs>
              <a:gs pos="51000">
                <a:schemeClr val="accent5">
                  <a:lumMod val="92329"/>
                  <a:alpha val="0"/>
                </a:schemeClr>
              </a:gs>
            </a:gsLst>
            <a:lin ang="150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4" name="Vector_#color_$accent1_$accent1_3-2084&amp;11838"/>
          <p:cNvSpPr/>
          <p:nvPr>
            <p:custDataLst>
              <p:tags r:id="rId7"/>
            </p:custDataLst>
          </p:nvPr>
        </p:nvSpPr>
        <p:spPr>
          <a:xfrm>
            <a:off x="0" y="3730752"/>
            <a:ext cx="7114032" cy="3127248"/>
          </a:xfrm>
          <a:custGeom>
            <a:avLst/>
            <a:gdLst/>
            <a:ahLst/>
            <a:cxnLst/>
            <a:rect l="l" t="t" r="r" b="b"/>
            <a:pathLst>
              <a:path w="7114032" h="3127248">
                <a:moveTo>
                  <a:pt x="0" y="1545336"/>
                </a:moveTo>
                <a:lnTo>
                  <a:pt x="0" y="0"/>
                </a:lnTo>
                <a:lnTo>
                  <a:pt x="557784" y="0"/>
                </a:lnTo>
                <a:lnTo>
                  <a:pt x="2231136" y="1673352"/>
                </a:lnTo>
                <a:cubicBezTo>
                  <a:pt x="2386584" y="1819656"/>
                  <a:pt x="2587752" y="1911096"/>
                  <a:pt x="2807208" y="1911096"/>
                </a:cubicBezTo>
                <a:lnTo>
                  <a:pt x="5669280" y="1911096"/>
                </a:lnTo>
                <a:cubicBezTo>
                  <a:pt x="5815584" y="1911096"/>
                  <a:pt x="5952744" y="1965960"/>
                  <a:pt x="6062472" y="2075688"/>
                </a:cubicBezTo>
                <a:lnTo>
                  <a:pt x="7114032" y="3127248"/>
                </a:lnTo>
                <a:lnTo>
                  <a:pt x="1335024" y="3127248"/>
                </a:lnTo>
                <a:lnTo>
                  <a:pt x="0" y="1545336"/>
                </a:lnTo>
              </a:path>
            </a:pathLst>
          </a:custGeom>
          <a:gradFill>
            <a:gsLst>
              <a:gs pos="0">
                <a:schemeClr val="accent5">
                  <a:lumMod val="64021"/>
                  <a:alpha val="39600"/>
                </a:schemeClr>
              </a:gs>
              <a:gs pos="100000">
                <a:schemeClr val="accent5">
                  <a:lumMod val="92329"/>
                  <a:alpha val="6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" name="Vector_#color_$accent1_$accent3-2084&amp;11841"/>
          <p:cNvSpPr/>
          <p:nvPr>
            <p:custDataLst>
              <p:tags r:id="rId8"/>
            </p:custDataLst>
          </p:nvPr>
        </p:nvSpPr>
        <p:spPr>
          <a:xfrm>
            <a:off x="987552" y="5120640"/>
            <a:ext cx="3950208" cy="1737360"/>
          </a:xfrm>
          <a:custGeom>
            <a:avLst/>
            <a:gdLst/>
            <a:ahLst/>
            <a:cxnLst/>
            <a:rect l="l" t="t" r="r" b="b"/>
            <a:pathLst>
              <a:path w="3950208" h="1737360">
                <a:moveTo>
                  <a:pt x="3950208" y="1737360"/>
                </a:moveTo>
                <a:lnTo>
                  <a:pt x="1408176" y="1737360"/>
                </a:lnTo>
                <a:lnTo>
                  <a:pt x="64008" y="374904"/>
                </a:lnTo>
                <a:cubicBezTo>
                  <a:pt x="-73152" y="237744"/>
                  <a:pt x="27432" y="0"/>
                  <a:pt x="219456" y="0"/>
                </a:cubicBezTo>
                <a:lnTo>
                  <a:pt x="1920240" y="0"/>
                </a:lnTo>
                <a:cubicBezTo>
                  <a:pt x="2103120" y="0"/>
                  <a:pt x="2286000" y="73152"/>
                  <a:pt x="2414016" y="201168"/>
                </a:cubicBezTo>
                <a:lnTo>
                  <a:pt x="3950208" y="1737360"/>
                </a:lnTo>
              </a:path>
            </a:pathLst>
          </a:custGeom>
          <a:gradFill>
            <a:gsLst>
              <a:gs pos="100000">
                <a:schemeClr val="accent5">
                  <a:lumMod val="64021"/>
                  <a:alpha val="23000"/>
                </a:schemeClr>
              </a:gs>
              <a:gs pos="0">
                <a:schemeClr val="accent6">
                  <a:lumMod val="79310"/>
                  <a:alpha val="50000"/>
                </a:schemeClr>
              </a:gs>
            </a:gsLst>
            <a:lin ang="15497459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8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4823988" y="3976935"/>
            <a:ext cx="2340000" cy="468000"/>
          </a:xfrm>
          <a:prstGeom prst="roundRect">
            <a:avLst>
              <a:gd name="adj" fmla="val 50000"/>
            </a:avLst>
          </a:prstGeom>
          <a:ln w="12700">
            <a:solidFill>
              <a:schemeClr val="lt1">
                <a:lumMod val="10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18000" rIns="71755" bIns="1800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lt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署名</a:t>
            </a:r>
          </a:p>
        </p:txBody>
      </p:sp>
      <p:sp>
        <p:nvSpPr>
          <p:cNvPr id="6" name="标题 5"/>
          <p:cNvSpPr txBox="1"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3010535" y="2261235"/>
            <a:ext cx="5968365" cy="1524635"/>
          </a:xfr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8800" b="1" i="0" u="none" strike="noStrike" kern="1200" cap="none" spc="0" normalizeH="0" baseline="0" noProof="1" dirty="0">
                <a:solidFill>
                  <a:schemeClr val="accent5">
                    <a:lumMod val="48148"/>
                  </a:schemeClr>
                </a:solidFill>
                <a:uFillTx/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6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pPr/>
              <a:t>2026-04-28</a:t>
            </a:fld>
            <a:endParaRPr lang="zh-CN" altLang="en-US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2903855" y="1968500"/>
            <a:ext cx="6384290" cy="1007745"/>
          </a:xfrm>
        </p:spPr>
        <p:txBody>
          <a:bodyPr wrap="none" anchor="b" anchorCtr="0">
            <a:noAutofit/>
          </a:bodyPr>
          <a:lstStyle>
            <a:lvl1pPr marL="0" indent="0" algn="ctr">
              <a:buNone/>
              <a:defRPr sz="6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2906395" y="3159125"/>
            <a:ext cx="6384290" cy="1051560"/>
          </a:xfrm>
        </p:spPr>
        <p:txBody>
          <a:bodyPr wrap="square" anchor="t" anchorCtr="0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08330" y="608330"/>
            <a:ext cx="10968990" cy="1078230"/>
          </a:xfrm>
        </p:spPr>
        <p:txBody>
          <a:bodyPr>
            <a:noAutofit/>
          </a:bodyPr>
          <a:lstStyle/>
          <a:p>
            <a:pPr algn="ctr"/>
            <a:r>
              <a:rPr lang="zh-CN" altLang="en-US" sz="4400" spc="1000">
                <a:solidFill>
                  <a:schemeClr val="tx1"/>
                </a:solidFill>
                <a:uFillTx/>
                <a:latin typeface="+中文标题" charset="0"/>
              </a:rPr>
              <a:t>目录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6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pPr/>
              <a:t>2026-04-28</a:t>
            </a:fld>
            <a:endParaRPr lang="zh-CN" altLang="en-US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2903855" y="1968500"/>
            <a:ext cx="6384290" cy="1007745"/>
          </a:xfrm>
        </p:spPr>
        <p:txBody>
          <a:bodyPr wrap="none" anchor="b" anchorCtr="0">
            <a:noAutofit/>
          </a:bodyPr>
          <a:lstStyle>
            <a:lvl1pPr marL="0" indent="0" algn="ctr">
              <a:buNone/>
              <a:defRPr sz="6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2906395" y="3159125"/>
            <a:ext cx="6384290" cy="1051560"/>
          </a:xfrm>
        </p:spPr>
        <p:txBody>
          <a:bodyPr wrap="square" anchor="t" anchorCtr="0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2026-04-28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B2BA8-CFD3-4EC5-BF7C-299D7E21F5F5}" type="datetimeFigureOut">
              <a:rPr lang="zh-CN" altLang="en-US" smtClean="0"/>
              <a:pPr/>
              <a:t>2026-04-28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53280-B6D4-44D1-B7F6-9C820CEC79B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9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20" Type="http://schemas.openxmlformats.org/officeDocument/2006/relationships/tags" Target="../tags/tag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23" Type="http://schemas.openxmlformats.org/officeDocument/2006/relationships/tags" Target="../tags/tag11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Relationship Id="rId22" Type="http://schemas.openxmlformats.org/officeDocument/2006/relationships/tags" Target="../tags/tag1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3" Type="http://schemas.openxmlformats.org/officeDocument/2006/relationships/slideLayout" Target="../slideLayouts/slideLayout15.xml"/><Relationship Id="rId7" Type="http://schemas.openxmlformats.org/officeDocument/2006/relationships/tags" Target="../tags/tag83.xml"/><Relationship Id="rId12" Type="http://schemas.openxmlformats.org/officeDocument/2006/relationships/tags" Target="../tags/tag88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11" Type="http://schemas.openxmlformats.org/officeDocument/2006/relationships/tags" Target="../tags/tag87.xml"/><Relationship Id="rId5" Type="http://schemas.openxmlformats.org/officeDocument/2006/relationships/slideLayout" Target="../slideLayouts/slideLayout17.xml"/><Relationship Id="rId10" Type="http://schemas.openxmlformats.org/officeDocument/2006/relationships/tags" Target="../tags/tag86.xml"/><Relationship Id="rId4" Type="http://schemas.openxmlformats.org/officeDocument/2006/relationships/slideLayout" Target="../slideLayouts/slideLayout16.xml"/><Relationship Id="rId9" Type="http://schemas.openxmlformats.org/officeDocument/2006/relationships/tags" Target="../tags/tag8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Vector_#color_$accent1_3_$accent1_3-2084&amp;11844"/>
          <p:cNvSpPr/>
          <p:nvPr>
            <p:custDataLst>
              <p:tags r:id="rId14"/>
            </p:custDataLst>
          </p:nvPr>
        </p:nvSpPr>
        <p:spPr>
          <a:xfrm>
            <a:off x="0" y="0"/>
            <a:ext cx="2231136" cy="1965960"/>
          </a:xfrm>
          <a:custGeom>
            <a:avLst/>
            <a:gdLst/>
            <a:ahLst/>
            <a:cxnLst/>
            <a:rect l="l" t="t" r="r" b="b"/>
            <a:pathLst>
              <a:path w="2231136" h="1965960">
                <a:moveTo>
                  <a:pt x="2231136" y="0"/>
                </a:moveTo>
                <a:lnTo>
                  <a:pt x="1170432" y="0"/>
                </a:lnTo>
                <a:lnTo>
                  <a:pt x="0" y="1170432"/>
                </a:lnTo>
                <a:lnTo>
                  <a:pt x="0" y="1965960"/>
                </a:lnTo>
                <a:lnTo>
                  <a:pt x="155448" y="1965960"/>
                </a:lnTo>
                <a:cubicBezTo>
                  <a:pt x="219456" y="1965960"/>
                  <a:pt x="283464" y="1947672"/>
                  <a:pt x="320040" y="1901952"/>
                </a:cubicBezTo>
                <a:lnTo>
                  <a:pt x="2231136" y="0"/>
                </a:lnTo>
              </a:path>
            </a:pathLst>
          </a:custGeom>
          <a:gradFill>
            <a:gsLst>
              <a:gs pos="0">
                <a:schemeClr val="accent5">
                  <a:lumMod val="92329"/>
                  <a:alpha val="50000"/>
                </a:schemeClr>
              </a:gs>
              <a:gs pos="80000">
                <a:schemeClr val="accent5">
                  <a:lumMod val="92329"/>
                  <a:alpha val="0"/>
                </a:schemeClr>
              </a:gs>
            </a:gsLst>
            <a:lin ang="72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9" name="Vector_#color_$accent1_$accent3_2-2084&amp;11847"/>
          <p:cNvSpPr/>
          <p:nvPr>
            <p:custDataLst>
              <p:tags r:id="rId15"/>
            </p:custDataLst>
          </p:nvPr>
        </p:nvSpPr>
        <p:spPr>
          <a:xfrm>
            <a:off x="0" y="0"/>
            <a:ext cx="2871216" cy="1088136"/>
          </a:xfrm>
          <a:custGeom>
            <a:avLst/>
            <a:gdLst/>
            <a:ahLst/>
            <a:cxnLst/>
            <a:rect l="l" t="t" r="r" b="b"/>
            <a:pathLst>
              <a:path w="2871216" h="1088136">
                <a:moveTo>
                  <a:pt x="2871216" y="0"/>
                </a:moveTo>
                <a:lnTo>
                  <a:pt x="2487168" y="384048"/>
                </a:lnTo>
                <a:cubicBezTo>
                  <a:pt x="2432304" y="438912"/>
                  <a:pt x="2359152" y="466344"/>
                  <a:pt x="2286000" y="466344"/>
                </a:cubicBezTo>
                <a:lnTo>
                  <a:pt x="795528" y="466344"/>
                </a:lnTo>
                <a:cubicBezTo>
                  <a:pt x="676656" y="466344"/>
                  <a:pt x="566928" y="512064"/>
                  <a:pt x="493776" y="594360"/>
                </a:cubicBezTo>
                <a:lnTo>
                  <a:pt x="0" y="1088136"/>
                </a:lnTo>
                <a:lnTo>
                  <a:pt x="0" y="0"/>
                </a:lnTo>
                <a:lnTo>
                  <a:pt x="2871216" y="0"/>
                </a:lnTo>
              </a:path>
            </a:pathLst>
          </a:custGeom>
          <a:gradFill>
            <a:gsLst>
              <a:gs pos="0">
                <a:schemeClr val="accent5">
                  <a:lumMod val="64021"/>
                  <a:alpha val="39600"/>
                </a:schemeClr>
              </a:gs>
              <a:gs pos="100000">
                <a:schemeClr val="accent6">
                  <a:lumMod val="57405"/>
                  <a:lumOff val="42595"/>
                  <a:alpha val="6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0" name="Vector_#color_$accent1_3_$accent1_3-2084&amp;11850"/>
          <p:cNvSpPr/>
          <p:nvPr>
            <p:custDataLst>
              <p:tags r:id="rId16"/>
            </p:custDataLst>
          </p:nvPr>
        </p:nvSpPr>
        <p:spPr>
          <a:xfrm>
            <a:off x="9793224" y="4892040"/>
            <a:ext cx="2395728" cy="1965960"/>
          </a:xfrm>
          <a:custGeom>
            <a:avLst/>
            <a:gdLst/>
            <a:ahLst/>
            <a:cxnLst/>
            <a:rect l="l" t="t" r="r" b="b"/>
            <a:pathLst>
              <a:path w="2395728" h="1965960">
                <a:moveTo>
                  <a:pt x="1051560" y="1965960"/>
                </a:moveTo>
                <a:lnTo>
                  <a:pt x="0" y="1965960"/>
                </a:lnTo>
                <a:lnTo>
                  <a:pt x="1901952" y="64008"/>
                </a:lnTo>
                <a:cubicBezTo>
                  <a:pt x="1947672" y="27432"/>
                  <a:pt x="2011680" y="0"/>
                  <a:pt x="2066544" y="0"/>
                </a:cubicBezTo>
                <a:lnTo>
                  <a:pt x="2395728" y="0"/>
                </a:lnTo>
                <a:lnTo>
                  <a:pt x="2395728" y="630936"/>
                </a:lnTo>
                <a:lnTo>
                  <a:pt x="1051560" y="1965960"/>
                </a:lnTo>
              </a:path>
            </a:pathLst>
          </a:custGeom>
          <a:gradFill>
            <a:gsLst>
              <a:gs pos="0">
                <a:schemeClr val="accent5">
                  <a:lumMod val="92329"/>
                  <a:alpha val="50000"/>
                </a:schemeClr>
              </a:gs>
              <a:gs pos="80000">
                <a:schemeClr val="accent5">
                  <a:lumMod val="92329"/>
                  <a:alpha val="0"/>
                </a:schemeClr>
              </a:gs>
            </a:gsLst>
            <a:lin ang="210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Vector_#color_$accent1_$accent3_2-2084&amp;11853"/>
          <p:cNvSpPr/>
          <p:nvPr>
            <p:custDataLst>
              <p:tags r:id="rId17"/>
            </p:custDataLst>
          </p:nvPr>
        </p:nvSpPr>
        <p:spPr>
          <a:xfrm>
            <a:off x="9153144" y="5522976"/>
            <a:ext cx="3035808" cy="1335024"/>
          </a:xfrm>
          <a:custGeom>
            <a:avLst/>
            <a:gdLst/>
            <a:ahLst/>
            <a:cxnLst/>
            <a:rect l="l" t="t" r="r" b="b"/>
            <a:pathLst>
              <a:path w="3035808" h="1335024">
                <a:moveTo>
                  <a:pt x="2990088" y="1335024"/>
                </a:moveTo>
                <a:lnTo>
                  <a:pt x="0" y="1335024"/>
                </a:lnTo>
                <a:lnTo>
                  <a:pt x="384048" y="950976"/>
                </a:lnTo>
                <a:cubicBezTo>
                  <a:pt x="438912" y="896112"/>
                  <a:pt x="512064" y="868680"/>
                  <a:pt x="585216" y="868680"/>
                </a:cubicBezTo>
                <a:lnTo>
                  <a:pt x="2075688" y="868680"/>
                </a:lnTo>
                <a:cubicBezTo>
                  <a:pt x="2185416" y="868680"/>
                  <a:pt x="2295144" y="822960"/>
                  <a:pt x="2377440" y="740664"/>
                </a:cubicBezTo>
                <a:lnTo>
                  <a:pt x="3035808" y="0"/>
                </a:lnTo>
                <a:lnTo>
                  <a:pt x="3035808" y="1280160"/>
                </a:lnTo>
                <a:lnTo>
                  <a:pt x="2990088" y="1335024"/>
                </a:lnTo>
              </a:path>
            </a:pathLst>
          </a:custGeom>
          <a:gradFill>
            <a:gsLst>
              <a:gs pos="0">
                <a:schemeClr val="accent5">
                  <a:lumMod val="64021"/>
                  <a:alpha val="39600"/>
                </a:schemeClr>
              </a:gs>
              <a:gs pos="100000">
                <a:schemeClr val="accent6">
                  <a:lumMod val="57405"/>
                  <a:lumOff val="42595"/>
                  <a:alpha val="60000"/>
                </a:schemeClr>
              </a:gs>
            </a:gsLst>
            <a:lin ang="108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2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5">
              <a:lumMod val="64021"/>
            </a:schemeClr>
          </a:solidFill>
          <a:ln w="12700" cap="flat" cmpd="sng" algn="ctr">
            <a:solidFill>
              <a:schemeClr val="accent5">
                <a:lumMod val="46297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2026-04-28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tx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uFill>
            <a:solidFill>
              <a:schemeClr val="tx1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2026-04-28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01.xml"/><Relationship Id="rId7" Type="http://schemas.openxmlformats.org/officeDocument/2006/relationships/image" Target="../media/image1.jpeg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10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105.xml"/><Relationship Id="rId7" Type="http://schemas.openxmlformats.org/officeDocument/2006/relationships/image" Target="../media/image3.jpeg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slideLayout" Target="../slideLayouts/slideLayout14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10.xml"/><Relationship Id="rId7" Type="http://schemas.openxmlformats.org/officeDocument/2006/relationships/image" Target="../media/image4.png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16.xml"/><Relationship Id="rId7" Type="http://schemas.openxmlformats.org/officeDocument/2006/relationships/image" Target="../media/image1.jpe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18.xml"/><Relationship Id="rId4" Type="http://schemas.openxmlformats.org/officeDocument/2006/relationships/tags" Target="../tags/tag1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7" Type="http://schemas.openxmlformats.org/officeDocument/2006/relationships/image" Target="../media/image2.png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2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25.xml"/><Relationship Id="rId7" Type="http://schemas.openxmlformats.org/officeDocument/2006/relationships/image" Target="../media/image1.jpeg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27.xml"/><Relationship Id="rId10" Type="http://schemas.openxmlformats.org/officeDocument/2006/relationships/image" Target="../media/image21.png"/><Relationship Id="rId4" Type="http://schemas.openxmlformats.org/officeDocument/2006/relationships/tags" Target="../tags/tag126.xml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tags" Target="../tags/tag130.xml"/><Relationship Id="rId7" Type="http://schemas.openxmlformats.org/officeDocument/2006/relationships/image" Target="../media/image2.png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tags" Target="../tags/tag134.xml"/><Relationship Id="rId7" Type="http://schemas.openxmlformats.org/officeDocument/2006/relationships/image" Target="../media/image2.png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138.xml"/><Relationship Id="rId7" Type="http://schemas.openxmlformats.org/officeDocument/2006/relationships/image" Target="../media/image2.png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9.xml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142.xml"/><Relationship Id="rId7" Type="http://schemas.openxmlformats.org/officeDocument/2006/relationships/image" Target="../media/image3.jpeg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6" Type="http://schemas.openxmlformats.org/officeDocument/2006/relationships/slideLayout" Target="../slideLayouts/slideLayout14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9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5" Type="http://schemas.openxmlformats.org/officeDocument/2006/relationships/image" Target="../media/image26.png"/><Relationship Id="rId4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tags" Target="../tags/tag150.xml"/><Relationship Id="rId7" Type="http://schemas.openxmlformats.org/officeDocument/2006/relationships/image" Target="../media/image29.png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53.xml"/><Relationship Id="rId7" Type="http://schemas.openxmlformats.org/officeDocument/2006/relationships/image" Target="../media/image1.jpeg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9" Type="http://schemas.openxmlformats.org/officeDocument/2006/relationships/chart" Target="../charts/char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58.xml"/><Relationship Id="rId7" Type="http://schemas.openxmlformats.org/officeDocument/2006/relationships/image" Target="../media/image1.jpeg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9" Type="http://schemas.openxmlformats.org/officeDocument/2006/relationships/chart" Target="../charts/char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63.xml"/><Relationship Id="rId7" Type="http://schemas.openxmlformats.org/officeDocument/2006/relationships/image" Target="../media/image1.jpeg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9" Type="http://schemas.openxmlformats.org/officeDocument/2006/relationships/chart" Target="../charts/char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68.xml"/><Relationship Id="rId7" Type="http://schemas.openxmlformats.org/officeDocument/2006/relationships/image" Target="../media/image1.jpeg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9" Type="http://schemas.openxmlformats.org/officeDocument/2006/relationships/chart" Target="../charts/char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73.xml"/><Relationship Id="rId7" Type="http://schemas.openxmlformats.org/officeDocument/2006/relationships/image" Target="../media/image1.jpeg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9" Type="http://schemas.openxmlformats.org/officeDocument/2006/relationships/chart" Target="../charts/chart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78.xml"/><Relationship Id="rId7" Type="http://schemas.openxmlformats.org/officeDocument/2006/relationships/image" Target="../media/image1.jpeg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9" Type="http://schemas.openxmlformats.org/officeDocument/2006/relationships/chart" Target="../charts/chart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83.xml"/><Relationship Id="rId7" Type="http://schemas.openxmlformats.org/officeDocument/2006/relationships/image" Target="../media/image1.jpeg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6" Type="http://schemas.openxmlformats.org/officeDocument/2006/relationships/slideLayout" Target="../slideLayouts/slideLayout14.xml"/><Relationship Id="rId5" Type="http://schemas.openxmlformats.org/officeDocument/2006/relationships/tags" Target="../tags/tag185.xml"/><Relationship Id="rId4" Type="http://schemas.openxmlformats.org/officeDocument/2006/relationships/tags" Target="../tags/tag18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93.xml"/><Relationship Id="rId13" Type="http://schemas.openxmlformats.org/officeDocument/2006/relationships/image" Target="../media/image2.png"/><Relationship Id="rId3" Type="http://schemas.openxmlformats.org/officeDocument/2006/relationships/tags" Target="../tags/tag188.xml"/><Relationship Id="rId7" Type="http://schemas.openxmlformats.org/officeDocument/2006/relationships/tags" Target="../tags/tag192.xml"/><Relationship Id="rId12" Type="http://schemas.openxmlformats.org/officeDocument/2006/relationships/image" Target="../media/image1.jpeg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6" Type="http://schemas.openxmlformats.org/officeDocument/2006/relationships/tags" Target="../tags/tag191.xml"/><Relationship Id="rId11" Type="http://schemas.openxmlformats.org/officeDocument/2006/relationships/slideLayout" Target="../slideLayouts/slideLayout15.xml"/><Relationship Id="rId5" Type="http://schemas.openxmlformats.org/officeDocument/2006/relationships/tags" Target="../tags/tag190.xml"/><Relationship Id="rId10" Type="http://schemas.openxmlformats.org/officeDocument/2006/relationships/tags" Target="../tags/tag195.xml"/><Relationship Id="rId4" Type="http://schemas.openxmlformats.org/officeDocument/2006/relationships/tags" Target="../tags/tag189.xml"/><Relationship Id="rId9" Type="http://schemas.openxmlformats.org/officeDocument/2006/relationships/tags" Target="../tags/tag194.xml"/><Relationship Id="rId1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98.xml"/><Relationship Id="rId7" Type="http://schemas.openxmlformats.org/officeDocument/2006/relationships/image" Target="../media/image1.jpeg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1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0654665" y="397375"/>
            <a:ext cx="1050925" cy="647065"/>
            <a:chOff x="603" y="303"/>
            <a:chExt cx="2798" cy="1722"/>
          </a:xfrm>
        </p:grpSpPr>
        <p:pic>
          <p:nvPicPr>
            <p:cNvPr id="9" name="图片 8" descr="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/>
            <a:srcRect l="23805" t="32128" r="26955" b="32195"/>
            <a:stretch>
              <a:fillRect/>
            </a:stretch>
          </p:blipFill>
          <p:spPr>
            <a:xfrm>
              <a:off x="804" y="303"/>
              <a:ext cx="2408" cy="119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603" y="1499"/>
              <a:ext cx="2798" cy="527"/>
            </a:xfrm>
            <a:prstGeom prst="rect">
              <a:avLst/>
            </a:prstGeom>
          </p:spPr>
        </p:pic>
      </p:grp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243965" y="2133600"/>
            <a:ext cx="9410700" cy="1802765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sz="5400" dirty="0">
                <a:sym typeface="+mn-ea"/>
              </a:rPr>
              <a:t>AI-OS</a:t>
            </a:r>
            <a:r>
              <a:rPr lang="zh-CN" altLang="en-US" sz="5400" dirty="0">
                <a:sym typeface="+mn-ea"/>
              </a:rPr>
              <a:t>智能决策系统在浙江</a:t>
            </a:r>
            <a:br>
              <a:rPr lang="zh-CN" altLang="en-US" sz="5400" dirty="0">
                <a:sym typeface="+mn-ea"/>
              </a:rPr>
            </a:br>
            <a:br>
              <a:rPr lang="zh-CN" altLang="en-US" sz="5400" dirty="0">
                <a:sym typeface="+mn-ea"/>
              </a:rPr>
            </a:br>
            <a:r>
              <a:rPr lang="zh-CN" altLang="en-US" sz="5400" dirty="0">
                <a:sym typeface="+mn-ea"/>
              </a:rPr>
              <a:t>德清污水厂应用分析</a:t>
            </a:r>
            <a:endParaRPr lang="zh-CN" altLang="en-US" sz="5400" dirty="0"/>
          </a:p>
        </p:txBody>
      </p:sp>
      <p:sp>
        <p:nvSpPr>
          <p:cNvPr id="5" name="textbox 4"/>
          <p:cNvSpPr/>
          <p:nvPr/>
        </p:nvSpPr>
        <p:spPr>
          <a:xfrm>
            <a:off x="2470784" y="3099435"/>
            <a:ext cx="7696797" cy="1891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8005" indent="-12065" algn="l" rtl="0" eaLnBrk="0">
              <a:lnSpc>
                <a:spcPct val="116000"/>
              </a:lnSpc>
              <a:spcBef>
                <a:spcPts val="370"/>
              </a:spcBef>
            </a:pP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906395" y="3159125"/>
            <a:ext cx="6384290" cy="1638506"/>
          </a:xfrm>
        </p:spPr>
        <p:txBody>
          <a:bodyPr>
            <a:normAutofit/>
          </a:bodyPr>
          <a:lstStyle/>
          <a:p>
            <a:pPr eaLnBrk="0">
              <a:lnSpc>
                <a:spcPct val="80000"/>
              </a:lnSpc>
            </a:pPr>
            <a:br>
              <a:rPr lang="zh-CN" altLang="en-US" sz="500" dirty="0">
                <a:ea typeface="Arial" panose="020B0604020202020204"/>
                <a:cs typeface="Arial" panose="020B0604020202020204"/>
              </a:rPr>
            </a:br>
            <a:r>
              <a:rPr lang="zh-CN" altLang="en-US" dirty="0"/>
              <a:t>污水厂概况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01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0654665" y="397375"/>
            <a:ext cx="1050925" cy="647065"/>
            <a:chOff x="603" y="303"/>
            <a:chExt cx="2798" cy="1722"/>
          </a:xfrm>
        </p:grpSpPr>
        <p:pic>
          <p:nvPicPr>
            <p:cNvPr id="9" name="图片 8" descr="2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 cstate="print"/>
            <a:srcRect l="23805" t="32128" r="26955" b="32195"/>
            <a:stretch>
              <a:fillRect/>
            </a:stretch>
          </p:blipFill>
          <p:spPr>
            <a:xfrm>
              <a:off x="804" y="303"/>
              <a:ext cx="2408" cy="119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 cstate="print"/>
            <a:stretch>
              <a:fillRect/>
            </a:stretch>
          </p:blipFill>
          <p:spPr>
            <a:xfrm>
              <a:off x="603" y="1499"/>
              <a:ext cx="2798" cy="52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654665" y="222115"/>
            <a:ext cx="1050925" cy="647065"/>
            <a:chOff x="603" y="303"/>
            <a:chExt cx="2798" cy="1722"/>
          </a:xfrm>
        </p:grpSpPr>
        <p:pic>
          <p:nvPicPr>
            <p:cNvPr id="3" name="图片 2" descr="2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 cstate="print"/>
            <a:srcRect l="23805" t="32128" r="26955" b="32195"/>
            <a:stretch>
              <a:fillRect/>
            </a:stretch>
          </p:blipFill>
          <p:spPr>
            <a:xfrm>
              <a:off x="804" y="303"/>
              <a:ext cx="2408" cy="119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 cstate="print"/>
            <a:stretch>
              <a:fillRect/>
            </a:stretch>
          </p:blipFill>
          <p:spPr>
            <a:xfrm>
              <a:off x="603" y="1499"/>
              <a:ext cx="2798" cy="527"/>
            </a:xfrm>
            <a:prstGeom prst="rect">
              <a:avLst/>
            </a:prstGeom>
          </p:spPr>
        </p:pic>
      </p:grpSp>
      <p:cxnSp>
        <p:nvCxnSpPr>
          <p:cNvPr id="33" name="直接连接符 32"/>
          <p:cNvCxnSpPr/>
          <p:nvPr/>
        </p:nvCxnSpPr>
        <p:spPr>
          <a:xfrm>
            <a:off x="28212" y="928558"/>
            <a:ext cx="12192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01108" y="509555"/>
            <a:ext cx="10800000" cy="720000"/>
          </a:xfrm>
        </p:spPr>
        <p:txBody>
          <a:bodyPr>
            <a:noAutofit/>
          </a:bodyPr>
          <a:lstStyle/>
          <a:p>
            <a:r>
              <a:rPr lang="en-US" altLang="zh-CN" sz="2700" b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charset="-122"/>
              </a:rPr>
              <a:t>1.1</a:t>
            </a:r>
            <a:r>
              <a:rPr lang="zh-CN" altLang="en-US" sz="2700" b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charset="-122"/>
              </a:rPr>
              <a:t>处理规模</a:t>
            </a:r>
            <a:br>
              <a:rPr lang="zh-CN" altLang="en-US" sz="2700" b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charset="-122"/>
              </a:rPr>
            </a:br>
            <a:endParaRPr lang="zh-CN" altLang="en-US" sz="27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6" name="组合 11"/>
          <p:cNvGrpSpPr/>
          <p:nvPr/>
        </p:nvGrpSpPr>
        <p:grpSpPr>
          <a:xfrm>
            <a:off x="7842250" y="1822860"/>
            <a:ext cx="4089399" cy="2146300"/>
            <a:chOff x="7912100" y="3956050"/>
            <a:chExt cx="3701415" cy="2146300"/>
          </a:xfrm>
        </p:grpSpPr>
        <p:sp>
          <p:nvSpPr>
            <p:cNvPr id="13" name="矩形: 圆角 12"/>
            <p:cNvSpPr/>
            <p:nvPr/>
          </p:nvSpPr>
          <p:spPr>
            <a:xfrm>
              <a:off x="7912100" y="3956050"/>
              <a:ext cx="3701415" cy="2146300"/>
            </a:xfrm>
            <a:prstGeom prst="roundRect">
              <a:avLst/>
            </a:prstGeom>
            <a:noFill/>
            <a:ln>
              <a:solidFill>
                <a:srgbClr val="119B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901033" y="4879945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68000">
                        <a:srgbClr val="0777B0"/>
                      </a:gs>
                      <a:gs pos="23000">
                        <a:srgbClr val="16AC9C"/>
                      </a:gs>
                      <a:gs pos="100000">
                        <a:srgbClr val="1654B5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污水处理能力</a:t>
              </a:r>
              <a:endPara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15" name="waste_272986"/>
            <p:cNvSpPr/>
            <p:nvPr/>
          </p:nvSpPr>
          <p:spPr>
            <a:xfrm>
              <a:off x="9457965" y="4219769"/>
              <a:ext cx="609685" cy="608764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  <a:gd name="connsiteX66" fmla="*/ 373273 h 605239"/>
                <a:gd name="connsiteY66" fmla="*/ 373273 h 605239"/>
                <a:gd name="connsiteX67" fmla="*/ 373273 h 605239"/>
                <a:gd name="connsiteY67" fmla="*/ 373273 h 605239"/>
                <a:gd name="connsiteX68" fmla="*/ 373273 h 605239"/>
                <a:gd name="connsiteY68" fmla="*/ 373273 h 605239"/>
                <a:gd name="connsiteX69" fmla="*/ 373273 h 605239"/>
                <a:gd name="connsiteY69" fmla="*/ 373273 h 605239"/>
                <a:gd name="connsiteX70" fmla="*/ 373273 h 605239"/>
                <a:gd name="connsiteY70" fmla="*/ 373273 h 605239"/>
                <a:gd name="connsiteX71" fmla="*/ 373273 h 605239"/>
                <a:gd name="connsiteY71" fmla="*/ 373273 h 605239"/>
                <a:gd name="connsiteX72" fmla="*/ 373273 h 605239"/>
                <a:gd name="connsiteY72" fmla="*/ 373273 h 605239"/>
                <a:gd name="connsiteX73" fmla="*/ 373273 h 605239"/>
                <a:gd name="connsiteY73" fmla="*/ 373273 h 605239"/>
                <a:gd name="connsiteX74" fmla="*/ 373273 h 605239"/>
                <a:gd name="connsiteY74" fmla="*/ 373273 h 605239"/>
                <a:gd name="connsiteX75" fmla="*/ 373273 h 605239"/>
                <a:gd name="connsiteY75" fmla="*/ 373273 h 605239"/>
                <a:gd name="connsiteX76" fmla="*/ 373273 h 605239"/>
                <a:gd name="connsiteY76" fmla="*/ 373273 h 605239"/>
                <a:gd name="connsiteX77" fmla="*/ 373273 h 605239"/>
                <a:gd name="connsiteY77" fmla="*/ 373273 h 605239"/>
                <a:gd name="connsiteX78" fmla="*/ 373273 h 605239"/>
                <a:gd name="connsiteY78" fmla="*/ 373273 h 605239"/>
                <a:gd name="connsiteX79" fmla="*/ 373273 h 605239"/>
                <a:gd name="connsiteY79" fmla="*/ 373273 h 605239"/>
                <a:gd name="connsiteX80" fmla="*/ 373273 h 605239"/>
                <a:gd name="connsiteY80" fmla="*/ 373273 h 605239"/>
                <a:gd name="connsiteX81" fmla="*/ 373273 h 605239"/>
                <a:gd name="connsiteY81" fmla="*/ 373273 h 605239"/>
                <a:gd name="connsiteX82" fmla="*/ 373273 h 605239"/>
                <a:gd name="connsiteY82" fmla="*/ 373273 h 605239"/>
                <a:gd name="connsiteX83" fmla="*/ 373273 h 605239"/>
                <a:gd name="connsiteY83" fmla="*/ 373273 h 605239"/>
                <a:gd name="connsiteX84" fmla="*/ 373273 h 605239"/>
                <a:gd name="connsiteY84" fmla="*/ 373273 h 605239"/>
                <a:gd name="connsiteX85" fmla="*/ 373273 h 605239"/>
                <a:gd name="connsiteY85" fmla="*/ 373273 h 605239"/>
                <a:gd name="connsiteX86" fmla="*/ 373273 h 605239"/>
                <a:gd name="connsiteY86" fmla="*/ 373273 h 605239"/>
                <a:gd name="connsiteX87" fmla="*/ 373273 h 605239"/>
                <a:gd name="connsiteY87" fmla="*/ 373273 h 605239"/>
                <a:gd name="connsiteX88" fmla="*/ 373273 h 605239"/>
                <a:gd name="connsiteY88" fmla="*/ 373273 h 605239"/>
                <a:gd name="connsiteX89" fmla="*/ 373273 h 605239"/>
                <a:gd name="connsiteY89" fmla="*/ 373273 h 605239"/>
                <a:gd name="connsiteX90" fmla="*/ 373273 h 605239"/>
                <a:gd name="connsiteY90" fmla="*/ 373273 h 605239"/>
                <a:gd name="connsiteX91" fmla="*/ 373273 h 605239"/>
                <a:gd name="connsiteY91" fmla="*/ 373273 h 605239"/>
                <a:gd name="connsiteX92" fmla="*/ 373273 h 605239"/>
                <a:gd name="connsiteY92" fmla="*/ 373273 h 605239"/>
                <a:gd name="connsiteX93" fmla="*/ 373273 h 605239"/>
                <a:gd name="connsiteY93" fmla="*/ 373273 h 605239"/>
                <a:gd name="connsiteX94" fmla="*/ 373273 h 605239"/>
                <a:gd name="connsiteY94" fmla="*/ 373273 h 605239"/>
                <a:gd name="connsiteX95" fmla="*/ 373273 h 605239"/>
                <a:gd name="connsiteY95" fmla="*/ 373273 h 605239"/>
                <a:gd name="connsiteX96" fmla="*/ 373273 h 605239"/>
                <a:gd name="connsiteY96" fmla="*/ 373273 h 605239"/>
                <a:gd name="connsiteX97" fmla="*/ 373273 h 605239"/>
                <a:gd name="connsiteY97" fmla="*/ 373273 h 605239"/>
                <a:gd name="connsiteX98" fmla="*/ 373273 h 605239"/>
                <a:gd name="connsiteY98" fmla="*/ 373273 h 605239"/>
                <a:gd name="connsiteX99" fmla="*/ 373273 h 605239"/>
                <a:gd name="connsiteY99" fmla="*/ 373273 h 605239"/>
                <a:gd name="connsiteX100" fmla="*/ 373273 h 605239"/>
                <a:gd name="connsiteY100" fmla="*/ 373273 h 605239"/>
                <a:gd name="connsiteX101" fmla="*/ 373273 h 605239"/>
                <a:gd name="connsiteY101" fmla="*/ 373273 h 605239"/>
                <a:gd name="connsiteX102" fmla="*/ 373273 h 605239"/>
                <a:gd name="connsiteY102" fmla="*/ 373273 h 605239"/>
                <a:gd name="connsiteX103" fmla="*/ 373273 h 605239"/>
                <a:gd name="connsiteY103" fmla="*/ 373273 h 605239"/>
                <a:gd name="connsiteX104" fmla="*/ 373273 h 605239"/>
                <a:gd name="connsiteY104" fmla="*/ 373273 h 605239"/>
                <a:gd name="connsiteX105" fmla="*/ 373273 h 605239"/>
                <a:gd name="connsiteY105" fmla="*/ 373273 h 605239"/>
                <a:gd name="connsiteX106" fmla="*/ 373273 h 605239"/>
                <a:gd name="connsiteY106" fmla="*/ 373273 h 605239"/>
                <a:gd name="connsiteX107" fmla="*/ 373273 h 605239"/>
                <a:gd name="connsiteY107" fmla="*/ 373273 h 605239"/>
                <a:gd name="connsiteX108" fmla="*/ 373273 h 605239"/>
                <a:gd name="connsiteY108" fmla="*/ 373273 h 605239"/>
                <a:gd name="connsiteX109" fmla="*/ 373273 h 605239"/>
                <a:gd name="connsiteY109" fmla="*/ 373273 h 605239"/>
                <a:gd name="connsiteX110" fmla="*/ 373273 h 605239"/>
                <a:gd name="connsiteY110" fmla="*/ 373273 h 605239"/>
                <a:gd name="connsiteX111" fmla="*/ 373273 h 605239"/>
                <a:gd name="connsiteY111" fmla="*/ 373273 h 605239"/>
                <a:gd name="connsiteX112" fmla="*/ 373273 h 605239"/>
                <a:gd name="connsiteY112" fmla="*/ 373273 h 605239"/>
                <a:gd name="connsiteX113" fmla="*/ 373273 h 605239"/>
                <a:gd name="connsiteY113" fmla="*/ 373273 h 605239"/>
                <a:gd name="connsiteX114" fmla="*/ 373273 h 605239"/>
                <a:gd name="connsiteY114" fmla="*/ 373273 h 605239"/>
                <a:gd name="connsiteX115" fmla="*/ 373273 h 605239"/>
                <a:gd name="connsiteY115" fmla="*/ 373273 h 605239"/>
                <a:gd name="connsiteX116" fmla="*/ 373273 h 605239"/>
                <a:gd name="connsiteY116" fmla="*/ 373273 h 605239"/>
                <a:gd name="connsiteX117" fmla="*/ 373273 h 605239"/>
                <a:gd name="connsiteY117" fmla="*/ 373273 h 605239"/>
                <a:gd name="connsiteX118" fmla="*/ 373273 h 605239"/>
                <a:gd name="connsiteY118" fmla="*/ 373273 h 605239"/>
                <a:gd name="connsiteX119" fmla="*/ 373273 h 605239"/>
                <a:gd name="connsiteY119" fmla="*/ 373273 h 605239"/>
                <a:gd name="connsiteX120" fmla="*/ 373273 h 605239"/>
                <a:gd name="connsiteY120" fmla="*/ 373273 h 605239"/>
                <a:gd name="connsiteX121" fmla="*/ 373273 h 605239"/>
                <a:gd name="connsiteY121" fmla="*/ 373273 h 605239"/>
                <a:gd name="connsiteX122" fmla="*/ 373273 h 605239"/>
                <a:gd name="connsiteY122" fmla="*/ 373273 h 605239"/>
                <a:gd name="connsiteX123" fmla="*/ 373273 h 605239"/>
                <a:gd name="connsiteY123" fmla="*/ 373273 h 605239"/>
                <a:gd name="connsiteX124" fmla="*/ 373273 h 605239"/>
                <a:gd name="connsiteY124" fmla="*/ 373273 h 605239"/>
                <a:gd name="connsiteX125" fmla="*/ 373273 h 605239"/>
                <a:gd name="connsiteY125" fmla="*/ 373273 h 605239"/>
                <a:gd name="connsiteX126" fmla="*/ 373273 h 605239"/>
                <a:gd name="connsiteY126" fmla="*/ 373273 h 605239"/>
                <a:gd name="connsiteX127" fmla="*/ 373273 h 605239"/>
                <a:gd name="connsiteY127" fmla="*/ 373273 h 605239"/>
                <a:gd name="connsiteX128" fmla="*/ 373273 h 605239"/>
                <a:gd name="connsiteY128" fmla="*/ 373273 h 605239"/>
                <a:gd name="connsiteX129" fmla="*/ 373273 h 605239"/>
                <a:gd name="connsiteY129" fmla="*/ 373273 h 605239"/>
                <a:gd name="connsiteX130" fmla="*/ 373273 h 605239"/>
                <a:gd name="connsiteY130" fmla="*/ 373273 h 605239"/>
                <a:gd name="connsiteX131" fmla="*/ 373273 h 605239"/>
                <a:gd name="connsiteY131" fmla="*/ 373273 h 605239"/>
                <a:gd name="connsiteX132" fmla="*/ 373273 h 605239"/>
                <a:gd name="connsiteY132" fmla="*/ 373273 h 605239"/>
                <a:gd name="connsiteX133" fmla="*/ 373273 h 605239"/>
                <a:gd name="connsiteY133" fmla="*/ 373273 h 605239"/>
                <a:gd name="connsiteX134" fmla="*/ 373273 h 605239"/>
                <a:gd name="connsiteY134" fmla="*/ 373273 h 605239"/>
                <a:gd name="connsiteX135" fmla="*/ 373273 h 605239"/>
                <a:gd name="connsiteY135" fmla="*/ 373273 h 605239"/>
                <a:gd name="connsiteX136" fmla="*/ 373273 h 605239"/>
                <a:gd name="connsiteY136" fmla="*/ 373273 h 605239"/>
                <a:gd name="connsiteX137" fmla="*/ 373273 h 605239"/>
                <a:gd name="connsiteY137" fmla="*/ 373273 h 605239"/>
                <a:gd name="connsiteX138" fmla="*/ 373273 h 605239"/>
                <a:gd name="connsiteY138" fmla="*/ 373273 h 605239"/>
                <a:gd name="connsiteX139" fmla="*/ 373273 h 605239"/>
                <a:gd name="connsiteY139" fmla="*/ 373273 h 605239"/>
                <a:gd name="connsiteX140" fmla="*/ 373273 h 605239"/>
                <a:gd name="connsiteY140" fmla="*/ 373273 h 605239"/>
                <a:gd name="connsiteX141" fmla="*/ 373273 h 605239"/>
                <a:gd name="connsiteY141" fmla="*/ 373273 h 605239"/>
                <a:gd name="connsiteX142" fmla="*/ 373273 h 605239"/>
                <a:gd name="connsiteY142" fmla="*/ 373273 h 605239"/>
                <a:gd name="connsiteX143" fmla="*/ 373273 h 605239"/>
                <a:gd name="connsiteY143" fmla="*/ 373273 h 605239"/>
                <a:gd name="connsiteX144" fmla="*/ 373273 h 605239"/>
                <a:gd name="connsiteY144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607639" h="606722">
                  <a:moveTo>
                    <a:pt x="97098" y="544201"/>
                  </a:moveTo>
                  <a:lnTo>
                    <a:pt x="122078" y="544201"/>
                  </a:lnTo>
                  <a:lnTo>
                    <a:pt x="122078" y="562901"/>
                  </a:lnTo>
                  <a:lnTo>
                    <a:pt x="97098" y="562901"/>
                  </a:lnTo>
                  <a:close/>
                  <a:moveTo>
                    <a:pt x="316345" y="531640"/>
                  </a:moveTo>
                  <a:lnTo>
                    <a:pt x="385217" y="531640"/>
                  </a:lnTo>
                  <a:lnTo>
                    <a:pt x="385217" y="550410"/>
                  </a:lnTo>
                  <a:lnTo>
                    <a:pt x="316345" y="550410"/>
                  </a:lnTo>
                  <a:close/>
                  <a:moveTo>
                    <a:pt x="272453" y="531640"/>
                  </a:moveTo>
                  <a:lnTo>
                    <a:pt x="297574" y="531640"/>
                  </a:lnTo>
                  <a:lnTo>
                    <a:pt x="297574" y="550410"/>
                  </a:lnTo>
                  <a:lnTo>
                    <a:pt x="272453" y="550410"/>
                  </a:lnTo>
                  <a:close/>
                  <a:moveTo>
                    <a:pt x="497980" y="506660"/>
                  </a:moveTo>
                  <a:lnTo>
                    <a:pt x="566852" y="506660"/>
                  </a:lnTo>
                  <a:lnTo>
                    <a:pt x="566852" y="525430"/>
                  </a:lnTo>
                  <a:lnTo>
                    <a:pt x="497980" y="525430"/>
                  </a:lnTo>
                  <a:close/>
                  <a:moveTo>
                    <a:pt x="454089" y="506660"/>
                  </a:moveTo>
                  <a:lnTo>
                    <a:pt x="479210" y="506660"/>
                  </a:lnTo>
                  <a:lnTo>
                    <a:pt x="479210" y="525430"/>
                  </a:lnTo>
                  <a:lnTo>
                    <a:pt x="454089" y="525430"/>
                  </a:lnTo>
                  <a:close/>
                  <a:moveTo>
                    <a:pt x="184740" y="494099"/>
                  </a:moveTo>
                  <a:lnTo>
                    <a:pt x="209861" y="494099"/>
                  </a:lnTo>
                  <a:lnTo>
                    <a:pt x="209861" y="512869"/>
                  </a:lnTo>
                  <a:lnTo>
                    <a:pt x="184740" y="512869"/>
                  </a:lnTo>
                  <a:close/>
                  <a:moveTo>
                    <a:pt x="53206" y="494099"/>
                  </a:moveTo>
                  <a:lnTo>
                    <a:pt x="165970" y="494099"/>
                  </a:lnTo>
                  <a:lnTo>
                    <a:pt x="165970" y="512869"/>
                  </a:lnTo>
                  <a:lnTo>
                    <a:pt x="53206" y="512869"/>
                  </a:lnTo>
                  <a:close/>
                  <a:moveTo>
                    <a:pt x="46997" y="444069"/>
                  </a:moveTo>
                  <a:lnTo>
                    <a:pt x="71977" y="444069"/>
                  </a:lnTo>
                  <a:lnTo>
                    <a:pt x="71977" y="462839"/>
                  </a:lnTo>
                  <a:lnTo>
                    <a:pt x="46997" y="462839"/>
                  </a:lnTo>
                  <a:close/>
                  <a:moveTo>
                    <a:pt x="523102" y="419018"/>
                  </a:moveTo>
                  <a:lnTo>
                    <a:pt x="548082" y="419018"/>
                  </a:lnTo>
                  <a:lnTo>
                    <a:pt x="548082" y="437788"/>
                  </a:lnTo>
                  <a:lnTo>
                    <a:pt x="523102" y="437788"/>
                  </a:lnTo>
                  <a:close/>
                  <a:moveTo>
                    <a:pt x="297574" y="406598"/>
                  </a:moveTo>
                  <a:lnTo>
                    <a:pt x="322554" y="406598"/>
                  </a:lnTo>
                  <a:lnTo>
                    <a:pt x="322554" y="425368"/>
                  </a:lnTo>
                  <a:lnTo>
                    <a:pt x="297574" y="425368"/>
                  </a:lnTo>
                  <a:close/>
                  <a:moveTo>
                    <a:pt x="247402" y="381548"/>
                  </a:moveTo>
                  <a:lnTo>
                    <a:pt x="272453" y="381548"/>
                  </a:lnTo>
                  <a:lnTo>
                    <a:pt x="272453" y="400318"/>
                  </a:lnTo>
                  <a:lnTo>
                    <a:pt x="247402" y="400318"/>
                  </a:lnTo>
                  <a:close/>
                  <a:moveTo>
                    <a:pt x="335115" y="368987"/>
                  </a:moveTo>
                  <a:lnTo>
                    <a:pt x="360166" y="368987"/>
                  </a:lnTo>
                  <a:lnTo>
                    <a:pt x="360166" y="387757"/>
                  </a:lnTo>
                  <a:lnTo>
                    <a:pt x="335115" y="387757"/>
                  </a:lnTo>
                  <a:close/>
                  <a:moveTo>
                    <a:pt x="71977" y="368987"/>
                  </a:moveTo>
                  <a:lnTo>
                    <a:pt x="97098" y="368987"/>
                  </a:lnTo>
                  <a:lnTo>
                    <a:pt x="97098" y="387757"/>
                  </a:lnTo>
                  <a:lnTo>
                    <a:pt x="71977" y="387757"/>
                  </a:lnTo>
                  <a:close/>
                  <a:moveTo>
                    <a:pt x="473000" y="344007"/>
                  </a:moveTo>
                  <a:lnTo>
                    <a:pt x="497980" y="344007"/>
                  </a:lnTo>
                  <a:lnTo>
                    <a:pt x="497980" y="362777"/>
                  </a:lnTo>
                  <a:lnTo>
                    <a:pt x="473000" y="362777"/>
                  </a:lnTo>
                  <a:close/>
                  <a:moveTo>
                    <a:pt x="18780" y="318958"/>
                  </a:moveTo>
                  <a:lnTo>
                    <a:pt x="18780" y="587970"/>
                  </a:lnTo>
                  <a:lnTo>
                    <a:pt x="588859" y="587970"/>
                  </a:lnTo>
                  <a:lnTo>
                    <a:pt x="588859" y="318958"/>
                  </a:lnTo>
                  <a:lnTo>
                    <a:pt x="400880" y="318958"/>
                  </a:lnTo>
                  <a:lnTo>
                    <a:pt x="400880" y="387744"/>
                  </a:lnTo>
                  <a:lnTo>
                    <a:pt x="441644" y="387744"/>
                  </a:lnTo>
                  <a:cubicBezTo>
                    <a:pt x="467545" y="387744"/>
                    <a:pt x="488550" y="408806"/>
                    <a:pt x="488550" y="434668"/>
                  </a:cubicBezTo>
                  <a:cubicBezTo>
                    <a:pt x="488550" y="460529"/>
                    <a:pt x="467545" y="481592"/>
                    <a:pt x="441644" y="481592"/>
                  </a:cubicBezTo>
                  <a:lnTo>
                    <a:pt x="291314" y="481592"/>
                  </a:lnTo>
                  <a:cubicBezTo>
                    <a:pt x="271110" y="481592"/>
                    <a:pt x="253576" y="468883"/>
                    <a:pt x="247079" y="450309"/>
                  </a:cubicBezTo>
                  <a:lnTo>
                    <a:pt x="159764" y="450309"/>
                  </a:lnTo>
                  <a:cubicBezTo>
                    <a:pt x="137246" y="450309"/>
                    <a:pt x="119000" y="432091"/>
                    <a:pt x="119000" y="409695"/>
                  </a:cubicBezTo>
                  <a:cubicBezTo>
                    <a:pt x="119000" y="387300"/>
                    <a:pt x="137246" y="368992"/>
                    <a:pt x="159764" y="368992"/>
                  </a:cubicBezTo>
                  <a:lnTo>
                    <a:pt x="206670" y="368992"/>
                  </a:lnTo>
                  <a:lnTo>
                    <a:pt x="206670" y="318958"/>
                  </a:lnTo>
                  <a:close/>
                  <a:moveTo>
                    <a:pt x="294399" y="309641"/>
                  </a:moveTo>
                  <a:lnTo>
                    <a:pt x="313169" y="309641"/>
                  </a:lnTo>
                  <a:lnTo>
                    <a:pt x="313169" y="372091"/>
                  </a:lnTo>
                  <a:lnTo>
                    <a:pt x="294399" y="372091"/>
                  </a:lnTo>
                  <a:close/>
                  <a:moveTo>
                    <a:pt x="338220" y="259610"/>
                  </a:moveTo>
                  <a:lnTo>
                    <a:pt x="357061" y="259610"/>
                  </a:lnTo>
                  <a:lnTo>
                    <a:pt x="357061" y="334621"/>
                  </a:lnTo>
                  <a:lnTo>
                    <a:pt x="338220" y="334621"/>
                  </a:lnTo>
                  <a:close/>
                  <a:moveTo>
                    <a:pt x="294399" y="259610"/>
                  </a:moveTo>
                  <a:lnTo>
                    <a:pt x="313169" y="259610"/>
                  </a:lnTo>
                  <a:lnTo>
                    <a:pt x="313169" y="290871"/>
                  </a:lnTo>
                  <a:lnTo>
                    <a:pt x="294399" y="290871"/>
                  </a:lnTo>
                  <a:close/>
                  <a:moveTo>
                    <a:pt x="250578" y="259610"/>
                  </a:moveTo>
                  <a:lnTo>
                    <a:pt x="269348" y="259610"/>
                  </a:lnTo>
                  <a:lnTo>
                    <a:pt x="269348" y="360378"/>
                  </a:lnTo>
                  <a:lnTo>
                    <a:pt x="250578" y="360378"/>
                  </a:lnTo>
                  <a:close/>
                  <a:moveTo>
                    <a:pt x="225539" y="231420"/>
                  </a:moveTo>
                  <a:lnTo>
                    <a:pt x="225539" y="387744"/>
                  </a:lnTo>
                  <a:lnTo>
                    <a:pt x="159764" y="387744"/>
                  </a:lnTo>
                  <a:cubicBezTo>
                    <a:pt x="147660" y="387744"/>
                    <a:pt x="137780" y="397609"/>
                    <a:pt x="137780" y="409695"/>
                  </a:cubicBezTo>
                  <a:cubicBezTo>
                    <a:pt x="137780" y="421782"/>
                    <a:pt x="147660" y="431557"/>
                    <a:pt x="159764" y="431557"/>
                  </a:cubicBezTo>
                  <a:lnTo>
                    <a:pt x="262210" y="431557"/>
                  </a:lnTo>
                  <a:lnTo>
                    <a:pt x="263545" y="439378"/>
                  </a:lnTo>
                  <a:cubicBezTo>
                    <a:pt x="265859" y="452709"/>
                    <a:pt x="277785" y="462840"/>
                    <a:pt x="291314" y="462840"/>
                  </a:cubicBezTo>
                  <a:lnTo>
                    <a:pt x="441644" y="462840"/>
                  </a:lnTo>
                  <a:cubicBezTo>
                    <a:pt x="457131" y="462840"/>
                    <a:pt x="469770" y="450220"/>
                    <a:pt x="469770" y="434668"/>
                  </a:cubicBezTo>
                  <a:cubicBezTo>
                    <a:pt x="469770" y="419204"/>
                    <a:pt x="457131" y="406585"/>
                    <a:pt x="441644" y="406585"/>
                  </a:cubicBezTo>
                  <a:lnTo>
                    <a:pt x="382100" y="406585"/>
                  </a:lnTo>
                  <a:lnTo>
                    <a:pt x="382100" y="231420"/>
                  </a:lnTo>
                  <a:close/>
                  <a:moveTo>
                    <a:pt x="200440" y="181386"/>
                  </a:moveTo>
                  <a:lnTo>
                    <a:pt x="200440" y="212668"/>
                  </a:lnTo>
                  <a:lnTo>
                    <a:pt x="407199" y="212668"/>
                  </a:lnTo>
                  <a:lnTo>
                    <a:pt x="407199" y="181386"/>
                  </a:lnTo>
                  <a:close/>
                  <a:moveTo>
                    <a:pt x="328835" y="87572"/>
                  </a:moveTo>
                  <a:lnTo>
                    <a:pt x="353886" y="87572"/>
                  </a:lnTo>
                  <a:lnTo>
                    <a:pt x="353886" y="106272"/>
                  </a:lnTo>
                  <a:lnTo>
                    <a:pt x="328835" y="106272"/>
                  </a:lnTo>
                  <a:close/>
                  <a:moveTo>
                    <a:pt x="291294" y="87572"/>
                  </a:moveTo>
                  <a:lnTo>
                    <a:pt x="316345" y="87572"/>
                  </a:lnTo>
                  <a:lnTo>
                    <a:pt x="316345" y="106272"/>
                  </a:lnTo>
                  <a:lnTo>
                    <a:pt x="291294" y="106272"/>
                  </a:lnTo>
                  <a:close/>
                  <a:moveTo>
                    <a:pt x="253683" y="87572"/>
                  </a:moveTo>
                  <a:lnTo>
                    <a:pt x="278734" y="87572"/>
                  </a:lnTo>
                  <a:lnTo>
                    <a:pt x="278734" y="106272"/>
                  </a:lnTo>
                  <a:lnTo>
                    <a:pt x="253683" y="106272"/>
                  </a:lnTo>
                  <a:close/>
                  <a:moveTo>
                    <a:pt x="253683" y="43821"/>
                  </a:moveTo>
                  <a:lnTo>
                    <a:pt x="353886" y="43821"/>
                  </a:lnTo>
                  <a:lnTo>
                    <a:pt x="353886" y="62591"/>
                  </a:lnTo>
                  <a:lnTo>
                    <a:pt x="253683" y="62591"/>
                  </a:lnTo>
                  <a:close/>
                  <a:moveTo>
                    <a:pt x="231770" y="18752"/>
                  </a:moveTo>
                  <a:lnTo>
                    <a:pt x="231770" y="162634"/>
                  </a:lnTo>
                  <a:lnTo>
                    <a:pt x="375869" y="162634"/>
                  </a:lnTo>
                  <a:lnTo>
                    <a:pt x="375869" y="18752"/>
                  </a:lnTo>
                  <a:close/>
                  <a:moveTo>
                    <a:pt x="147215" y="0"/>
                  </a:moveTo>
                  <a:lnTo>
                    <a:pt x="460424" y="0"/>
                  </a:lnTo>
                  <a:lnTo>
                    <a:pt x="460424" y="18752"/>
                  </a:lnTo>
                  <a:lnTo>
                    <a:pt x="394649" y="18752"/>
                  </a:lnTo>
                  <a:lnTo>
                    <a:pt x="394649" y="162634"/>
                  </a:lnTo>
                  <a:lnTo>
                    <a:pt x="425979" y="162634"/>
                  </a:lnTo>
                  <a:lnTo>
                    <a:pt x="425979" y="231420"/>
                  </a:lnTo>
                  <a:lnTo>
                    <a:pt x="400880" y="231420"/>
                  </a:lnTo>
                  <a:lnTo>
                    <a:pt x="400880" y="300206"/>
                  </a:lnTo>
                  <a:lnTo>
                    <a:pt x="607639" y="300206"/>
                  </a:lnTo>
                  <a:lnTo>
                    <a:pt x="607639" y="606722"/>
                  </a:lnTo>
                  <a:lnTo>
                    <a:pt x="0" y="606722"/>
                  </a:lnTo>
                  <a:lnTo>
                    <a:pt x="0" y="300206"/>
                  </a:lnTo>
                  <a:lnTo>
                    <a:pt x="206670" y="300206"/>
                  </a:lnTo>
                  <a:lnTo>
                    <a:pt x="206670" y="231420"/>
                  </a:lnTo>
                  <a:lnTo>
                    <a:pt x="181660" y="231420"/>
                  </a:lnTo>
                  <a:lnTo>
                    <a:pt x="181660" y="162634"/>
                  </a:lnTo>
                  <a:lnTo>
                    <a:pt x="212990" y="162634"/>
                  </a:lnTo>
                  <a:lnTo>
                    <a:pt x="212990" y="18752"/>
                  </a:lnTo>
                  <a:lnTo>
                    <a:pt x="147215" y="18752"/>
                  </a:lnTo>
                  <a:close/>
                </a:path>
              </a:pathLst>
            </a:custGeom>
            <a:gradFill>
              <a:gsLst>
                <a:gs pos="0">
                  <a:srgbClr val="16AD98"/>
                </a:gs>
                <a:gs pos="100000">
                  <a:srgbClr val="0775B0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9237565" y="3340060"/>
            <a:ext cx="12346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2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万吨/天</a:t>
            </a:r>
          </a:p>
        </p:txBody>
      </p:sp>
      <p:grpSp>
        <p:nvGrpSpPr>
          <p:cNvPr id="8" name="组合 17"/>
          <p:cNvGrpSpPr/>
          <p:nvPr/>
        </p:nvGrpSpPr>
        <p:grpSpPr>
          <a:xfrm>
            <a:off x="7862223" y="4070759"/>
            <a:ext cx="4069426" cy="2357337"/>
            <a:chOff x="7912100" y="3956050"/>
            <a:chExt cx="3701415" cy="2146300"/>
          </a:xfrm>
        </p:grpSpPr>
        <p:sp>
          <p:nvSpPr>
            <p:cNvPr id="19" name="矩形: 圆角 18"/>
            <p:cNvSpPr/>
            <p:nvPr/>
          </p:nvSpPr>
          <p:spPr>
            <a:xfrm>
              <a:off x="7912100" y="3956050"/>
              <a:ext cx="3701415" cy="2146300"/>
            </a:xfrm>
            <a:prstGeom prst="roundRect">
              <a:avLst/>
            </a:prstGeom>
            <a:noFill/>
            <a:ln>
              <a:solidFill>
                <a:srgbClr val="119B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226133" y="4892197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68000">
                        <a:srgbClr val="0777B0"/>
                      </a:gs>
                      <a:gs pos="23000">
                        <a:srgbClr val="16AC9C"/>
                      </a:gs>
                      <a:gs pos="100000">
                        <a:srgbClr val="1654B5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出水标准</a:t>
              </a:r>
              <a:endPara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21" name="waste_272986"/>
            <p:cNvSpPr/>
            <p:nvPr/>
          </p:nvSpPr>
          <p:spPr>
            <a:xfrm>
              <a:off x="9457965" y="4219769"/>
              <a:ext cx="609685" cy="608764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  <a:gd name="connsiteX66" fmla="*/ 373273 h 605239"/>
                <a:gd name="connsiteY66" fmla="*/ 373273 h 605239"/>
                <a:gd name="connsiteX67" fmla="*/ 373273 h 605239"/>
                <a:gd name="connsiteY67" fmla="*/ 373273 h 605239"/>
                <a:gd name="connsiteX68" fmla="*/ 373273 h 605239"/>
                <a:gd name="connsiteY68" fmla="*/ 373273 h 605239"/>
                <a:gd name="connsiteX69" fmla="*/ 373273 h 605239"/>
                <a:gd name="connsiteY69" fmla="*/ 373273 h 605239"/>
                <a:gd name="connsiteX70" fmla="*/ 373273 h 605239"/>
                <a:gd name="connsiteY70" fmla="*/ 373273 h 605239"/>
                <a:gd name="connsiteX71" fmla="*/ 373273 h 605239"/>
                <a:gd name="connsiteY71" fmla="*/ 373273 h 605239"/>
                <a:gd name="connsiteX72" fmla="*/ 373273 h 605239"/>
                <a:gd name="connsiteY72" fmla="*/ 373273 h 605239"/>
                <a:gd name="connsiteX73" fmla="*/ 373273 h 605239"/>
                <a:gd name="connsiteY73" fmla="*/ 373273 h 605239"/>
                <a:gd name="connsiteX74" fmla="*/ 373273 h 605239"/>
                <a:gd name="connsiteY74" fmla="*/ 373273 h 605239"/>
                <a:gd name="connsiteX75" fmla="*/ 373273 h 605239"/>
                <a:gd name="connsiteY75" fmla="*/ 373273 h 605239"/>
                <a:gd name="connsiteX76" fmla="*/ 373273 h 605239"/>
                <a:gd name="connsiteY76" fmla="*/ 373273 h 605239"/>
                <a:gd name="connsiteX77" fmla="*/ 373273 h 605239"/>
                <a:gd name="connsiteY77" fmla="*/ 373273 h 605239"/>
                <a:gd name="connsiteX78" fmla="*/ 373273 h 605239"/>
                <a:gd name="connsiteY78" fmla="*/ 373273 h 605239"/>
                <a:gd name="connsiteX79" fmla="*/ 373273 h 605239"/>
                <a:gd name="connsiteY79" fmla="*/ 373273 h 605239"/>
                <a:gd name="connsiteX80" fmla="*/ 373273 h 605239"/>
                <a:gd name="connsiteY80" fmla="*/ 373273 h 605239"/>
                <a:gd name="connsiteX81" fmla="*/ 373273 h 605239"/>
                <a:gd name="connsiteY81" fmla="*/ 373273 h 605239"/>
                <a:gd name="connsiteX82" fmla="*/ 373273 h 605239"/>
                <a:gd name="connsiteY82" fmla="*/ 373273 h 605239"/>
                <a:gd name="connsiteX83" fmla="*/ 373273 h 605239"/>
                <a:gd name="connsiteY83" fmla="*/ 373273 h 605239"/>
                <a:gd name="connsiteX84" fmla="*/ 373273 h 605239"/>
                <a:gd name="connsiteY84" fmla="*/ 373273 h 605239"/>
                <a:gd name="connsiteX85" fmla="*/ 373273 h 605239"/>
                <a:gd name="connsiteY85" fmla="*/ 373273 h 605239"/>
                <a:gd name="connsiteX86" fmla="*/ 373273 h 605239"/>
                <a:gd name="connsiteY86" fmla="*/ 373273 h 605239"/>
                <a:gd name="connsiteX87" fmla="*/ 373273 h 605239"/>
                <a:gd name="connsiteY87" fmla="*/ 373273 h 605239"/>
                <a:gd name="connsiteX88" fmla="*/ 373273 h 605239"/>
                <a:gd name="connsiteY88" fmla="*/ 373273 h 605239"/>
                <a:gd name="connsiteX89" fmla="*/ 373273 h 605239"/>
                <a:gd name="connsiteY89" fmla="*/ 373273 h 605239"/>
                <a:gd name="connsiteX90" fmla="*/ 373273 h 605239"/>
                <a:gd name="connsiteY90" fmla="*/ 373273 h 605239"/>
                <a:gd name="connsiteX91" fmla="*/ 373273 h 605239"/>
                <a:gd name="connsiteY91" fmla="*/ 373273 h 605239"/>
                <a:gd name="connsiteX92" fmla="*/ 373273 h 605239"/>
                <a:gd name="connsiteY92" fmla="*/ 373273 h 605239"/>
                <a:gd name="connsiteX93" fmla="*/ 373273 h 605239"/>
                <a:gd name="connsiteY93" fmla="*/ 373273 h 605239"/>
                <a:gd name="connsiteX94" fmla="*/ 373273 h 605239"/>
                <a:gd name="connsiteY94" fmla="*/ 373273 h 605239"/>
                <a:gd name="connsiteX95" fmla="*/ 373273 h 605239"/>
                <a:gd name="connsiteY95" fmla="*/ 373273 h 605239"/>
                <a:gd name="connsiteX96" fmla="*/ 373273 h 605239"/>
                <a:gd name="connsiteY96" fmla="*/ 373273 h 605239"/>
                <a:gd name="connsiteX97" fmla="*/ 373273 h 605239"/>
                <a:gd name="connsiteY97" fmla="*/ 373273 h 605239"/>
                <a:gd name="connsiteX98" fmla="*/ 373273 h 605239"/>
                <a:gd name="connsiteY98" fmla="*/ 373273 h 605239"/>
                <a:gd name="connsiteX99" fmla="*/ 373273 h 605239"/>
                <a:gd name="connsiteY99" fmla="*/ 373273 h 605239"/>
                <a:gd name="connsiteX100" fmla="*/ 373273 h 605239"/>
                <a:gd name="connsiteY100" fmla="*/ 373273 h 605239"/>
                <a:gd name="connsiteX101" fmla="*/ 373273 h 605239"/>
                <a:gd name="connsiteY101" fmla="*/ 373273 h 605239"/>
                <a:gd name="connsiteX102" fmla="*/ 373273 h 605239"/>
                <a:gd name="connsiteY102" fmla="*/ 373273 h 605239"/>
                <a:gd name="connsiteX103" fmla="*/ 373273 h 605239"/>
                <a:gd name="connsiteY103" fmla="*/ 373273 h 605239"/>
                <a:gd name="connsiteX104" fmla="*/ 373273 h 605239"/>
                <a:gd name="connsiteY104" fmla="*/ 373273 h 605239"/>
                <a:gd name="connsiteX105" fmla="*/ 373273 h 605239"/>
                <a:gd name="connsiteY105" fmla="*/ 373273 h 605239"/>
                <a:gd name="connsiteX106" fmla="*/ 373273 h 605239"/>
                <a:gd name="connsiteY106" fmla="*/ 373273 h 605239"/>
                <a:gd name="connsiteX107" fmla="*/ 373273 h 605239"/>
                <a:gd name="connsiteY107" fmla="*/ 373273 h 605239"/>
                <a:gd name="connsiteX108" fmla="*/ 373273 h 605239"/>
                <a:gd name="connsiteY108" fmla="*/ 373273 h 605239"/>
                <a:gd name="connsiteX109" fmla="*/ 373273 h 605239"/>
                <a:gd name="connsiteY109" fmla="*/ 373273 h 605239"/>
                <a:gd name="connsiteX110" fmla="*/ 373273 h 605239"/>
                <a:gd name="connsiteY110" fmla="*/ 373273 h 605239"/>
                <a:gd name="connsiteX111" fmla="*/ 373273 h 605239"/>
                <a:gd name="connsiteY111" fmla="*/ 373273 h 605239"/>
                <a:gd name="connsiteX112" fmla="*/ 373273 h 605239"/>
                <a:gd name="connsiteY112" fmla="*/ 373273 h 605239"/>
                <a:gd name="connsiteX113" fmla="*/ 373273 h 605239"/>
                <a:gd name="connsiteY113" fmla="*/ 373273 h 605239"/>
                <a:gd name="connsiteX114" fmla="*/ 373273 h 605239"/>
                <a:gd name="connsiteY114" fmla="*/ 373273 h 605239"/>
                <a:gd name="connsiteX115" fmla="*/ 373273 h 605239"/>
                <a:gd name="connsiteY115" fmla="*/ 373273 h 605239"/>
                <a:gd name="connsiteX116" fmla="*/ 373273 h 605239"/>
                <a:gd name="connsiteY116" fmla="*/ 373273 h 605239"/>
                <a:gd name="connsiteX117" fmla="*/ 373273 h 605239"/>
                <a:gd name="connsiteY117" fmla="*/ 373273 h 605239"/>
                <a:gd name="connsiteX118" fmla="*/ 373273 h 605239"/>
                <a:gd name="connsiteY118" fmla="*/ 373273 h 605239"/>
                <a:gd name="connsiteX119" fmla="*/ 373273 h 605239"/>
                <a:gd name="connsiteY119" fmla="*/ 373273 h 605239"/>
                <a:gd name="connsiteX120" fmla="*/ 373273 h 605239"/>
                <a:gd name="connsiteY120" fmla="*/ 373273 h 605239"/>
                <a:gd name="connsiteX121" fmla="*/ 373273 h 605239"/>
                <a:gd name="connsiteY121" fmla="*/ 373273 h 605239"/>
                <a:gd name="connsiteX122" fmla="*/ 373273 h 605239"/>
                <a:gd name="connsiteY122" fmla="*/ 373273 h 605239"/>
                <a:gd name="connsiteX123" fmla="*/ 373273 h 605239"/>
                <a:gd name="connsiteY123" fmla="*/ 373273 h 605239"/>
                <a:gd name="connsiteX124" fmla="*/ 373273 h 605239"/>
                <a:gd name="connsiteY124" fmla="*/ 373273 h 605239"/>
                <a:gd name="connsiteX125" fmla="*/ 373273 h 605239"/>
                <a:gd name="connsiteY125" fmla="*/ 373273 h 605239"/>
                <a:gd name="connsiteX126" fmla="*/ 373273 h 605239"/>
                <a:gd name="connsiteY126" fmla="*/ 373273 h 605239"/>
                <a:gd name="connsiteX127" fmla="*/ 373273 h 605239"/>
                <a:gd name="connsiteY127" fmla="*/ 373273 h 605239"/>
                <a:gd name="connsiteX128" fmla="*/ 373273 h 605239"/>
                <a:gd name="connsiteY128" fmla="*/ 373273 h 605239"/>
                <a:gd name="connsiteX129" fmla="*/ 373273 h 605239"/>
                <a:gd name="connsiteY129" fmla="*/ 373273 h 605239"/>
                <a:gd name="connsiteX130" fmla="*/ 373273 h 605239"/>
                <a:gd name="connsiteY130" fmla="*/ 373273 h 605239"/>
                <a:gd name="connsiteX131" fmla="*/ 373273 h 605239"/>
                <a:gd name="connsiteY131" fmla="*/ 373273 h 605239"/>
                <a:gd name="connsiteX132" fmla="*/ 373273 h 605239"/>
                <a:gd name="connsiteY132" fmla="*/ 373273 h 605239"/>
                <a:gd name="connsiteX133" fmla="*/ 373273 h 605239"/>
                <a:gd name="connsiteY133" fmla="*/ 373273 h 605239"/>
                <a:gd name="connsiteX134" fmla="*/ 373273 h 605239"/>
                <a:gd name="connsiteY134" fmla="*/ 373273 h 605239"/>
                <a:gd name="connsiteX135" fmla="*/ 373273 h 605239"/>
                <a:gd name="connsiteY135" fmla="*/ 373273 h 605239"/>
                <a:gd name="connsiteX136" fmla="*/ 373273 h 605239"/>
                <a:gd name="connsiteY136" fmla="*/ 373273 h 605239"/>
                <a:gd name="connsiteX137" fmla="*/ 373273 h 605239"/>
                <a:gd name="connsiteY137" fmla="*/ 373273 h 605239"/>
                <a:gd name="connsiteX138" fmla="*/ 373273 h 605239"/>
                <a:gd name="connsiteY138" fmla="*/ 373273 h 605239"/>
                <a:gd name="connsiteX139" fmla="*/ 373273 h 605239"/>
                <a:gd name="connsiteY139" fmla="*/ 373273 h 605239"/>
                <a:gd name="connsiteX140" fmla="*/ 373273 h 605239"/>
                <a:gd name="connsiteY140" fmla="*/ 373273 h 605239"/>
                <a:gd name="connsiteX141" fmla="*/ 373273 h 605239"/>
                <a:gd name="connsiteY141" fmla="*/ 373273 h 605239"/>
                <a:gd name="connsiteX142" fmla="*/ 373273 h 605239"/>
                <a:gd name="connsiteY142" fmla="*/ 373273 h 605239"/>
                <a:gd name="connsiteX143" fmla="*/ 373273 h 605239"/>
                <a:gd name="connsiteY143" fmla="*/ 373273 h 605239"/>
                <a:gd name="connsiteX144" fmla="*/ 373273 h 605239"/>
                <a:gd name="connsiteY144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607639" h="606722">
                  <a:moveTo>
                    <a:pt x="97098" y="544201"/>
                  </a:moveTo>
                  <a:lnTo>
                    <a:pt x="122078" y="544201"/>
                  </a:lnTo>
                  <a:lnTo>
                    <a:pt x="122078" y="562901"/>
                  </a:lnTo>
                  <a:lnTo>
                    <a:pt x="97098" y="562901"/>
                  </a:lnTo>
                  <a:close/>
                  <a:moveTo>
                    <a:pt x="316345" y="531640"/>
                  </a:moveTo>
                  <a:lnTo>
                    <a:pt x="385217" y="531640"/>
                  </a:lnTo>
                  <a:lnTo>
                    <a:pt x="385217" y="550410"/>
                  </a:lnTo>
                  <a:lnTo>
                    <a:pt x="316345" y="550410"/>
                  </a:lnTo>
                  <a:close/>
                  <a:moveTo>
                    <a:pt x="272453" y="531640"/>
                  </a:moveTo>
                  <a:lnTo>
                    <a:pt x="297574" y="531640"/>
                  </a:lnTo>
                  <a:lnTo>
                    <a:pt x="297574" y="550410"/>
                  </a:lnTo>
                  <a:lnTo>
                    <a:pt x="272453" y="550410"/>
                  </a:lnTo>
                  <a:close/>
                  <a:moveTo>
                    <a:pt x="497980" y="506660"/>
                  </a:moveTo>
                  <a:lnTo>
                    <a:pt x="566852" y="506660"/>
                  </a:lnTo>
                  <a:lnTo>
                    <a:pt x="566852" y="525430"/>
                  </a:lnTo>
                  <a:lnTo>
                    <a:pt x="497980" y="525430"/>
                  </a:lnTo>
                  <a:close/>
                  <a:moveTo>
                    <a:pt x="454089" y="506660"/>
                  </a:moveTo>
                  <a:lnTo>
                    <a:pt x="479210" y="506660"/>
                  </a:lnTo>
                  <a:lnTo>
                    <a:pt x="479210" y="525430"/>
                  </a:lnTo>
                  <a:lnTo>
                    <a:pt x="454089" y="525430"/>
                  </a:lnTo>
                  <a:close/>
                  <a:moveTo>
                    <a:pt x="184740" y="494099"/>
                  </a:moveTo>
                  <a:lnTo>
                    <a:pt x="209861" y="494099"/>
                  </a:lnTo>
                  <a:lnTo>
                    <a:pt x="209861" y="512869"/>
                  </a:lnTo>
                  <a:lnTo>
                    <a:pt x="184740" y="512869"/>
                  </a:lnTo>
                  <a:close/>
                  <a:moveTo>
                    <a:pt x="53206" y="494099"/>
                  </a:moveTo>
                  <a:lnTo>
                    <a:pt x="165970" y="494099"/>
                  </a:lnTo>
                  <a:lnTo>
                    <a:pt x="165970" y="512869"/>
                  </a:lnTo>
                  <a:lnTo>
                    <a:pt x="53206" y="512869"/>
                  </a:lnTo>
                  <a:close/>
                  <a:moveTo>
                    <a:pt x="46997" y="444069"/>
                  </a:moveTo>
                  <a:lnTo>
                    <a:pt x="71977" y="444069"/>
                  </a:lnTo>
                  <a:lnTo>
                    <a:pt x="71977" y="462839"/>
                  </a:lnTo>
                  <a:lnTo>
                    <a:pt x="46997" y="462839"/>
                  </a:lnTo>
                  <a:close/>
                  <a:moveTo>
                    <a:pt x="523102" y="419018"/>
                  </a:moveTo>
                  <a:lnTo>
                    <a:pt x="548082" y="419018"/>
                  </a:lnTo>
                  <a:lnTo>
                    <a:pt x="548082" y="437788"/>
                  </a:lnTo>
                  <a:lnTo>
                    <a:pt x="523102" y="437788"/>
                  </a:lnTo>
                  <a:close/>
                  <a:moveTo>
                    <a:pt x="297574" y="406598"/>
                  </a:moveTo>
                  <a:lnTo>
                    <a:pt x="322554" y="406598"/>
                  </a:lnTo>
                  <a:lnTo>
                    <a:pt x="322554" y="425368"/>
                  </a:lnTo>
                  <a:lnTo>
                    <a:pt x="297574" y="425368"/>
                  </a:lnTo>
                  <a:close/>
                  <a:moveTo>
                    <a:pt x="247402" y="381548"/>
                  </a:moveTo>
                  <a:lnTo>
                    <a:pt x="272453" y="381548"/>
                  </a:lnTo>
                  <a:lnTo>
                    <a:pt x="272453" y="400318"/>
                  </a:lnTo>
                  <a:lnTo>
                    <a:pt x="247402" y="400318"/>
                  </a:lnTo>
                  <a:close/>
                  <a:moveTo>
                    <a:pt x="335115" y="368987"/>
                  </a:moveTo>
                  <a:lnTo>
                    <a:pt x="360166" y="368987"/>
                  </a:lnTo>
                  <a:lnTo>
                    <a:pt x="360166" y="387757"/>
                  </a:lnTo>
                  <a:lnTo>
                    <a:pt x="335115" y="387757"/>
                  </a:lnTo>
                  <a:close/>
                  <a:moveTo>
                    <a:pt x="71977" y="368987"/>
                  </a:moveTo>
                  <a:lnTo>
                    <a:pt x="97098" y="368987"/>
                  </a:lnTo>
                  <a:lnTo>
                    <a:pt x="97098" y="387757"/>
                  </a:lnTo>
                  <a:lnTo>
                    <a:pt x="71977" y="387757"/>
                  </a:lnTo>
                  <a:close/>
                  <a:moveTo>
                    <a:pt x="473000" y="344007"/>
                  </a:moveTo>
                  <a:lnTo>
                    <a:pt x="497980" y="344007"/>
                  </a:lnTo>
                  <a:lnTo>
                    <a:pt x="497980" y="362777"/>
                  </a:lnTo>
                  <a:lnTo>
                    <a:pt x="473000" y="362777"/>
                  </a:lnTo>
                  <a:close/>
                  <a:moveTo>
                    <a:pt x="18780" y="318958"/>
                  </a:moveTo>
                  <a:lnTo>
                    <a:pt x="18780" y="587970"/>
                  </a:lnTo>
                  <a:lnTo>
                    <a:pt x="588859" y="587970"/>
                  </a:lnTo>
                  <a:lnTo>
                    <a:pt x="588859" y="318958"/>
                  </a:lnTo>
                  <a:lnTo>
                    <a:pt x="400880" y="318958"/>
                  </a:lnTo>
                  <a:lnTo>
                    <a:pt x="400880" y="387744"/>
                  </a:lnTo>
                  <a:lnTo>
                    <a:pt x="441644" y="387744"/>
                  </a:lnTo>
                  <a:cubicBezTo>
                    <a:pt x="467545" y="387744"/>
                    <a:pt x="488550" y="408806"/>
                    <a:pt x="488550" y="434668"/>
                  </a:cubicBezTo>
                  <a:cubicBezTo>
                    <a:pt x="488550" y="460529"/>
                    <a:pt x="467545" y="481592"/>
                    <a:pt x="441644" y="481592"/>
                  </a:cubicBezTo>
                  <a:lnTo>
                    <a:pt x="291314" y="481592"/>
                  </a:lnTo>
                  <a:cubicBezTo>
                    <a:pt x="271110" y="481592"/>
                    <a:pt x="253576" y="468883"/>
                    <a:pt x="247079" y="450309"/>
                  </a:cubicBezTo>
                  <a:lnTo>
                    <a:pt x="159764" y="450309"/>
                  </a:lnTo>
                  <a:cubicBezTo>
                    <a:pt x="137246" y="450309"/>
                    <a:pt x="119000" y="432091"/>
                    <a:pt x="119000" y="409695"/>
                  </a:cubicBezTo>
                  <a:cubicBezTo>
                    <a:pt x="119000" y="387300"/>
                    <a:pt x="137246" y="368992"/>
                    <a:pt x="159764" y="368992"/>
                  </a:cubicBezTo>
                  <a:lnTo>
                    <a:pt x="206670" y="368992"/>
                  </a:lnTo>
                  <a:lnTo>
                    <a:pt x="206670" y="318958"/>
                  </a:lnTo>
                  <a:close/>
                  <a:moveTo>
                    <a:pt x="294399" y="309641"/>
                  </a:moveTo>
                  <a:lnTo>
                    <a:pt x="313169" y="309641"/>
                  </a:lnTo>
                  <a:lnTo>
                    <a:pt x="313169" y="372091"/>
                  </a:lnTo>
                  <a:lnTo>
                    <a:pt x="294399" y="372091"/>
                  </a:lnTo>
                  <a:close/>
                  <a:moveTo>
                    <a:pt x="338220" y="259610"/>
                  </a:moveTo>
                  <a:lnTo>
                    <a:pt x="357061" y="259610"/>
                  </a:lnTo>
                  <a:lnTo>
                    <a:pt x="357061" y="334621"/>
                  </a:lnTo>
                  <a:lnTo>
                    <a:pt x="338220" y="334621"/>
                  </a:lnTo>
                  <a:close/>
                  <a:moveTo>
                    <a:pt x="294399" y="259610"/>
                  </a:moveTo>
                  <a:lnTo>
                    <a:pt x="313169" y="259610"/>
                  </a:lnTo>
                  <a:lnTo>
                    <a:pt x="313169" y="290871"/>
                  </a:lnTo>
                  <a:lnTo>
                    <a:pt x="294399" y="290871"/>
                  </a:lnTo>
                  <a:close/>
                  <a:moveTo>
                    <a:pt x="250578" y="259610"/>
                  </a:moveTo>
                  <a:lnTo>
                    <a:pt x="269348" y="259610"/>
                  </a:lnTo>
                  <a:lnTo>
                    <a:pt x="269348" y="360378"/>
                  </a:lnTo>
                  <a:lnTo>
                    <a:pt x="250578" y="360378"/>
                  </a:lnTo>
                  <a:close/>
                  <a:moveTo>
                    <a:pt x="225539" y="231420"/>
                  </a:moveTo>
                  <a:lnTo>
                    <a:pt x="225539" y="387744"/>
                  </a:lnTo>
                  <a:lnTo>
                    <a:pt x="159764" y="387744"/>
                  </a:lnTo>
                  <a:cubicBezTo>
                    <a:pt x="147660" y="387744"/>
                    <a:pt x="137780" y="397609"/>
                    <a:pt x="137780" y="409695"/>
                  </a:cubicBezTo>
                  <a:cubicBezTo>
                    <a:pt x="137780" y="421782"/>
                    <a:pt x="147660" y="431557"/>
                    <a:pt x="159764" y="431557"/>
                  </a:cubicBezTo>
                  <a:lnTo>
                    <a:pt x="262210" y="431557"/>
                  </a:lnTo>
                  <a:lnTo>
                    <a:pt x="263545" y="439378"/>
                  </a:lnTo>
                  <a:cubicBezTo>
                    <a:pt x="265859" y="452709"/>
                    <a:pt x="277785" y="462840"/>
                    <a:pt x="291314" y="462840"/>
                  </a:cubicBezTo>
                  <a:lnTo>
                    <a:pt x="441644" y="462840"/>
                  </a:lnTo>
                  <a:cubicBezTo>
                    <a:pt x="457131" y="462840"/>
                    <a:pt x="469770" y="450220"/>
                    <a:pt x="469770" y="434668"/>
                  </a:cubicBezTo>
                  <a:cubicBezTo>
                    <a:pt x="469770" y="419204"/>
                    <a:pt x="457131" y="406585"/>
                    <a:pt x="441644" y="406585"/>
                  </a:cubicBezTo>
                  <a:lnTo>
                    <a:pt x="382100" y="406585"/>
                  </a:lnTo>
                  <a:lnTo>
                    <a:pt x="382100" y="231420"/>
                  </a:lnTo>
                  <a:close/>
                  <a:moveTo>
                    <a:pt x="200440" y="181386"/>
                  </a:moveTo>
                  <a:lnTo>
                    <a:pt x="200440" y="212668"/>
                  </a:lnTo>
                  <a:lnTo>
                    <a:pt x="407199" y="212668"/>
                  </a:lnTo>
                  <a:lnTo>
                    <a:pt x="407199" y="181386"/>
                  </a:lnTo>
                  <a:close/>
                  <a:moveTo>
                    <a:pt x="328835" y="87572"/>
                  </a:moveTo>
                  <a:lnTo>
                    <a:pt x="353886" y="87572"/>
                  </a:lnTo>
                  <a:lnTo>
                    <a:pt x="353886" y="106272"/>
                  </a:lnTo>
                  <a:lnTo>
                    <a:pt x="328835" y="106272"/>
                  </a:lnTo>
                  <a:close/>
                  <a:moveTo>
                    <a:pt x="291294" y="87572"/>
                  </a:moveTo>
                  <a:lnTo>
                    <a:pt x="316345" y="87572"/>
                  </a:lnTo>
                  <a:lnTo>
                    <a:pt x="316345" y="106272"/>
                  </a:lnTo>
                  <a:lnTo>
                    <a:pt x="291294" y="106272"/>
                  </a:lnTo>
                  <a:close/>
                  <a:moveTo>
                    <a:pt x="253683" y="87572"/>
                  </a:moveTo>
                  <a:lnTo>
                    <a:pt x="278734" y="87572"/>
                  </a:lnTo>
                  <a:lnTo>
                    <a:pt x="278734" y="106272"/>
                  </a:lnTo>
                  <a:lnTo>
                    <a:pt x="253683" y="106272"/>
                  </a:lnTo>
                  <a:close/>
                  <a:moveTo>
                    <a:pt x="253683" y="43821"/>
                  </a:moveTo>
                  <a:lnTo>
                    <a:pt x="353886" y="43821"/>
                  </a:lnTo>
                  <a:lnTo>
                    <a:pt x="353886" y="62591"/>
                  </a:lnTo>
                  <a:lnTo>
                    <a:pt x="253683" y="62591"/>
                  </a:lnTo>
                  <a:close/>
                  <a:moveTo>
                    <a:pt x="231770" y="18752"/>
                  </a:moveTo>
                  <a:lnTo>
                    <a:pt x="231770" y="162634"/>
                  </a:lnTo>
                  <a:lnTo>
                    <a:pt x="375869" y="162634"/>
                  </a:lnTo>
                  <a:lnTo>
                    <a:pt x="375869" y="18752"/>
                  </a:lnTo>
                  <a:close/>
                  <a:moveTo>
                    <a:pt x="147215" y="0"/>
                  </a:moveTo>
                  <a:lnTo>
                    <a:pt x="460424" y="0"/>
                  </a:lnTo>
                  <a:lnTo>
                    <a:pt x="460424" y="18752"/>
                  </a:lnTo>
                  <a:lnTo>
                    <a:pt x="394649" y="18752"/>
                  </a:lnTo>
                  <a:lnTo>
                    <a:pt x="394649" y="162634"/>
                  </a:lnTo>
                  <a:lnTo>
                    <a:pt x="425979" y="162634"/>
                  </a:lnTo>
                  <a:lnTo>
                    <a:pt x="425979" y="231420"/>
                  </a:lnTo>
                  <a:lnTo>
                    <a:pt x="400880" y="231420"/>
                  </a:lnTo>
                  <a:lnTo>
                    <a:pt x="400880" y="300206"/>
                  </a:lnTo>
                  <a:lnTo>
                    <a:pt x="607639" y="300206"/>
                  </a:lnTo>
                  <a:lnTo>
                    <a:pt x="607639" y="606722"/>
                  </a:lnTo>
                  <a:lnTo>
                    <a:pt x="0" y="606722"/>
                  </a:lnTo>
                  <a:lnTo>
                    <a:pt x="0" y="300206"/>
                  </a:lnTo>
                  <a:lnTo>
                    <a:pt x="206670" y="300206"/>
                  </a:lnTo>
                  <a:lnTo>
                    <a:pt x="206670" y="231420"/>
                  </a:lnTo>
                  <a:lnTo>
                    <a:pt x="181660" y="231420"/>
                  </a:lnTo>
                  <a:lnTo>
                    <a:pt x="181660" y="162634"/>
                  </a:lnTo>
                  <a:lnTo>
                    <a:pt x="212990" y="162634"/>
                  </a:lnTo>
                  <a:lnTo>
                    <a:pt x="212990" y="18752"/>
                  </a:lnTo>
                  <a:lnTo>
                    <a:pt x="147215" y="18752"/>
                  </a:lnTo>
                  <a:close/>
                </a:path>
              </a:pathLst>
            </a:custGeom>
            <a:gradFill>
              <a:gsLst>
                <a:gs pos="0">
                  <a:srgbClr val="16AD98"/>
                </a:gs>
                <a:gs pos="100000">
                  <a:srgbClr val="0775B0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7710703" y="5440003"/>
            <a:ext cx="42583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DB33/2169</a:t>
            </a:r>
            <a:r>
              <a:rPr lang="zh-CN" altLang="zh-CN" sz="2000" b="1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《城镇污水处理厂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主要水</a:t>
            </a:r>
            <a:r>
              <a:rPr lang="zh-CN" altLang="zh-CN" sz="2000" b="1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污染物排放标准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》——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浙江省地方标准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18" name="图片 17" descr="排放标准.png"/>
          <p:cNvPicPr>
            <a:picLocks noChangeAspect="1"/>
          </p:cNvPicPr>
          <p:nvPr/>
        </p:nvPicPr>
        <p:blipFill>
          <a:blip r:embed="rId7"/>
          <a:srcRect l="1856" t="1136"/>
          <a:stretch>
            <a:fillRect/>
          </a:stretch>
        </p:blipFill>
        <p:spPr>
          <a:xfrm>
            <a:off x="341195" y="5336275"/>
            <a:ext cx="7151427" cy="1521725"/>
          </a:xfrm>
          <a:prstGeom prst="rect">
            <a:avLst/>
          </a:prstGeom>
        </p:spPr>
      </p:pic>
      <p:pic>
        <p:nvPicPr>
          <p:cNvPr id="23" name="图片 22" descr="德清厂平面图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518" y="995204"/>
            <a:ext cx="7057455" cy="421824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654665" y="222115"/>
            <a:ext cx="1050925" cy="647065"/>
            <a:chOff x="603" y="303"/>
            <a:chExt cx="2798" cy="1722"/>
          </a:xfrm>
        </p:grpSpPr>
        <p:pic>
          <p:nvPicPr>
            <p:cNvPr id="3" name="图片 2" descr="2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 cstate="print"/>
            <a:srcRect l="23805" t="32128" r="26955" b="32195"/>
            <a:stretch>
              <a:fillRect/>
            </a:stretch>
          </p:blipFill>
          <p:spPr>
            <a:xfrm>
              <a:off x="804" y="303"/>
              <a:ext cx="2408" cy="119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 cstate="print"/>
            <a:stretch>
              <a:fillRect/>
            </a:stretch>
          </p:blipFill>
          <p:spPr>
            <a:xfrm>
              <a:off x="603" y="1499"/>
              <a:ext cx="2798" cy="527"/>
            </a:xfrm>
            <a:prstGeom prst="rect">
              <a:avLst/>
            </a:prstGeom>
          </p:spPr>
        </p:pic>
      </p:grpSp>
      <p:cxnSp>
        <p:nvCxnSpPr>
          <p:cNvPr id="33" name="直接连接符 32"/>
          <p:cNvCxnSpPr/>
          <p:nvPr/>
        </p:nvCxnSpPr>
        <p:spPr>
          <a:xfrm>
            <a:off x="28212" y="928558"/>
            <a:ext cx="12192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33381" y="311528"/>
            <a:ext cx="10800000" cy="720000"/>
          </a:xfrm>
        </p:spPr>
        <p:txBody>
          <a:bodyPr>
            <a:normAutofit/>
          </a:bodyPr>
          <a:lstStyle/>
          <a:p>
            <a:r>
              <a:rPr lang="en-US" altLang="zh-CN" sz="27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1.2</a:t>
            </a:r>
            <a:r>
              <a:rPr lang="zh-CN" altLang="en-US" sz="27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处理工艺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5182612" y="6127845"/>
            <a:ext cx="1845984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cs typeface="+mn-ea"/>
              </a:rPr>
              <a:t>工艺流程图</a:t>
            </a:r>
          </a:p>
        </p:txBody>
      </p:sp>
      <p:cxnSp>
        <p:nvCxnSpPr>
          <p:cNvPr id="12" name="直接箭头连接符 11"/>
          <p:cNvCxnSpPr/>
          <p:nvPr/>
        </p:nvCxnSpPr>
        <p:spPr>
          <a:xfrm rot="16200000" flipH="1">
            <a:off x="436733" y="1951628"/>
            <a:ext cx="382135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9" name="圆角矩形 48"/>
          <p:cNvSpPr/>
          <p:nvPr/>
        </p:nvSpPr>
        <p:spPr>
          <a:xfrm>
            <a:off x="6635332" y="1594688"/>
            <a:ext cx="1237957" cy="64711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A2O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池</a:t>
            </a:r>
          </a:p>
        </p:txBody>
      </p:sp>
      <p:sp>
        <p:nvSpPr>
          <p:cNvPr id="51" name="圆角矩形 50"/>
          <p:cNvSpPr/>
          <p:nvPr/>
        </p:nvSpPr>
        <p:spPr>
          <a:xfrm>
            <a:off x="8437676" y="1578277"/>
            <a:ext cx="1151206" cy="64711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二沉池</a:t>
            </a:r>
          </a:p>
        </p:txBody>
      </p:sp>
      <p:cxnSp>
        <p:nvCxnSpPr>
          <p:cNvPr id="53" name="直接箭头连接符 52"/>
          <p:cNvCxnSpPr/>
          <p:nvPr/>
        </p:nvCxnSpPr>
        <p:spPr>
          <a:xfrm flipV="1">
            <a:off x="7859221" y="1918245"/>
            <a:ext cx="633046" cy="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V="1">
            <a:off x="4165681" y="1929548"/>
            <a:ext cx="633046" cy="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圆角矩形 62"/>
          <p:cNvSpPr/>
          <p:nvPr/>
        </p:nvSpPr>
        <p:spPr>
          <a:xfrm>
            <a:off x="101171" y="1071210"/>
            <a:ext cx="1140778" cy="64711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昌隆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厂</a:t>
            </a:r>
          </a:p>
        </p:txBody>
      </p:sp>
      <p:sp>
        <p:nvSpPr>
          <p:cNvPr id="64" name="圆角矩形 63"/>
          <p:cNvSpPr/>
          <p:nvPr/>
        </p:nvSpPr>
        <p:spPr>
          <a:xfrm>
            <a:off x="35207" y="4417186"/>
            <a:ext cx="1237957" cy="64711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豆腐厂</a:t>
            </a:r>
          </a:p>
        </p:txBody>
      </p:sp>
      <p:sp>
        <p:nvSpPr>
          <p:cNvPr id="65" name="圆角矩形 64"/>
          <p:cNvSpPr/>
          <p:nvPr/>
        </p:nvSpPr>
        <p:spPr>
          <a:xfrm>
            <a:off x="37481" y="3286696"/>
            <a:ext cx="1237957" cy="64711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中能厂</a:t>
            </a:r>
          </a:p>
        </p:txBody>
      </p:sp>
      <p:sp>
        <p:nvSpPr>
          <p:cNvPr id="68" name="圆角矩形 67"/>
          <p:cNvSpPr/>
          <p:nvPr/>
        </p:nvSpPr>
        <p:spPr>
          <a:xfrm>
            <a:off x="0" y="2169854"/>
            <a:ext cx="1269241" cy="64711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利都达厂</a:t>
            </a:r>
          </a:p>
        </p:txBody>
      </p:sp>
      <p:sp>
        <p:nvSpPr>
          <p:cNvPr id="70" name="圆角矩形 69"/>
          <p:cNvSpPr/>
          <p:nvPr/>
        </p:nvSpPr>
        <p:spPr>
          <a:xfrm>
            <a:off x="0" y="5472752"/>
            <a:ext cx="1193689" cy="92804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进水泵房</a:t>
            </a:r>
          </a:p>
        </p:txBody>
      </p:sp>
      <p:sp>
        <p:nvSpPr>
          <p:cNvPr id="71" name="圆角矩形 70"/>
          <p:cNvSpPr/>
          <p:nvPr/>
        </p:nvSpPr>
        <p:spPr>
          <a:xfrm>
            <a:off x="4770140" y="1571941"/>
            <a:ext cx="1232356" cy="64711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初沉池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2" name="直接箭头连接符 71"/>
          <p:cNvCxnSpPr/>
          <p:nvPr/>
        </p:nvCxnSpPr>
        <p:spPr>
          <a:xfrm flipV="1">
            <a:off x="6019048" y="1893224"/>
            <a:ext cx="633046" cy="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2893116" y="1410128"/>
            <a:ext cx="6865034" cy="913769"/>
          </a:xfrm>
          <a:prstGeom prst="rect">
            <a:avLst/>
          </a:prstGeom>
          <a:noFill/>
          <a:ln>
            <a:solidFill>
              <a:srgbClr val="7030A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66"/>
          <p:cNvSpPr txBox="1"/>
          <p:nvPr/>
        </p:nvSpPr>
        <p:spPr>
          <a:xfrm>
            <a:off x="5277902" y="983060"/>
            <a:ext cx="2118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期预处理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生化池</a:t>
            </a:r>
            <a:endParaRPr lang="zh-CN" altLang="en-US" dirty="0">
              <a:cs typeface="+mn-ea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3033794" y="1620830"/>
            <a:ext cx="1126778" cy="64711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水解酸化池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1811096" y="5431809"/>
            <a:ext cx="1123176" cy="96899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调节池</a:t>
            </a:r>
          </a:p>
        </p:txBody>
      </p:sp>
      <p:cxnSp>
        <p:nvCxnSpPr>
          <p:cNvPr id="125" name="直接箭头连接符 124"/>
          <p:cNvCxnSpPr/>
          <p:nvPr/>
        </p:nvCxnSpPr>
        <p:spPr>
          <a:xfrm rot="16200000" flipH="1">
            <a:off x="398064" y="3086667"/>
            <a:ext cx="382135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/>
          <p:nvPr/>
        </p:nvCxnSpPr>
        <p:spPr>
          <a:xfrm rot="16200000" flipH="1">
            <a:off x="386691" y="4194410"/>
            <a:ext cx="382135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7" name="直接箭头连接符 126"/>
          <p:cNvCxnSpPr/>
          <p:nvPr/>
        </p:nvCxnSpPr>
        <p:spPr>
          <a:xfrm rot="16200000" flipH="1">
            <a:off x="388966" y="5329449"/>
            <a:ext cx="382135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/>
          <p:nvPr/>
        </p:nvCxnSpPr>
        <p:spPr>
          <a:xfrm flipV="1">
            <a:off x="1206391" y="5889674"/>
            <a:ext cx="633046" cy="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9" name="圆角矩形 128"/>
          <p:cNvSpPr/>
          <p:nvPr/>
        </p:nvSpPr>
        <p:spPr>
          <a:xfrm>
            <a:off x="6678550" y="3439410"/>
            <a:ext cx="1237957" cy="64711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A2O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池</a:t>
            </a:r>
          </a:p>
        </p:txBody>
      </p:sp>
      <p:sp>
        <p:nvSpPr>
          <p:cNvPr id="130" name="圆角矩形 129"/>
          <p:cNvSpPr/>
          <p:nvPr/>
        </p:nvSpPr>
        <p:spPr>
          <a:xfrm>
            <a:off x="8480894" y="3422999"/>
            <a:ext cx="1151206" cy="64711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二沉池</a:t>
            </a:r>
          </a:p>
        </p:txBody>
      </p:sp>
      <p:cxnSp>
        <p:nvCxnSpPr>
          <p:cNvPr id="131" name="直接箭头连接符 130"/>
          <p:cNvCxnSpPr/>
          <p:nvPr/>
        </p:nvCxnSpPr>
        <p:spPr>
          <a:xfrm flipV="1">
            <a:off x="7902439" y="3762967"/>
            <a:ext cx="633046" cy="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 flipV="1">
            <a:off x="4208899" y="3774270"/>
            <a:ext cx="633046" cy="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3" name="圆角矩形 132"/>
          <p:cNvSpPr/>
          <p:nvPr/>
        </p:nvSpPr>
        <p:spPr>
          <a:xfrm>
            <a:off x="4813358" y="3416663"/>
            <a:ext cx="1232356" cy="64711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初沉池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4" name="直接箭头连接符 133"/>
          <p:cNvCxnSpPr/>
          <p:nvPr/>
        </p:nvCxnSpPr>
        <p:spPr>
          <a:xfrm flipV="1">
            <a:off x="6062266" y="3737946"/>
            <a:ext cx="633046" cy="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5" name="矩形 134"/>
          <p:cNvSpPr/>
          <p:nvPr/>
        </p:nvSpPr>
        <p:spPr>
          <a:xfrm>
            <a:off x="2936334" y="3254850"/>
            <a:ext cx="6865034" cy="913769"/>
          </a:xfrm>
          <a:prstGeom prst="rect">
            <a:avLst/>
          </a:prstGeom>
          <a:noFill/>
          <a:ln>
            <a:solidFill>
              <a:srgbClr val="7030A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文本框 66"/>
          <p:cNvSpPr txBox="1"/>
          <p:nvPr/>
        </p:nvSpPr>
        <p:spPr>
          <a:xfrm>
            <a:off x="5321120" y="2827782"/>
            <a:ext cx="2118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期预处理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生化池</a:t>
            </a:r>
            <a:endParaRPr lang="zh-CN" altLang="en-US" dirty="0">
              <a:cs typeface="+mn-ea"/>
            </a:endParaRPr>
          </a:p>
        </p:txBody>
      </p:sp>
      <p:sp>
        <p:nvSpPr>
          <p:cNvPr id="137" name="圆角矩形 136"/>
          <p:cNvSpPr/>
          <p:nvPr/>
        </p:nvSpPr>
        <p:spPr>
          <a:xfrm>
            <a:off x="3077012" y="3465552"/>
            <a:ext cx="1126778" cy="64711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水解酸化池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1" name="形状 140"/>
          <p:cNvCxnSpPr>
            <a:endCxn id="73" idx="1"/>
          </p:cNvCxnSpPr>
          <p:nvPr/>
        </p:nvCxnSpPr>
        <p:spPr>
          <a:xfrm rot="5400000" flipH="1" flipV="1">
            <a:off x="776449" y="3315147"/>
            <a:ext cx="3564800" cy="668533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2" name="形状 141"/>
          <p:cNvCxnSpPr>
            <a:endCxn id="135" idx="1"/>
          </p:cNvCxnSpPr>
          <p:nvPr/>
        </p:nvCxnSpPr>
        <p:spPr>
          <a:xfrm rot="5400000" flipH="1" flipV="1">
            <a:off x="1822778" y="4318259"/>
            <a:ext cx="1720080" cy="507032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4" name="圆角矩形 153"/>
          <p:cNvSpPr/>
          <p:nvPr/>
        </p:nvSpPr>
        <p:spPr>
          <a:xfrm>
            <a:off x="8182916" y="4817345"/>
            <a:ext cx="1725358" cy="64711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磁混凝沉淀池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圆角矩形 154"/>
          <p:cNvSpPr/>
          <p:nvPr/>
        </p:nvSpPr>
        <p:spPr>
          <a:xfrm>
            <a:off x="5714945" y="4819620"/>
            <a:ext cx="1725358" cy="64711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反硝化滤池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6" name="形状 155"/>
          <p:cNvCxnSpPr>
            <a:stCxn id="154" idx="3"/>
            <a:endCxn id="73" idx="3"/>
          </p:cNvCxnSpPr>
          <p:nvPr/>
        </p:nvCxnSpPr>
        <p:spPr>
          <a:xfrm flipH="1" flipV="1">
            <a:off x="9758150" y="1867013"/>
            <a:ext cx="150124" cy="3273889"/>
          </a:xfrm>
          <a:prstGeom prst="bentConnector3">
            <a:avLst>
              <a:gd name="adj1" fmla="val -361367"/>
            </a:avLst>
          </a:prstGeom>
          <a:ln w="57150">
            <a:headEnd type="triangl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4" name="直接箭头连接符 163"/>
          <p:cNvCxnSpPr/>
          <p:nvPr/>
        </p:nvCxnSpPr>
        <p:spPr>
          <a:xfrm flipV="1">
            <a:off x="9815400" y="3683356"/>
            <a:ext cx="633046" cy="5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4" name="直接箭头连接符 173"/>
          <p:cNvCxnSpPr>
            <a:stCxn id="154" idx="1"/>
            <a:endCxn id="155" idx="3"/>
          </p:cNvCxnSpPr>
          <p:nvPr/>
        </p:nvCxnSpPr>
        <p:spPr>
          <a:xfrm rot="10800000" flipV="1">
            <a:off x="7440304" y="5140901"/>
            <a:ext cx="742613" cy="2275"/>
          </a:xfrm>
          <a:prstGeom prst="straightConnector1">
            <a:avLst/>
          </a:prstGeom>
          <a:ln w="57150"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8" name="圆角矩形 177"/>
          <p:cNvSpPr/>
          <p:nvPr/>
        </p:nvSpPr>
        <p:spPr>
          <a:xfrm>
            <a:off x="3315215" y="4808246"/>
            <a:ext cx="1666218" cy="64711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出水巴氏槽</a:t>
            </a:r>
          </a:p>
        </p:txBody>
      </p:sp>
      <p:cxnSp>
        <p:nvCxnSpPr>
          <p:cNvPr id="179" name="直接箭头连接符 178"/>
          <p:cNvCxnSpPr/>
          <p:nvPr/>
        </p:nvCxnSpPr>
        <p:spPr>
          <a:xfrm rot="10800000" flipV="1">
            <a:off x="4985982" y="5129527"/>
            <a:ext cx="742613" cy="2275"/>
          </a:xfrm>
          <a:prstGeom prst="straightConnector1">
            <a:avLst/>
          </a:prstGeom>
          <a:ln w="57150"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0" name="圆角矩形 179"/>
          <p:cNvSpPr/>
          <p:nvPr/>
        </p:nvSpPr>
        <p:spPr>
          <a:xfrm>
            <a:off x="10789639" y="2183327"/>
            <a:ext cx="1151206" cy="139238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污泥脱水间</a:t>
            </a:r>
          </a:p>
        </p:txBody>
      </p:sp>
      <p:cxnSp>
        <p:nvCxnSpPr>
          <p:cNvPr id="182" name="形状 181"/>
          <p:cNvCxnSpPr>
            <a:stCxn id="71" idx="2"/>
          </p:cNvCxnSpPr>
          <p:nvPr/>
        </p:nvCxnSpPr>
        <p:spPr>
          <a:xfrm rot="16200000" flipH="1">
            <a:off x="7883367" y="-277995"/>
            <a:ext cx="414963" cy="5409061"/>
          </a:xfrm>
          <a:prstGeom prst="bentConnector2">
            <a:avLst/>
          </a:prstGeom>
          <a:ln>
            <a:solidFill>
              <a:srgbClr val="FF0000"/>
            </a:solidFill>
            <a:prstDash val="lgDashDot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83"/>
          <p:cNvCxnSpPr>
            <a:stCxn id="51" idx="2"/>
          </p:cNvCxnSpPr>
          <p:nvPr/>
        </p:nvCxnSpPr>
        <p:spPr>
          <a:xfrm rot="5400000">
            <a:off x="8806086" y="2426828"/>
            <a:ext cx="408630" cy="57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肘形连接符 186"/>
          <p:cNvCxnSpPr>
            <a:stCxn id="133" idx="2"/>
            <a:endCxn id="180" idx="2"/>
          </p:cNvCxnSpPr>
          <p:nvPr/>
        </p:nvCxnSpPr>
        <p:spPr>
          <a:xfrm rot="5400000" flipH="1" flipV="1">
            <a:off x="8153356" y="851892"/>
            <a:ext cx="488065" cy="5935706"/>
          </a:xfrm>
          <a:prstGeom prst="bentConnector3">
            <a:avLst>
              <a:gd name="adj1" fmla="val -91579"/>
            </a:avLst>
          </a:prstGeom>
          <a:ln>
            <a:solidFill>
              <a:srgbClr val="FF0000"/>
            </a:solidFill>
            <a:prstDash val="lgDashDot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/>
          <p:cNvCxnSpPr>
            <a:stCxn id="130" idx="2"/>
          </p:cNvCxnSpPr>
          <p:nvPr/>
        </p:nvCxnSpPr>
        <p:spPr>
          <a:xfrm rot="5400000">
            <a:off x="8828834" y="4289746"/>
            <a:ext cx="447296" cy="80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圆角矩形 191"/>
          <p:cNvSpPr/>
          <p:nvPr/>
        </p:nvSpPr>
        <p:spPr>
          <a:xfrm>
            <a:off x="1473958" y="3234520"/>
            <a:ext cx="616424" cy="123610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其他污水</a:t>
            </a:r>
          </a:p>
        </p:txBody>
      </p:sp>
      <p:cxnSp>
        <p:nvCxnSpPr>
          <p:cNvPr id="202" name="肘形连接符 201"/>
          <p:cNvCxnSpPr>
            <a:stCxn id="192" idx="2"/>
          </p:cNvCxnSpPr>
          <p:nvPr/>
        </p:nvCxnSpPr>
        <p:spPr>
          <a:xfrm rot="5400000">
            <a:off x="833572" y="4551450"/>
            <a:ext cx="1029426" cy="867770"/>
          </a:xfrm>
          <a:prstGeom prst="bentConnector3">
            <a:avLst>
              <a:gd name="adj1" fmla="val 67235"/>
            </a:avLst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/>
        </p:nvSpPr>
        <p:spPr>
          <a:xfrm>
            <a:off x="4770178" y="4490113"/>
            <a:ext cx="1384962" cy="57891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sz="1600" b="1" dirty="0" err="1">
                <a:solidFill>
                  <a:schemeClr val="tx1"/>
                </a:solidFill>
                <a:latin typeface="Times New Roman" pitchFamily="18" charset="0"/>
                <a:ea typeface="微软雅黑" panose="020B0503020204020204" charset="-122"/>
                <a:cs typeface="Times New Roman" pitchFamily="18" charset="0"/>
                <a:sym typeface="+mn-ea"/>
              </a:rPr>
              <a:t>NaClO</a:t>
            </a:r>
            <a:r>
              <a:rPr lang="zh-CN" altLang="en-US" sz="1600" b="1" dirty="0">
                <a:solidFill>
                  <a:schemeClr val="tx1"/>
                </a:solidFill>
                <a:latin typeface="Times New Roman" pitchFamily="18" charset="0"/>
                <a:ea typeface="微软雅黑" panose="020B0503020204020204" charset="-122"/>
                <a:cs typeface="Times New Roman" pitchFamily="18" charset="0"/>
                <a:sym typeface="+mn-ea"/>
              </a:rPr>
              <a:t>消毒</a:t>
            </a:r>
          </a:p>
        </p:txBody>
      </p:sp>
      <p:cxnSp>
        <p:nvCxnSpPr>
          <p:cNvPr id="62" name="直接连接符 61"/>
          <p:cNvCxnSpPr/>
          <p:nvPr/>
        </p:nvCxnSpPr>
        <p:spPr>
          <a:xfrm rot="5400000">
            <a:off x="9135901" y="4672767"/>
            <a:ext cx="286285" cy="28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圆角矩形 54"/>
          <p:cNvSpPr/>
          <p:nvPr/>
        </p:nvSpPr>
        <p:spPr>
          <a:xfrm>
            <a:off x="9760424" y="3930554"/>
            <a:ext cx="666465" cy="81886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中间提升泵房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20" y="1797121"/>
            <a:ext cx="3373527" cy="3211608"/>
          </a:xfrm>
          <a:prstGeom prst="rect">
            <a:avLst/>
          </a:prstGeom>
          <a:ln>
            <a:solidFill>
              <a:srgbClr val="E6E6E6"/>
            </a:solidFill>
          </a:ln>
        </p:spPr>
      </p:pic>
      <p:sp>
        <p:nvSpPr>
          <p:cNvPr id="3" name="文本框 2"/>
          <p:cNvSpPr txBox="1"/>
          <p:nvPr/>
        </p:nvSpPr>
        <p:spPr>
          <a:xfrm>
            <a:off x="339123" y="2248065"/>
            <a:ext cx="325187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-apple-system"/>
              </a:rPr>
              <a:t>厂区污水来源除一般生产污水外，还有企业专管废水，利都达、昌隆、中能、丰顺</a:t>
            </a:r>
            <a:r>
              <a:rPr lang="en-US" altLang="zh-CN" sz="1600" dirty="0">
                <a:solidFill>
                  <a:srgbClr val="000000"/>
                </a:solidFill>
                <a:latin typeface="-apple-system"/>
              </a:rPr>
              <a:t>4</a:t>
            </a:r>
            <a:r>
              <a:rPr lang="zh-CN" altLang="en-US" sz="1600" dirty="0">
                <a:solidFill>
                  <a:srgbClr val="000000"/>
                </a:solidFill>
                <a:latin typeface="-apple-system"/>
              </a:rPr>
              <a:t>家企业，占总水量百分比约</a:t>
            </a:r>
            <a:r>
              <a:rPr lang="en-US" altLang="zh-CN" sz="1600" dirty="0">
                <a:solidFill>
                  <a:srgbClr val="000000"/>
                </a:solidFill>
                <a:latin typeface="-apple-system"/>
              </a:rPr>
              <a:t>13%</a:t>
            </a:r>
            <a:r>
              <a:rPr lang="zh-CN" altLang="en-US" sz="1600" dirty="0">
                <a:solidFill>
                  <a:srgbClr val="000000"/>
                </a:solidFill>
                <a:latin typeface="-apple-system"/>
              </a:rPr>
              <a:t>，且水质水量均不稳定，其中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中能厂进水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TN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浓度较高。</a:t>
            </a:r>
            <a:endParaRPr lang="zh-CN" altLang="en-US" sz="1600" dirty="0">
              <a:solidFill>
                <a:srgbClr val="000000"/>
              </a:solidFill>
              <a:latin typeface="-apple-system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98356" y="1588206"/>
            <a:ext cx="3373006" cy="544195"/>
          </a:xfrm>
          <a:prstGeom prst="rect">
            <a:avLst/>
          </a:prstGeom>
          <a:solidFill>
            <a:srgbClr val="24727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11486" y="1697426"/>
            <a:ext cx="27141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</a:rPr>
              <a:t>管网来水复杂</a:t>
            </a:r>
          </a:p>
        </p:txBody>
      </p:sp>
      <p:sp>
        <p:nvSpPr>
          <p:cNvPr id="84" name="textbox 84"/>
          <p:cNvSpPr/>
          <p:nvPr/>
        </p:nvSpPr>
        <p:spPr>
          <a:xfrm>
            <a:off x="-12700" y="264795"/>
            <a:ext cx="6711950" cy="394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1485" algn="l" rtl="0" eaLnBrk="0">
              <a:lnSpc>
                <a:spcPct val="87000"/>
              </a:lnSpc>
              <a:tabLst>
                <a:tab pos="720725" algn="l"/>
              </a:tabLst>
            </a:pPr>
            <a:r>
              <a:rPr sz="2700" b="1" kern="0" spc="0" dirty="0">
                <a:solidFill>
                  <a:srgbClr val="1C2F4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en-US" sz="2700" b="1" kern="0" spc="0" dirty="0">
                <a:solidFill>
                  <a:srgbClr val="1C2F4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1.3</a:t>
            </a:r>
            <a:r>
              <a:rPr lang="zh-CN" altLang="en-US" sz="2700" b="1" kern="0" dirty="0">
                <a:solidFill>
                  <a:srgbClr val="1C2F4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现状问题</a:t>
            </a:r>
            <a:endParaRPr lang="zh-CN" sz="2700" b="1" kern="0" dirty="0">
              <a:solidFill>
                <a:srgbClr val="1C2F4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1485" algn="l" rtl="0" eaLnBrk="0">
              <a:lnSpc>
                <a:spcPct val="87000"/>
              </a:lnSpc>
              <a:tabLst>
                <a:tab pos="720725" algn="l"/>
              </a:tabLst>
            </a:pPr>
            <a:endParaRPr lang="zh-CN" sz="2700" b="1" kern="0" spc="0" dirty="0">
              <a:solidFill>
                <a:srgbClr val="1C2F4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288035"/>
            <a:ext cx="438911" cy="352044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335" y="1772100"/>
            <a:ext cx="3373527" cy="3250277"/>
          </a:xfrm>
          <a:prstGeom prst="rect">
            <a:avLst/>
          </a:prstGeom>
          <a:ln>
            <a:solidFill>
              <a:srgbClr val="E6E6E6"/>
            </a:solidFill>
          </a:ln>
        </p:spPr>
      </p:pic>
      <p:sp>
        <p:nvSpPr>
          <p:cNvPr id="18" name="文本框 2"/>
          <p:cNvSpPr txBox="1"/>
          <p:nvPr/>
        </p:nvSpPr>
        <p:spPr>
          <a:xfrm>
            <a:off x="4667738" y="2291282"/>
            <a:ext cx="325187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-apple-system"/>
              </a:rPr>
              <a:t>风机每天人工调频数十次。虽经过调节池调节水质水量，但由于</a:t>
            </a:r>
            <a:r>
              <a:rPr lang="zh-CN" altLang="en-US" sz="1600" b="1" dirty="0">
                <a:solidFill>
                  <a:srgbClr val="000000"/>
                </a:solidFill>
                <a:latin typeface="-apple-system"/>
              </a:rPr>
              <a:t>进水水质水量波动较大，</a:t>
            </a:r>
            <a:r>
              <a:rPr lang="zh-CN" altLang="en-US" sz="1600" dirty="0">
                <a:solidFill>
                  <a:srgbClr val="000000"/>
                </a:solidFill>
                <a:latin typeface="-apple-system"/>
              </a:rPr>
              <a:t>导致生化段溶解氧需求不稳定，需人工频繁调节风机频率以维持工艺要求，加剧设备损耗、增加能耗并影响处理效果稳定性。</a:t>
            </a:r>
          </a:p>
        </p:txBody>
      </p:sp>
      <p:sp>
        <p:nvSpPr>
          <p:cNvPr id="20" name="矩形 19"/>
          <p:cNvSpPr/>
          <p:nvPr/>
        </p:nvSpPr>
        <p:spPr>
          <a:xfrm>
            <a:off x="4626971" y="1563185"/>
            <a:ext cx="3373006" cy="544195"/>
          </a:xfrm>
          <a:prstGeom prst="rect">
            <a:avLst/>
          </a:prstGeom>
          <a:solidFill>
            <a:srgbClr val="24727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1"/>
          <p:cNvSpPr txBox="1"/>
          <p:nvPr/>
        </p:nvSpPr>
        <p:spPr>
          <a:xfrm>
            <a:off x="5540101" y="1672405"/>
            <a:ext cx="27141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</a:rPr>
              <a:t>风机人工调频次数多</a:t>
            </a:r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744" y="1815318"/>
            <a:ext cx="3373527" cy="3207059"/>
          </a:xfrm>
          <a:prstGeom prst="rect">
            <a:avLst/>
          </a:prstGeom>
          <a:ln>
            <a:solidFill>
              <a:srgbClr val="E6E6E6"/>
            </a:solidFill>
          </a:ln>
        </p:spPr>
      </p:pic>
      <p:sp>
        <p:nvSpPr>
          <p:cNvPr id="23" name="文本框 2"/>
          <p:cNvSpPr txBox="1"/>
          <p:nvPr/>
        </p:nvSpPr>
        <p:spPr>
          <a:xfrm>
            <a:off x="8423147" y="2266262"/>
            <a:ext cx="325187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-apple-system"/>
              </a:rPr>
              <a:t>排放标准较高，出水执行浙江省地方标准</a:t>
            </a:r>
            <a:r>
              <a:rPr lang="en-US" altLang="zh-CN" sz="1600" dirty="0">
                <a:solidFill>
                  <a:srgbClr val="000000"/>
                </a:solidFill>
                <a:latin typeface="-apple-system"/>
              </a:rPr>
              <a:t>——DB33</a:t>
            </a:r>
            <a:r>
              <a:rPr lang="zh-CN" altLang="zh-CN" sz="1600" dirty="0">
                <a:solidFill>
                  <a:srgbClr val="000000"/>
                </a:solidFill>
                <a:latin typeface="-apple-system"/>
              </a:rPr>
              <a:t>《城镇污水处理厂</a:t>
            </a:r>
            <a:r>
              <a:rPr lang="zh-CN" altLang="en-US" sz="1600" dirty="0">
                <a:solidFill>
                  <a:srgbClr val="000000"/>
                </a:solidFill>
                <a:latin typeface="-apple-system"/>
              </a:rPr>
              <a:t>主要水</a:t>
            </a:r>
            <a:r>
              <a:rPr lang="zh-CN" altLang="zh-CN" sz="1600" dirty="0">
                <a:solidFill>
                  <a:srgbClr val="000000"/>
                </a:solidFill>
                <a:latin typeface="-apple-system"/>
              </a:rPr>
              <a:t>污染物排放标准</a:t>
            </a:r>
            <a:r>
              <a:rPr lang="en-US" altLang="zh-CN" sz="1600" dirty="0">
                <a:solidFill>
                  <a:srgbClr val="000000"/>
                </a:solidFill>
                <a:latin typeface="-apple-system"/>
              </a:rPr>
              <a:t>》</a:t>
            </a:r>
            <a:r>
              <a:rPr lang="zh-CN" altLang="en-US" sz="1600" dirty="0">
                <a:solidFill>
                  <a:srgbClr val="000000"/>
                </a:solidFill>
                <a:latin typeface="-apple-system"/>
              </a:rPr>
              <a:t>，由于人工调控具有滞后性，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容易导致出水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COD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、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TN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、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TP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等指标面临超标风险。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382380" y="1606403"/>
            <a:ext cx="3373006" cy="544195"/>
          </a:xfrm>
          <a:prstGeom prst="rect">
            <a:avLst/>
          </a:prstGeom>
          <a:solidFill>
            <a:srgbClr val="24727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1"/>
          <p:cNvSpPr txBox="1"/>
          <p:nvPr/>
        </p:nvSpPr>
        <p:spPr>
          <a:xfrm>
            <a:off x="9295510" y="1715623"/>
            <a:ext cx="27141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</a:rPr>
              <a:t>出水水质不稳定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482233" y="239969"/>
            <a:ext cx="3398062" cy="438908"/>
          </a:xfrm>
          <a:prstGeom prst="rect">
            <a:avLst/>
          </a:prstGeom>
          <a:solidFill>
            <a:srgbClr val="24727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909066" y="254036"/>
            <a:ext cx="3549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企业专管水质水量不稳定</a:t>
            </a:r>
          </a:p>
        </p:txBody>
      </p:sp>
      <p:sp>
        <p:nvSpPr>
          <p:cNvPr id="84" name="textbox 84"/>
          <p:cNvSpPr/>
          <p:nvPr/>
        </p:nvSpPr>
        <p:spPr>
          <a:xfrm>
            <a:off x="-12700" y="264795"/>
            <a:ext cx="6711950" cy="394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451485" eaLnBrk="0">
              <a:lnSpc>
                <a:spcPct val="87000"/>
              </a:lnSpc>
              <a:tabLst>
                <a:tab pos="720725" algn="l"/>
              </a:tabLst>
            </a:pPr>
            <a:r>
              <a:rPr lang="en-US" sz="2700" b="1" kern="0" dirty="0">
                <a:solidFill>
                  <a:srgbClr val="1C2F4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1.3</a:t>
            </a:r>
            <a:r>
              <a:rPr lang="zh-CN" altLang="en-US" sz="2700" b="1" kern="0" dirty="0">
                <a:solidFill>
                  <a:srgbClr val="1C2F4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现状问题  </a:t>
            </a:r>
            <a:endParaRPr lang="zh-CN" sz="2700" b="1" kern="0" dirty="0">
              <a:solidFill>
                <a:srgbClr val="1C2F4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1485" algn="l" rtl="0" eaLnBrk="0">
              <a:lnSpc>
                <a:spcPct val="87000"/>
              </a:lnSpc>
              <a:tabLst>
                <a:tab pos="720725" algn="l"/>
              </a:tabLst>
            </a:pPr>
            <a:endParaRPr lang="zh-CN" sz="2700" b="1" kern="0" spc="0" dirty="0">
              <a:solidFill>
                <a:srgbClr val="1C2F4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88035"/>
            <a:ext cx="438911" cy="352044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3511886" y="3541534"/>
            <a:ext cx="6118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cs typeface="+mn-ea"/>
              </a:rPr>
              <a:t>进水</a:t>
            </a:r>
            <a:r>
              <a:rPr lang="en-US" altLang="zh-CN" sz="1400" dirty="0">
                <a:cs typeface="+mn-ea"/>
              </a:rPr>
              <a:t>COD</a:t>
            </a:r>
            <a:r>
              <a:rPr lang="zh-CN" altLang="en-US" sz="1400" dirty="0">
                <a:cs typeface="+mn-ea"/>
              </a:rPr>
              <a:t>随时间变化图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423758" y="3554136"/>
            <a:ext cx="6118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cs typeface="+mn-ea"/>
              </a:rPr>
              <a:t>进水总氮随时间变化图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9482870" y="3478338"/>
            <a:ext cx="6118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cs typeface="+mn-ea"/>
              </a:rPr>
              <a:t>进水总磷随时间变化图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581026" y="3468063"/>
            <a:ext cx="6118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cs typeface="+mn-ea"/>
              </a:rPr>
              <a:t>进水氨氮随时间变化图</a:t>
            </a:r>
          </a:p>
        </p:txBody>
      </p:sp>
      <p:pic>
        <p:nvPicPr>
          <p:cNvPr id="15" name="图片 14" descr="昌C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624" y="1617784"/>
            <a:ext cx="5855563" cy="4262511"/>
          </a:xfrm>
          <a:prstGeom prst="rect">
            <a:avLst/>
          </a:prstGeom>
        </p:spPr>
      </p:pic>
      <p:pic>
        <p:nvPicPr>
          <p:cNvPr id="17" name="图片 16" descr="昌流量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19" y="1603716"/>
            <a:ext cx="5770722" cy="4304714"/>
          </a:xfrm>
          <a:prstGeom prst="rect">
            <a:avLst/>
          </a:prstGeom>
        </p:spPr>
      </p:pic>
      <p:sp>
        <p:nvSpPr>
          <p:cNvPr id="20" name="文本框 5"/>
          <p:cNvSpPr txBox="1"/>
          <p:nvPr/>
        </p:nvSpPr>
        <p:spPr>
          <a:xfrm>
            <a:off x="2806798" y="887353"/>
            <a:ext cx="6118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昌隆厂水质水量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1674055" y="6091310"/>
            <a:ext cx="2236763" cy="5064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进水流量（</a:t>
            </a:r>
            <a:r>
              <a:rPr lang="en-US" altLang="zh-CN" dirty="0">
                <a:solidFill>
                  <a:schemeClr val="tx1"/>
                </a:solidFill>
              </a:rPr>
              <a:t>m3/h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0" name="圆角矩形 29"/>
          <p:cNvSpPr/>
          <p:nvPr/>
        </p:nvSpPr>
        <p:spPr>
          <a:xfrm>
            <a:off x="7481667" y="6046763"/>
            <a:ext cx="2450123" cy="5064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进水</a:t>
            </a:r>
            <a:r>
              <a:rPr lang="en-US" altLang="zh-CN" dirty="0">
                <a:solidFill>
                  <a:schemeClr val="tx1"/>
                </a:solidFill>
              </a:rPr>
              <a:t>COD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mg/L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4527451" y="6046762"/>
            <a:ext cx="2658794" cy="5064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进水水质水量均不稳定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84"/>
          <p:cNvSpPr/>
          <p:nvPr/>
        </p:nvSpPr>
        <p:spPr>
          <a:xfrm>
            <a:off x="-12700" y="264795"/>
            <a:ext cx="6711950" cy="394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1485" algn="l" rtl="0" eaLnBrk="0">
              <a:lnSpc>
                <a:spcPct val="87000"/>
              </a:lnSpc>
              <a:tabLst>
                <a:tab pos="720725" algn="l"/>
              </a:tabLst>
            </a:pPr>
            <a:r>
              <a:rPr sz="2700" b="1" kern="0" spc="0" dirty="0">
                <a:solidFill>
                  <a:srgbClr val="1C2F4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altLang="en-US" sz="2700" b="1" kern="0" dirty="0">
                <a:solidFill>
                  <a:srgbClr val="1C2F4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现状问题</a:t>
            </a:r>
            <a:endParaRPr lang="zh-CN" sz="2700" b="1" kern="0" dirty="0">
              <a:solidFill>
                <a:srgbClr val="1C2F4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1485" algn="l" rtl="0" eaLnBrk="0">
              <a:lnSpc>
                <a:spcPct val="87000"/>
              </a:lnSpc>
              <a:tabLst>
                <a:tab pos="720725" algn="l"/>
              </a:tabLst>
            </a:pPr>
            <a:endParaRPr lang="zh-CN" sz="2700" b="1" kern="0" spc="0" dirty="0">
              <a:solidFill>
                <a:srgbClr val="1C2F4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88035"/>
            <a:ext cx="438911" cy="352044"/>
          </a:xfrm>
          <a:prstGeom prst="rect">
            <a:avLst/>
          </a:prstGeom>
        </p:spPr>
      </p:pic>
      <p:sp>
        <p:nvSpPr>
          <p:cNvPr id="20" name="文本框 5"/>
          <p:cNvSpPr txBox="1"/>
          <p:nvPr/>
        </p:nvSpPr>
        <p:spPr>
          <a:xfrm>
            <a:off x="2806798" y="887353"/>
            <a:ext cx="6118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利都达厂水质水量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1955409" y="6105378"/>
            <a:ext cx="2658794" cy="5064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进水流量（</a:t>
            </a:r>
            <a:r>
              <a:rPr lang="en-US" altLang="zh-CN" dirty="0">
                <a:solidFill>
                  <a:schemeClr val="tx1"/>
                </a:solidFill>
              </a:rPr>
              <a:t>m3/h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0" name="圆角矩形 29"/>
          <p:cNvSpPr/>
          <p:nvPr/>
        </p:nvSpPr>
        <p:spPr>
          <a:xfrm>
            <a:off x="7481667" y="6046763"/>
            <a:ext cx="2450123" cy="5064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进水</a:t>
            </a:r>
            <a:r>
              <a:rPr lang="en-US" altLang="zh-CN" dirty="0">
                <a:solidFill>
                  <a:schemeClr val="tx1"/>
                </a:solidFill>
              </a:rPr>
              <a:t>COD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mg/L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008098" y="6091310"/>
            <a:ext cx="2236763" cy="5064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进水水量不稳定</a:t>
            </a:r>
          </a:p>
        </p:txBody>
      </p:sp>
      <p:pic>
        <p:nvPicPr>
          <p:cNvPr id="18" name="图片 17" descr="利C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545" y="1659987"/>
            <a:ext cx="5636455" cy="4222197"/>
          </a:xfrm>
          <a:prstGeom prst="rect">
            <a:avLst/>
          </a:prstGeom>
        </p:spPr>
      </p:pic>
      <p:pic>
        <p:nvPicPr>
          <p:cNvPr id="19" name="图片 18" descr="进水流量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46758"/>
            <a:ext cx="6496334" cy="42324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84"/>
          <p:cNvSpPr/>
          <p:nvPr/>
        </p:nvSpPr>
        <p:spPr>
          <a:xfrm>
            <a:off x="-12700" y="264795"/>
            <a:ext cx="6711950" cy="394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1485" algn="l" rtl="0" eaLnBrk="0">
              <a:lnSpc>
                <a:spcPct val="87000"/>
              </a:lnSpc>
              <a:tabLst>
                <a:tab pos="720725" algn="l"/>
              </a:tabLst>
            </a:pPr>
            <a:r>
              <a:rPr sz="2700" b="1" kern="0" spc="0" dirty="0">
                <a:solidFill>
                  <a:srgbClr val="1C2F4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altLang="en-US" sz="2700" b="1" kern="0" dirty="0">
                <a:solidFill>
                  <a:srgbClr val="1C2F4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现状问题</a:t>
            </a:r>
            <a:endParaRPr lang="zh-CN" sz="2700" b="1" kern="0" dirty="0">
              <a:solidFill>
                <a:srgbClr val="1C2F4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1485" algn="l" rtl="0" eaLnBrk="0">
              <a:lnSpc>
                <a:spcPct val="87000"/>
              </a:lnSpc>
              <a:tabLst>
                <a:tab pos="720725" algn="l"/>
              </a:tabLst>
            </a:pPr>
            <a:endParaRPr lang="zh-CN" sz="2700" b="1" kern="0" spc="0" dirty="0">
              <a:solidFill>
                <a:srgbClr val="1C2F4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88035"/>
            <a:ext cx="438911" cy="352044"/>
          </a:xfrm>
          <a:prstGeom prst="rect">
            <a:avLst/>
          </a:prstGeom>
        </p:spPr>
      </p:pic>
      <p:sp>
        <p:nvSpPr>
          <p:cNvPr id="20" name="文本框 5"/>
          <p:cNvSpPr txBox="1"/>
          <p:nvPr/>
        </p:nvSpPr>
        <p:spPr>
          <a:xfrm>
            <a:off x="2683968" y="723580"/>
            <a:ext cx="6118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中能厂水质水量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2146477" y="6146321"/>
            <a:ext cx="2658794" cy="5064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进水流量（</a:t>
            </a:r>
            <a:r>
              <a:rPr lang="en-US" altLang="zh-CN" dirty="0">
                <a:solidFill>
                  <a:schemeClr val="tx1"/>
                </a:solidFill>
              </a:rPr>
              <a:t>m3/h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0" name="圆角矩形 29"/>
          <p:cNvSpPr/>
          <p:nvPr/>
        </p:nvSpPr>
        <p:spPr>
          <a:xfrm>
            <a:off x="7672735" y="6087706"/>
            <a:ext cx="2450123" cy="5064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进水</a:t>
            </a:r>
            <a:r>
              <a:rPr lang="en-US" altLang="zh-CN" dirty="0">
                <a:solidFill>
                  <a:schemeClr val="tx1"/>
                </a:solidFill>
              </a:rPr>
              <a:t>TN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mg/L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199166" y="6132253"/>
            <a:ext cx="2236763" cy="5064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进水水量不稳定</a:t>
            </a:r>
          </a:p>
        </p:txBody>
      </p:sp>
      <p:pic>
        <p:nvPicPr>
          <p:cNvPr id="19" name="图片 18" descr="中流量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7481"/>
            <a:ext cx="6348095" cy="4653885"/>
          </a:xfrm>
          <a:prstGeom prst="rect">
            <a:avLst/>
          </a:prstGeom>
        </p:spPr>
      </p:pic>
      <p:pic>
        <p:nvPicPr>
          <p:cNvPr id="23" name="图片 22" descr="中T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391" y="1364776"/>
            <a:ext cx="5572836" cy="45856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84"/>
          <p:cNvSpPr/>
          <p:nvPr/>
        </p:nvSpPr>
        <p:spPr>
          <a:xfrm>
            <a:off x="-12700" y="264795"/>
            <a:ext cx="6711950" cy="394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1485" algn="l" rtl="0" eaLnBrk="0">
              <a:lnSpc>
                <a:spcPct val="87000"/>
              </a:lnSpc>
              <a:tabLst>
                <a:tab pos="720725" algn="l"/>
              </a:tabLst>
            </a:pPr>
            <a:r>
              <a:rPr sz="2700" b="1" kern="0" spc="0" dirty="0">
                <a:solidFill>
                  <a:srgbClr val="1C2F4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altLang="en-US" sz="2700" b="1" kern="0" dirty="0">
                <a:solidFill>
                  <a:srgbClr val="1C2F4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现状问题</a:t>
            </a:r>
            <a:endParaRPr lang="zh-CN" sz="2700" b="1" kern="0" dirty="0">
              <a:solidFill>
                <a:srgbClr val="1C2F4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1485" algn="l" rtl="0" eaLnBrk="0">
              <a:lnSpc>
                <a:spcPct val="87000"/>
              </a:lnSpc>
              <a:tabLst>
                <a:tab pos="720725" algn="l"/>
              </a:tabLst>
            </a:pPr>
            <a:endParaRPr lang="zh-CN" sz="2700" b="1" kern="0" spc="0" dirty="0">
              <a:solidFill>
                <a:srgbClr val="1C2F4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88035"/>
            <a:ext cx="438911" cy="352044"/>
          </a:xfrm>
          <a:prstGeom prst="rect">
            <a:avLst/>
          </a:prstGeom>
        </p:spPr>
      </p:pic>
      <p:sp>
        <p:nvSpPr>
          <p:cNvPr id="20" name="文本框 5"/>
          <p:cNvSpPr txBox="1"/>
          <p:nvPr/>
        </p:nvSpPr>
        <p:spPr>
          <a:xfrm>
            <a:off x="2806798" y="887353"/>
            <a:ext cx="6118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豆腐厂水量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4752360" y="6351563"/>
            <a:ext cx="2658794" cy="5064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进水流量（</a:t>
            </a:r>
            <a:r>
              <a:rPr lang="en-US" altLang="zh-CN" dirty="0">
                <a:solidFill>
                  <a:schemeClr val="tx1"/>
                </a:solidFill>
              </a:rPr>
              <a:t>m3/h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</p:txBody>
      </p:sp>
      <p:pic>
        <p:nvPicPr>
          <p:cNvPr id="18" name="图片 17" descr="豆流量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715" y="1343150"/>
            <a:ext cx="8619406" cy="4829523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7846831" y="6351563"/>
            <a:ext cx="2236763" cy="5064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进水水量不稳定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243082" y="239969"/>
            <a:ext cx="2976032" cy="438908"/>
          </a:xfrm>
          <a:prstGeom prst="rect">
            <a:avLst/>
          </a:prstGeom>
          <a:solidFill>
            <a:srgbClr val="24727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909066" y="254036"/>
            <a:ext cx="3549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进水水质不稳定</a:t>
            </a:r>
          </a:p>
        </p:txBody>
      </p:sp>
      <p:sp>
        <p:nvSpPr>
          <p:cNvPr id="84" name="textbox 84"/>
          <p:cNvSpPr/>
          <p:nvPr/>
        </p:nvSpPr>
        <p:spPr>
          <a:xfrm>
            <a:off x="-12700" y="264795"/>
            <a:ext cx="6711950" cy="394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1485" algn="l" rtl="0" eaLnBrk="0">
              <a:lnSpc>
                <a:spcPct val="87000"/>
              </a:lnSpc>
              <a:tabLst>
                <a:tab pos="720725" algn="l"/>
              </a:tabLst>
            </a:pPr>
            <a:r>
              <a:rPr sz="2700" b="1" kern="0" spc="0" dirty="0">
                <a:solidFill>
                  <a:srgbClr val="1C2F4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altLang="en-US" sz="2700" b="1" kern="0" dirty="0">
                <a:solidFill>
                  <a:srgbClr val="1C2F4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现状问题</a:t>
            </a:r>
            <a:endParaRPr lang="zh-CN" sz="2700" b="1" kern="0" dirty="0">
              <a:solidFill>
                <a:srgbClr val="1C2F4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1485" algn="l" rtl="0" eaLnBrk="0">
              <a:lnSpc>
                <a:spcPct val="87000"/>
              </a:lnSpc>
              <a:tabLst>
                <a:tab pos="720725" algn="l"/>
              </a:tabLst>
            </a:pPr>
            <a:endParaRPr lang="zh-CN" sz="2700" b="1" kern="0" spc="0" dirty="0">
              <a:solidFill>
                <a:srgbClr val="1C2F4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88035"/>
            <a:ext cx="438911" cy="352044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9334439" y="4495468"/>
            <a:ext cx="2143327" cy="1250239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进水</a:t>
            </a:r>
            <a:r>
              <a:rPr lang="en-US" altLang="zh-CN" sz="2000" dirty="0"/>
              <a:t>COD</a:t>
            </a:r>
            <a:r>
              <a:rPr lang="zh-CN" altLang="en-US" sz="2000" dirty="0"/>
              <a:t>、氨氮浓度非常不稳定</a:t>
            </a:r>
          </a:p>
        </p:txBody>
      </p:sp>
      <p:pic>
        <p:nvPicPr>
          <p:cNvPr id="10" name="图片 9" descr="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405" y="832513"/>
            <a:ext cx="4094320" cy="3016155"/>
          </a:xfrm>
          <a:prstGeom prst="rect">
            <a:avLst/>
          </a:prstGeom>
        </p:spPr>
      </p:pic>
      <p:pic>
        <p:nvPicPr>
          <p:cNvPr id="11" name="图片 10" descr="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693" y="3916907"/>
            <a:ext cx="4080971" cy="2941093"/>
          </a:xfrm>
          <a:prstGeom prst="rect">
            <a:avLst/>
          </a:prstGeom>
        </p:spPr>
      </p:pic>
      <p:pic>
        <p:nvPicPr>
          <p:cNvPr id="13" name="图片 12" descr="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817" y="3923141"/>
            <a:ext cx="3898102" cy="2934859"/>
          </a:xfrm>
          <a:prstGeom prst="rect">
            <a:avLst/>
          </a:prstGeom>
        </p:spPr>
      </p:pic>
      <p:pic>
        <p:nvPicPr>
          <p:cNvPr id="14" name="图片 13" descr="4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6203" y="859808"/>
            <a:ext cx="3675797" cy="2934270"/>
          </a:xfrm>
          <a:prstGeom prst="rect">
            <a:avLst/>
          </a:prstGeom>
        </p:spPr>
      </p:pic>
      <p:pic>
        <p:nvPicPr>
          <p:cNvPr id="15" name="图片 14" descr="5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052" y="837451"/>
            <a:ext cx="3908515" cy="30364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智能体调控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02</a:t>
            </a:r>
          </a:p>
        </p:txBody>
      </p:sp>
      <p:grpSp>
        <p:nvGrpSpPr>
          <p:cNvPr id="4" name="组合 7"/>
          <p:cNvGrpSpPr/>
          <p:nvPr/>
        </p:nvGrpSpPr>
        <p:grpSpPr>
          <a:xfrm>
            <a:off x="10654665" y="397375"/>
            <a:ext cx="1050925" cy="647065"/>
            <a:chOff x="603" y="303"/>
            <a:chExt cx="2798" cy="1722"/>
          </a:xfrm>
        </p:grpSpPr>
        <p:pic>
          <p:nvPicPr>
            <p:cNvPr id="9" name="图片 8" descr="2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print"/>
            <a:srcRect l="23805" t="32128" r="26955" b="32195"/>
            <a:stretch>
              <a:fillRect/>
            </a:stretch>
          </p:blipFill>
          <p:spPr>
            <a:xfrm>
              <a:off x="804" y="303"/>
              <a:ext cx="2408" cy="119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603" y="1499"/>
              <a:ext cx="2798" cy="52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654665" y="222115"/>
            <a:ext cx="1050925" cy="647065"/>
            <a:chOff x="603" y="303"/>
            <a:chExt cx="2798" cy="1722"/>
          </a:xfrm>
        </p:grpSpPr>
        <p:pic>
          <p:nvPicPr>
            <p:cNvPr id="3" name="图片 2" descr="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 cstate="print"/>
            <a:srcRect l="23805" t="32128" r="26955" b="32195"/>
            <a:stretch>
              <a:fillRect/>
            </a:stretch>
          </p:blipFill>
          <p:spPr>
            <a:xfrm>
              <a:off x="804" y="303"/>
              <a:ext cx="2408" cy="119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603" y="1499"/>
              <a:ext cx="2798" cy="527"/>
            </a:xfrm>
            <a:prstGeom prst="rect">
              <a:avLst/>
            </a:prstGeom>
          </p:spPr>
        </p:pic>
      </p:grpSp>
      <p:cxnSp>
        <p:nvCxnSpPr>
          <p:cNvPr id="33" name="直接连接符 32"/>
          <p:cNvCxnSpPr/>
          <p:nvPr/>
        </p:nvCxnSpPr>
        <p:spPr>
          <a:xfrm>
            <a:off x="28212" y="928558"/>
            <a:ext cx="12192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2"/>
          <p:cNvSpPr txBox="1"/>
          <p:nvPr>
            <p:custDataLst>
              <p:tags r:id="rId2"/>
            </p:custDataLst>
          </p:nvPr>
        </p:nvSpPr>
        <p:spPr>
          <a:xfrm>
            <a:off x="848360" y="512400"/>
            <a:ext cx="10800000" cy="720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US" altLang="zh-CN" sz="3200" b="1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3200" b="1" dirty="0"/>
              <a:t>2.1  AI </a:t>
            </a:r>
            <a:r>
              <a:rPr lang="zh-CN" altLang="en-US" sz="3200" b="1" dirty="0"/>
              <a:t>曝气智能体调控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zh-CN" altLang="en-US" sz="3200" b="1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>
                <a:solidFill>
                  <a:schemeClr val="tx1"/>
                </a:solidFill>
              </a:uFill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16" name="文本框 1"/>
          <p:cNvSpPr txBox="1"/>
          <p:nvPr/>
        </p:nvSpPr>
        <p:spPr>
          <a:xfrm>
            <a:off x="1680210" y="1121412"/>
            <a:ext cx="8733790" cy="2679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调控逻辑</a:t>
            </a:r>
            <a:endParaRPr lang="en-US" altLang="zh-CN" dirty="0">
              <a:solidFill>
                <a:schemeClr val="accent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/>
              <a:t>       曝气智能体是活性污泥</a:t>
            </a:r>
            <a:r>
              <a:rPr lang="en-US" altLang="zh-CN" sz="1600" dirty="0"/>
              <a:t>AI</a:t>
            </a:r>
            <a:r>
              <a:rPr lang="zh-CN" altLang="en-US" sz="1600" dirty="0"/>
              <a:t>智控系统专用于污水处理厂曝气环节的全流程智能控制，从工艺优化、运营管理和自控技术三个维度协同发力，针对污水厂活性污泥工艺中曝气控制滞后、碳源利用率低、硝化反硝化失衡等痛点，采用多模态多因子参数强化学习算法，融合水质、工艺、设备等多源数据，有效解决生活污水、工业废水生化池曝气系统中溶氧波动大、能耗高、药耗多、排泥量大等问题，突破传统</a:t>
            </a:r>
            <a:r>
              <a:rPr lang="en-US" altLang="zh-CN" sz="1600" dirty="0"/>
              <a:t>PID</a:t>
            </a:r>
            <a:r>
              <a:rPr lang="zh-CN" altLang="en-US" sz="1600" dirty="0"/>
              <a:t>控制与人工经验调参的局限性。经工程验证，可稳定溶氧波动</a:t>
            </a:r>
            <a:r>
              <a:rPr lang="en-US" altLang="zh-CN" sz="1600" dirty="0"/>
              <a:t>(±0.5mg/L)</a:t>
            </a:r>
            <a:r>
              <a:rPr lang="zh-CN" altLang="en-US" sz="1600" dirty="0"/>
              <a:t>、 助力污水厂实现曝气过程从人工干预向智能寻优的跨越式升级。</a:t>
            </a:r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1781810" y="4675822"/>
          <a:ext cx="6080125" cy="133667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393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59180">
                <a:tc>
                  <a:txBody>
                    <a:bodyPr/>
                    <a:lstStyle/>
                    <a:p>
                      <a:pPr marL="1270" marR="0" algn="l" eaLnBrk="0" fontAlgn="base">
                        <a:spcBef>
                          <a:spcPts val="715"/>
                        </a:spcBef>
                        <a:buNone/>
                      </a:pPr>
                      <a:r>
                        <a:rPr lang="zh-CN" altLang="en-US" sz="1200" kern="0" spc="40" dirty="0">
                          <a:effectLst/>
                        </a:rPr>
                        <a:t>预测性控制</a:t>
                      </a:r>
                      <a:endParaRPr lang="zh-CN" altLang="en-US" sz="1200" dirty="0">
                        <a:effectLst/>
                      </a:endParaRPr>
                    </a:p>
                    <a:p>
                      <a:pPr marL="0" marR="197485" algn="l" eaLnBrk="0" fontAlgn="base">
                        <a:spcBef>
                          <a:spcPts val="15"/>
                        </a:spcBef>
                        <a:buNone/>
                      </a:pPr>
                      <a:r>
                        <a:rPr lang="zh-CN" altLang="en-US" sz="1200" kern="0" spc="10" dirty="0">
                          <a:effectLst/>
                        </a:rPr>
                        <a:t>通过</a:t>
                      </a:r>
                      <a:r>
                        <a:rPr lang="en-US" altLang="zh-CN" sz="1200" kern="0" spc="10" dirty="0">
                          <a:effectLst/>
                        </a:rPr>
                        <a:t>2-4</a:t>
                      </a:r>
                      <a:r>
                        <a:rPr lang="zh-CN" altLang="en-US" sz="1200" kern="0" spc="10" dirty="0">
                          <a:effectLst/>
                        </a:rPr>
                        <a:t>小时进水负荷预测，提前优化曝气策</a:t>
                      </a:r>
                      <a:r>
                        <a:rPr lang="zh-CN" altLang="en-US" sz="1200" kern="0" spc="-10" dirty="0">
                          <a:effectLst/>
                        </a:rPr>
                        <a:t>略，实现单位水处理能耗大幅降低。</a:t>
                      </a:r>
                      <a:endParaRPr lang="zh-CN" altLang="en-US" sz="1200" dirty="0">
                        <a:effectLst/>
                      </a:endParaRPr>
                    </a:p>
                    <a:p>
                      <a:pPr marL="1270" marR="0" algn="l" eaLnBrk="0" fontAlgn="base">
                        <a:spcBef>
                          <a:spcPts val="800"/>
                        </a:spcBef>
                        <a:buNone/>
                      </a:pPr>
                      <a:r>
                        <a:rPr lang="zh-CN" altLang="en-US" sz="1200" kern="0" spc="35" dirty="0">
                          <a:effectLst/>
                        </a:rPr>
                        <a:t>工艺普适性</a:t>
                      </a:r>
                      <a:endParaRPr lang="zh-CN" altLang="en-US" sz="1200" dirty="0">
                        <a:effectLst/>
                      </a:endParaRPr>
                    </a:p>
                    <a:p>
                      <a:pPr marL="0" marR="199390" algn="l" eaLnBrk="0" fontAlgn="base">
                        <a:buNone/>
                      </a:pPr>
                      <a:r>
                        <a:rPr lang="zh-CN" altLang="en-US" sz="1200" kern="0" spc="10" dirty="0">
                          <a:effectLst/>
                        </a:rPr>
                        <a:t>一套方案即可适配</a:t>
                      </a:r>
                      <a:r>
                        <a:rPr lang="en-US" altLang="zh-CN" sz="1200" kern="0" spc="10" dirty="0">
                          <a:effectLst/>
                        </a:rPr>
                        <a:t>A/O</a:t>
                      </a:r>
                      <a:r>
                        <a:rPr lang="zh-CN" altLang="en-US" sz="1200" kern="0" spc="10" dirty="0">
                          <a:effectLst/>
                        </a:rPr>
                        <a:t>、</a:t>
                      </a:r>
                      <a:r>
                        <a:rPr lang="en-US" altLang="zh-CN" sz="1200" kern="0" spc="10" dirty="0">
                          <a:effectLst/>
                        </a:rPr>
                        <a:t>A²/O</a:t>
                      </a:r>
                      <a:r>
                        <a:rPr lang="zh-CN" altLang="en-US" sz="1200" kern="0" spc="10" dirty="0">
                          <a:effectLst/>
                        </a:rPr>
                        <a:t>、 氧化</a:t>
                      </a:r>
                      <a:r>
                        <a:rPr lang="zh-CN" altLang="en-US" sz="1200" kern="0" spc="5" dirty="0">
                          <a:effectLst/>
                        </a:rPr>
                        <a:t>沟、</a:t>
                      </a:r>
                      <a:r>
                        <a:rPr lang="en-US" altLang="zh-CN" sz="1200" kern="0" dirty="0">
                          <a:effectLst/>
                        </a:rPr>
                        <a:t>SBR </a:t>
                      </a:r>
                      <a:r>
                        <a:rPr lang="zh-CN" altLang="en-US" sz="1200" kern="0" dirty="0">
                          <a:effectLst/>
                        </a:rPr>
                        <a:t>等所有主流工艺，无需担心工艺改造。</a:t>
                      </a:r>
                      <a:endParaRPr lang="zh-CN" altLang="en-US" sz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 eaLnBrk="0" fontAlgn="base">
                        <a:lnSpc>
                          <a:spcPct val="115000"/>
                        </a:lnSpc>
                        <a:buNone/>
                      </a:pPr>
                      <a:r>
                        <a:rPr lang="zh-CN" altLang="en-US" sz="1200" kern="0" spc="30" dirty="0">
                          <a:effectLst/>
                        </a:rPr>
                        <a:t>应急响应机制</a:t>
                      </a:r>
                      <a:endParaRPr lang="en-US" altLang="zh-CN" sz="1200" kern="1200" spc="30" dirty="0">
                        <a:effectLst/>
                      </a:endParaRPr>
                    </a:p>
                    <a:p>
                      <a:pPr marL="0" marR="0" algn="l" eaLnBrk="0" fontAlgn="base">
                        <a:lnSpc>
                          <a:spcPct val="115000"/>
                        </a:lnSpc>
                        <a:buNone/>
                      </a:pPr>
                      <a:r>
                        <a:rPr lang="zh-CN" altLang="en-US" sz="1200" kern="0" dirty="0">
                          <a:effectLst/>
                        </a:rPr>
                        <a:t>多模态应急响应，异常工况自动保稳预警算法。</a:t>
                      </a:r>
                      <a:endParaRPr lang="en-US" altLang="zh-CN" sz="1200" kern="1200" spc="0" dirty="0">
                        <a:effectLst/>
                      </a:endParaRPr>
                    </a:p>
                    <a:p>
                      <a:pPr marL="0" marR="0" algn="l" eaLnBrk="0" fontAlgn="base">
                        <a:lnSpc>
                          <a:spcPct val="115000"/>
                        </a:lnSpc>
                        <a:buNone/>
                      </a:pPr>
                      <a:r>
                        <a:rPr lang="zh-CN" altLang="en-US" sz="1200" kern="0" spc="25" dirty="0">
                          <a:effectLst/>
                        </a:rPr>
                        <a:t>核心技术突破</a:t>
                      </a:r>
                      <a:endParaRPr lang="en-US" altLang="zh-CN" sz="1200" kern="1200" spc="25" dirty="0">
                        <a:effectLst/>
                      </a:endParaRPr>
                    </a:p>
                    <a:p>
                      <a:pPr marL="0" marR="0" algn="l" eaLnBrk="0" fontAlgn="base">
                        <a:lnSpc>
                          <a:spcPct val="115000"/>
                        </a:lnSpc>
                        <a:buNone/>
                      </a:pPr>
                      <a:r>
                        <a:rPr lang="zh-CN" altLang="en-US" sz="1200" kern="0" dirty="0">
                          <a:effectLst/>
                        </a:rPr>
                        <a:t>用算法替代昂贵硬件算法预测微生物的真实需氧速率</a:t>
                      </a:r>
                      <a:r>
                        <a:rPr lang="en-US" altLang="zh-CN" sz="1200" kern="0" dirty="0">
                          <a:effectLst/>
                        </a:rPr>
                        <a:t>(OUR)</a:t>
                      </a:r>
                      <a:r>
                        <a:rPr lang="zh-CN" altLang="en-US" sz="1200" kern="0" dirty="0">
                          <a:effectLst/>
                        </a:rPr>
                        <a:t>。</a:t>
                      </a:r>
                      <a:endParaRPr lang="zh-CN" altLang="en-US" sz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文本框 4"/>
          <p:cNvSpPr txBox="1"/>
          <p:nvPr/>
        </p:nvSpPr>
        <p:spPr>
          <a:xfrm>
            <a:off x="1680210" y="407892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" marR="0" algn="l" eaLnBrk="0" fontAlgn="base">
              <a:buNone/>
            </a:pPr>
            <a:r>
              <a:rPr lang="zh-CN" altLang="en-US" dirty="0">
                <a:solidFill>
                  <a:schemeClr val="accent1"/>
                </a:solidFill>
              </a:rPr>
              <a:t>非线性多因子多参数强化学习算法优势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654665" y="222115"/>
            <a:ext cx="1050925" cy="647065"/>
            <a:chOff x="603" y="303"/>
            <a:chExt cx="2798" cy="1722"/>
          </a:xfrm>
        </p:grpSpPr>
        <p:pic>
          <p:nvPicPr>
            <p:cNvPr id="3" name="图片 2" descr="2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print"/>
            <a:srcRect l="23805" t="32128" r="26955" b="32195"/>
            <a:stretch>
              <a:fillRect/>
            </a:stretch>
          </p:blipFill>
          <p:spPr>
            <a:xfrm>
              <a:off x="804" y="303"/>
              <a:ext cx="2408" cy="119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603" y="1499"/>
              <a:ext cx="2798" cy="527"/>
            </a:xfrm>
            <a:prstGeom prst="rect">
              <a:avLst/>
            </a:prstGeom>
          </p:spPr>
        </p:pic>
      </p:grpSp>
      <p:cxnSp>
        <p:nvCxnSpPr>
          <p:cNvPr id="33" name="直接连接符 32"/>
          <p:cNvCxnSpPr/>
          <p:nvPr/>
        </p:nvCxnSpPr>
        <p:spPr>
          <a:xfrm>
            <a:off x="28212" y="928558"/>
            <a:ext cx="12192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2"/>
          <p:cNvSpPr txBox="1"/>
          <p:nvPr>
            <p:custDataLst>
              <p:tags r:id="rId2"/>
            </p:custDataLst>
          </p:nvPr>
        </p:nvSpPr>
        <p:spPr>
          <a:xfrm>
            <a:off x="848360" y="512400"/>
            <a:ext cx="10800000" cy="720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US" altLang="zh-CN" sz="3200" b="1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3200" b="1" dirty="0"/>
              <a:t>AI </a:t>
            </a:r>
            <a:r>
              <a:rPr lang="zh-CN" altLang="en-US" sz="3200" b="1" dirty="0"/>
              <a:t>曝气智能体布署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zh-CN" altLang="en-US" sz="3200" b="1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>
                <a:solidFill>
                  <a:schemeClr val="tx1"/>
                </a:solidFill>
              </a:uFill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19" name="矩形: 圆角 4"/>
          <p:cNvSpPr/>
          <p:nvPr>
            <p:custDataLst>
              <p:tags r:id="rId3"/>
            </p:custDataLst>
          </p:nvPr>
        </p:nvSpPr>
        <p:spPr>
          <a:xfrm>
            <a:off x="3903261" y="6277970"/>
            <a:ext cx="3480179" cy="41625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智能体布署画面</a:t>
            </a:r>
            <a:endParaRPr lang="en-US" altLang="zh-CN" sz="2000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16" name="图片 15" descr="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070" y="1364775"/>
            <a:ext cx="6223378" cy="4879311"/>
          </a:xfrm>
          <a:prstGeom prst="rect">
            <a:avLst/>
          </a:prstGeom>
        </p:spPr>
      </p:pic>
      <p:pic>
        <p:nvPicPr>
          <p:cNvPr id="17" name="图片 16" descr="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1364776"/>
            <a:ext cx="5609230" cy="487225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654665" y="222115"/>
            <a:ext cx="1050925" cy="647065"/>
            <a:chOff x="603" y="303"/>
            <a:chExt cx="2798" cy="1722"/>
          </a:xfrm>
        </p:grpSpPr>
        <p:pic>
          <p:nvPicPr>
            <p:cNvPr id="3" name="图片 2" descr="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 cstate="print"/>
            <a:srcRect l="23805" t="32128" r="26955" b="32195"/>
            <a:stretch>
              <a:fillRect/>
            </a:stretch>
          </p:blipFill>
          <p:spPr>
            <a:xfrm>
              <a:off x="804" y="303"/>
              <a:ext cx="2408" cy="119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603" y="1499"/>
              <a:ext cx="2798" cy="527"/>
            </a:xfrm>
            <a:prstGeom prst="rect">
              <a:avLst/>
            </a:prstGeom>
          </p:spPr>
        </p:pic>
      </p:grpSp>
      <p:cxnSp>
        <p:nvCxnSpPr>
          <p:cNvPr id="33" name="直接连接符 32"/>
          <p:cNvCxnSpPr/>
          <p:nvPr/>
        </p:nvCxnSpPr>
        <p:spPr>
          <a:xfrm>
            <a:off x="28212" y="928558"/>
            <a:ext cx="12192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2"/>
          <p:cNvSpPr txBox="1"/>
          <p:nvPr>
            <p:custDataLst>
              <p:tags r:id="rId2"/>
            </p:custDataLst>
          </p:nvPr>
        </p:nvSpPr>
        <p:spPr>
          <a:xfrm>
            <a:off x="848360" y="512400"/>
            <a:ext cx="10800000" cy="720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US" altLang="zh-CN" sz="3200" b="1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3200" b="1" dirty="0"/>
              <a:t>2.2  AI </a:t>
            </a:r>
            <a:r>
              <a:rPr lang="zh-CN" altLang="en-US" sz="3200" b="1" dirty="0"/>
              <a:t>泵站智能体调控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zh-CN" altLang="en-US" sz="3200" b="1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>
                <a:solidFill>
                  <a:schemeClr val="tx1"/>
                </a:solidFill>
              </a:uFill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99358" y="978805"/>
            <a:ext cx="30171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/>
              <a:t> </a:t>
            </a:r>
            <a:r>
              <a:rPr lang="en-US" altLang="zh-CN" sz="2000" b="1" dirty="0"/>
              <a:t>2.2.1  </a:t>
            </a:r>
            <a:r>
              <a:rPr lang="zh-CN" altLang="en-US" sz="2000" b="1" dirty="0"/>
              <a:t>厂网站联控智能体</a:t>
            </a:r>
            <a:endParaRPr lang="zh-CN" altLang="en-US" sz="2000" dirty="0"/>
          </a:p>
        </p:txBody>
      </p:sp>
      <p:pic>
        <p:nvPicPr>
          <p:cNvPr id="14" name="图片 13" descr="0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8925" y="1394024"/>
            <a:ext cx="10040406" cy="5259260"/>
          </a:xfrm>
          <a:prstGeom prst="rect">
            <a:avLst/>
          </a:prstGeom>
        </p:spPr>
      </p:pic>
      <p:sp>
        <p:nvSpPr>
          <p:cNvPr id="17409" name="Rectangle 1"/>
          <p:cNvSpPr>
            <a:spLocks noChangeArrowheads="1"/>
          </p:cNvSpPr>
          <p:nvPr/>
        </p:nvSpPr>
        <p:spPr bwMode="auto">
          <a:xfrm>
            <a:off x="177421" y="2893325"/>
            <a:ext cx="1692322" cy="255454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厂外泵站实施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AI</a:t>
            </a:r>
            <a:r>
              <a:rPr kumimoji="0" 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Times New Roman" pitchFamily="18" charset="0"/>
              </a:rPr>
              <a:t>智能在线调控，无人值守，液位监测实现秒级调控，高效精准。</a:t>
            </a:r>
            <a:endParaRPr kumimoji="0" 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654665" y="222115"/>
            <a:ext cx="1050925" cy="647065"/>
            <a:chOff x="603" y="303"/>
            <a:chExt cx="2798" cy="1722"/>
          </a:xfrm>
        </p:grpSpPr>
        <p:pic>
          <p:nvPicPr>
            <p:cNvPr id="3" name="图片 2" descr="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 cstate="print"/>
            <a:srcRect l="23805" t="32128" r="26955" b="32195"/>
            <a:stretch>
              <a:fillRect/>
            </a:stretch>
          </p:blipFill>
          <p:spPr>
            <a:xfrm>
              <a:off x="804" y="303"/>
              <a:ext cx="2408" cy="119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603" y="1499"/>
              <a:ext cx="2798" cy="527"/>
            </a:xfrm>
            <a:prstGeom prst="rect">
              <a:avLst/>
            </a:prstGeom>
          </p:spPr>
        </p:pic>
      </p:grpSp>
      <p:cxnSp>
        <p:nvCxnSpPr>
          <p:cNvPr id="33" name="直接连接符 32"/>
          <p:cNvCxnSpPr/>
          <p:nvPr/>
        </p:nvCxnSpPr>
        <p:spPr>
          <a:xfrm>
            <a:off x="28212" y="928558"/>
            <a:ext cx="12192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2"/>
          <p:cNvSpPr txBox="1"/>
          <p:nvPr>
            <p:custDataLst>
              <p:tags r:id="rId2"/>
            </p:custDataLst>
          </p:nvPr>
        </p:nvSpPr>
        <p:spPr>
          <a:xfrm>
            <a:off x="848360" y="512400"/>
            <a:ext cx="10800000" cy="720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US" altLang="zh-CN" sz="3200" b="1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3200" b="1" dirty="0"/>
              <a:t>2.2  AI </a:t>
            </a:r>
            <a:r>
              <a:rPr lang="zh-CN" altLang="en-US" sz="3200" b="1" dirty="0"/>
              <a:t>泵站智能体调控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zh-CN" altLang="en-US" sz="3200" b="1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>
                <a:solidFill>
                  <a:schemeClr val="tx1"/>
                </a:solidFill>
              </a:uFill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99358" y="978805"/>
            <a:ext cx="28761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/>
              <a:t> </a:t>
            </a:r>
            <a:r>
              <a:rPr lang="en-US" altLang="zh-CN" sz="2000" b="1" dirty="0"/>
              <a:t>2.2.2</a:t>
            </a:r>
            <a:r>
              <a:rPr lang="zh-CN" altLang="en-US" sz="2000" b="1" dirty="0">
                <a:latin typeface="+mn-ea"/>
                <a:cs typeface="+mn-ea"/>
                <a:sym typeface="+mn-ea"/>
              </a:rPr>
              <a:t>厂内提升泵智能体</a:t>
            </a:r>
            <a:endParaRPr lang="zh-CN" altLang="en-US" sz="2000" dirty="0"/>
          </a:p>
        </p:txBody>
      </p:sp>
      <p:pic>
        <p:nvPicPr>
          <p:cNvPr id="13" name="图片 12" descr="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4524" y="1473957"/>
            <a:ext cx="8219048" cy="5179325"/>
          </a:xfrm>
          <a:prstGeom prst="rect">
            <a:avLst/>
          </a:prstGeom>
        </p:spPr>
      </p:pic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368489" y="2893325"/>
            <a:ext cx="1692322" cy="2862322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3048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厂内泵站实施</a:t>
            </a:r>
            <a:r>
              <a:rPr lang="en-US" altLang="zh-CN" sz="20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AI</a:t>
            </a:r>
            <a:r>
              <a:rPr lang="zh-CN" altLang="en-US" sz="20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智能调控，通过采集液位、流量等信息，高效调度进水水量，确保了水厂稳定运营。</a:t>
            </a:r>
            <a:endParaRPr lang="zh-CN" sz="2000" dirty="0">
              <a:solidFill>
                <a:schemeClr val="tx1"/>
              </a:solidFill>
              <a:latin typeface="宋体" pitchFamily="2" charset="-122"/>
              <a:ea typeface="宋体" pitchFamily="2" charset="-122"/>
              <a:cs typeface="Times New Roman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654665" y="222115"/>
            <a:ext cx="1050925" cy="647065"/>
            <a:chOff x="603" y="303"/>
            <a:chExt cx="2798" cy="1722"/>
          </a:xfrm>
        </p:grpSpPr>
        <p:pic>
          <p:nvPicPr>
            <p:cNvPr id="3" name="图片 2" descr="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 cstate="print"/>
            <a:srcRect l="23805" t="32128" r="26955" b="32195"/>
            <a:stretch>
              <a:fillRect/>
            </a:stretch>
          </p:blipFill>
          <p:spPr>
            <a:xfrm>
              <a:off x="804" y="303"/>
              <a:ext cx="2408" cy="119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603" y="1499"/>
              <a:ext cx="2798" cy="527"/>
            </a:xfrm>
            <a:prstGeom prst="rect">
              <a:avLst/>
            </a:prstGeom>
          </p:spPr>
        </p:pic>
      </p:grpSp>
      <p:cxnSp>
        <p:nvCxnSpPr>
          <p:cNvPr id="33" name="直接连接符 32"/>
          <p:cNvCxnSpPr/>
          <p:nvPr/>
        </p:nvCxnSpPr>
        <p:spPr>
          <a:xfrm>
            <a:off x="28212" y="928558"/>
            <a:ext cx="12192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2"/>
          <p:cNvSpPr txBox="1"/>
          <p:nvPr>
            <p:custDataLst>
              <p:tags r:id="rId2"/>
            </p:custDataLst>
          </p:nvPr>
        </p:nvSpPr>
        <p:spPr>
          <a:xfrm>
            <a:off x="848360" y="512400"/>
            <a:ext cx="10800000" cy="720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US" altLang="zh-CN" sz="3200" b="1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3200" b="1" dirty="0"/>
              <a:t>2.3</a:t>
            </a:r>
            <a:r>
              <a:rPr lang="zh-CN" altLang="en-US" sz="3200" b="1" dirty="0"/>
              <a:t> 碳源投加智能体调控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zh-CN" altLang="en-US" sz="3200" b="1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>
                <a:solidFill>
                  <a:schemeClr val="tx1"/>
                </a:solidFill>
              </a:uFill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245660" y="2453987"/>
            <a:ext cx="1828800" cy="255454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304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20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月初布署碳源投加智能体，通过实时水质监测、</a:t>
            </a:r>
            <a:r>
              <a:rPr lang="en-US" altLang="zh-CN" sz="20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AI</a:t>
            </a:r>
            <a:r>
              <a:rPr lang="zh-CN" altLang="en-US" sz="20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需碳量预测、多目标优化决策，实现成本降低。</a:t>
            </a:r>
            <a:endParaRPr lang="zh-CN" altLang="zh-CN" sz="2000" dirty="0">
              <a:solidFill>
                <a:schemeClr val="tx1"/>
              </a:solidFill>
              <a:latin typeface="宋体" pitchFamily="2" charset="-122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16" name="图片 15" descr="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0662" y="1146410"/>
            <a:ext cx="5086299" cy="4926843"/>
          </a:xfrm>
          <a:prstGeom prst="rect">
            <a:avLst/>
          </a:prstGeom>
        </p:spPr>
      </p:pic>
      <p:pic>
        <p:nvPicPr>
          <p:cNvPr id="17" name="图片 16" descr="2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2834" y="1146412"/>
            <a:ext cx="4949166" cy="492684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智能体效果分析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0</a:t>
            </a:r>
            <a:r>
              <a:rPr lang="en-US" altLang="zh-CN" dirty="0"/>
              <a:t>3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10654665" y="397375"/>
            <a:ext cx="1050925" cy="647065"/>
            <a:chOff x="603" y="303"/>
            <a:chExt cx="2798" cy="1722"/>
          </a:xfrm>
        </p:grpSpPr>
        <p:pic>
          <p:nvPicPr>
            <p:cNvPr id="9" name="图片 8" descr="2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 cstate="print"/>
            <a:srcRect l="23805" t="32128" r="26955" b="32195"/>
            <a:stretch>
              <a:fillRect/>
            </a:stretch>
          </p:blipFill>
          <p:spPr>
            <a:xfrm>
              <a:off x="804" y="303"/>
              <a:ext cx="2408" cy="119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 cstate="print"/>
            <a:stretch>
              <a:fillRect/>
            </a:stretch>
          </p:blipFill>
          <p:spPr>
            <a:xfrm>
              <a:off x="603" y="1499"/>
              <a:ext cx="2798" cy="52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/>
          <p:cNvCxnSpPr/>
          <p:nvPr/>
        </p:nvCxnSpPr>
        <p:spPr>
          <a:xfrm>
            <a:off x="28212" y="928558"/>
            <a:ext cx="12192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2"/>
          <p:cNvSpPr txBox="1"/>
          <p:nvPr>
            <p:custDataLst>
              <p:tags r:id="rId2"/>
            </p:custDataLst>
          </p:nvPr>
        </p:nvSpPr>
        <p:spPr>
          <a:xfrm>
            <a:off x="424927" y="366008"/>
            <a:ext cx="10800000" cy="720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US" altLang="zh-CN" sz="3200" b="1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it-IT" altLang="zh-CN" sz="3200" b="1" dirty="0"/>
              <a:t>3.1  </a:t>
            </a:r>
            <a:r>
              <a:rPr lang="zh-CN" altLang="en-US" sz="3200" b="1" dirty="0"/>
              <a:t>泵站</a:t>
            </a:r>
            <a:r>
              <a:rPr lang="zh-CN" altLang="it-IT" sz="3200" b="1" dirty="0"/>
              <a:t>智能</a:t>
            </a:r>
            <a:r>
              <a:rPr lang="zh-CN" altLang="en-US" sz="3200" b="1" dirty="0"/>
              <a:t>体分析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>
                <a:solidFill>
                  <a:schemeClr val="tx1"/>
                </a:solidFill>
              </a:uFill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19" name="矩形: 圆角 4"/>
          <p:cNvSpPr/>
          <p:nvPr>
            <p:custDataLst>
              <p:tags r:id="rId3"/>
            </p:custDataLst>
          </p:nvPr>
        </p:nvSpPr>
        <p:spPr>
          <a:xfrm>
            <a:off x="668740" y="3016155"/>
            <a:ext cx="2361063" cy="286603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进水水量连续，趋于稳定，整体波动较小，总变化系数约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1.1</a:t>
            </a:r>
          </a:p>
        </p:txBody>
      </p:sp>
      <p:pic>
        <p:nvPicPr>
          <p:cNvPr id="7" name="图片 6" descr="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1694" y="1473958"/>
            <a:ext cx="7721936" cy="489272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80743" y="951510"/>
            <a:ext cx="1991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/>
              <a:t> </a:t>
            </a:r>
            <a:r>
              <a:rPr lang="en-US" altLang="zh-CN" sz="2000" b="1" dirty="0"/>
              <a:t>3.1.1  </a:t>
            </a:r>
            <a:r>
              <a:rPr lang="zh-CN" altLang="en-US" sz="2000" b="1" dirty="0"/>
              <a:t>进水水量</a:t>
            </a:r>
            <a:endParaRPr lang="zh-CN" altLang="en-US" sz="2000" dirty="0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连接符 32"/>
          <p:cNvCxnSpPr/>
          <p:nvPr/>
        </p:nvCxnSpPr>
        <p:spPr>
          <a:xfrm>
            <a:off x="28212" y="928558"/>
            <a:ext cx="12192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2"/>
          <p:cNvSpPr txBox="1"/>
          <p:nvPr>
            <p:custDataLst>
              <p:tags r:id="rId2"/>
            </p:custDataLst>
          </p:nvPr>
        </p:nvSpPr>
        <p:spPr>
          <a:xfrm>
            <a:off x="424927" y="366008"/>
            <a:ext cx="10800000" cy="720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US" altLang="zh-CN" sz="3200" b="1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it-IT" altLang="zh-CN" sz="3200" b="1" dirty="0"/>
              <a:t>3.1  </a:t>
            </a:r>
            <a:r>
              <a:rPr lang="zh-CN" altLang="en-US" sz="3200" b="1" dirty="0"/>
              <a:t>泵站</a:t>
            </a:r>
            <a:r>
              <a:rPr lang="zh-CN" altLang="it-IT" sz="3200" b="1" dirty="0"/>
              <a:t>智能</a:t>
            </a:r>
            <a:r>
              <a:rPr lang="zh-CN" altLang="en-US" sz="3200" b="1" dirty="0"/>
              <a:t>体分析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>
                <a:solidFill>
                  <a:schemeClr val="tx1"/>
                </a:solidFill>
              </a:uFill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10" name="矩形: 圆角 4"/>
          <p:cNvSpPr/>
          <p:nvPr>
            <p:custDataLst>
              <p:tags r:id="rId3"/>
            </p:custDataLst>
          </p:nvPr>
        </p:nvSpPr>
        <p:spPr>
          <a:xfrm>
            <a:off x="191068" y="2088107"/>
            <a:ext cx="1405719" cy="450376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布署泵站智能体后，进水水质较稳定，整体波动较小，显示出泵站智能体调度的优越性能</a:t>
            </a:r>
            <a:endParaRPr lang="en-US" altLang="zh-CN" sz="20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80743" y="951510"/>
            <a:ext cx="1991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/>
              <a:t> </a:t>
            </a:r>
            <a:r>
              <a:rPr lang="en-US" altLang="zh-CN" sz="2000" b="1" dirty="0"/>
              <a:t>3.1.2  </a:t>
            </a:r>
            <a:r>
              <a:rPr lang="zh-CN" altLang="en-US" sz="2000" b="1" dirty="0"/>
              <a:t>进水水质</a:t>
            </a:r>
            <a:endParaRPr lang="zh-CN" altLang="en-US" sz="2000" dirty="0"/>
          </a:p>
        </p:txBody>
      </p:sp>
      <p:pic>
        <p:nvPicPr>
          <p:cNvPr id="11" name="图片 10" descr="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913" y="1487606"/>
            <a:ext cx="5063320" cy="2770495"/>
          </a:xfrm>
          <a:prstGeom prst="rect">
            <a:avLst/>
          </a:prstGeom>
        </p:spPr>
      </p:pic>
      <p:pic>
        <p:nvPicPr>
          <p:cNvPr id="12" name="图片 11" descr="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0234" y="4217158"/>
            <a:ext cx="5213444" cy="2640841"/>
          </a:xfrm>
          <a:prstGeom prst="rect">
            <a:avLst/>
          </a:prstGeom>
        </p:spPr>
      </p:pic>
      <p:pic>
        <p:nvPicPr>
          <p:cNvPr id="13" name="图片 12" descr="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1981" y="4244454"/>
            <a:ext cx="5058252" cy="2613545"/>
          </a:xfrm>
          <a:prstGeom prst="rect">
            <a:avLst/>
          </a:prstGeom>
        </p:spPr>
      </p:pic>
      <p:pic>
        <p:nvPicPr>
          <p:cNvPr id="18" name="图片 17" descr="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6585" y="1490575"/>
            <a:ext cx="5227094" cy="272658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 bwMode="auto">
          <a:xfrm>
            <a:off x="10655300" y="222250"/>
            <a:ext cx="1050925" cy="647700"/>
            <a:chOff x="603" y="303"/>
            <a:chExt cx="2798" cy="1722"/>
          </a:xfrm>
        </p:grpSpPr>
        <p:pic>
          <p:nvPicPr>
            <p:cNvPr id="26633" name="图片 2" descr="2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/>
            <a:srcRect l="23805" t="32127" r="26955" b="32195"/>
            <a:stretch>
              <a:fillRect/>
            </a:stretch>
          </p:blipFill>
          <p:spPr bwMode="auto">
            <a:xfrm>
              <a:off x="804" y="303"/>
              <a:ext cx="2408" cy="1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634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603" y="1499"/>
              <a:ext cx="2798" cy="5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33" name="直接连接符 32"/>
          <p:cNvCxnSpPr/>
          <p:nvPr/>
        </p:nvCxnSpPr>
        <p:spPr>
          <a:xfrm>
            <a:off x="28575" y="928688"/>
            <a:ext cx="12192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2"/>
          <p:cNvSpPr txBox="1"/>
          <p:nvPr>
            <p:custDataLst>
              <p:tags r:id="rId2"/>
            </p:custDataLst>
          </p:nvPr>
        </p:nvSpPr>
        <p:spPr>
          <a:xfrm>
            <a:off x="847725" y="512763"/>
            <a:ext cx="10801350" cy="719137"/>
          </a:xfrm>
          <a:prstGeom prst="rect">
            <a:avLst/>
          </a:prstGeom>
        </p:spPr>
        <p:txBody>
          <a:bodyPr wrap="none" anchor="ctr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400" b="1" dirty="0">
              <a:latin typeface="+mn-lt"/>
              <a:ea typeface="+mn-ea"/>
            </a:endParaRPr>
          </a:p>
          <a:p>
            <a:pPr>
              <a:lnSpc>
                <a:spcPct val="90000"/>
              </a:lnSpc>
              <a:defRPr/>
            </a:pPr>
            <a:endParaRPr lang="it-IT" altLang="zh-CN" sz="2400" b="1" dirty="0"/>
          </a:p>
          <a:p>
            <a:pPr>
              <a:lnSpc>
                <a:spcPct val="90000"/>
              </a:lnSpc>
              <a:defRPr/>
            </a:pPr>
            <a:r>
              <a:rPr lang="it-IT" altLang="zh-CN" sz="2400" b="1" dirty="0"/>
              <a:t>3.2 </a:t>
            </a:r>
            <a:r>
              <a:rPr lang="zh-CN" altLang="en-US" sz="2400" b="1" dirty="0">
                <a:sym typeface="+mn-ea"/>
              </a:rPr>
              <a:t>曝气智能体</a:t>
            </a:r>
            <a:r>
              <a:rPr lang="zh-CN" altLang="en-US" sz="2400" b="1" dirty="0"/>
              <a:t>分析</a:t>
            </a:r>
            <a:r>
              <a:rPr lang="en-US" altLang="zh-CN" sz="2400" b="1" dirty="0"/>
              <a:t>——</a:t>
            </a:r>
            <a:r>
              <a:rPr lang="zh-CN" altLang="en-US" sz="2400" b="1" dirty="0"/>
              <a:t>溶氧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400" b="1" dirty="0">
              <a:latin typeface="+mn-lt"/>
              <a:ea typeface="+mn-ea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400" b="1" dirty="0">
              <a:latin typeface="+mn-lt"/>
              <a:ea typeface="+mn-ea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400" b="1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>
                <a:solidFill>
                  <a:schemeClr val="tx1"/>
                </a:solidFill>
              </a:uFill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11" name="矩形: 圆角 4"/>
          <p:cNvSpPr/>
          <p:nvPr>
            <p:custDataLst>
              <p:tags r:id="rId3"/>
            </p:custDataLst>
          </p:nvPr>
        </p:nvSpPr>
        <p:spPr>
          <a:xfrm>
            <a:off x="696036" y="5308980"/>
            <a:ext cx="10372299" cy="136477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3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月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9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日布署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智能曝气系统后，生化池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DO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浓度大幅降低，其中一、二期好氧池日均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DO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浓度分别下降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23%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、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33%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，且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DO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波动幅度明显缩小，实现了稳定精确的溶解氧控制。</a:t>
            </a:r>
          </a:p>
          <a:p>
            <a:pPr lv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graphicFrame>
        <p:nvGraphicFramePr>
          <p:cNvPr id="10" name="图表 9"/>
          <p:cNvGraphicFramePr/>
          <p:nvPr/>
        </p:nvGraphicFramePr>
        <p:xfrm>
          <a:off x="984911" y="1096655"/>
          <a:ext cx="9605751" cy="40485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 bwMode="auto">
          <a:xfrm>
            <a:off x="10655300" y="222250"/>
            <a:ext cx="1050925" cy="647700"/>
            <a:chOff x="603" y="303"/>
            <a:chExt cx="2798" cy="1722"/>
          </a:xfrm>
        </p:grpSpPr>
        <p:pic>
          <p:nvPicPr>
            <p:cNvPr id="26633" name="图片 2" descr="2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/>
            <a:srcRect l="23805" t="32127" r="26955" b="32195"/>
            <a:stretch>
              <a:fillRect/>
            </a:stretch>
          </p:blipFill>
          <p:spPr bwMode="auto">
            <a:xfrm>
              <a:off x="804" y="303"/>
              <a:ext cx="2408" cy="1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634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603" y="1499"/>
              <a:ext cx="2798" cy="5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33" name="直接连接符 32"/>
          <p:cNvCxnSpPr/>
          <p:nvPr/>
        </p:nvCxnSpPr>
        <p:spPr>
          <a:xfrm>
            <a:off x="28575" y="928688"/>
            <a:ext cx="12192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图表 7"/>
          <p:cNvGraphicFramePr/>
          <p:nvPr/>
        </p:nvGraphicFramePr>
        <p:xfrm>
          <a:off x="720274" y="1088407"/>
          <a:ext cx="10361708" cy="46027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1" name="矩形: 圆角 4"/>
          <p:cNvSpPr/>
          <p:nvPr>
            <p:custDataLst>
              <p:tags r:id="rId2"/>
            </p:custDataLst>
          </p:nvPr>
        </p:nvSpPr>
        <p:spPr>
          <a:xfrm>
            <a:off x="2060811" y="5704764"/>
            <a:ext cx="8625385" cy="92804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3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月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9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日完全布署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智能曝气系统后，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3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月吨水电量较部署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前环比降低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14%</a:t>
            </a:r>
          </a:p>
        </p:txBody>
      </p:sp>
      <p:sp>
        <p:nvSpPr>
          <p:cNvPr id="13" name="标题 12"/>
          <p:cNvSpPr txBox="1"/>
          <p:nvPr>
            <p:custDataLst>
              <p:tags r:id="rId3"/>
            </p:custDataLst>
          </p:nvPr>
        </p:nvSpPr>
        <p:spPr>
          <a:xfrm>
            <a:off x="847725" y="512763"/>
            <a:ext cx="10801350" cy="719137"/>
          </a:xfrm>
          <a:prstGeom prst="rect">
            <a:avLst/>
          </a:prstGeom>
        </p:spPr>
        <p:txBody>
          <a:bodyPr wrap="none" anchor="ctr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400" b="1" dirty="0">
              <a:latin typeface="+mn-lt"/>
              <a:ea typeface="+mn-ea"/>
            </a:endParaRPr>
          </a:p>
          <a:p>
            <a:pPr>
              <a:lnSpc>
                <a:spcPct val="90000"/>
              </a:lnSpc>
              <a:defRPr/>
            </a:pPr>
            <a:endParaRPr lang="it-IT" altLang="zh-CN" sz="2400" b="1" dirty="0"/>
          </a:p>
          <a:p>
            <a:pPr>
              <a:lnSpc>
                <a:spcPct val="90000"/>
              </a:lnSpc>
              <a:defRPr/>
            </a:pPr>
            <a:r>
              <a:rPr lang="it-IT" altLang="zh-CN" sz="2400" b="1" dirty="0"/>
              <a:t>3.2 </a:t>
            </a:r>
            <a:r>
              <a:rPr lang="zh-CN" altLang="en-US" sz="2400" b="1" dirty="0">
                <a:sym typeface="+mn-ea"/>
              </a:rPr>
              <a:t>曝气智能体</a:t>
            </a:r>
            <a:r>
              <a:rPr lang="zh-CN" altLang="en-US" sz="2400" b="1" dirty="0"/>
              <a:t>分析</a:t>
            </a:r>
            <a:r>
              <a:rPr lang="en-US" altLang="zh-CN" sz="2400" b="1" dirty="0"/>
              <a:t>——</a:t>
            </a:r>
            <a:r>
              <a:rPr lang="zh-CN" altLang="en-US" sz="2400" b="1" dirty="0"/>
              <a:t>吨水电耗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400" b="1" dirty="0">
              <a:latin typeface="+mn-lt"/>
              <a:ea typeface="+mn-ea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400" b="1" dirty="0">
              <a:latin typeface="+mn-lt"/>
              <a:ea typeface="+mn-ea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400" b="1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>
                <a:solidFill>
                  <a:schemeClr val="tx1"/>
                </a:solidFill>
              </a:uFill>
              <a:latin typeface="+mj-lt"/>
              <a:ea typeface="+mj-ea"/>
              <a:cs typeface="+mj-cs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 bwMode="auto">
          <a:xfrm>
            <a:off x="10655300" y="222250"/>
            <a:ext cx="1050925" cy="647700"/>
            <a:chOff x="603" y="303"/>
            <a:chExt cx="2798" cy="1722"/>
          </a:xfrm>
        </p:grpSpPr>
        <p:pic>
          <p:nvPicPr>
            <p:cNvPr id="26633" name="图片 2" descr="2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/>
            <a:srcRect l="23805" t="32127" r="26955" b="32195"/>
            <a:stretch>
              <a:fillRect/>
            </a:stretch>
          </p:blipFill>
          <p:spPr bwMode="auto">
            <a:xfrm>
              <a:off x="804" y="303"/>
              <a:ext cx="2408" cy="1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634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603" y="1499"/>
              <a:ext cx="2798" cy="5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33" name="直接连接符 32"/>
          <p:cNvCxnSpPr/>
          <p:nvPr/>
        </p:nvCxnSpPr>
        <p:spPr>
          <a:xfrm>
            <a:off x="28575" y="928688"/>
            <a:ext cx="12192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4"/>
          <p:cNvSpPr/>
          <p:nvPr>
            <p:custDataLst>
              <p:tags r:id="rId2"/>
            </p:custDataLst>
          </p:nvPr>
        </p:nvSpPr>
        <p:spPr>
          <a:xfrm>
            <a:off x="1610435" y="5766180"/>
            <a:ext cx="8734567" cy="92804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3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月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9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日完全布署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智能曝气系统后，风机吨水电量均值为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0.086 KWh/m³ 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，较部署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前环比降低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15%</a:t>
            </a:r>
          </a:p>
        </p:txBody>
      </p:sp>
      <p:graphicFrame>
        <p:nvGraphicFramePr>
          <p:cNvPr id="9" name="图表 8"/>
          <p:cNvGraphicFramePr/>
          <p:nvPr/>
        </p:nvGraphicFramePr>
        <p:xfrm>
          <a:off x="573206" y="1009934"/>
          <a:ext cx="11041039" cy="47084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cxnSp>
        <p:nvCxnSpPr>
          <p:cNvPr id="10" name="直接箭头连接符 9"/>
          <p:cNvCxnSpPr/>
          <p:nvPr/>
        </p:nvCxnSpPr>
        <p:spPr>
          <a:xfrm rot="16200000" flipV="1">
            <a:off x="5015555" y="2654493"/>
            <a:ext cx="3234516" cy="27292"/>
          </a:xfrm>
          <a:prstGeom prst="straightConnector1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10941" y="982476"/>
            <a:ext cx="2360354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/>
              <a:t>3.9</a:t>
            </a:r>
            <a:r>
              <a:rPr lang="zh-CN" altLang="en-US" sz="2000" dirty="0"/>
              <a:t>布署智能曝气</a:t>
            </a:r>
          </a:p>
        </p:txBody>
      </p:sp>
      <p:sp>
        <p:nvSpPr>
          <p:cNvPr id="14" name="星形: 五角 6"/>
          <p:cNvSpPr/>
          <p:nvPr/>
        </p:nvSpPr>
        <p:spPr>
          <a:xfrm>
            <a:off x="6460007" y="988878"/>
            <a:ext cx="306591" cy="255494"/>
          </a:xfrm>
          <a:prstGeom prst="star5">
            <a:avLst>
              <a:gd name="adj" fmla="val 24810"/>
              <a:gd name="hf" fmla="val 105146"/>
              <a:gd name="vf" fmla="val 110557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标题 12"/>
          <p:cNvSpPr txBox="1"/>
          <p:nvPr>
            <p:custDataLst>
              <p:tags r:id="rId3"/>
            </p:custDataLst>
          </p:nvPr>
        </p:nvSpPr>
        <p:spPr>
          <a:xfrm>
            <a:off x="847725" y="512763"/>
            <a:ext cx="10801350" cy="719137"/>
          </a:xfrm>
          <a:prstGeom prst="rect">
            <a:avLst/>
          </a:prstGeom>
        </p:spPr>
        <p:txBody>
          <a:bodyPr wrap="none" anchor="ctr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400" b="1" dirty="0">
              <a:latin typeface="+mn-lt"/>
              <a:ea typeface="+mn-ea"/>
            </a:endParaRPr>
          </a:p>
          <a:p>
            <a:pPr>
              <a:lnSpc>
                <a:spcPct val="90000"/>
              </a:lnSpc>
              <a:defRPr/>
            </a:pPr>
            <a:endParaRPr lang="it-IT" altLang="zh-CN" sz="2400" b="1" dirty="0"/>
          </a:p>
          <a:p>
            <a:pPr>
              <a:lnSpc>
                <a:spcPct val="90000"/>
              </a:lnSpc>
              <a:defRPr/>
            </a:pPr>
            <a:r>
              <a:rPr lang="it-IT" altLang="zh-CN" sz="2400" b="1" dirty="0"/>
              <a:t>3.2 </a:t>
            </a:r>
            <a:r>
              <a:rPr lang="zh-CN" altLang="en-US" sz="2400" b="1" dirty="0">
                <a:sym typeface="+mn-ea"/>
              </a:rPr>
              <a:t>曝气智能体</a:t>
            </a:r>
            <a:r>
              <a:rPr lang="zh-CN" altLang="en-US" sz="2400" b="1" dirty="0"/>
              <a:t>分析</a:t>
            </a:r>
            <a:r>
              <a:rPr lang="en-US" altLang="zh-CN" sz="2400" b="1" dirty="0"/>
              <a:t>——</a:t>
            </a:r>
            <a:r>
              <a:rPr lang="zh-CN" altLang="en-US" sz="2400" b="1" dirty="0"/>
              <a:t>风机吨水电耗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400" b="1" dirty="0">
              <a:latin typeface="+mn-lt"/>
              <a:ea typeface="+mn-ea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400" b="1" dirty="0">
              <a:latin typeface="+mn-lt"/>
              <a:ea typeface="+mn-ea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400" b="1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>
                <a:solidFill>
                  <a:schemeClr val="tx1"/>
                </a:solidFill>
              </a:uFill>
              <a:latin typeface="+mj-lt"/>
              <a:ea typeface="+mj-ea"/>
              <a:cs typeface="+mj-cs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654665" y="222115"/>
            <a:ext cx="1050925" cy="647065"/>
            <a:chOff x="603" y="303"/>
            <a:chExt cx="2798" cy="1722"/>
          </a:xfrm>
        </p:grpSpPr>
        <p:pic>
          <p:nvPicPr>
            <p:cNvPr id="3" name="图片 2" descr="2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print"/>
            <a:srcRect l="23805" t="32128" r="26955" b="32195"/>
            <a:stretch>
              <a:fillRect/>
            </a:stretch>
          </p:blipFill>
          <p:spPr>
            <a:xfrm>
              <a:off x="804" y="303"/>
              <a:ext cx="2408" cy="119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603" y="1499"/>
              <a:ext cx="2798" cy="527"/>
            </a:xfrm>
            <a:prstGeom prst="rect">
              <a:avLst/>
            </a:prstGeom>
          </p:spPr>
        </p:pic>
      </p:grpSp>
      <p:cxnSp>
        <p:nvCxnSpPr>
          <p:cNvPr id="33" name="直接连接符 32"/>
          <p:cNvCxnSpPr/>
          <p:nvPr/>
        </p:nvCxnSpPr>
        <p:spPr>
          <a:xfrm>
            <a:off x="28212" y="928558"/>
            <a:ext cx="12192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 12"/>
          <p:cNvSpPr txBox="1"/>
          <p:nvPr>
            <p:custDataLst>
              <p:tags r:id="rId2"/>
            </p:custDataLst>
          </p:nvPr>
        </p:nvSpPr>
        <p:spPr>
          <a:xfrm>
            <a:off x="213429" y="567022"/>
            <a:ext cx="10800000" cy="720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en-US" altLang="zh-CN" sz="3200" b="1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3200" b="1" dirty="0"/>
              <a:t>3.3  </a:t>
            </a:r>
            <a:r>
              <a:rPr lang="zh-CN" altLang="en-US" sz="3200" b="1" dirty="0"/>
              <a:t>药剂投加量分析：</a:t>
            </a:r>
            <a:endParaRPr lang="en-US" altLang="zh-CN" sz="3200" b="1" dirty="0"/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zh-CN" altLang="en-US" sz="3200" b="1" dirty="0"/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zh-CN" altLang="en-US" sz="3200" b="1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>
                <a:solidFill>
                  <a:schemeClr val="tx1"/>
                </a:solidFill>
              </a:uFill>
              <a:latin typeface="+mj-lt"/>
              <a:ea typeface="+mj-ea"/>
              <a:cs typeface="+mj-cs"/>
              <a:sym typeface="+mn-ea"/>
            </a:endParaRPr>
          </a:p>
        </p:txBody>
      </p:sp>
      <p:graphicFrame>
        <p:nvGraphicFramePr>
          <p:cNvPr id="16" name="图表 15"/>
          <p:cNvGraphicFramePr/>
          <p:nvPr/>
        </p:nvGraphicFramePr>
        <p:xfrm>
          <a:off x="1285732" y="1119115"/>
          <a:ext cx="9536943" cy="4694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8" name="矩形: 圆角 4"/>
          <p:cNvSpPr/>
          <p:nvPr>
            <p:custDataLst>
              <p:tags r:id="rId3"/>
            </p:custDataLst>
          </p:nvPr>
        </p:nvSpPr>
        <p:spPr>
          <a:xfrm>
            <a:off x="1610435" y="5766180"/>
            <a:ext cx="8734567" cy="92804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3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月初布署碳源投加智能体后，碳源（葡萄糖）投加量环比降低约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36%</a:t>
            </a: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641965" y="-41237"/>
            <a:ext cx="1050925" cy="647065"/>
            <a:chOff x="603" y="303"/>
            <a:chExt cx="2798" cy="1722"/>
          </a:xfrm>
        </p:grpSpPr>
        <p:pic>
          <p:nvPicPr>
            <p:cNvPr id="3" name="图片 2" descr="2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print"/>
            <a:srcRect l="23805" t="32128" r="26955" b="32195"/>
            <a:stretch>
              <a:fillRect/>
            </a:stretch>
          </p:blipFill>
          <p:spPr>
            <a:xfrm>
              <a:off x="804" y="303"/>
              <a:ext cx="2408" cy="119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603" y="1499"/>
              <a:ext cx="2798" cy="527"/>
            </a:xfrm>
            <a:prstGeom prst="rect">
              <a:avLst/>
            </a:prstGeom>
          </p:spPr>
        </p:pic>
      </p:grpSp>
      <p:cxnSp>
        <p:nvCxnSpPr>
          <p:cNvPr id="33" name="直接连接符 32"/>
          <p:cNvCxnSpPr/>
          <p:nvPr/>
        </p:nvCxnSpPr>
        <p:spPr>
          <a:xfrm>
            <a:off x="76621" y="605828"/>
            <a:ext cx="12192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02260" y="191595"/>
            <a:ext cx="10800000" cy="720000"/>
          </a:xfr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zh-CN" sz="27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3.4 </a:t>
            </a:r>
            <a:r>
              <a:rPr lang="zh-CN" altLang="en-US" sz="27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出水水质分析</a:t>
            </a:r>
            <a:br>
              <a:rPr lang="zh-CN" altLang="en-US" sz="2700" b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</a:br>
            <a:endParaRPr lang="zh-CN" altLang="en-US" sz="27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矩形: 圆角 4"/>
          <p:cNvSpPr/>
          <p:nvPr>
            <p:custDataLst>
              <p:tags r:id="rId3"/>
            </p:custDataLst>
          </p:nvPr>
        </p:nvSpPr>
        <p:spPr>
          <a:xfrm>
            <a:off x="609166" y="5326663"/>
            <a:ext cx="10513760" cy="1217437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>
            <a:outerShdw blurRad="152400" dist="38100" dir="2700000" algn="tl" rotWithShape="0">
              <a:srgbClr val="44BD8F">
                <a:lumMod val="50000"/>
                <a:alpha val="20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3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月</a:t>
            </a:r>
            <a:r>
              <a:rPr lang="en-US" altLang="zh-CN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9</a:t>
            </a:r>
            <a:r>
              <a:rPr lang="zh-C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日</a:t>
            </a:r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采用智能曝气，</a:t>
            </a:r>
            <a:r>
              <a:rPr lang="en-US" altLang="zh-CN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COD </a:t>
            </a:r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、</a:t>
            </a:r>
            <a:r>
              <a:rPr lang="en-US" altLang="zh-CN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TN</a:t>
            </a:r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出水水质更加稳定：出水</a:t>
            </a:r>
            <a:r>
              <a:rPr lang="en-US" altLang="zh-CN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COD</a:t>
            </a:r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在</a:t>
            </a:r>
            <a:r>
              <a:rPr lang="en-US" altLang="zh-CN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30—36mg/L</a:t>
            </a:r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之间，较之前</a:t>
            </a:r>
            <a:r>
              <a:rPr lang="en-US" altLang="zh-CN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9—35mg/L</a:t>
            </a:r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波动率明显缩小，稳定达标（≤</a:t>
            </a:r>
            <a:r>
              <a:rPr lang="en-US" altLang="zh-CN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40mg/L</a:t>
            </a:r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）；出水</a:t>
            </a:r>
            <a:r>
              <a:rPr lang="en-US" altLang="zh-CN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TN</a:t>
            </a:r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在</a:t>
            </a:r>
            <a:r>
              <a:rPr lang="en-US" altLang="zh-CN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8.02—11.53mg/L</a:t>
            </a:r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，较之前</a:t>
            </a:r>
            <a:r>
              <a:rPr lang="en-US" altLang="zh-CN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6.53—13.16mg/L</a:t>
            </a:r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波动率明显缩小，稳定达标（≤</a:t>
            </a:r>
            <a:r>
              <a:rPr lang="en-US" altLang="zh-CN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12mg/L</a:t>
            </a:r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）。</a:t>
            </a:r>
          </a:p>
        </p:txBody>
      </p:sp>
      <p:graphicFrame>
        <p:nvGraphicFramePr>
          <p:cNvPr id="9" name="图表 8"/>
          <p:cNvGraphicFramePr/>
          <p:nvPr/>
        </p:nvGraphicFramePr>
        <p:xfrm>
          <a:off x="791570" y="791570"/>
          <a:ext cx="10768084" cy="45447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641965" y="-41237"/>
            <a:ext cx="1050925" cy="647065"/>
            <a:chOff x="603" y="303"/>
            <a:chExt cx="2798" cy="1722"/>
          </a:xfrm>
        </p:grpSpPr>
        <p:pic>
          <p:nvPicPr>
            <p:cNvPr id="3" name="图片 2" descr="2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print"/>
            <a:srcRect l="23805" t="32128" r="26955" b="32195"/>
            <a:stretch>
              <a:fillRect/>
            </a:stretch>
          </p:blipFill>
          <p:spPr>
            <a:xfrm>
              <a:off x="804" y="303"/>
              <a:ext cx="2408" cy="119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603" y="1499"/>
              <a:ext cx="2798" cy="527"/>
            </a:xfrm>
            <a:prstGeom prst="rect">
              <a:avLst/>
            </a:prstGeom>
          </p:spPr>
        </p:pic>
      </p:grpSp>
      <p:cxnSp>
        <p:nvCxnSpPr>
          <p:cNvPr id="33" name="直接连接符 32"/>
          <p:cNvCxnSpPr/>
          <p:nvPr/>
        </p:nvCxnSpPr>
        <p:spPr>
          <a:xfrm>
            <a:off x="76621" y="605828"/>
            <a:ext cx="12192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1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02260" y="191595"/>
            <a:ext cx="10800000" cy="720000"/>
          </a:xfr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zh-CN" sz="27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3.4 </a:t>
            </a:r>
            <a:r>
              <a:rPr lang="zh-CN" altLang="en-US" sz="27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出水水质分析</a:t>
            </a:r>
            <a:br>
              <a:rPr lang="zh-CN" altLang="en-US" sz="2700" b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</a:br>
            <a:endParaRPr lang="zh-CN" altLang="en-US" sz="27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8" name="图表 7"/>
          <p:cNvGraphicFramePr/>
          <p:nvPr/>
        </p:nvGraphicFramePr>
        <p:xfrm>
          <a:off x="900753" y="764275"/>
          <a:ext cx="10263116" cy="4449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9" name="矩形: 圆角 4"/>
          <p:cNvSpPr/>
          <p:nvPr>
            <p:custDataLst>
              <p:tags r:id="rId3"/>
            </p:custDataLst>
          </p:nvPr>
        </p:nvSpPr>
        <p:spPr>
          <a:xfrm>
            <a:off x="609166" y="5326663"/>
            <a:ext cx="10513760" cy="1217437"/>
          </a:xfrm>
          <a:prstGeom prst="round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>
            <a:outerShdw blurRad="152400" dist="38100" dir="2700000" algn="tl" rotWithShape="0">
              <a:srgbClr val="44BD8F">
                <a:lumMod val="50000"/>
                <a:alpha val="20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采用智能曝气，</a:t>
            </a:r>
            <a:r>
              <a:rPr lang="en-US" altLang="zh-CN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</a:t>
            </a:r>
            <a:r>
              <a:rPr lang="en-US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TP、</a:t>
            </a:r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氨氮出水水质更加稳定：出水</a:t>
            </a:r>
            <a:r>
              <a:rPr lang="en-US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TP</a:t>
            </a:r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在</a:t>
            </a:r>
            <a:r>
              <a:rPr lang="en-US" altLang="zh-CN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0.05—0.18mg/L</a:t>
            </a:r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，较之前</a:t>
            </a:r>
            <a:r>
              <a:rPr lang="en-US" altLang="zh-CN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0.04—0.28mg/L</a:t>
            </a:r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波动明显缩小，稳定达标（≤</a:t>
            </a:r>
            <a:r>
              <a:rPr lang="en-US" altLang="zh-CN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0.3mg/L</a:t>
            </a:r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）；出水氨氮在</a:t>
            </a:r>
            <a:r>
              <a:rPr lang="en-US" altLang="zh-CN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0.01—0.04mg/L</a:t>
            </a:r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，较之前</a:t>
            </a:r>
            <a:r>
              <a:rPr lang="en-US" altLang="zh-CN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0.01—0.18mg/L</a:t>
            </a:r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波动明显减小，稳定达标（≤</a:t>
            </a:r>
            <a:r>
              <a:rPr lang="en-US" altLang="zh-CN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2mg/L</a:t>
            </a:r>
            <a:r>
              <a:rPr lang="zh-CN" altLang="en-US" sz="2000" b="1" kern="0" dirty="0">
                <a:solidFill>
                  <a:srgbClr val="FFFFFF">
                    <a:lumMod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）。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经济效益分析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0</a:t>
            </a:r>
            <a:r>
              <a:rPr lang="en-US" altLang="zh-CN" dirty="0"/>
              <a:t>4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10654665" y="397375"/>
            <a:ext cx="1050925" cy="647065"/>
            <a:chOff x="603" y="303"/>
            <a:chExt cx="2798" cy="1722"/>
          </a:xfrm>
        </p:grpSpPr>
        <p:pic>
          <p:nvPicPr>
            <p:cNvPr id="9" name="图片 8" descr="2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print"/>
            <a:srcRect l="23805" t="32128" r="26955" b="32195"/>
            <a:stretch>
              <a:fillRect/>
            </a:stretch>
          </p:blipFill>
          <p:spPr>
            <a:xfrm>
              <a:off x="804" y="303"/>
              <a:ext cx="2408" cy="119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603" y="1499"/>
              <a:ext cx="2798" cy="52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7"/>
          <p:cNvGrpSpPr/>
          <p:nvPr/>
        </p:nvGrpSpPr>
        <p:grpSpPr>
          <a:xfrm>
            <a:off x="10654665" y="265930"/>
            <a:ext cx="1050925" cy="647065"/>
            <a:chOff x="603" y="303"/>
            <a:chExt cx="2798" cy="1722"/>
          </a:xfrm>
        </p:grpSpPr>
        <p:pic>
          <p:nvPicPr>
            <p:cNvPr id="5" name="图片 4" descr="2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2" cstate="print"/>
            <a:srcRect l="23805" t="32128" r="26955" b="32195"/>
            <a:stretch>
              <a:fillRect/>
            </a:stretch>
          </p:blipFill>
          <p:spPr>
            <a:xfrm>
              <a:off x="804" y="303"/>
              <a:ext cx="2408" cy="1196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3" cstate="print"/>
            <a:stretch>
              <a:fillRect/>
            </a:stretch>
          </p:blipFill>
          <p:spPr>
            <a:xfrm>
              <a:off x="603" y="1499"/>
              <a:ext cx="2798" cy="527"/>
            </a:xfrm>
            <a:prstGeom prst="rect">
              <a:avLst/>
            </a:prstGeom>
          </p:spPr>
        </p:pic>
      </p:grpSp>
      <p:sp>
        <p:nvSpPr>
          <p:cNvPr id="8" name="textbox 84"/>
          <p:cNvSpPr/>
          <p:nvPr/>
        </p:nvSpPr>
        <p:spPr>
          <a:xfrm>
            <a:off x="-12700" y="264795"/>
            <a:ext cx="5741035" cy="394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eaLnBrk="0">
              <a:lnSpc>
                <a:spcPct val="87000"/>
              </a:lnSpc>
            </a:pPr>
            <a:endParaRPr sz="100" dirty="0">
              <a:solidFill>
                <a:srgbClr val="000000"/>
              </a:solidFill>
              <a:ea typeface="Arial" panose="020B0604020202020204"/>
              <a:cs typeface="Arial" panose="020B0604020202020204"/>
            </a:endParaRPr>
          </a:p>
          <a:p>
            <a:pPr marL="451485" eaLnBrk="0">
              <a:lnSpc>
                <a:spcPct val="87000"/>
              </a:lnSpc>
              <a:tabLst>
                <a:tab pos="720725" algn="l"/>
              </a:tabLst>
            </a:pPr>
            <a:r>
              <a:rPr sz="2700" b="1" kern="0" dirty="0">
                <a:solidFill>
                  <a:srgbClr val="1C2F43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altLang="en-US" sz="2700" b="1" kern="0" dirty="0">
                <a:solidFill>
                  <a:srgbClr val="1C2F43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经济效益分析</a:t>
            </a:r>
            <a:endParaRPr lang="zh-CN" altLang="en-US" sz="2700" b="1" kern="0" dirty="0">
              <a:solidFill>
                <a:srgbClr val="1C2F43">
                  <a:alpha val="100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451485" eaLnBrk="0">
              <a:lnSpc>
                <a:spcPct val="87000"/>
              </a:lnSpc>
              <a:tabLst>
                <a:tab pos="720725" algn="l"/>
              </a:tabLst>
            </a:pPr>
            <a:endParaRPr lang="zh-CN" altLang="en-US" sz="2700" b="1" kern="0" dirty="0">
              <a:solidFill>
                <a:srgbClr val="1C2F43">
                  <a:alpha val="100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9" name="picture 8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0" y="288035"/>
            <a:ext cx="438911" cy="352044"/>
          </a:xfrm>
          <a:prstGeom prst="rect">
            <a:avLst/>
          </a:prstGeom>
        </p:spPr>
      </p:pic>
      <p:cxnSp>
        <p:nvCxnSpPr>
          <p:cNvPr id="14" name="直接连接符 13"/>
          <p:cNvCxnSpPr/>
          <p:nvPr>
            <p:custDataLst>
              <p:tags r:id="rId2"/>
            </p:custDataLst>
          </p:nvPr>
        </p:nvCxnSpPr>
        <p:spPr>
          <a:xfrm>
            <a:off x="1204102" y="2691452"/>
            <a:ext cx="0" cy="2849264"/>
          </a:xfrm>
          <a:prstGeom prst="line">
            <a:avLst/>
          </a:prstGeom>
          <a:noFill/>
          <a:ln w="9525" cap="flat" cmpd="sng" algn="ctr">
            <a:solidFill>
              <a:srgbClr val="247274"/>
            </a:solidFill>
            <a:prstDash val="solid"/>
            <a:miter lim="800000"/>
          </a:ln>
          <a:effectLst/>
        </p:spPr>
      </p:cxnSp>
      <p:cxnSp>
        <p:nvCxnSpPr>
          <p:cNvPr id="15" name="直接连接符 14"/>
          <p:cNvCxnSpPr/>
          <p:nvPr>
            <p:custDataLst>
              <p:tags r:id="rId3"/>
            </p:custDataLst>
          </p:nvPr>
        </p:nvCxnSpPr>
        <p:spPr>
          <a:xfrm>
            <a:off x="7730064" y="2754952"/>
            <a:ext cx="0" cy="2785764"/>
          </a:xfrm>
          <a:prstGeom prst="line">
            <a:avLst/>
          </a:prstGeom>
          <a:noFill/>
          <a:ln w="9525" cap="flat" cmpd="sng" algn="ctr">
            <a:solidFill>
              <a:srgbClr val="247274"/>
            </a:solidFill>
            <a:prstDash val="solid"/>
            <a:miter lim="800000"/>
          </a:ln>
          <a:effectLst/>
        </p:spPr>
      </p:cxnSp>
      <p:sp>
        <p:nvSpPr>
          <p:cNvPr id="16" name="Oval 11"/>
          <p:cNvSpPr/>
          <p:nvPr>
            <p:custDataLst>
              <p:tags r:id="rId4"/>
            </p:custDataLst>
          </p:nvPr>
        </p:nvSpPr>
        <p:spPr>
          <a:xfrm>
            <a:off x="8703035" y="1611160"/>
            <a:ext cx="789553" cy="789553"/>
          </a:xfrm>
          <a:prstGeom prst="rect">
            <a:avLst/>
          </a:prstGeom>
          <a:solidFill>
            <a:srgbClr val="247274">
              <a:alpha val="5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03</a:t>
            </a:r>
          </a:p>
        </p:txBody>
      </p:sp>
      <p:sp>
        <p:nvSpPr>
          <p:cNvPr id="17" name="Oval 11"/>
          <p:cNvSpPr/>
          <p:nvPr>
            <p:custDataLst>
              <p:tags r:id="rId5"/>
            </p:custDataLst>
          </p:nvPr>
        </p:nvSpPr>
        <p:spPr>
          <a:xfrm>
            <a:off x="5484365" y="1579995"/>
            <a:ext cx="789553" cy="789553"/>
          </a:xfrm>
          <a:prstGeom prst="rect">
            <a:avLst/>
          </a:prstGeom>
          <a:solidFill>
            <a:srgbClr val="24727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02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8172616" y="2581691"/>
            <a:ext cx="18503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  <a:sym typeface="+mn-ea"/>
              </a:rPr>
              <a:t>出水水质稳定</a:t>
            </a:r>
            <a:endParaRPr lang="en-US" altLang="en-US" sz="1600" b="1" dirty="0">
              <a:solidFill>
                <a:srgbClr val="1F2937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  <a:sym typeface="+mn-ea"/>
            </a:endParaRPr>
          </a:p>
        </p:txBody>
      </p:sp>
      <p:sp>
        <p:nvSpPr>
          <p:cNvPr id="20" name="Text 6"/>
          <p:cNvSpPr/>
          <p:nvPr/>
        </p:nvSpPr>
        <p:spPr>
          <a:xfrm>
            <a:off x="8113859" y="3368537"/>
            <a:ext cx="1881851" cy="2022329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lvl="0" algn="just">
              <a:lnSpc>
                <a:spcPct val="150000"/>
              </a:lnSpc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出水水质稳定达标，出水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COD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，氨氮，总</a:t>
            </a:r>
            <a:r>
              <a:rPr lang="zh-CN" altLang="en-US" sz="1600" kern="0" dirty="0">
                <a:solidFill>
                  <a:srgbClr val="000000"/>
                </a:solidFill>
              </a:rPr>
              <a:t>氮、</a:t>
            </a:r>
            <a:r>
              <a:rPr lang="en-US" altLang="zh-CN" sz="1600" kern="0" dirty="0">
                <a:solidFill>
                  <a:srgbClr val="000000"/>
                </a:solidFill>
              </a:rPr>
              <a:t>TP</a:t>
            </a:r>
            <a:r>
              <a:rPr lang="zh-CN" altLang="en-US" sz="1600" kern="0" dirty="0">
                <a:solidFill>
                  <a:srgbClr val="000000"/>
                </a:solidFill>
              </a:rPr>
              <a:t>波动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范围明显减小</a:t>
            </a:r>
            <a:r>
              <a:rPr lang="zh-CN" altLang="en-US" sz="1600" kern="0" dirty="0">
                <a:solidFill>
                  <a:srgbClr val="000000"/>
                </a:solidFill>
              </a:rPr>
              <a:t>。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178438" y="2580380"/>
            <a:ext cx="235394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  <a:sym typeface="+mn-ea"/>
              </a:rPr>
              <a:t>药耗降低显著</a:t>
            </a:r>
            <a:endParaRPr lang="en-US" altLang="en-US" sz="1600" b="1" dirty="0">
              <a:solidFill>
                <a:srgbClr val="1F2937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500010" y="3313021"/>
            <a:ext cx="28724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1600" kern="0" dirty="0">
                <a:solidFill>
                  <a:srgbClr val="000000"/>
                </a:solidFill>
                <a:sym typeface="+mn-ea"/>
              </a:rPr>
              <a:t>3</a:t>
            </a:r>
            <a:r>
              <a:rPr lang="zh-CN" altLang="en-US" sz="1600" kern="0" dirty="0">
                <a:solidFill>
                  <a:srgbClr val="000000"/>
                </a:solidFill>
                <a:sym typeface="+mn-ea"/>
              </a:rPr>
              <a:t>月初布署碳源投加智能体后，碳源（葡萄糖）投加量</a:t>
            </a:r>
            <a:r>
              <a:rPr lang="zh-CN" altLang="en-US" sz="1600" kern="0" dirty="0">
                <a:solidFill>
                  <a:srgbClr val="000000"/>
                </a:solidFill>
              </a:rPr>
              <a:t>由</a:t>
            </a:r>
            <a:r>
              <a:rPr lang="en-US" altLang="zh-CN" sz="1600" kern="0" dirty="0">
                <a:solidFill>
                  <a:srgbClr val="000000"/>
                </a:solidFill>
              </a:rPr>
              <a:t>73.3 mg/L</a:t>
            </a:r>
            <a:r>
              <a:rPr lang="zh-CN" altLang="en-US" sz="1600" kern="0" dirty="0">
                <a:solidFill>
                  <a:srgbClr val="000000"/>
                </a:solidFill>
              </a:rPr>
              <a:t>降至</a:t>
            </a:r>
            <a:r>
              <a:rPr lang="en-US" altLang="zh-CN" sz="1600" kern="0" dirty="0">
                <a:solidFill>
                  <a:srgbClr val="000000"/>
                </a:solidFill>
              </a:rPr>
              <a:t>46.7 mg/L</a:t>
            </a:r>
            <a:r>
              <a:rPr lang="zh-CN" altLang="en-US" sz="1600" kern="0" dirty="0">
                <a:solidFill>
                  <a:srgbClr val="000000"/>
                </a:solidFill>
              </a:rPr>
              <a:t>，</a:t>
            </a:r>
            <a:r>
              <a:rPr lang="zh-CN" altLang="en-US" sz="1600" kern="0" dirty="0">
                <a:solidFill>
                  <a:srgbClr val="000000"/>
                </a:solidFill>
                <a:sym typeface="+mn-ea"/>
              </a:rPr>
              <a:t>环比降低约</a:t>
            </a:r>
            <a:r>
              <a:rPr lang="en-US" altLang="zh-CN" sz="1600" kern="0" dirty="0">
                <a:solidFill>
                  <a:srgbClr val="000000"/>
                </a:solidFill>
                <a:sym typeface="+mn-ea"/>
              </a:rPr>
              <a:t>36%</a:t>
            </a:r>
          </a:p>
          <a:p>
            <a:pPr lvl="0" algn="just">
              <a:lnSpc>
                <a:spcPct val="150000"/>
              </a:lnSpc>
            </a:pPr>
            <a:endParaRPr lang="en-US" altLang="zh-CN" sz="1600" b="1" kern="0" dirty="0">
              <a:solidFill>
                <a:srgbClr val="FF0000"/>
              </a:solidFill>
            </a:endParaRPr>
          </a:p>
          <a:p>
            <a:pPr lvl="0" algn="just">
              <a:lnSpc>
                <a:spcPct val="150000"/>
              </a:lnSpc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28212" y="928558"/>
            <a:ext cx="12192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6"/>
            </p:custDataLst>
          </p:nvPr>
        </p:nvCxnSpPr>
        <p:spPr>
          <a:xfrm>
            <a:off x="4379102" y="2691452"/>
            <a:ext cx="0" cy="2877505"/>
          </a:xfrm>
          <a:prstGeom prst="line">
            <a:avLst/>
          </a:prstGeom>
          <a:noFill/>
          <a:ln w="9525" cap="flat" cmpd="sng" algn="ctr">
            <a:solidFill>
              <a:srgbClr val="247274"/>
            </a:solidFill>
            <a:prstDash val="solid"/>
            <a:miter lim="800000"/>
          </a:ln>
          <a:effectLst/>
        </p:spPr>
      </p:cxnSp>
      <p:sp>
        <p:nvSpPr>
          <p:cNvPr id="26" name="Oval 11"/>
          <p:cNvSpPr/>
          <p:nvPr>
            <p:custDataLst>
              <p:tags r:id="rId7"/>
            </p:custDataLst>
          </p:nvPr>
        </p:nvSpPr>
        <p:spPr>
          <a:xfrm>
            <a:off x="2171150" y="1611160"/>
            <a:ext cx="789553" cy="789553"/>
          </a:xfrm>
          <a:prstGeom prst="rect">
            <a:avLst/>
          </a:prstGeom>
          <a:solidFill>
            <a:srgbClr val="247274">
              <a:alpha val="5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01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465654" y="3366863"/>
            <a:ext cx="269237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1600" kern="0" dirty="0">
                <a:solidFill>
                  <a:srgbClr val="000000"/>
                </a:solidFill>
              </a:rPr>
              <a:t>2026.3</a:t>
            </a:r>
            <a:r>
              <a:rPr lang="zh-CN" altLang="en-US" sz="1600" kern="0" dirty="0">
                <a:solidFill>
                  <a:srgbClr val="000000"/>
                </a:solidFill>
              </a:rPr>
              <a:t>投入</a:t>
            </a:r>
            <a:r>
              <a:rPr lang="en-US" altLang="zh-CN" sz="1600" kern="0" dirty="0">
                <a:solidFill>
                  <a:srgbClr val="000000"/>
                </a:solidFill>
              </a:rPr>
              <a:t>AI</a:t>
            </a:r>
            <a:r>
              <a:rPr lang="zh-CN" altLang="en-US" sz="1600" kern="0" dirty="0">
                <a:solidFill>
                  <a:srgbClr val="000000"/>
                </a:solidFill>
              </a:rPr>
              <a:t>曝气智能体，吨水电耗、</a:t>
            </a:r>
            <a:r>
              <a:rPr lang="zh-CN" altLang="en-US" sz="1600" kern="0" dirty="0">
                <a:solidFill>
                  <a:srgbClr val="000000"/>
                </a:solidFill>
                <a:sym typeface="+mn-ea"/>
              </a:rPr>
              <a:t>吨水风机</a:t>
            </a:r>
            <a:r>
              <a:rPr lang="zh-CN" altLang="en-US" sz="1600" kern="0" dirty="0">
                <a:solidFill>
                  <a:srgbClr val="000000"/>
                </a:solidFill>
              </a:rPr>
              <a:t>电耗分别为</a:t>
            </a:r>
            <a:r>
              <a:rPr lang="en-US" altLang="zh-CN" sz="1600" kern="0" dirty="0">
                <a:solidFill>
                  <a:srgbClr val="000000"/>
                </a:solidFill>
              </a:rPr>
              <a:t>0.407</a:t>
            </a:r>
            <a:r>
              <a:rPr lang="zh-CN" altLang="en-US" sz="1600" kern="0" dirty="0">
                <a:solidFill>
                  <a:srgbClr val="000000"/>
                </a:solidFill>
              </a:rPr>
              <a:t>、</a:t>
            </a:r>
            <a:r>
              <a:rPr lang="en-US" altLang="zh-CN" sz="1600" kern="0" dirty="0">
                <a:solidFill>
                  <a:srgbClr val="000000"/>
                </a:solidFill>
                <a:sym typeface="+mn-ea"/>
              </a:rPr>
              <a:t>0.086 KWh/m³</a:t>
            </a:r>
            <a:r>
              <a:rPr lang="zh-CN" altLang="en-US" sz="1600" kern="0" dirty="0">
                <a:solidFill>
                  <a:srgbClr val="000000"/>
                </a:solidFill>
                <a:sym typeface="+mn-ea"/>
              </a:rPr>
              <a:t> ，较部署</a:t>
            </a:r>
            <a:r>
              <a:rPr lang="en-US" altLang="zh-CN" sz="1600" kern="0" dirty="0">
                <a:solidFill>
                  <a:srgbClr val="000000"/>
                </a:solidFill>
                <a:sym typeface="+mn-ea"/>
              </a:rPr>
              <a:t>AI</a:t>
            </a:r>
            <a:r>
              <a:rPr lang="zh-CN" altLang="en-US" sz="1600" kern="0" dirty="0">
                <a:solidFill>
                  <a:srgbClr val="000000"/>
                </a:solidFill>
                <a:sym typeface="+mn-ea"/>
              </a:rPr>
              <a:t>前环比降低</a:t>
            </a:r>
            <a:r>
              <a:rPr lang="en-US" altLang="zh-CN" sz="1600" kern="0" dirty="0">
                <a:solidFill>
                  <a:srgbClr val="000000"/>
                </a:solidFill>
                <a:sym typeface="+mn-ea"/>
              </a:rPr>
              <a:t>14% </a:t>
            </a:r>
            <a:r>
              <a:rPr lang="zh-CN" altLang="en-US" sz="1600" kern="0" dirty="0">
                <a:solidFill>
                  <a:srgbClr val="000000"/>
                </a:solidFill>
                <a:sym typeface="+mn-ea"/>
              </a:rPr>
              <a:t>、</a:t>
            </a:r>
            <a:r>
              <a:rPr lang="en-US" altLang="zh-CN" sz="1600" kern="0" dirty="0">
                <a:solidFill>
                  <a:srgbClr val="000000"/>
                </a:solidFill>
                <a:sym typeface="+mn-ea"/>
              </a:rPr>
              <a:t>15%</a:t>
            </a:r>
            <a:endParaRPr lang="en-US" altLang="zh-CN" sz="1600" b="1" dirty="0"/>
          </a:p>
        </p:txBody>
      </p:sp>
      <p:sp>
        <p:nvSpPr>
          <p:cNvPr id="29" name="矩形 28"/>
          <p:cNvSpPr/>
          <p:nvPr>
            <p:custDataLst>
              <p:tags r:id="rId8"/>
            </p:custDataLst>
          </p:nvPr>
        </p:nvSpPr>
        <p:spPr>
          <a:xfrm>
            <a:off x="1624628" y="2532343"/>
            <a:ext cx="1984751" cy="39878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  <a:sym typeface="+mn-ea"/>
              </a:rPr>
              <a:t>能耗降低显著</a:t>
            </a:r>
            <a:endParaRPr lang="en-US" sz="1600" b="1" dirty="0">
              <a:solidFill>
                <a:srgbClr val="000000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7900" dirty="0"/>
              <a:t>谢谢！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0654665" y="397375"/>
            <a:ext cx="1050925" cy="647065"/>
            <a:chOff x="603" y="303"/>
            <a:chExt cx="2798" cy="1722"/>
          </a:xfrm>
        </p:grpSpPr>
        <p:pic>
          <p:nvPicPr>
            <p:cNvPr id="2" name="图片 1" descr="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/>
            <a:srcRect l="23805" t="32128" r="26955" b="32195"/>
            <a:stretch>
              <a:fillRect/>
            </a:stretch>
          </p:blipFill>
          <p:spPr>
            <a:xfrm>
              <a:off x="804" y="303"/>
              <a:ext cx="2408" cy="1196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603" y="1499"/>
              <a:ext cx="2798" cy="52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ZhZmUwYTc5N2FmNWQ4MjVlZTg3ZjZjNThiYzk1ZGYifQ=="/>
  <p:tag name="RESOURCE_RECORD_KEY" val="{&quot;13&quot;:[4680684],&quot;65&quot;:[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ZORDER" val="1"/>
  <p:tag name="KSO_WM_UNIT_TYPE" val="i"/>
  <p:tag name="KSO_WM_UNIT_INDEX" val="1"/>
  <p:tag name="KSO_WM_UNIT_ID" val="_0*i*1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ZORDER" val="2"/>
  <p:tag name="KSO_WM_UNIT_TYPE" val="i"/>
  <p:tag name="KSO_WM_UNIT_INDEX" val="2"/>
  <p:tag name="KSO_WM_UNIT_ID" val="_0*i*2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ZORDER" val="3"/>
  <p:tag name="KSO_WM_UNIT_TYPE" val="i"/>
  <p:tag name="KSO_WM_UNIT_INDEX" val="3"/>
  <p:tag name="KSO_WM_UNIT_ID" val="_0*i*3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ZORDER" val="4"/>
  <p:tag name="KSO_WM_UNIT_TYPE" val="i"/>
  <p:tag name="KSO_WM_UNIT_INDEX" val="4"/>
  <p:tag name="KSO_WM_UNIT_ID" val="_0*i*4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ZORDER" val="10"/>
  <p:tag name="KSO_WM_UNIT_TYPE" val="i"/>
  <p:tag name="KSO_WM_UNIT_INDEX" val="5"/>
  <p:tag name="KSO_WM_UNIT_ID" val="_0*i*5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2"/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3"/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4"/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5"/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6"/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7"/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8"/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9"/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ISNUMDGMTITLE" val="0"/>
  <p:tag name="KSO_WM_TEMPLATE_CATEGORY" val="custom"/>
  <p:tag name="KSO_WM_TEMPLATE_USER_THEME" val="1"/>
  <p:tag name="KSO_WM_TEMPLATE_INDEX" val="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  <p:tag name="KSO_WM_TEMPLATE_CATEGORY" val="custom"/>
  <p:tag name="KSO_WM_TEMPLATE_USER_THEME" val="1"/>
  <p:tag name="KSO_WM_TEMPLATE_INDEX" val="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  <p:tag name="KSO_WM_TEMPLATE_CATEGORY" val="custom"/>
  <p:tag name="KSO_WM_TEMPLATE_USER_THEME" val="1"/>
  <p:tag name="KSO_WM_TEMPLATE_INDEX" val="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ID" val="_2*a*1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CATEGORY" val="custom"/>
  <p:tag name="KSO_WM_TEMPLATE_USER_THEME" val="1"/>
  <p:tag name="KSO_WM_TEMPLATE_INDEX" val="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CATEGORY" val="custom"/>
  <p:tag name="KSO_WM_TEMPLATE_USER_THEME" val="1"/>
  <p:tag name="KSO_WM_TEMPLATE_INDEX" val="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CATEGORY" val="custom"/>
  <p:tag name="KSO_WM_TEMPLATE_USER_THEME" val="1"/>
  <p:tag name="KSO_WM_TEMPLATE_INDEX" val="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CATEGORY" val="custom"/>
  <p:tag name="KSO_WM_TEMPLATE_USER_THEME" val="1"/>
  <p:tag name="KSO_WM_TEMPLATE_INDEX" val="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CATEGORY" val="custom"/>
  <p:tag name="KSO_WM_TEMPLATE_USER_THEME" val="1"/>
  <p:tag name="KSO_WM_TEMPLATE_INDEX" val="7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CATEGORY" val="custom"/>
  <p:tag name="KSO_WM_TEMPLATE_USER_THEME" val="1"/>
  <p:tag name="KSO_WM_TEMPLATE_INDEX" val="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  <p:tag name="KSO_WM_UNIT_ISNUMDGMTITLE" val="0"/>
  <p:tag name="KSO_WM_TEMPLATE_CATEGORY" val="custom"/>
  <p:tag name="KSO_WM_TEMPLATE_USER_THEME" val="1"/>
  <p:tag name="KSO_WM_TEMPLATE_INDEX" val="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b*1"/>
  <p:tag name="KSO_WM_UNIT_LAYERLEVEL" val="1"/>
  <p:tag name="KSO_WM_TAG_VERSION" val="3.0"/>
  <p:tag name="KSO_WM_BEAUTIFY_FLAG" val="#wm#"/>
  <p:tag name="KSO_WM_UNIT_PRESET_TEXT" val="单击此处编辑副标题"/>
  <p:tag name="KSO_WM_UNIT_NOCLEAR" val="0"/>
  <p:tag name="KSO_WM_UNIT_TYPE" val="b"/>
  <p:tag name="KSO_WM_UNIT_INDEX" val="1"/>
  <p:tag name="KSO_WM_UNIT_ISCONTENTSTITLE" val="0"/>
  <p:tag name="KSO_WM_UNIT_ISNUMDGMTITLE" val="0"/>
  <p:tag name="KSO_WM_TEMPLATE_CATEGORY" val="custom"/>
  <p:tag name="KSO_WM_TEMPLATE_USER_THEME" val="1"/>
  <p:tag name="KSO_WM_TEMPLATE_INDEX" val="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  <p:tag name="KSO_WM_TEMPLATE_CATEGORY" val="custom"/>
  <p:tag name="KSO_WM_TEMPLATE_USER_THEME" val="1"/>
  <p:tag name="KSO_WM_TEMPLATE_INDEX" val="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UNIT_ID" val="_5*f*1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2"/>
  <p:tag name="KSO_WM_UNIT_ID" val="_5*f*2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UNIT_ID" val="_6*f*1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2"/>
  <p:tag name="KSO_WM_UNIT_ID" val="_6*f*2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3"/>
  <p:tag name="KSO_WM_UNIT_ID" val="_6*f*3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4"/>
  <p:tag name="KSO_WM_UNIT_ID" val="_6*f*4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ID" val="_6*a*1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ID" val="_7*a*1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UNIT_ID" val="_9*f*1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UNIT_ID" val="_10*f*1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ID" val="_10*a*1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2"/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3"/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4"/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5"/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6"/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7"/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8"/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9"/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7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ISNUMDGMTITLE" val="0"/>
  <p:tag name="KSO_WM_TEMPLATE_CATEGORY" val="custom"/>
  <p:tag name="KSO_WM_TEMPLATE_USER_THEME" val="1"/>
  <p:tag name="KSO_WM_TEMPLATE_INDEX" val="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  <p:tag name="KSO_WM_TEMPLATE_CATEGORY" val="custom"/>
  <p:tag name="KSO_WM_TEMPLATE_USER_THEME" val="1"/>
  <p:tag name="KSO_WM_TEMPLATE_INDEX" val="7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2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  <p:tag name="KSO_WM_TEMPLATE_INDEX" val="7"/>
  <p:tag name="KSO_WM_TEMPLATE_CATEGORY" val="custom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  <p:tag name="KSO_WM_TEMPLATE_INDEX" val="7"/>
  <p:tag name="KSO_WM_TEMPLATE_CATEGORY" val="custom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CATEGORY" val="custom"/>
  <p:tag name="KSO_WM_TEMPLATE_INDEX" val="7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CATEGORY" val="custom"/>
  <p:tag name="KSO_WM_TEMPLATE_INDEX" val="7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_1*a*1"/>
  <p:tag name="KSO_WM_TEMPLATE_CATEGORY" val="custom"/>
  <p:tag name="KSO_WM_TEMPLATE_INDEX" val="7"/>
  <p:tag name="KSO_WM_UNIT_LAYERLEVEL" val="1"/>
  <p:tag name="KSO_WM_TAG_VERSION" val="3.0"/>
  <p:tag name="KSO_WM_BEAUTIFY_FLAG" val="#wm#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INDEX" val="7"/>
  <p:tag name="KSO_WM_TEMPLATE_CATEGORY" val="custo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2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  <p:tag name="KSO_WM_TEMPLATE_INDEX" val="7"/>
  <p:tag name="KSO_WM_TEMPLATE_CATEGORY" val="custo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  <p:tag name="KSO_WM_TEMPLATE_INDEX" val="7"/>
  <p:tag name="KSO_WM_TEMPLATE_CATEGORY" val="custom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0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0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0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ID" val="_7*a*1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LAYERLEVEL" val="1"/>
  <p:tag name="KSO_WM_TEMPLATE_CATEGORY" val="custom"/>
  <p:tag name="KSO_WM_TEMPLATE_USER_THEME" val="1"/>
  <p:tag name="KSO_WM_TEMPLATE_INDEX" val="04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itle"/>
  <p:tag name="KSO_WM_BEAUTIFY_FLAG" val="#wm#"/>
  <p:tag name="KSO_WM_TEMPLATE_CATEGORY" val="custom"/>
  <p:tag name="KSO_WM_TEMPLATE_USER_THEME" val="1"/>
  <p:tag name="KSO_WM_SLIDE_INDEX" val="1"/>
  <p:tag name="KSO_WM_SLIDE_ID" val="custom7_1"/>
  <p:tag name="KSO_WM_SLIDE_LAYOUT" val="a_d_f_j"/>
  <p:tag name="KSO_WM_SLIDE_LAYOUT_CNT" val="1_1_1_1"/>
  <p:tag name="KSO_WM_TEMPLATE_SUBCATEGORY" val="29"/>
  <p:tag name="KSO_WM_TEMPLATE_COLOR_TYPE" val="0"/>
  <p:tag name="KSO_WM_TAG_VERSION" val="3.0"/>
  <p:tag name="KSO_WM_TEMPLATE_PLACEHOLDER_POS" val="144,135,816,405"/>
  <p:tag name="KSO_WM_SLIDE_SUBTYPE" val="pureTxt"/>
  <p:tag name="KSO_WM_SLIDE_ITEM_CNT" val="0"/>
  <p:tag name="KSO_WM_TEMPLATE_INDEX" val="7"/>
  <p:tag name="KSO_WM_SLIDE_THEME_ID" val="20235232"/>
  <p:tag name="KSO_WM_TEMPLATE_THUMBS_INDEX" val="1、9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527_1*a*1"/>
  <p:tag name="KSO_WM_UNIT_LAYERLEVEL" val="1"/>
  <p:tag name="KSO_WM_TEMPLATE_INDEX" val="527"/>
  <p:tag name="KSO_WM_TEMPLATE_CATEGORY" val="custom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j*1"/>
  <p:tag name="KSO_WM_UNIT_LAYERLEVEL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d*1"/>
  <p:tag name="KSO_WM_UNIT_LAYERLEVEL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INDEX" val="7"/>
  <p:tag name="KSO_WM_SLIDE_THEME_ID" val="20233721"/>
  <p:tag name="KSO_WM_SLIDE_INDEX" val="7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7"/>
  <p:tag name="KSO_WM_SLIDE_LAYOUT" val="a_e"/>
  <p:tag name="KSO_WM_SLIDE_LAYOUT_CNT" val="1_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7_7*a*1"/>
  <p:tag name="KSO_WM_BEAUTIFY_FLAG" val="#wm#"/>
  <p:tag name="KSO_WM_TAG_VERSION" val="3.0"/>
  <p:tag name="KSO_WM_UNIT_LAYERLEVEL" val="1"/>
  <p:tag name="KSO_WM_TEMPLATE_INDEX" val="7"/>
  <p:tag name="KSO_WM_TEMPLATE_CATEGORY" val="custom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e"/>
  <p:tag name="KSO_WM_UNIT_INDEX" val="1"/>
  <p:tag name="KSO_WM_UNIT_SUBTYPE" val=""/>
  <p:tag name="KSO_WM_UNIT_PRESET_TEXT" val="01"/>
  <p:tag name="KSO_WM_UNIT_ID" val="custom7_7*e*1"/>
  <p:tag name="KSO_WM_BEAUTIFY_FLAG" val="#wm#"/>
  <p:tag name="KSO_WM_TAG_VERSION" val="3.0"/>
  <p:tag name="KSO_WM_UNIT_LAYERLEVEL" val="1"/>
  <p:tag name="KSO_WM_TEMPLATE_INDEX" val="7"/>
  <p:tag name="KSO_WM_TEMPLATE_CATEGORY" val="custom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j*1"/>
  <p:tag name="KSO_WM_UNIT_LAYERLEVEL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d*1"/>
  <p:tag name="KSO_WM_UNIT_LAYERLEVEL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diag"/>
  <p:tag name="KSO_WM_SLIDE_SIZE" val="674.81*387.403"/>
  <p:tag name="KSO_WM_SLIDE_POSITION" val="256*85.0084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TEMPLATE_INDEX" val="20232481"/>
  <p:tag name="KSO_WM_TEMPLATE_SUBCATEGORY" val="0"/>
  <p:tag name="KSO_WM_SLIDE_INDEX" val="1"/>
  <p:tag name="KSO_WM_TAG_VERSION" val="3.0"/>
  <p:tag name="KSO_WM_SLIDE_ID" val="custom20232481_1"/>
  <p:tag name="KSO_WM_SLIDE_ITEM_CN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j*1"/>
  <p:tag name="KSO_WM_UNIT_LAYERLEVEL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d*1"/>
  <p:tag name="KSO_WM_UNIT_LAYERLEVEL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diag"/>
  <p:tag name="KSO_WM_SLIDE_SIZE" val="674.81*387.403"/>
  <p:tag name="KSO_WM_SLIDE_POSITION" val="256*85.0084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TEMPLATE_INDEX" val="20232481"/>
  <p:tag name="KSO_WM_TEMPLATE_SUBCATEGORY" val="0"/>
  <p:tag name="KSO_WM_SLIDE_INDEX" val="1"/>
  <p:tag name="KSO_WM_TAG_VERSION" val="3.0"/>
  <p:tag name="KSO_WM_SLIDE_ID" val="custom20232481_1"/>
  <p:tag name="KSO_WM_SLIDE_ITEM_CNT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j*1"/>
  <p:tag name="KSO_WM_UNIT_LAYERLEVEL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d*1"/>
  <p:tag name="KSO_WM_UNIT_LAYERLEVEL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INDEX" val="7"/>
  <p:tag name="KSO_WM_SLIDE_THEME_ID" val="20233721"/>
  <p:tag name="KSO_WM_SLIDE_INDEX" val="7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7"/>
  <p:tag name="KSO_WM_SLIDE_LAYOUT" val="a_e"/>
  <p:tag name="KSO_WM_SLIDE_LAYOUT_CNT" val="1_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7_7*a*1"/>
  <p:tag name="KSO_WM_BEAUTIFY_FLAG" val="#wm#"/>
  <p:tag name="KSO_WM_TAG_VERSION" val="3.0"/>
  <p:tag name="KSO_WM_UNIT_LAYERLEVEL" val="1"/>
  <p:tag name="KSO_WM_TEMPLATE_INDEX" val="7"/>
  <p:tag name="KSO_WM_TEMPLATE_CATEGORY" val="custom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e"/>
  <p:tag name="KSO_WM_UNIT_INDEX" val="1"/>
  <p:tag name="KSO_WM_UNIT_SUBTYPE" val=""/>
  <p:tag name="KSO_WM_UNIT_PRESET_TEXT" val="02"/>
  <p:tag name="KSO_WM_UNIT_ID" val="custom7_7*e*1"/>
  <p:tag name="KSO_WM_BEAUTIFY_FLAG" val="#wm#"/>
  <p:tag name="KSO_WM_TAG_VERSION" val="3.0"/>
  <p:tag name="KSO_WM_UNIT_LAYERLEVEL" val="1"/>
  <p:tag name="KSO_WM_TEMPLATE_INDEX" val="7"/>
  <p:tag name="KSO_WM_TEMPLATE_CATEGORY" val="custom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j*1"/>
  <p:tag name="KSO_WM_UNIT_LAYERLEVEL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d*1"/>
  <p:tag name="KSO_WM_UNIT_LAYERLEVEL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diag"/>
  <p:tag name="KSO_WM_SLIDE_SIZE" val="674.81*387.403"/>
  <p:tag name="KSO_WM_SLIDE_POSITION" val="256*85.0084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TEMPLATE_INDEX" val="20232481"/>
  <p:tag name="KSO_WM_TEMPLATE_SUBCATEGORY" val="0"/>
  <p:tag name="KSO_WM_SLIDE_INDEX" val="1"/>
  <p:tag name="KSO_WM_TAG_VERSION" val="3.0"/>
  <p:tag name="KSO_WM_SLIDE_ID" val="custom20232481_1"/>
  <p:tag name="KSO_WM_SLIDE_ITEM_CNT" val="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7_8*a*1"/>
  <p:tag name="KSO_WM_UNIT_LAYERLEVEL" val="1"/>
  <p:tag name="KSO_WM_TEMPLATE_INDEX" val="7"/>
  <p:tag name="KSO_WM_TEMPLATE_CATEGORY" val="custo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j*1"/>
  <p:tag name="KSO_WM_UNIT_LAYERLEVEL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d*1"/>
  <p:tag name="KSO_WM_UNIT_LAYERLEVEL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diag"/>
  <p:tag name="KSO_WM_SLIDE_SIZE" val="674.81*387.403"/>
  <p:tag name="KSO_WM_SLIDE_POSITION" val="256*85.0084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TEMPLATE_INDEX" val="20232481"/>
  <p:tag name="KSO_WM_TEMPLATE_SUBCATEGORY" val="0"/>
  <p:tag name="KSO_WM_SLIDE_INDEX" val="1"/>
  <p:tag name="KSO_WM_TAG_VERSION" val="3.0"/>
  <p:tag name="KSO_WM_SLIDE_ID" val="custom20232481_1"/>
  <p:tag name="KSO_WM_SLIDE_ITEM_CNT" val="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7_8*a*1"/>
  <p:tag name="KSO_WM_UNIT_LAYERLEVEL" val="1"/>
  <p:tag name="KSO_WM_TEMPLATE_INDEX" val="7"/>
  <p:tag name="KSO_WM_TEMPLATE_CATEGORY" val="custom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2*l_h_a*1_1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8.25,&quot;left&quot;:-75.38551181102362,&quot;top&quot;:107.01255905511807,&quot;width&quot;:980.641023622047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2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j*1"/>
  <p:tag name="KSO_WM_UNIT_LAYERLEVEL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d*1"/>
  <p:tag name="KSO_WM_UNIT_LAYERLEVEL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diag"/>
  <p:tag name="KSO_WM_SLIDE_SIZE" val="674.81*387.403"/>
  <p:tag name="KSO_WM_SLIDE_POSITION" val="256*85.0084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TEMPLATE_INDEX" val="20232481"/>
  <p:tag name="KSO_WM_TEMPLATE_SUBCATEGORY" val="0"/>
  <p:tag name="KSO_WM_SLIDE_INDEX" val="1"/>
  <p:tag name="KSO_WM_TAG_VERSION" val="3.0"/>
  <p:tag name="KSO_WM_SLIDE_ID" val="custom20232481_1"/>
  <p:tag name="KSO_WM_SLIDE_ITEM_CN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7_8*a*1"/>
  <p:tag name="KSO_WM_UNIT_LAYERLEVEL" val="1"/>
  <p:tag name="KSO_WM_TEMPLATE_INDEX" val="7"/>
  <p:tag name="KSO_WM_TEMPLATE_CATEGORY" val="custom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j*1"/>
  <p:tag name="KSO_WM_UNIT_LAYERLEVEL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d*1"/>
  <p:tag name="KSO_WM_UNIT_LAYERLEVEL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diag"/>
  <p:tag name="KSO_WM_SLIDE_SIZE" val="674.81*387.403"/>
  <p:tag name="KSO_WM_SLIDE_POSITION" val="256*85.0084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TEMPLATE_INDEX" val="20232481"/>
  <p:tag name="KSO_WM_TEMPLATE_SUBCATEGORY" val="0"/>
  <p:tag name="KSO_WM_SLIDE_INDEX" val="1"/>
  <p:tag name="KSO_WM_TAG_VERSION" val="3.0"/>
  <p:tag name="KSO_WM_SLIDE_ID" val="custom20232481_1"/>
  <p:tag name="KSO_WM_SLIDE_ITEM_CNT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7_8*a*1"/>
  <p:tag name="KSO_WM_UNIT_LAYERLEVEL" val="1"/>
  <p:tag name="KSO_WM_TEMPLATE_INDEX" val="7"/>
  <p:tag name="KSO_WM_TEMPLATE_CATEGORY" val="custom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j*1"/>
  <p:tag name="KSO_WM_UNIT_LAYERLEVEL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d*1"/>
  <p:tag name="KSO_WM_UNIT_LAYERLEVEL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diag"/>
  <p:tag name="KSO_WM_SLIDE_SIZE" val="674.81*387.403"/>
  <p:tag name="KSO_WM_SLIDE_POSITION" val="256*85.0084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TEMPLATE_INDEX" val="20232481"/>
  <p:tag name="KSO_WM_TEMPLATE_SUBCATEGORY" val="0"/>
  <p:tag name="KSO_WM_SLIDE_INDEX" val="1"/>
  <p:tag name="KSO_WM_TAG_VERSION" val="3.0"/>
  <p:tag name="KSO_WM_SLIDE_ID" val="custom20232481_1"/>
  <p:tag name="KSO_WM_SLIDE_ITEM_CNT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7_8*a*1"/>
  <p:tag name="KSO_WM_UNIT_LAYERLEVEL" val="1"/>
  <p:tag name="KSO_WM_TEMPLATE_INDEX" val="7"/>
  <p:tag name="KSO_WM_TEMPLATE_CATEGORY" val="custom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j*1"/>
  <p:tag name="KSO_WM_UNIT_LAYERLEVEL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d*1"/>
  <p:tag name="KSO_WM_UNIT_LAYERLEVEL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INDEX" val="7"/>
  <p:tag name="KSO_WM_SLIDE_THEME_ID" val="20233721"/>
  <p:tag name="KSO_WM_SLIDE_INDEX" val="7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7"/>
  <p:tag name="KSO_WM_SLIDE_LAYOUT" val="a_e"/>
  <p:tag name="KSO_WM_SLIDE_LAYOUT_CNT" val="1_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7_7*a*1"/>
  <p:tag name="KSO_WM_BEAUTIFY_FLAG" val="#wm#"/>
  <p:tag name="KSO_WM_TAG_VERSION" val="3.0"/>
  <p:tag name="KSO_WM_UNIT_LAYERLEVEL" val="1"/>
  <p:tag name="KSO_WM_TEMPLATE_INDEX" val="7"/>
  <p:tag name="KSO_WM_TEMPLATE_CATEGORY" val="custom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e"/>
  <p:tag name="KSO_WM_UNIT_INDEX" val="1"/>
  <p:tag name="KSO_WM_UNIT_SUBTYPE" val=""/>
  <p:tag name="KSO_WM_UNIT_PRESET_TEXT" val="04"/>
  <p:tag name="KSO_WM_UNIT_ID" val="custom7_7*e*1"/>
  <p:tag name="KSO_WM_BEAUTIFY_FLAG" val="#wm#"/>
  <p:tag name="KSO_WM_TAG_VERSION" val="3.0"/>
  <p:tag name="KSO_WM_UNIT_LAYERLEVEL" val="1"/>
  <p:tag name="KSO_WM_TEMPLATE_INDEX" val="7"/>
  <p:tag name="KSO_WM_TEMPLATE_CATEGORY" val="custom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j*1"/>
  <p:tag name="KSO_WM_UNIT_LAYERLEVEL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d*1"/>
  <p:tag name="KSO_WM_UNIT_LAYERLEVEL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diag"/>
  <p:tag name="KSO_WM_SLIDE_SIZE" val="674.81*387.403"/>
  <p:tag name="KSO_WM_SLIDE_POSITION" val="256*85.0084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TEMPLATE_INDEX" val="20232481"/>
  <p:tag name="KSO_WM_TEMPLATE_SUBCATEGORY" val="0"/>
  <p:tag name="KSO_WM_SLIDE_INDEX" val="1"/>
  <p:tag name="KSO_WM_TAG_VERSION" val="3.0"/>
  <p:tag name="KSO_WM_SLIDE_ID" val="custom20232481_1"/>
  <p:tag name="KSO_WM_SLIDE_ITEM_CNT" val="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7_8*a*1"/>
  <p:tag name="KSO_WM_UNIT_LAYERLEVEL" val="1"/>
  <p:tag name="KSO_WM_TEMPLATE_INDEX" val="7"/>
  <p:tag name="KSO_WM_TEMPLATE_CATEGORY" val="custom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2*l_h_a*1_1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8.25,&quot;left&quot;:-75.38551181102362,&quot;top&quot;:107.01255905511807,&quot;width&quot;:980.641023622047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2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diag"/>
  <p:tag name="KSO_WM_SLIDE_SIZE" val="674.81*387.403"/>
  <p:tag name="KSO_WM_SLIDE_POSITION" val="256*85.0084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TEMPLATE_INDEX" val="20232481"/>
  <p:tag name="KSO_WM_TEMPLATE_SUBCATEGORY" val="0"/>
  <p:tag name="KSO_WM_SLIDE_INDEX" val="1"/>
  <p:tag name="KSO_WM_TAG_VERSION" val="3.0"/>
  <p:tag name="KSO_WM_SLIDE_ID" val="custom20232481_1"/>
  <p:tag name="KSO_WM_SLIDE_ITEM_CNT" val="2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7_8*a*1"/>
  <p:tag name="KSO_WM_UNIT_LAYERLEVEL" val="1"/>
  <p:tag name="KSO_WM_TEMPLATE_INDEX" val="7"/>
  <p:tag name="KSO_WM_TEMPLATE_CATEGORY" val="custom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2*l_h_a*1_1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8.25,&quot;left&quot;:-75.38551181102362,&quot;top&quot;:107.01255905511807,&quot;width&quot;:980.641023622047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2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diag"/>
  <p:tag name="KSO_WM_SLIDE_SIZE" val="674.81*387.403"/>
  <p:tag name="KSO_WM_SLIDE_POSITION" val="256*85.0084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TEMPLATE_INDEX" val="20232481"/>
  <p:tag name="KSO_WM_TEMPLATE_SUBCATEGORY" val="0"/>
  <p:tag name="KSO_WM_SLIDE_INDEX" val="1"/>
  <p:tag name="KSO_WM_TAG_VERSION" val="3.0"/>
  <p:tag name="KSO_WM_SLIDE_ID" val="custom20232481_1"/>
  <p:tag name="KSO_WM_SLIDE_ITEM_CNT" val="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7_8*a*1"/>
  <p:tag name="KSO_WM_UNIT_LAYERLEVEL" val="1"/>
  <p:tag name="KSO_WM_TEMPLATE_INDEX" val="7"/>
  <p:tag name="KSO_WM_TEMPLATE_CATEGORY" val="custom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2*l_h_a*1_1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8.25,&quot;left&quot;:-75.38551181102362,&quot;top&quot;:107.01255905511807,&quot;width&quot;:980.641023622047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2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j*1"/>
  <p:tag name="KSO_WM_UNIT_LAYERLEVEL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d*1"/>
  <p:tag name="KSO_WM_UNIT_LAYERLEVEL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diag"/>
  <p:tag name="KSO_WM_SLIDE_SIZE" val="674.81*387.403"/>
  <p:tag name="KSO_WM_SLIDE_POSITION" val="256*85.0084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TEMPLATE_INDEX" val="20232481"/>
  <p:tag name="KSO_WM_TEMPLATE_SUBCATEGORY" val="0"/>
  <p:tag name="KSO_WM_SLIDE_INDEX" val="1"/>
  <p:tag name="KSO_WM_TAG_VERSION" val="3.0"/>
  <p:tag name="KSO_WM_SLIDE_ID" val="custom20232481_1"/>
  <p:tag name="KSO_WM_SLIDE_ITEM_CNT" val="2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2*l_h_a*1_1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8.25,&quot;left&quot;:-75.38551181102362,&quot;top&quot;:107.01255905511807,&quot;width&quot;:980.641023622047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2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7_8*a*1"/>
  <p:tag name="KSO_WM_UNIT_LAYERLEVEL" val="1"/>
  <p:tag name="KSO_WM_TEMPLATE_INDEX" val="7"/>
  <p:tag name="KSO_WM_TEMPLATE_CATEGORY" val="custom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j*1"/>
  <p:tag name="KSO_WM_UNIT_LAYERLEVEL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d*1"/>
  <p:tag name="KSO_WM_UNIT_LAYERLEVEL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diag"/>
  <p:tag name="KSO_WM_SLIDE_SIZE" val="674.81*387.403"/>
  <p:tag name="KSO_WM_SLIDE_POSITION" val="256*85.0084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TEMPLATE_INDEX" val="20232481"/>
  <p:tag name="KSO_WM_TEMPLATE_SUBCATEGORY" val="0"/>
  <p:tag name="KSO_WM_SLIDE_INDEX" val="1"/>
  <p:tag name="KSO_WM_TAG_VERSION" val="3.0"/>
  <p:tag name="KSO_WM_SLIDE_ID" val="custom20232481_1"/>
  <p:tag name="KSO_WM_SLIDE_ITEM_CNT" val="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2*l_h_a*1_1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8.25,&quot;left&quot;:-75.38551181102362,&quot;top&quot;:107.01255905511807,&quot;width&quot;:980.641023622047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2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7_8*a*1"/>
  <p:tag name="KSO_WM_UNIT_LAYERLEVEL" val="1"/>
  <p:tag name="KSO_WM_TEMPLATE_INDEX" val="7"/>
  <p:tag name="KSO_WM_TEMPLATE_CATEGORY" val="custom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j*1"/>
  <p:tag name="KSO_WM_UNIT_LAYERLEVEL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d*1"/>
  <p:tag name="KSO_WM_UNIT_LAYERLEVEL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diag"/>
  <p:tag name="KSO_WM_SLIDE_SIZE" val="674.81*387.403"/>
  <p:tag name="KSO_WM_SLIDE_POSITION" val="256*85.0084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TEMPLATE_INDEX" val="20232481"/>
  <p:tag name="KSO_WM_TEMPLATE_SUBCATEGORY" val="0"/>
  <p:tag name="KSO_WM_SLIDE_INDEX" val="1"/>
  <p:tag name="KSO_WM_TAG_VERSION" val="3.0"/>
  <p:tag name="KSO_WM_SLIDE_ID" val="custom20232481_1"/>
  <p:tag name="KSO_WM_SLIDE_ITEM_CNT" val="2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7_8*a*1"/>
  <p:tag name="KSO_WM_UNIT_LAYERLEVEL" val="1"/>
  <p:tag name="KSO_WM_TEMPLATE_INDEX" val="7"/>
  <p:tag name="KSO_WM_TEMPLATE_CATEGORY" val="custom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2*l_h_a*1_1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8.25,&quot;left&quot;:-75.38551181102362,&quot;top&quot;:107.01255905511807,&quot;width&quot;:980.641023622047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2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j*1"/>
  <p:tag name="KSO_WM_UNIT_LAYERLEVEL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d*1"/>
  <p:tag name="KSO_WM_UNIT_LAYERLEVEL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diag"/>
  <p:tag name="KSO_WM_SLIDE_SIZE" val="674.81*387.403"/>
  <p:tag name="KSO_WM_SLIDE_POSITION" val="256*85.0084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TEMPLATE_INDEX" val="20232481"/>
  <p:tag name="KSO_WM_TEMPLATE_SUBCATEGORY" val="0"/>
  <p:tag name="KSO_WM_SLIDE_INDEX" val="1"/>
  <p:tag name="KSO_WM_TAG_VERSION" val="3.0"/>
  <p:tag name="KSO_WM_SLIDE_ID" val="custom20232481_1"/>
  <p:tag name="KSO_WM_SLIDE_ITEM_CNT" val="2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7_8*a*1"/>
  <p:tag name="KSO_WM_UNIT_LAYERLEVEL" val="1"/>
  <p:tag name="KSO_WM_TEMPLATE_INDEX" val="7"/>
  <p:tag name="KSO_WM_TEMPLATE_CATEGORY" val="custom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2*l_h_a*1_1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8.25,&quot;left&quot;:-75.38551181102362,&quot;top&quot;:107.01255905511807,&quot;width&quot;:980.641023622047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2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j*1"/>
  <p:tag name="KSO_WM_UNIT_LAYERLEVEL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d*1"/>
  <p:tag name="KSO_WM_UNIT_LAYERLEVEL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diag"/>
  <p:tag name="KSO_WM_SLIDE_SIZE" val="674.81*387.403"/>
  <p:tag name="KSO_WM_SLIDE_POSITION" val="256*85.0084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TEMPLATE_INDEX" val="20232481"/>
  <p:tag name="KSO_WM_TEMPLATE_SUBCATEGORY" val="0"/>
  <p:tag name="KSO_WM_SLIDE_INDEX" val="1"/>
  <p:tag name="KSO_WM_TAG_VERSION" val="3.0"/>
  <p:tag name="KSO_WM_SLIDE_ID" val="custom20232481_1"/>
  <p:tag name="KSO_WM_SLIDE_ITEM_CNT" val="2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7_8*a*1"/>
  <p:tag name="KSO_WM_UNIT_LAYERLEVEL" val="1"/>
  <p:tag name="KSO_WM_TEMPLATE_INDEX" val="7"/>
  <p:tag name="KSO_WM_TEMPLATE_CATEGORY" val="custom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44_2*l_h_a*1_1_1"/>
  <p:tag name="KSO_WM_TEMPLATE_CATEGORY" val="diagram"/>
  <p:tag name="KSO_WM_TEMPLATE_INDEX" val="20233144"/>
  <p:tag name="KSO_WM_UNIT_LAYERLEVEL" val="1_1_1"/>
  <p:tag name="KSO_WM_TAG_VERSION" val="3.0"/>
  <p:tag name="KSO_WM_BEAUTIFY_FLAG" val="#wm#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8.25,&quot;left&quot;:-75.38551181102362,&quot;top&quot;:107.01255905511807,&quot;width&quot;:980.641023622047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NOCLEAR" val="0"/>
  <p:tag name="KSO_WM_UNIT_VALUE" val="12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j*1"/>
  <p:tag name="KSO_WM_UNIT_LAYERLEVEL" val="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d*1"/>
  <p:tag name="KSO_WM_UNIT_LAYERLEVEL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INDEX" val="7"/>
  <p:tag name="KSO_WM_SLIDE_THEME_ID" val="20233721"/>
  <p:tag name="KSO_WM_SLIDE_INDEX" val="7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7_7"/>
  <p:tag name="KSO_WM_SLIDE_LAYOUT" val="a_e"/>
  <p:tag name="KSO_WM_SLIDE_LAYOUT_CNT" val="1_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7_7*a*1"/>
  <p:tag name="KSO_WM_BEAUTIFY_FLAG" val="#wm#"/>
  <p:tag name="KSO_WM_TAG_VERSION" val="3.0"/>
  <p:tag name="KSO_WM_UNIT_LAYERLEVEL" val="1"/>
  <p:tag name="KSO_WM_TEMPLATE_INDEX" val="7"/>
  <p:tag name="KSO_WM_TEMPLATE_CATEGORY" val="custom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e"/>
  <p:tag name="KSO_WM_UNIT_INDEX" val="1"/>
  <p:tag name="KSO_WM_UNIT_SUBTYPE" val=""/>
  <p:tag name="KSO_WM_UNIT_PRESET_TEXT" val="04"/>
  <p:tag name="KSO_WM_UNIT_ID" val="custom7_7*e*1"/>
  <p:tag name="KSO_WM_BEAUTIFY_FLAG" val="#wm#"/>
  <p:tag name="KSO_WM_TAG_VERSION" val="3.0"/>
  <p:tag name="KSO_WM_UNIT_LAYERLEVEL" val="1"/>
  <p:tag name="KSO_WM_TEMPLATE_INDEX" val="7"/>
  <p:tag name="KSO_WM_TEMPLATE_CATEGORY" val="custom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j*1"/>
  <p:tag name="KSO_WM_UNIT_LAYERLEVEL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d*1"/>
  <p:tag name="KSO_WM_UNIT_LAYERLEVEL" val="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diag"/>
  <p:tag name="KSO_WM_SLIDE_SIZE" val="674.81*387.403"/>
  <p:tag name="KSO_WM_SLIDE_POSITION" val="256*85.0084"/>
  <p:tag name="KSO_WM_SLIDE_LAYOUT" val="a_l"/>
  <p:tag name="KSO_WM_SLIDE_LAYOUT_CNT" val="1_1"/>
  <p:tag name="KSO_WM_SPECIAL_SOURCE" val="bdnull"/>
  <p:tag name="KSO_WM_DIAGRAM_GROUP_CODE" val="l1-1"/>
  <p:tag name="KSO_WM_SLIDE_DIAGTYPE" val="l"/>
  <p:tag name="KSO_WM_TEMPLATE_INDEX" val="20232481"/>
  <p:tag name="KSO_WM_TEMPLATE_SUBCATEGORY" val="0"/>
  <p:tag name="KSO_WM_SLIDE_INDEX" val="1"/>
  <p:tag name="KSO_WM_TAG_VERSION" val="3.0"/>
  <p:tag name="KSO_WM_SLIDE_ID" val="custom20232481_1"/>
  <p:tag name="KSO_WM_SLIDE_ITEM_CNT" val="2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64_3*l_h_i*1_2_2"/>
  <p:tag name="KSO_WM_TEMPLATE_CATEGORY" val="diagram"/>
  <p:tag name="KSO_WM_TEMPLATE_INDEX" val="2023196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61.5284251968503,&quot;left&quot;:70.87813445804622,&quot;top&quot;:111.87149606299212,&quot;width&quot;:818.24365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964_3*l_h_i*1_3_2"/>
  <p:tag name="KSO_WM_TEMPLATE_CATEGORY" val="diagram"/>
  <p:tag name="KSO_WM_TEMPLATE_INDEX" val="2023196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61.5284251968503,&quot;left&quot;:70.87813445804622,&quot;top&quot;:111.87149606299212,&quot;width&quot;:818.24365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4_3*l_h_i*1_2_1"/>
  <p:tag name="KSO_WM_TEMPLATE_CATEGORY" val="diagram"/>
  <p:tag name="KSO_WM_TEMPLATE_INDEX" val="2023196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61.5284251968503,&quot;left&quot;:70.87813445804622,&quot;top&quot;:111.87149606299212,&quot;width&quot;:818.243652343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6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64_3*l_h_i*1_3_1"/>
  <p:tag name="KSO_WM_TEMPLATE_CATEGORY" val="diagram"/>
  <p:tag name="KSO_WM_TEMPLATE_INDEX" val="2023196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61.5284251968503,&quot;left&quot;:70.87813445804622,&quot;top&quot;:111.87149606299212,&quot;width&quot;:818.24365234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64_3*l_h_i*1_2_2"/>
  <p:tag name="KSO_WM_TEMPLATE_CATEGORY" val="diagram"/>
  <p:tag name="KSO_WM_TEMPLATE_INDEX" val="2023196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61.5284251968503,&quot;left&quot;:70.87813445804622,&quot;top&quot;:111.87149606299212,&quot;width&quot;:818.24365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4_3*l_h_i*1_2_1"/>
  <p:tag name="KSO_WM_TEMPLATE_CATEGORY" val="diagram"/>
  <p:tag name="KSO_WM_TEMPLATE_INDEX" val="2023196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61.5284251968503,&quot;left&quot;:70.87813445804622,&quot;top&quot;:111.87149606299212,&quot;width&quot;:818.243652343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6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4_3*l_h_a*1_1_1"/>
  <p:tag name="KSO_WM_TEMPLATE_CATEGORY" val="diagram"/>
  <p:tag name="KSO_WM_TEMPLATE_INDEX" val="2023196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61.5284251968503,&quot;left&quot;:70.87813445804622,&quot;top&quot;:111.87149606299212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8"/>
  <p:tag name="KSO_WM_UNIT_TEXT_TYPE" val="1"/>
  <p:tag name="KSO_WM_UNIT_PRESET_TEXT" val="此处添加标题"/>
  <p:tag name="KSO_WM_UNIT_TEXT_FILL_FORE_SCHEMECOLOR_INDEX" val="1"/>
  <p:tag name="KSO_WM_UNIT_TEXT_FILL_TYPE" val="1"/>
  <p:tag name="KSO_WM_UNIT_USESOURCEFORMAT_APPLY" val="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j*1"/>
  <p:tag name="KSO_WM_UNIT_LAYERLEVEL" val="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1*d*1"/>
  <p:tag name="KSO_WM_UNIT_LAYERLEVEL" val="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endPage"/>
  <p:tag name="KSO_WM_BEAUTIFY_FLAG" val="#wm#"/>
  <p:tag name="KSO_WM_TEMPLATE_CATEGORY" val="custom"/>
  <p:tag name="KSO_WM_TEMPLATE_USER_THEME" val="1"/>
  <p:tag name="KSO_WM_SLIDE_INDEX" val="9"/>
  <p:tag name="KSO_WM_SLIDE_ID" val="custom7_9"/>
  <p:tag name="KSO_WM_SLIDE_LAYOUT" val="a_d_j"/>
  <p:tag name="KSO_WM_SLIDE_LAYOUT_CNT" val="1_1_1"/>
  <p:tag name="KSO_WM_TEMPLATE_SUBCATEGORY" val="29"/>
  <p:tag name="KSO_WM_TEMPLATE_COLOR_TYPE" val="0"/>
  <p:tag name="KSO_WM_TAG_VERSION" val="3.0"/>
  <p:tag name="KSO_WM_TEMPLATE_PLACEHOLDER_POS" val="144,135,816,405"/>
  <p:tag name="KSO_WM_SLIDE_SUBTYPE" val="pureTxt"/>
  <p:tag name="KSO_WM_SLIDE_ITEM_CNT" val="0"/>
  <p:tag name="KSO_WM_TEMPLATE_INDEX" val="7"/>
  <p:tag name="KSO_WM_SLIDE_THEME_ID" val="20233980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7_9*a*1"/>
  <p:tag name="KSO_WM_UNIT_LAYERLEVEL" val="1"/>
  <p:tag name="KSO_WM_TEMPLATE_INDEX" val="7"/>
  <p:tag name="KSO_WM_TEMPLATE_CATEGORY" val="custom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810ae6a4-f7de-4f0a-90e1-ad7b09537756}"/>
  <p:tag name="KSO_WM_UNIT_TYPE" val="j"/>
  <p:tag name="KSO_WM_DECORATE_TYPE" val="i_lg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9*j*1"/>
  <p:tag name="KSO_WM_UNIT_LAYERLEVEL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d"/>
  <p:tag name="KSO_WM_UNIT_INDEX" val="1"/>
  <p:tag name="KSO_WM_BEAUTIFY_FLAG" val="#wm#"/>
  <p:tag name="KSO_WM_TAG_VERSION" val="3.0"/>
  <p:tag name="KSO_WM_TEMPLATE_INDEX" val="7"/>
  <p:tag name="KSO_WM_TEMPLATE_CATEGORY" val="custom"/>
  <p:tag name="KSO_WM_UNIT_ID" val="custom7_9*d*1"/>
  <p:tag name="KSO_WM_UNIT_LAYERLEVEL" val="1"/>
</p:tagLst>
</file>

<file path=ppt/theme/theme1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123427"/>
      </a:dk2>
      <a:lt2>
        <a:srgbClr val="F5FCF9"/>
      </a:lt2>
      <a:accent1>
        <a:srgbClr val="44BD8F"/>
      </a:accent1>
      <a:accent2>
        <a:srgbClr val="CBF8EA"/>
      </a:accent2>
      <a:accent3>
        <a:srgbClr val="B1F5E0"/>
      </a:accent3>
      <a:accent4>
        <a:srgbClr val="E1FBF3"/>
      </a:accent4>
      <a:accent5>
        <a:srgbClr val="86F4CC"/>
      </a:accent5>
      <a:accent6>
        <a:srgbClr val="6EEECF"/>
      </a:accent6>
      <a:hlink>
        <a:srgbClr val="0026E5"/>
      </a:hlink>
      <a:folHlink>
        <a:srgbClr val="7E1FAD"/>
      </a:folHlink>
    </a:clrScheme>
    <a:fontScheme name="自定义 35">
      <a:majorFont>
        <a:latin typeface="微软雅黑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_3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1625</TotalTime>
  <Words>1362</Words>
  <Application>Microsoft Office PowerPoint</Application>
  <PresentationFormat>宽屏</PresentationFormat>
  <Paragraphs>173</Paragraphs>
  <Slides>28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+中文标题</vt:lpstr>
      <vt:lpstr>-apple-system</vt:lpstr>
      <vt:lpstr>ui-sans-serif</vt:lpstr>
      <vt:lpstr>宋体</vt:lpstr>
      <vt:lpstr>微软雅黑</vt:lpstr>
      <vt:lpstr>Arial</vt:lpstr>
      <vt:lpstr>Calibri</vt:lpstr>
      <vt:lpstr>Times New Roman</vt:lpstr>
      <vt:lpstr>Wingdings</vt:lpstr>
      <vt:lpstr>2_Office 主题​​</vt:lpstr>
      <vt:lpstr>WPS_3</vt:lpstr>
      <vt:lpstr>AI-OS智能决策系统在浙江  德清污水厂应用分析</vt:lpstr>
      <vt:lpstr> 污水厂概况</vt:lpstr>
      <vt:lpstr>1.1处理规模 </vt:lpstr>
      <vt:lpstr>1.2处理工艺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AI智能体调控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智能体效果分析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3.4 出水水质分析 </vt:lpstr>
      <vt:lpstr>3.4 出水水质分析 </vt:lpstr>
      <vt:lpstr>经济效益分析</vt:lpstr>
      <vt:lpstr>PowerPoint 演示文稿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B52</dc:creator>
  <cp:lastModifiedBy>贵 张</cp:lastModifiedBy>
  <cp:revision>565</cp:revision>
  <dcterms:created xsi:type="dcterms:W3CDTF">2019-06-19T02:08:00Z</dcterms:created>
  <dcterms:modified xsi:type="dcterms:W3CDTF">2026-04-29T06:03:15Z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9EE77F46758947D69FC2E7EFFCB9B96D_11</vt:lpwstr>
  </property>
</Properties>
</file>