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10210" r:id="rId2"/>
    <p:sldId id="10335" r:id="rId3"/>
    <p:sldId id="10354" r:id="rId4"/>
    <p:sldId id="10345" r:id="rId5"/>
    <p:sldId id="10353" r:id="rId6"/>
    <p:sldId id="10349" r:id="rId7"/>
    <p:sldId id="10355" r:id="rId8"/>
    <p:sldId id="10356" r:id="rId9"/>
    <p:sldId id="10357" r:id="rId10"/>
    <p:sldId id="10358" r:id="rId11"/>
    <p:sldId id="10359" r:id="rId12"/>
    <p:sldId id="10360" r:id="rId13"/>
    <p:sldId id="418" r:id="rId14"/>
  </p:sldIdLst>
  <p:sldSz cx="12192000" cy="6858000"/>
  <p:notesSz cx="6797675" cy="9926638"/>
  <p:custDataLst>
    <p:tags r:id="rId17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737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52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本" initials="本" lastIdx="1" clrIdx="0"/>
  <p:cmAuthor id="2" name="Jason" initials="J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DBA"/>
    <a:srgbClr val="6DABD8"/>
    <a:srgbClr val="7EB7D8"/>
    <a:srgbClr val="F6F6F6"/>
    <a:srgbClr val="BFD732"/>
    <a:srgbClr val="FFFFFF"/>
    <a:srgbClr val="2094CE"/>
    <a:srgbClr val="F8F8FA"/>
    <a:srgbClr val="CACACA"/>
    <a:srgbClr val="446D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35" autoAdjust="0"/>
    <p:restoredTop sz="86332" autoAdjust="0"/>
  </p:normalViewPr>
  <p:slideViewPr>
    <p:cSldViewPr snapToGrid="0">
      <p:cViewPr varScale="1">
        <p:scale>
          <a:sx n="96" d="100"/>
          <a:sy n="96" d="100"/>
        </p:scale>
        <p:origin x="92" y="52"/>
      </p:cViewPr>
      <p:guideLst>
        <p:guide pos="3737"/>
        <p:guide orient="horz" pos="2160"/>
      </p:guideLst>
    </p:cSldViewPr>
  </p:slideViewPr>
  <p:outlineViewPr>
    <p:cViewPr>
      <p:scale>
        <a:sx n="33" d="100"/>
        <a:sy n="33" d="100"/>
      </p:scale>
      <p:origin x="0" y="-180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4260"/>
    </p:cViewPr>
  </p:sorterViewPr>
  <p:notesViewPr>
    <p:cSldViewPr snapToGrid="0">
      <p:cViewPr varScale="1">
        <p:scale>
          <a:sx n="47" d="100"/>
          <a:sy n="47" d="100"/>
        </p:scale>
        <p:origin x="2792" y="48"/>
      </p:cViewPr>
      <p:guideLst>
        <p:guide orient="horz" pos="3252"/>
        <p:guide pos="2141"/>
      </p:guideLst>
    </p:cSldViewPr>
  </p:notes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9135A90-B6C7-4DA4-BD33-3A240A77BB8C}" type="datetimeFigureOut">
              <a:rPr lang="zh-CN" altLang="en-US"/>
              <a:t>2026-04-21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DFB826EF-C3E9-4C5A-8F5E-C9EDAF071AEA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0D130321-0F65-4BC9-8A6C-8A8C5484039F}" type="datetimeFigureOut">
              <a:rPr lang="zh-CN" altLang="en-US"/>
              <a:t>2026-04-21</a:t>
            </a:fld>
            <a:endParaRPr lang="zh-CN" altLang="en-US"/>
          </a:p>
        </p:txBody>
      </p:sp>
      <p:sp>
        <p:nvSpPr>
          <p:cNvPr id="7172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</a:ln>
        </p:spPr>
      </p:sp>
      <p:sp>
        <p:nvSpPr>
          <p:cNvPr id="9221" name="备注占位符 4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679768" y="4777194"/>
            <a:ext cx="5438140" cy="390861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431FBF55-2C81-49EB-ADF0-0995E9D08B34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2" descr="002-0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588"/>
            <a:ext cx="12192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 descr="logo文字带英文与中文左右排列">
            <a:extLst>
              <a:ext uri="{FF2B5EF4-FFF2-40B4-BE49-F238E27FC236}">
                <a16:creationId xmlns:a16="http://schemas.microsoft.com/office/drawing/2014/main" id="{C6EDB94D-3CEC-46A8-F24C-0DFDBE959C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58758" y="127221"/>
            <a:ext cx="1882140" cy="4533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002-0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588"/>
            <a:ext cx="12192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角三角形 2"/>
          <p:cNvSpPr>
            <a:spLocks noChangeArrowheads="1"/>
          </p:cNvSpPr>
          <p:nvPr userDrawn="1"/>
        </p:nvSpPr>
        <p:spPr bwMode="auto">
          <a:xfrm rot="5400000">
            <a:off x="165894" y="229394"/>
            <a:ext cx="274638" cy="273050"/>
          </a:xfrm>
          <a:prstGeom prst="rtTriangle">
            <a:avLst/>
          </a:prstGeom>
          <a:solidFill>
            <a:srgbClr val="0043A5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endParaRPr lang="zh-CN" altLang="en-US">
              <a:solidFill>
                <a:srgbClr val="0043A5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Isosceles Triangle 3"/>
          <p:cNvSpPr/>
          <p:nvPr userDrawn="1"/>
        </p:nvSpPr>
        <p:spPr>
          <a:xfrm rot="16200000">
            <a:off x="11626850" y="6221413"/>
            <a:ext cx="358775" cy="774700"/>
          </a:xfrm>
          <a:prstGeom prst="triangle">
            <a:avLst/>
          </a:prstGeom>
          <a:solidFill>
            <a:srgbClr val="0E57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0" tIns="0" rIns="0" bIns="0" anchor="ctr"/>
          <a:lstStyle/>
          <a:p>
            <a:pPr algn="ctr" eaLnBrk="1" hangingPunct="1"/>
            <a:fld id="{D6ED0BA3-7E75-4C26-B4B8-F12C990C7A51}" type="slidenum">
              <a:rPr lang="zh-CN" altLang="en-US" sz="1200">
                <a:solidFill>
                  <a:srgbClr val="FFFFFF"/>
                </a:solidFill>
              </a:rPr>
              <a:t>‹#›</a:t>
            </a:fld>
            <a:endParaRPr lang="zh-CN" altLang="en-US" sz="1200">
              <a:solidFill>
                <a:srgbClr val="FFFFFF"/>
              </a:solidFill>
            </a:endParaRPr>
          </a:p>
        </p:txBody>
      </p:sp>
      <p:pic>
        <p:nvPicPr>
          <p:cNvPr id="5" name="图片 4" descr="logo文字带英文与中文左右排列">
            <a:extLst>
              <a:ext uri="{FF2B5EF4-FFF2-40B4-BE49-F238E27FC236}">
                <a16:creationId xmlns:a16="http://schemas.microsoft.com/office/drawing/2014/main" id="{E55C29AE-8285-51BC-6A0B-0D86351898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8758" y="127221"/>
            <a:ext cx="1882140" cy="4533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logo文字带英文与中文左右排列">
            <a:extLst>
              <a:ext uri="{FF2B5EF4-FFF2-40B4-BE49-F238E27FC236}">
                <a16:creationId xmlns:a16="http://schemas.microsoft.com/office/drawing/2014/main" id="{C654F6C1-9057-AC68-44AC-8153428C62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8758" y="127221"/>
            <a:ext cx="1882140" cy="4533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D15DCF-B6C0-436A-B323-0F6F8456F11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 descr="logo文字带英文与中文左右排列">
            <a:extLst>
              <a:ext uri="{FF2B5EF4-FFF2-40B4-BE49-F238E27FC236}">
                <a16:creationId xmlns:a16="http://schemas.microsoft.com/office/drawing/2014/main" id="{0428E576-3439-CDE9-1C1C-201ECED9CD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8758" y="127221"/>
            <a:ext cx="1882140" cy="4533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" y="0"/>
            <a:ext cx="12191999" cy="1032038"/>
          </a:xfrm>
          <a:prstGeom prst="rect">
            <a:avLst/>
          </a:prstGeom>
        </p:spPr>
        <p:txBody>
          <a:bodyPr lIns="539959" tIns="45717" rIns="91433" bIns="45717" anchor="ctr">
            <a:normAutofit/>
          </a:bodyPr>
          <a:lstStyle>
            <a:lvl1pPr algn="l"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964" y="-92"/>
            <a:ext cx="12224107" cy="1444752"/>
          </a:xfrm>
          <a:prstGeom prst="rect">
            <a:avLst/>
          </a:prstGeom>
        </p:spPr>
      </p:pic>
      <p:pic>
        <p:nvPicPr>
          <p:cNvPr id="9" name="图片 8" descr="MTC Logo-Registered.png"/>
          <p:cNvPicPr>
            <a:picLocks noChangeAspect="1"/>
          </p:cNvPicPr>
          <p:nvPr userDrawn="1"/>
        </p:nvPicPr>
        <p:blipFill>
          <a:blip r:embed="rId3" cstate="screen">
            <a:biLevel thresh="25000"/>
          </a:blip>
          <a:stretch>
            <a:fillRect/>
          </a:stretch>
        </p:blipFill>
        <p:spPr>
          <a:xfrm>
            <a:off x="10867300" y="389628"/>
            <a:ext cx="1171191" cy="292798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 userDrawn="1"/>
        </p:nvSpPr>
        <p:spPr>
          <a:xfrm>
            <a:off x="-1151731" y="580173"/>
            <a:ext cx="511961" cy="204069"/>
          </a:xfrm>
          <a:prstGeom prst="rect">
            <a:avLst/>
          </a:prstGeom>
          <a:solidFill>
            <a:srgbClr val="0E43F0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-1151731" y="354504"/>
            <a:ext cx="511962" cy="204069"/>
          </a:xfrm>
          <a:prstGeom prst="rect">
            <a:avLst/>
          </a:prstGeom>
          <a:solidFill>
            <a:srgbClr val="718EF7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-1151731" y="128835"/>
            <a:ext cx="511961" cy="204069"/>
          </a:xfrm>
          <a:prstGeom prst="rect">
            <a:avLst/>
          </a:prstGeom>
          <a:solidFill>
            <a:srgbClr val="A1B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6" name="矩形 25"/>
          <p:cNvSpPr/>
          <p:nvPr userDrawn="1"/>
        </p:nvSpPr>
        <p:spPr>
          <a:xfrm>
            <a:off x="-567762" y="576007"/>
            <a:ext cx="511961" cy="20406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7" name="矩形 26"/>
          <p:cNvSpPr/>
          <p:nvPr userDrawn="1"/>
        </p:nvSpPr>
        <p:spPr>
          <a:xfrm>
            <a:off x="-567762" y="350338"/>
            <a:ext cx="511962" cy="204069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-567762" y="124669"/>
            <a:ext cx="511961" cy="204069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Rectangle 37"/>
          <p:cNvSpPr/>
          <p:nvPr userDrawn="1"/>
        </p:nvSpPr>
        <p:spPr bwMode="auto">
          <a:xfrm>
            <a:off x="8906623" y="6558176"/>
            <a:ext cx="3833840" cy="16184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zh-CN" altLang="en-US" sz="1000" b="0" i="0" spc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Microsoft YaHei Bold" charset="0"/>
              </a:rPr>
              <a:t>版权所有</a:t>
            </a:r>
            <a:r>
              <a:rPr lang="en-US" altLang="zh-CN" sz="1000" b="0" i="0" spc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 charset="0"/>
              </a:rPr>
              <a:t>©1996-2022 </a:t>
            </a:r>
            <a:r>
              <a:rPr lang="zh-CN" altLang="en-US" sz="10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 charset="0"/>
              </a:rPr>
              <a:t>普菲特计算机技术股份有限公司</a:t>
            </a:r>
            <a:endParaRPr lang="zh-CN" altLang="en-US" sz="1000" b="0" i="0" spc="0" baseline="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Microsoft YaHei Bold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60" y="6408995"/>
            <a:ext cx="1169634" cy="39469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8536" y="138194"/>
            <a:ext cx="1197968" cy="27019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 spc="300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32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rtl="0" eaLnBrk="0" fontAlgn="base" hangingPunct="0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</a:tabLst>
        <a:defRPr sz="16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</a:tabLst>
        <a:defRPr sz="16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pitchFamily="2" charset="2"/>
        <a:buChar char=""/>
        <a:tabLst>
          <a:tab pos="1609725" algn="l"/>
        </a:tabLst>
        <a:defRPr sz="14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tabLst>
          <a:tab pos="1609725" algn="l"/>
        </a:tabLst>
        <a:defRPr sz="14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pms.xtfnai.com/#/auth/login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755869" y="1217384"/>
            <a:ext cx="8648521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6000" b="1" dirty="0"/>
              <a:t>PMS</a:t>
            </a:r>
            <a:r>
              <a:rPr lang="zh-CN" altLang="en-US" sz="6000" b="1" dirty="0"/>
              <a:t>业财一体化</a:t>
            </a:r>
            <a:endParaRPr lang="en-US" altLang="zh-CN" sz="6000" b="1" dirty="0"/>
          </a:p>
          <a:p>
            <a:pPr algn="ctr"/>
            <a:r>
              <a:rPr lang="zh-CN" altLang="en-US" sz="6000" b="1" dirty="0"/>
              <a:t>一期上线培训及需求调研</a:t>
            </a:r>
            <a:endParaRPr lang="en-US" altLang="zh-CN" sz="6000" b="1" dirty="0"/>
          </a:p>
        </p:txBody>
      </p:sp>
      <p:sp>
        <p:nvSpPr>
          <p:cNvPr id="2" name="文本框 31">
            <a:extLst>
              <a:ext uri="{FF2B5EF4-FFF2-40B4-BE49-F238E27FC236}">
                <a16:creationId xmlns:a16="http://schemas.microsoft.com/office/drawing/2014/main" id="{AC550207-EEB7-380A-9BFA-68A84AE9D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2197" y="3539843"/>
            <a:ext cx="4987606" cy="390602"/>
          </a:xfrm>
          <a:prstGeom prst="rect">
            <a:avLst/>
          </a:prstGeom>
          <a:noFill/>
          <a:ln w="12700">
            <a:noFill/>
            <a:round/>
          </a:ln>
        </p:spPr>
        <p:txBody>
          <a:bodyPr lIns="0" tIns="0" rIns="0" bIns="0" anchor="ctr"/>
          <a:lstStyle/>
          <a:p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昕彤赋能（长沙）人工智能行业应用系统有限公司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42C6A7-6CD2-7F95-4498-F0984DF34E64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400" dirty="0">
                <a:latin typeface="微软雅黑" panose="020B0503020204020204" pitchFamily="34" charset="-122"/>
              </a:rPr>
              <a:t>PMS</a:t>
            </a:r>
            <a:r>
              <a:rPr lang="zh-CN" altLang="en-US" sz="2400" dirty="0">
                <a:latin typeface="微软雅黑" panose="020B0503020204020204" pitchFamily="34" charset="-122"/>
              </a:rPr>
              <a:t>业财一体化平台目标</a:t>
            </a:r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89A754AC-DD45-E943-F253-2F5D473E9F5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9738" y="119416"/>
            <a:ext cx="360000" cy="360000"/>
          </a:xfrm>
          <a:prstGeom prst="rtTriangle">
            <a:avLst/>
          </a:prstGeom>
          <a:solidFill>
            <a:srgbClr val="0043A5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endParaRPr lang="zh-CN" altLang="en-US">
              <a:solidFill>
                <a:srgbClr val="0043A5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01B888C-7611-B536-DCB6-12C589210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507" y="805705"/>
            <a:ext cx="5269044" cy="1604892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3E7C4AAD-16F2-E605-1819-51977AE27D02}"/>
              </a:ext>
            </a:extLst>
          </p:cNvPr>
          <p:cNvSpPr/>
          <p:nvPr/>
        </p:nvSpPr>
        <p:spPr>
          <a:xfrm>
            <a:off x="749507" y="2671842"/>
            <a:ext cx="5269043" cy="695199"/>
          </a:xfrm>
          <a:prstGeom prst="roundRect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正式合同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0FB8A8A-5472-8BD1-A3F6-951471944AF7}"/>
              </a:ext>
            </a:extLst>
          </p:cNvPr>
          <p:cNvSpPr/>
          <p:nvPr/>
        </p:nvSpPr>
        <p:spPr>
          <a:xfrm>
            <a:off x="749504" y="3532277"/>
            <a:ext cx="5269043" cy="695199"/>
          </a:xfrm>
          <a:prstGeom prst="roundRect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试运行合同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2F46D0E0-421A-AC3E-FAE1-8049C8A177CF}"/>
              </a:ext>
            </a:extLst>
          </p:cNvPr>
          <p:cNvSpPr/>
          <p:nvPr/>
        </p:nvSpPr>
        <p:spPr>
          <a:xfrm>
            <a:off x="6438276" y="2728242"/>
            <a:ext cx="1296650" cy="749508"/>
          </a:xfrm>
          <a:prstGeom prst="rightArrow">
            <a:avLst/>
          </a:prstGeom>
          <a:solidFill>
            <a:srgbClr val="004DBA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4D57399-13BF-81D0-DE03-906A103EC286}"/>
              </a:ext>
            </a:extLst>
          </p:cNvPr>
          <p:cNvSpPr/>
          <p:nvPr/>
        </p:nvSpPr>
        <p:spPr>
          <a:xfrm>
            <a:off x="7869837" y="805705"/>
            <a:ext cx="3924924" cy="4519311"/>
          </a:xfrm>
          <a:prstGeom prst="roundRect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7C37481-EC26-D0AA-13A5-CC936D50F8E5}"/>
              </a:ext>
            </a:extLst>
          </p:cNvPr>
          <p:cNvSpPr txBox="1"/>
          <p:nvPr/>
        </p:nvSpPr>
        <p:spPr>
          <a:xfrm>
            <a:off x="8127170" y="1045596"/>
            <a:ext cx="3102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基于</a:t>
            </a:r>
            <a:r>
              <a:rPr lang="en-US" altLang="zh-CN" sz="1600" b="1" dirty="0"/>
              <a:t>BPM</a:t>
            </a:r>
            <a:r>
              <a:rPr lang="zh-CN" altLang="en-US" sz="1600" b="1" dirty="0"/>
              <a:t>的项目财务一体化平台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7ED98FC-1DC3-DF1B-AA56-B74E9A9FBD0A}"/>
              </a:ext>
            </a:extLst>
          </p:cNvPr>
          <p:cNvSpPr txBox="1"/>
          <p:nvPr/>
        </p:nvSpPr>
        <p:spPr>
          <a:xfrm>
            <a:off x="8122172" y="1790349"/>
            <a:ext cx="33203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</a:t>
            </a:r>
            <a:r>
              <a:rPr lang="zh-CN" altLang="en-US" sz="1600" dirty="0"/>
              <a:t>、包含业务到财务的全流程管理，解决数据同源、流程联动；解决业务财务两张皮，业务触发财务，财务反馈业务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CB8F90C-78D3-435A-0D57-EA50B09D0530}"/>
              </a:ext>
            </a:extLst>
          </p:cNvPr>
          <p:cNvSpPr txBox="1"/>
          <p:nvPr/>
        </p:nvSpPr>
        <p:spPr>
          <a:xfrm>
            <a:off x="8122171" y="3315960"/>
            <a:ext cx="33203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2</a:t>
            </a:r>
            <a:r>
              <a:rPr lang="zh-CN" altLang="en-US" sz="1600" dirty="0"/>
              <a:t>、财务：事前管控与实时洞察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18F6B9E-F24C-19C4-44FC-CAD6F3169FFA}"/>
              </a:ext>
            </a:extLst>
          </p:cNvPr>
          <p:cNvSpPr txBox="1"/>
          <p:nvPr/>
        </p:nvSpPr>
        <p:spPr>
          <a:xfrm>
            <a:off x="8122170" y="4145400"/>
            <a:ext cx="33203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3</a:t>
            </a:r>
            <a:r>
              <a:rPr lang="zh-CN" altLang="en-US" sz="1600" dirty="0"/>
              <a:t>、业务：全局协同与闭环管理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0281DE3-4B7D-1C00-E812-55407C3035C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64633" y="5399458"/>
            <a:ext cx="11235055" cy="1116781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85000"/>
                <a:alpha val="38000"/>
              </a:schemeClr>
            </a:outerShdw>
          </a:effectLst>
        </p:spPr>
        <p:txBody>
          <a:bodyPr wrap="square" rtlCol="0">
            <a:spAutoFit/>
          </a:bodyPr>
          <a:lstStyle/>
          <a:p>
            <a:pPr indent="457200" algn="ctr">
              <a:lnSpc>
                <a:spcPct val="200000"/>
              </a:lnSpc>
            </a:pPr>
            <a:r>
              <a:rPr b="1" dirty="0" err="1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</a:t>
            </a:r>
            <a:r>
              <a:rPr b="1" dirty="0" err="1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</a:t>
            </a:r>
            <a:r>
              <a:rPr b="1" dirty="0" err="1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为主线，实现从</a:t>
            </a:r>
            <a:r>
              <a:rPr lang="zh-CN" altLang="en-US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项目需求方案、</a:t>
            </a:r>
            <a:r>
              <a:rPr b="1" dirty="0" err="1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项目立项、项目预算、项目合同、项目收入</a:t>
            </a:r>
            <a:r>
              <a:rPr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/成本/利润、项目计划/执行/反馈</a:t>
            </a:r>
            <a:r>
              <a:rPr 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</a:t>
            </a:r>
            <a:r>
              <a:rPr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b="1" dirty="0" err="1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到项目</a:t>
            </a:r>
            <a:r>
              <a:rPr 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财务</a:t>
            </a:r>
            <a:r>
              <a:rPr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、项目</a:t>
            </a:r>
            <a:r>
              <a:rPr 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分析</a:t>
            </a:r>
            <a:r>
              <a:rPr b="1" dirty="0" err="1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b="1" dirty="0" err="1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业财一体化管理</a:t>
            </a:r>
            <a:r>
              <a:rPr b="1" dirty="0" err="1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。帮助企业规范业务流程，促进</a:t>
            </a:r>
            <a:r>
              <a:rPr 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</a:t>
            </a:r>
            <a:r>
              <a:rPr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利润提升！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D3F2F48-04B1-1E7E-E9A8-0A981C6EEC0E}"/>
              </a:ext>
            </a:extLst>
          </p:cNvPr>
          <p:cNvSpPr/>
          <p:nvPr/>
        </p:nvSpPr>
        <p:spPr>
          <a:xfrm>
            <a:off x="749504" y="4392712"/>
            <a:ext cx="5269043" cy="695199"/>
          </a:xfrm>
          <a:prstGeom prst="roundRect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试用</a:t>
            </a:r>
          </a:p>
        </p:txBody>
      </p:sp>
    </p:spTree>
    <p:extLst>
      <p:ext uri="{BB962C8B-B14F-4D97-AF65-F5344CB8AC3E}">
        <p14:creationId xmlns:p14="http://schemas.microsoft.com/office/powerpoint/2010/main" val="212343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2F8B4B7B-B718-8B05-C072-498B73B1AAE0}"/>
              </a:ext>
            </a:extLst>
          </p:cNvPr>
          <p:cNvSpPr/>
          <p:nvPr/>
        </p:nvSpPr>
        <p:spPr>
          <a:xfrm>
            <a:off x="9733725" y="1805613"/>
            <a:ext cx="2027583" cy="3317739"/>
          </a:xfrm>
          <a:prstGeom prst="roundRect">
            <a:avLst/>
          </a:prstGeom>
          <a:solidFill>
            <a:srgbClr val="FFC000">
              <a:alpha val="0"/>
            </a:srgbClr>
          </a:solidFill>
          <a:ln w="3492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E462DFAD-E720-FCB3-5A47-3D03DEB684CD}"/>
              </a:ext>
            </a:extLst>
          </p:cNvPr>
          <p:cNvSpPr/>
          <p:nvPr/>
        </p:nvSpPr>
        <p:spPr>
          <a:xfrm>
            <a:off x="143877" y="4565374"/>
            <a:ext cx="1850578" cy="567917"/>
          </a:xfrm>
          <a:prstGeom prst="roundRect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客户管理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7C9A126-89FF-CF47-DE92-D2C7F8DF3969}"/>
              </a:ext>
            </a:extLst>
          </p:cNvPr>
          <p:cNvSpPr/>
          <p:nvPr/>
        </p:nvSpPr>
        <p:spPr>
          <a:xfrm>
            <a:off x="143877" y="3882888"/>
            <a:ext cx="1850578" cy="567917"/>
          </a:xfrm>
          <a:prstGeom prst="roundRect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项目需求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47F85B5-DAFB-5B3D-53BC-84B84BE7D6AB}"/>
              </a:ext>
            </a:extLst>
          </p:cNvPr>
          <p:cNvSpPr/>
          <p:nvPr/>
        </p:nvSpPr>
        <p:spPr>
          <a:xfrm>
            <a:off x="143877" y="3190463"/>
            <a:ext cx="1850578" cy="567917"/>
          </a:xfrm>
          <a:prstGeom prst="roundRect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调研问卷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DE86D6E-AA07-215A-FBB8-C4D1985717C4}"/>
              </a:ext>
            </a:extLst>
          </p:cNvPr>
          <p:cNvSpPr/>
          <p:nvPr/>
        </p:nvSpPr>
        <p:spPr>
          <a:xfrm>
            <a:off x="143877" y="2507977"/>
            <a:ext cx="1850578" cy="567917"/>
          </a:xfrm>
          <a:prstGeom prst="roundRect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项目方案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6506CF8-CEB8-9CB8-C46C-CE70A6E14D40}"/>
              </a:ext>
            </a:extLst>
          </p:cNvPr>
          <p:cNvSpPr/>
          <p:nvPr/>
        </p:nvSpPr>
        <p:spPr>
          <a:xfrm>
            <a:off x="143877" y="1815552"/>
            <a:ext cx="1850578" cy="567917"/>
          </a:xfrm>
          <a:prstGeom prst="roundRect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项目实施通知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17202B7-E5D2-46EC-3A8F-04F49E3FA9E6}"/>
              </a:ext>
            </a:extLst>
          </p:cNvPr>
          <p:cNvSpPr/>
          <p:nvPr/>
        </p:nvSpPr>
        <p:spPr>
          <a:xfrm>
            <a:off x="2052194" y="4565374"/>
            <a:ext cx="1850578" cy="567917"/>
          </a:xfrm>
          <a:prstGeom prst="roundRect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项目立项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3B47C61-AA76-4721-609F-3154692B83B5}"/>
              </a:ext>
            </a:extLst>
          </p:cNvPr>
          <p:cNvSpPr/>
          <p:nvPr/>
        </p:nvSpPr>
        <p:spPr>
          <a:xfrm>
            <a:off x="2052194" y="3882888"/>
            <a:ext cx="1850578" cy="567917"/>
          </a:xfrm>
          <a:prstGeom prst="roundRect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项目计划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842C5C2-ACA8-339C-F3E0-7C9ABF607EF1}"/>
              </a:ext>
            </a:extLst>
          </p:cNvPr>
          <p:cNvSpPr/>
          <p:nvPr/>
        </p:nvSpPr>
        <p:spPr>
          <a:xfrm>
            <a:off x="2052194" y="3190463"/>
            <a:ext cx="1850578" cy="567917"/>
          </a:xfrm>
          <a:prstGeom prst="roundRect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进度填报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B1BD082-C010-482C-C775-8408DC95E236}"/>
              </a:ext>
            </a:extLst>
          </p:cNvPr>
          <p:cNvSpPr/>
          <p:nvPr/>
        </p:nvSpPr>
        <p:spPr>
          <a:xfrm>
            <a:off x="2052194" y="2507977"/>
            <a:ext cx="1850578" cy="567917"/>
          </a:xfrm>
          <a:prstGeom prst="roundRect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项目监控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49D0C0F-6B25-214B-93A7-11146A9804D6}"/>
              </a:ext>
            </a:extLst>
          </p:cNvPr>
          <p:cNvSpPr/>
          <p:nvPr/>
        </p:nvSpPr>
        <p:spPr>
          <a:xfrm>
            <a:off x="2052194" y="1815552"/>
            <a:ext cx="1850578" cy="567917"/>
          </a:xfrm>
          <a:prstGeom prst="roundRect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需求监控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4870B60-F59E-6F16-6652-49AC4E17B46E}"/>
              </a:ext>
            </a:extLst>
          </p:cNvPr>
          <p:cNvSpPr/>
          <p:nvPr/>
        </p:nvSpPr>
        <p:spPr>
          <a:xfrm>
            <a:off x="143877" y="1123127"/>
            <a:ext cx="11723445" cy="567917"/>
          </a:xfrm>
          <a:prstGeom prst="roundRect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报表管理（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WBS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任务看板、智能体监控、需求跟踪等）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98B7BBE-079D-BD7A-3A31-3DE4F10A5912}"/>
              </a:ext>
            </a:extLst>
          </p:cNvPr>
          <p:cNvSpPr/>
          <p:nvPr/>
        </p:nvSpPr>
        <p:spPr>
          <a:xfrm>
            <a:off x="3973763" y="4565374"/>
            <a:ext cx="1850578" cy="567917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收款核销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8644FDE-613F-5111-ECE5-7FFE5E356FBF}"/>
              </a:ext>
            </a:extLst>
          </p:cNvPr>
          <p:cNvSpPr/>
          <p:nvPr/>
        </p:nvSpPr>
        <p:spPr>
          <a:xfrm>
            <a:off x="3973763" y="3882888"/>
            <a:ext cx="1850578" cy="567917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收款计划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F77C86C-9CBC-B01E-ABE7-85FF04A1608E}"/>
              </a:ext>
            </a:extLst>
          </p:cNvPr>
          <p:cNvSpPr/>
          <p:nvPr/>
        </p:nvSpPr>
        <p:spPr>
          <a:xfrm>
            <a:off x="3973763" y="3190463"/>
            <a:ext cx="1850578" cy="567917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支出合同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8701F8B-791E-2C42-7705-DF9FDCA0F8A5}"/>
              </a:ext>
            </a:extLst>
          </p:cNvPr>
          <p:cNvSpPr/>
          <p:nvPr/>
        </p:nvSpPr>
        <p:spPr>
          <a:xfrm>
            <a:off x="3973763" y="2507977"/>
            <a:ext cx="1850578" cy="567917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费用报销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82528CB-5D29-EBD1-96CD-D5784BE3B7BA}"/>
              </a:ext>
            </a:extLst>
          </p:cNvPr>
          <p:cNvSpPr/>
          <p:nvPr/>
        </p:nvSpPr>
        <p:spPr>
          <a:xfrm>
            <a:off x="3973763" y="1815552"/>
            <a:ext cx="1850578" cy="567917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项目预算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46115C0-4BB5-3C0F-7D3D-3D1D75A285FF}"/>
              </a:ext>
            </a:extLst>
          </p:cNvPr>
          <p:cNvSpPr/>
          <p:nvPr/>
        </p:nvSpPr>
        <p:spPr>
          <a:xfrm>
            <a:off x="5895332" y="4565374"/>
            <a:ext cx="1850578" cy="567917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项目变更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A1F4328-506E-DBFA-C6DE-64FC38F1748E}"/>
              </a:ext>
            </a:extLst>
          </p:cNvPr>
          <p:cNvSpPr/>
          <p:nvPr/>
        </p:nvSpPr>
        <p:spPr>
          <a:xfrm>
            <a:off x="5895332" y="3882888"/>
            <a:ext cx="1850578" cy="567917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合同变更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7CDFE572-D53F-CAE0-6CFD-8C652E958D25}"/>
              </a:ext>
            </a:extLst>
          </p:cNvPr>
          <p:cNvSpPr/>
          <p:nvPr/>
        </p:nvSpPr>
        <p:spPr>
          <a:xfrm>
            <a:off x="5895332" y="3190463"/>
            <a:ext cx="1850578" cy="567917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销售管理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4C435CC-AAF0-CAFF-7D66-3076E9185176}"/>
              </a:ext>
            </a:extLst>
          </p:cNvPr>
          <p:cNvSpPr/>
          <p:nvPr/>
        </p:nvSpPr>
        <p:spPr>
          <a:xfrm>
            <a:off x="5895332" y="2507977"/>
            <a:ext cx="1850578" cy="567917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成本核算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C5AF4DE-30D6-57F8-52CA-1E33F5B36AC2}"/>
              </a:ext>
            </a:extLst>
          </p:cNvPr>
          <p:cNvSpPr/>
          <p:nvPr/>
        </p:nvSpPr>
        <p:spPr>
          <a:xfrm>
            <a:off x="5895332" y="1815552"/>
            <a:ext cx="1850578" cy="567917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发票管理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标题 1">
            <a:extLst>
              <a:ext uri="{FF2B5EF4-FFF2-40B4-BE49-F238E27FC236}">
                <a16:creationId xmlns:a16="http://schemas.microsoft.com/office/drawing/2014/main" id="{5ED7B5E1-30C9-B863-AFDD-9CB688E1EBD6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400" dirty="0">
                <a:latin typeface="微软雅黑" panose="020B0503020204020204" pitchFamily="34" charset="-122"/>
              </a:rPr>
              <a:t>PMS</a:t>
            </a:r>
            <a:r>
              <a:rPr lang="zh-CN" altLang="en-US" sz="2400" dirty="0">
                <a:latin typeface="微软雅黑" panose="020B0503020204020204" pitchFamily="34" charset="-122"/>
              </a:rPr>
              <a:t>业财一体化业务蓝图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611A584-2CF2-5471-A280-FEFAF6D3BA2F}"/>
              </a:ext>
            </a:extLst>
          </p:cNvPr>
          <p:cNvSpPr/>
          <p:nvPr/>
        </p:nvSpPr>
        <p:spPr>
          <a:xfrm>
            <a:off x="143876" y="5247860"/>
            <a:ext cx="11557794" cy="567917"/>
          </a:xfrm>
          <a:prstGeom prst="roundRect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工作流程引擎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B90E35F5-1D5D-B712-6364-CE54D1AC7864}"/>
              </a:ext>
            </a:extLst>
          </p:cNvPr>
          <p:cNvSpPr/>
          <p:nvPr/>
        </p:nvSpPr>
        <p:spPr>
          <a:xfrm>
            <a:off x="143876" y="5930346"/>
            <a:ext cx="11557794" cy="567917"/>
          </a:xfrm>
          <a:prstGeom prst="roundRect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多账套、用户权限体系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D4A4CB96-83BA-0474-F45D-029C5356665F}"/>
              </a:ext>
            </a:extLst>
          </p:cNvPr>
          <p:cNvSpPr/>
          <p:nvPr/>
        </p:nvSpPr>
        <p:spPr>
          <a:xfrm>
            <a:off x="7810275" y="4565374"/>
            <a:ext cx="1850578" cy="567917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其它应用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126C0D5-D4D3-AE5F-1AC7-E2ECE5CC32B3}"/>
              </a:ext>
            </a:extLst>
          </p:cNvPr>
          <p:cNvSpPr/>
          <p:nvPr/>
        </p:nvSpPr>
        <p:spPr>
          <a:xfrm>
            <a:off x="7810275" y="3882888"/>
            <a:ext cx="1850578" cy="567917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智能预警助手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F259FFD5-1FD8-16AC-BB0F-C6EB1AC721B2}"/>
              </a:ext>
            </a:extLst>
          </p:cNvPr>
          <p:cNvSpPr/>
          <p:nvPr/>
        </p:nvSpPr>
        <p:spPr>
          <a:xfrm>
            <a:off x="7810275" y="3190463"/>
            <a:ext cx="1850578" cy="567917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方案预编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1BDD584D-7CFD-3179-2190-0F1FA4FD1CDA}"/>
              </a:ext>
            </a:extLst>
          </p:cNvPr>
          <p:cNvSpPr/>
          <p:nvPr/>
        </p:nvSpPr>
        <p:spPr>
          <a:xfrm>
            <a:off x="7810275" y="2507977"/>
            <a:ext cx="1850578" cy="567917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项目成本估算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12E86B77-8F29-08F8-0C8F-17F9426D00EB}"/>
              </a:ext>
            </a:extLst>
          </p:cNvPr>
          <p:cNvSpPr/>
          <p:nvPr/>
        </p:nvSpPr>
        <p:spPr>
          <a:xfrm>
            <a:off x="7810275" y="1815552"/>
            <a:ext cx="1850578" cy="567917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节能效果估算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CCFBE110-4BDB-FDD8-9416-7B7EBDF046BF}"/>
              </a:ext>
            </a:extLst>
          </p:cNvPr>
          <p:cNvSpPr/>
          <p:nvPr/>
        </p:nvSpPr>
        <p:spPr>
          <a:xfrm>
            <a:off x="9972472" y="4189070"/>
            <a:ext cx="1594546" cy="56791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百望开票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4029DB00-EC33-F2CF-749C-3D42C7C65ADD}"/>
              </a:ext>
            </a:extLst>
          </p:cNvPr>
          <p:cNvSpPr/>
          <p:nvPr/>
        </p:nvSpPr>
        <p:spPr>
          <a:xfrm>
            <a:off x="9972472" y="3355842"/>
            <a:ext cx="1594546" cy="567917"/>
          </a:xfrm>
          <a:prstGeom prst="roundRect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飞书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A2D2E6D4-CFCE-9B4C-B551-0F5E491EA16D}"/>
              </a:ext>
            </a:extLst>
          </p:cNvPr>
          <p:cNvSpPr/>
          <p:nvPr/>
        </p:nvSpPr>
        <p:spPr>
          <a:xfrm>
            <a:off x="9972472" y="2522615"/>
            <a:ext cx="1594546" cy="56791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用友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金蝶财务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8CA7A828-F6DB-2A31-B436-B6B4C7C8F1E3}"/>
              </a:ext>
            </a:extLst>
          </p:cNvPr>
          <p:cNvSpPr/>
          <p:nvPr/>
        </p:nvSpPr>
        <p:spPr>
          <a:xfrm>
            <a:off x="143876" y="763478"/>
            <a:ext cx="181259" cy="127221"/>
          </a:xfrm>
          <a:prstGeom prst="roundRect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5941365-9317-9E8A-DA54-D30E6DB7B7C0}"/>
              </a:ext>
            </a:extLst>
          </p:cNvPr>
          <p:cNvSpPr txBox="1"/>
          <p:nvPr/>
        </p:nvSpPr>
        <p:spPr>
          <a:xfrm>
            <a:off x="325134" y="673199"/>
            <a:ext cx="16020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一期上线功能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0D5795C-77AE-96D5-8A31-9A27178BA20D}"/>
              </a:ext>
            </a:extLst>
          </p:cNvPr>
          <p:cNvSpPr txBox="1"/>
          <p:nvPr/>
        </p:nvSpPr>
        <p:spPr>
          <a:xfrm>
            <a:off x="10294809" y="2023746"/>
            <a:ext cx="12722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外部应用</a:t>
            </a:r>
          </a:p>
        </p:txBody>
      </p:sp>
    </p:spTree>
    <p:extLst>
      <p:ext uri="{BB962C8B-B14F-4D97-AF65-F5344CB8AC3E}">
        <p14:creationId xmlns:p14="http://schemas.microsoft.com/office/powerpoint/2010/main" val="3427593428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63652FB9-E89E-C3C1-9526-732637830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87" y="1157117"/>
            <a:ext cx="7152109" cy="4103996"/>
          </a:xfrm>
          <a:prstGeom prst="rect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F22B6D2-FEFE-B9B9-677D-4059BA53E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3232" y="1910001"/>
            <a:ext cx="2219655" cy="4439310"/>
          </a:xfrm>
          <a:prstGeom prst="rect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EE61E13-8498-3387-6C18-DF79E5F1CFA7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400" dirty="0">
                <a:latin typeface="微软雅黑" panose="020B0503020204020204" pitchFamily="34" charset="-122"/>
              </a:rPr>
              <a:t>PMS</a:t>
            </a:r>
            <a:r>
              <a:rPr lang="zh-CN" altLang="en-US" sz="2400" dirty="0">
                <a:latin typeface="微软雅黑" panose="020B0503020204020204" pitchFamily="34" charset="-122"/>
              </a:rPr>
              <a:t>业财一体化业务形式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14495F3-C632-405C-00D3-3E0F3D9179B2}"/>
              </a:ext>
            </a:extLst>
          </p:cNvPr>
          <p:cNvSpPr/>
          <p:nvPr/>
        </p:nvSpPr>
        <p:spPr>
          <a:xfrm>
            <a:off x="5725725" y="645519"/>
            <a:ext cx="2071138" cy="681780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电脑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E24B43E6-E0F7-07F9-5F0F-04A6C8095711}"/>
              </a:ext>
            </a:extLst>
          </p:cNvPr>
          <p:cNvSpPr/>
          <p:nvPr/>
        </p:nvSpPr>
        <p:spPr>
          <a:xfrm>
            <a:off x="7708067" y="1776879"/>
            <a:ext cx="2071138" cy="681780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移动端：飞书自研应用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C8DE71-918E-39E0-E62B-945CF781B0E6}"/>
              </a:ext>
            </a:extLst>
          </p:cNvPr>
          <p:cNvSpPr txBox="1"/>
          <p:nvPr/>
        </p:nvSpPr>
        <p:spPr>
          <a:xfrm>
            <a:off x="9619180" y="1424923"/>
            <a:ext cx="25728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</a:rPr>
              <a:t>首次登录输入账号进行绑定</a:t>
            </a:r>
            <a:endParaRPr lang="zh-CN" altLang="en-US" sz="1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CA39BF2-37A3-4A96-FE31-2E85A9B4F967}"/>
              </a:ext>
            </a:extLst>
          </p:cNvPr>
          <p:cNvSpPr txBox="1"/>
          <p:nvPr/>
        </p:nvSpPr>
        <p:spPr>
          <a:xfrm>
            <a:off x="241469" y="5331551"/>
            <a:ext cx="3853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4"/>
              </a:rPr>
              <a:t>https://pms.xtfnai.com/#/auth/login</a:t>
            </a:r>
            <a:endParaRPr lang="en-US" altLang="zh-CN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1CEF76B-CFE0-511C-53D2-3A4B757D6B73}"/>
              </a:ext>
            </a:extLst>
          </p:cNvPr>
          <p:cNvSpPr txBox="1"/>
          <p:nvPr/>
        </p:nvSpPr>
        <p:spPr>
          <a:xfrm>
            <a:off x="241469" y="58431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effectLst/>
              </a:rPr>
              <a:t>登录账号为姓名全拼，初始密码为：</a:t>
            </a:r>
            <a:r>
              <a:rPr lang="en-US" altLang="zh-CN" dirty="0">
                <a:effectLst/>
              </a:rPr>
              <a:t>12345678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8688678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A615F2-5F5F-1C50-AE42-F3F58259A57B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</a:rPr>
              <a:t>项目管理端到端业务流</a:t>
            </a:r>
          </a:p>
        </p:txBody>
      </p:sp>
      <p:sp>
        <p:nvSpPr>
          <p:cNvPr id="3" name="Rounded Rectangle 113">
            <a:extLst>
              <a:ext uri="{FF2B5EF4-FFF2-40B4-BE49-F238E27FC236}">
                <a16:creationId xmlns:a16="http://schemas.microsoft.com/office/drawing/2014/main" id="{9358A14A-960C-6A41-5BF7-FD7A7BA4086A}"/>
              </a:ext>
            </a:extLst>
          </p:cNvPr>
          <p:cNvSpPr/>
          <p:nvPr/>
        </p:nvSpPr>
        <p:spPr bwMode="auto">
          <a:xfrm>
            <a:off x="599369" y="1265452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项目需求</a:t>
            </a:r>
          </a:p>
        </p:txBody>
      </p:sp>
      <p:sp>
        <p:nvSpPr>
          <p:cNvPr id="4" name="Rounded Rectangle 113">
            <a:extLst>
              <a:ext uri="{FF2B5EF4-FFF2-40B4-BE49-F238E27FC236}">
                <a16:creationId xmlns:a16="http://schemas.microsoft.com/office/drawing/2014/main" id="{77BDA535-472A-DBA8-FEDB-68934C4D0DC1}"/>
              </a:ext>
            </a:extLst>
          </p:cNvPr>
          <p:cNvSpPr/>
          <p:nvPr/>
        </p:nvSpPr>
        <p:spPr bwMode="auto">
          <a:xfrm>
            <a:off x="3764693" y="1265452"/>
            <a:ext cx="1401818" cy="423862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客户交流</a:t>
            </a:r>
          </a:p>
        </p:txBody>
      </p:sp>
      <p:sp>
        <p:nvSpPr>
          <p:cNvPr id="5" name="Rounded Rectangle 113">
            <a:extLst>
              <a:ext uri="{FF2B5EF4-FFF2-40B4-BE49-F238E27FC236}">
                <a16:creationId xmlns:a16="http://schemas.microsoft.com/office/drawing/2014/main" id="{C1E6AE11-9EF9-F76A-360B-9BC472FBF7A6}"/>
              </a:ext>
            </a:extLst>
          </p:cNvPr>
          <p:cNvSpPr/>
          <p:nvPr/>
        </p:nvSpPr>
        <p:spPr bwMode="auto">
          <a:xfrm>
            <a:off x="6930017" y="1265452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调研问卷</a:t>
            </a:r>
          </a:p>
        </p:txBody>
      </p:sp>
      <p:sp>
        <p:nvSpPr>
          <p:cNvPr id="6" name="Rounded Rectangle 113">
            <a:extLst>
              <a:ext uri="{FF2B5EF4-FFF2-40B4-BE49-F238E27FC236}">
                <a16:creationId xmlns:a16="http://schemas.microsoft.com/office/drawing/2014/main" id="{F0ECAB07-9345-9BD1-F2AD-7F91FA30C062}"/>
              </a:ext>
            </a:extLst>
          </p:cNvPr>
          <p:cNvSpPr/>
          <p:nvPr/>
        </p:nvSpPr>
        <p:spPr bwMode="auto">
          <a:xfrm>
            <a:off x="10095340" y="1265452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项目方案</a:t>
            </a:r>
          </a:p>
        </p:txBody>
      </p:sp>
      <p:sp>
        <p:nvSpPr>
          <p:cNvPr id="7" name="Rounded Rectangle 113">
            <a:extLst>
              <a:ext uri="{FF2B5EF4-FFF2-40B4-BE49-F238E27FC236}">
                <a16:creationId xmlns:a16="http://schemas.microsoft.com/office/drawing/2014/main" id="{4C672871-7425-69C9-55B9-7D70B7B7F5A0}"/>
              </a:ext>
            </a:extLst>
          </p:cNvPr>
          <p:cNvSpPr/>
          <p:nvPr/>
        </p:nvSpPr>
        <p:spPr bwMode="auto">
          <a:xfrm>
            <a:off x="10095340" y="3016391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项目实施通知</a:t>
            </a:r>
          </a:p>
        </p:txBody>
      </p:sp>
      <p:sp>
        <p:nvSpPr>
          <p:cNvPr id="8" name="Rounded Rectangle 113">
            <a:extLst>
              <a:ext uri="{FF2B5EF4-FFF2-40B4-BE49-F238E27FC236}">
                <a16:creationId xmlns:a16="http://schemas.microsoft.com/office/drawing/2014/main" id="{50C2B5F0-7180-942D-1D93-89D91B3BBD7F}"/>
              </a:ext>
            </a:extLst>
          </p:cNvPr>
          <p:cNvSpPr/>
          <p:nvPr/>
        </p:nvSpPr>
        <p:spPr bwMode="auto">
          <a:xfrm>
            <a:off x="6930017" y="3016391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项目立项</a:t>
            </a:r>
          </a:p>
        </p:txBody>
      </p:sp>
      <p:sp>
        <p:nvSpPr>
          <p:cNvPr id="9" name="Rounded Rectangle 113">
            <a:extLst>
              <a:ext uri="{FF2B5EF4-FFF2-40B4-BE49-F238E27FC236}">
                <a16:creationId xmlns:a16="http://schemas.microsoft.com/office/drawing/2014/main" id="{95C5E8B2-FCC3-5322-FCEE-6A7C1D5EF2C0}"/>
              </a:ext>
            </a:extLst>
          </p:cNvPr>
          <p:cNvSpPr/>
          <p:nvPr/>
        </p:nvSpPr>
        <p:spPr bwMode="auto">
          <a:xfrm>
            <a:off x="3764693" y="3016391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项目计划</a:t>
            </a:r>
          </a:p>
        </p:txBody>
      </p:sp>
      <p:sp>
        <p:nvSpPr>
          <p:cNvPr id="10" name="Rounded Rectangle 113">
            <a:extLst>
              <a:ext uri="{FF2B5EF4-FFF2-40B4-BE49-F238E27FC236}">
                <a16:creationId xmlns:a16="http://schemas.microsoft.com/office/drawing/2014/main" id="{B4C9E6C6-B4CD-A838-0592-F1FA98CACC33}"/>
              </a:ext>
            </a:extLst>
          </p:cNvPr>
          <p:cNvSpPr/>
          <p:nvPr/>
        </p:nvSpPr>
        <p:spPr bwMode="auto">
          <a:xfrm>
            <a:off x="599369" y="3016391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项目执行</a:t>
            </a:r>
          </a:p>
        </p:txBody>
      </p:sp>
      <p:sp>
        <p:nvSpPr>
          <p:cNvPr id="11" name="Rounded Rectangle 113">
            <a:extLst>
              <a:ext uri="{FF2B5EF4-FFF2-40B4-BE49-F238E27FC236}">
                <a16:creationId xmlns:a16="http://schemas.microsoft.com/office/drawing/2014/main" id="{7F550BE6-E682-1AED-66DC-ACC03548080A}"/>
              </a:ext>
            </a:extLst>
          </p:cNvPr>
          <p:cNvSpPr/>
          <p:nvPr/>
        </p:nvSpPr>
        <p:spPr bwMode="auto">
          <a:xfrm>
            <a:off x="599369" y="4767330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项目进度汇报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55C85EA-D059-3F4D-4996-73FCA172D85B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2001187" y="1477383"/>
            <a:ext cx="1763506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3D4232B-78FE-3D71-1B63-4E1AC54EAD3A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5166511" y="1477383"/>
            <a:ext cx="1763506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66886BD-E15B-6273-99DE-486A8B172ECF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8331835" y="1477383"/>
            <a:ext cx="1763505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CF63386-2A62-0534-8BF8-2E3C4B2F7D3B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10796249" y="1689314"/>
            <a:ext cx="0" cy="1327077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BEC1B92-018B-486D-58F6-29EE57243AF8}"/>
              </a:ext>
            </a:extLst>
          </p:cNvPr>
          <p:cNvCxnSpPr>
            <a:stCxn id="7" idx="1"/>
            <a:endCxn id="8" idx="3"/>
          </p:cNvCxnSpPr>
          <p:nvPr/>
        </p:nvCxnSpPr>
        <p:spPr>
          <a:xfrm flipH="1">
            <a:off x="8331835" y="3228322"/>
            <a:ext cx="1763505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0A761939-0607-AAD9-E48A-7EE84CF399F5}"/>
              </a:ext>
            </a:extLst>
          </p:cNvPr>
          <p:cNvCxnSpPr>
            <a:stCxn id="8" idx="1"/>
            <a:endCxn id="9" idx="3"/>
          </p:cNvCxnSpPr>
          <p:nvPr/>
        </p:nvCxnSpPr>
        <p:spPr>
          <a:xfrm flipH="1">
            <a:off x="5166511" y="3228322"/>
            <a:ext cx="1763506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E38F9DAE-49D9-7D0B-B951-92464D83FA2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2001187" y="3228322"/>
            <a:ext cx="1763506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5FFDBFA4-1155-18CD-0D0A-F1A6C5D4CDB6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1300278" y="3440253"/>
            <a:ext cx="0" cy="1327077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113">
            <a:extLst>
              <a:ext uri="{FF2B5EF4-FFF2-40B4-BE49-F238E27FC236}">
                <a16:creationId xmlns:a16="http://schemas.microsoft.com/office/drawing/2014/main" id="{3BFB0110-6966-C626-6875-76E86AF20EB2}"/>
              </a:ext>
            </a:extLst>
          </p:cNvPr>
          <p:cNvSpPr/>
          <p:nvPr/>
        </p:nvSpPr>
        <p:spPr bwMode="auto">
          <a:xfrm>
            <a:off x="3002383" y="4767329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项目完成</a:t>
            </a:r>
          </a:p>
        </p:txBody>
      </p:sp>
      <p:sp>
        <p:nvSpPr>
          <p:cNvPr id="24" name="Rounded Rectangle 113">
            <a:extLst>
              <a:ext uri="{FF2B5EF4-FFF2-40B4-BE49-F238E27FC236}">
                <a16:creationId xmlns:a16="http://schemas.microsoft.com/office/drawing/2014/main" id="{9C4B3071-B9ED-1E5D-F1F4-8162D41BF810}"/>
              </a:ext>
            </a:extLst>
          </p:cNvPr>
          <p:cNvSpPr/>
          <p:nvPr/>
        </p:nvSpPr>
        <p:spPr bwMode="auto">
          <a:xfrm>
            <a:off x="5105108" y="4767329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正式控制</a:t>
            </a:r>
          </a:p>
        </p:txBody>
      </p:sp>
      <p:sp>
        <p:nvSpPr>
          <p:cNvPr id="26" name="Rounded Rectangle 113">
            <a:extLst>
              <a:ext uri="{FF2B5EF4-FFF2-40B4-BE49-F238E27FC236}">
                <a16:creationId xmlns:a16="http://schemas.microsoft.com/office/drawing/2014/main" id="{BB699FEC-E5CD-8EF6-697A-FD1496F8541B}"/>
              </a:ext>
            </a:extLst>
          </p:cNvPr>
          <p:cNvSpPr/>
          <p:nvPr/>
        </p:nvSpPr>
        <p:spPr bwMode="auto">
          <a:xfrm>
            <a:off x="8270432" y="5905268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已停用</a:t>
            </a:r>
          </a:p>
        </p:txBody>
      </p:sp>
      <p:sp>
        <p:nvSpPr>
          <p:cNvPr id="28" name="Rounded Rectangle 113">
            <a:extLst>
              <a:ext uri="{FF2B5EF4-FFF2-40B4-BE49-F238E27FC236}">
                <a16:creationId xmlns:a16="http://schemas.microsoft.com/office/drawing/2014/main" id="{C14DE378-31CF-3527-FFC4-E319F0A6D72F}"/>
              </a:ext>
            </a:extLst>
          </p:cNvPr>
          <p:cNvSpPr/>
          <p:nvPr/>
        </p:nvSpPr>
        <p:spPr bwMode="auto">
          <a:xfrm>
            <a:off x="8270432" y="4767330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已过期</a:t>
            </a:r>
          </a:p>
        </p:txBody>
      </p: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12ACE58F-581F-6397-03DE-75A442C91949}"/>
              </a:ext>
            </a:extLst>
          </p:cNvPr>
          <p:cNvCxnSpPr>
            <a:endCxn id="26" idx="1"/>
          </p:cNvCxnSpPr>
          <p:nvPr/>
        </p:nvCxnSpPr>
        <p:spPr>
          <a:xfrm>
            <a:off x="6506926" y="4979261"/>
            <a:ext cx="1763506" cy="1137938"/>
          </a:xfrm>
          <a:prstGeom prst="bentConnector3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113">
            <a:extLst>
              <a:ext uri="{FF2B5EF4-FFF2-40B4-BE49-F238E27FC236}">
                <a16:creationId xmlns:a16="http://schemas.microsoft.com/office/drawing/2014/main" id="{62B2F2B4-9F31-70AE-A3BF-7B1AF530224E}"/>
              </a:ext>
            </a:extLst>
          </p:cNvPr>
          <p:cNvSpPr/>
          <p:nvPr/>
        </p:nvSpPr>
        <p:spPr bwMode="auto">
          <a:xfrm>
            <a:off x="10544188" y="4767330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已续费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81C0B032-7316-FE6D-9D1A-E9D4C5BA9562}"/>
              </a:ext>
            </a:extLst>
          </p:cNvPr>
          <p:cNvCxnSpPr>
            <a:cxnSpLocks/>
            <a:stCxn id="28" idx="3"/>
            <a:endCxn id="31" idx="1"/>
          </p:cNvCxnSpPr>
          <p:nvPr/>
        </p:nvCxnSpPr>
        <p:spPr>
          <a:xfrm>
            <a:off x="9672250" y="4979261"/>
            <a:ext cx="871938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113">
            <a:extLst>
              <a:ext uri="{FF2B5EF4-FFF2-40B4-BE49-F238E27FC236}">
                <a16:creationId xmlns:a16="http://schemas.microsoft.com/office/drawing/2014/main" id="{584D80DC-5AF6-0B07-07C5-DF3E2870DED5}"/>
              </a:ext>
            </a:extLst>
          </p:cNvPr>
          <p:cNvSpPr/>
          <p:nvPr/>
        </p:nvSpPr>
        <p:spPr bwMode="auto">
          <a:xfrm>
            <a:off x="10544188" y="5905268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启用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176AC08F-0720-4F57-77F4-3F14BEE92D2F}"/>
              </a:ext>
            </a:extLst>
          </p:cNvPr>
          <p:cNvCxnSpPr>
            <a:endCxn id="28" idx="1"/>
          </p:cNvCxnSpPr>
          <p:nvPr/>
        </p:nvCxnSpPr>
        <p:spPr>
          <a:xfrm>
            <a:off x="6506926" y="4979261"/>
            <a:ext cx="1763506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25EFAC72-2CC4-3104-DB82-E823C4D5E6B1}"/>
              </a:ext>
            </a:extLst>
          </p:cNvPr>
          <p:cNvCxnSpPr>
            <a:cxnSpLocks/>
            <a:stCxn id="26" idx="3"/>
            <a:endCxn id="35" idx="1"/>
          </p:cNvCxnSpPr>
          <p:nvPr/>
        </p:nvCxnSpPr>
        <p:spPr>
          <a:xfrm>
            <a:off x="9672250" y="6117199"/>
            <a:ext cx="871938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51B8F8C5-9B92-2B89-5362-277E50F90554}"/>
              </a:ext>
            </a:extLst>
          </p:cNvPr>
          <p:cNvSpPr txBox="1"/>
          <p:nvPr/>
        </p:nvSpPr>
        <p:spPr>
          <a:xfrm>
            <a:off x="8531907" y="5600525"/>
            <a:ext cx="18859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客户原因</a:t>
            </a: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4C0A85AA-D17B-68C2-A01C-E9E8CD3DC78C}"/>
              </a:ext>
            </a:extLst>
          </p:cNvPr>
          <p:cNvCxnSpPr>
            <a:cxnSpLocks/>
            <a:stCxn id="11" idx="3"/>
            <a:endCxn id="22" idx="1"/>
          </p:cNvCxnSpPr>
          <p:nvPr/>
        </p:nvCxnSpPr>
        <p:spPr>
          <a:xfrm flipV="1">
            <a:off x="2001187" y="4979260"/>
            <a:ext cx="1001196" cy="1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11413F97-5F96-E66D-1818-05154BC081A5}"/>
              </a:ext>
            </a:extLst>
          </p:cNvPr>
          <p:cNvCxnSpPr>
            <a:cxnSpLocks/>
            <a:stCxn id="22" idx="3"/>
            <a:endCxn id="24" idx="1"/>
          </p:cNvCxnSpPr>
          <p:nvPr/>
        </p:nvCxnSpPr>
        <p:spPr>
          <a:xfrm>
            <a:off x="4404201" y="4979260"/>
            <a:ext cx="700907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3378D5BF-17A1-ED72-D512-360622CE684E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44315" y="2033917"/>
            <a:ext cx="12700" cy="5439080"/>
          </a:xfrm>
          <a:prstGeom prst="bentConnector3">
            <a:avLst>
              <a:gd name="adj1" fmla="val 5577047"/>
            </a:avLst>
          </a:prstGeom>
          <a:ln w="158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4A4827B4-E79E-10B8-6FB1-BCFD33B98F21}"/>
              </a:ext>
            </a:extLst>
          </p:cNvPr>
          <p:cNvCxnSpPr>
            <a:cxnSpLocks/>
          </p:cNvCxnSpPr>
          <p:nvPr/>
        </p:nvCxnSpPr>
        <p:spPr>
          <a:xfrm rot="5400000" flipH="1">
            <a:off x="7981696" y="3111912"/>
            <a:ext cx="1137938" cy="5439080"/>
          </a:xfrm>
          <a:prstGeom prst="bentConnector3">
            <a:avLst>
              <a:gd name="adj1" fmla="val -20089"/>
            </a:avLst>
          </a:prstGeom>
          <a:ln w="158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1BD64200-839B-4388-E9AE-35F53045F5B4}"/>
              </a:ext>
            </a:extLst>
          </p:cNvPr>
          <p:cNvSpPr txBox="1"/>
          <p:nvPr/>
        </p:nvSpPr>
        <p:spPr>
          <a:xfrm>
            <a:off x="10492783" y="4489947"/>
            <a:ext cx="18859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续费合同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D6200CAE-EFE2-65BA-35F7-A9E6C848F1C6}"/>
              </a:ext>
            </a:extLst>
          </p:cNvPr>
          <p:cNvSpPr/>
          <p:nvPr/>
        </p:nvSpPr>
        <p:spPr>
          <a:xfrm>
            <a:off x="633237" y="999066"/>
            <a:ext cx="763764" cy="26638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审批流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D65DB3D6-B873-C62B-05A8-C287E40505BF}"/>
              </a:ext>
            </a:extLst>
          </p:cNvPr>
          <p:cNvSpPr/>
          <p:nvPr/>
        </p:nvSpPr>
        <p:spPr>
          <a:xfrm>
            <a:off x="10110901" y="999066"/>
            <a:ext cx="763764" cy="26638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审批流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F1F130BB-6A2E-BDB5-1444-BC5E31728279}"/>
              </a:ext>
            </a:extLst>
          </p:cNvPr>
          <p:cNvSpPr/>
          <p:nvPr/>
        </p:nvSpPr>
        <p:spPr>
          <a:xfrm>
            <a:off x="10982968" y="2732363"/>
            <a:ext cx="763764" cy="26638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审批流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B046586D-52BD-4E93-262C-2E8BC34CD71A}"/>
              </a:ext>
            </a:extLst>
          </p:cNvPr>
          <p:cNvSpPr/>
          <p:nvPr/>
        </p:nvSpPr>
        <p:spPr>
          <a:xfrm>
            <a:off x="7547500" y="3467153"/>
            <a:ext cx="763764" cy="26638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审批流</a:t>
            </a:r>
          </a:p>
        </p:txBody>
      </p:sp>
      <p:sp>
        <p:nvSpPr>
          <p:cNvPr id="12" name="Rounded Rectangle 113">
            <a:extLst>
              <a:ext uri="{FF2B5EF4-FFF2-40B4-BE49-F238E27FC236}">
                <a16:creationId xmlns:a16="http://schemas.microsoft.com/office/drawing/2014/main" id="{B144BFCF-A1AC-12B4-33B3-BD665E769A74}"/>
              </a:ext>
            </a:extLst>
          </p:cNvPr>
          <p:cNvSpPr/>
          <p:nvPr/>
        </p:nvSpPr>
        <p:spPr bwMode="auto">
          <a:xfrm>
            <a:off x="6930017" y="2041507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类型定义</a:t>
            </a:r>
          </a:p>
        </p:txBody>
      </p:sp>
      <p:sp>
        <p:nvSpPr>
          <p:cNvPr id="13" name="Rounded Rectangle 113">
            <a:extLst>
              <a:ext uri="{FF2B5EF4-FFF2-40B4-BE49-F238E27FC236}">
                <a16:creationId xmlns:a16="http://schemas.microsoft.com/office/drawing/2014/main" id="{3DBA78D9-804E-E29B-7B75-EAAFFFD06FE6}"/>
              </a:ext>
            </a:extLst>
          </p:cNvPr>
          <p:cNvSpPr/>
          <p:nvPr/>
        </p:nvSpPr>
        <p:spPr bwMode="auto">
          <a:xfrm>
            <a:off x="3775927" y="2054503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计划模板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3C96539-EAA9-DC3A-71F7-5D7FBCD88F6D}"/>
              </a:ext>
            </a:extLst>
          </p:cNvPr>
          <p:cNvCxnSpPr>
            <a:cxnSpLocks/>
            <a:stCxn id="12" idx="2"/>
            <a:endCxn id="8" idx="0"/>
          </p:cNvCxnSpPr>
          <p:nvPr/>
        </p:nvCxnSpPr>
        <p:spPr>
          <a:xfrm>
            <a:off x="7630926" y="2465369"/>
            <a:ext cx="0" cy="551022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427B8164-40F8-5B90-CBA6-6DB29F27986C}"/>
              </a:ext>
            </a:extLst>
          </p:cNvPr>
          <p:cNvCxnSpPr>
            <a:cxnSpLocks/>
            <a:stCxn id="13" idx="2"/>
            <a:endCxn id="9" idx="0"/>
          </p:cNvCxnSpPr>
          <p:nvPr/>
        </p:nvCxnSpPr>
        <p:spPr>
          <a:xfrm flipH="1">
            <a:off x="4465602" y="2478365"/>
            <a:ext cx="11234" cy="538026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0379544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364638-4F11-6B88-816D-1563DA0A5373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</a:rPr>
              <a:t>需求管理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5F47541-EFCC-33CF-F35A-A87F1C51C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55" y="738809"/>
            <a:ext cx="10917307" cy="5847522"/>
          </a:xfrm>
          <a:prstGeom prst="rect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152929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361AB4-51BC-B7A1-48F9-B25AEAFA88B1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</a:rPr>
              <a:t>客户报备业务流程</a:t>
            </a:r>
          </a:p>
        </p:txBody>
      </p:sp>
      <p:sp>
        <p:nvSpPr>
          <p:cNvPr id="3" name="Rounded Rectangle 113">
            <a:extLst>
              <a:ext uri="{FF2B5EF4-FFF2-40B4-BE49-F238E27FC236}">
                <a16:creationId xmlns:a16="http://schemas.microsoft.com/office/drawing/2014/main" id="{38AA8120-945E-D4B8-0040-B867E232CB87}"/>
              </a:ext>
            </a:extLst>
          </p:cNvPr>
          <p:cNvSpPr/>
          <p:nvPr/>
        </p:nvSpPr>
        <p:spPr bwMode="auto">
          <a:xfrm>
            <a:off x="983176" y="2011487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湖南直营部</a:t>
            </a:r>
          </a:p>
        </p:txBody>
      </p:sp>
      <p:sp>
        <p:nvSpPr>
          <p:cNvPr id="4" name="Rounded Rectangle 113">
            <a:extLst>
              <a:ext uri="{FF2B5EF4-FFF2-40B4-BE49-F238E27FC236}">
                <a16:creationId xmlns:a16="http://schemas.microsoft.com/office/drawing/2014/main" id="{9297EE52-8C85-D5F6-EC0B-5FE0658680AB}"/>
              </a:ext>
            </a:extLst>
          </p:cNvPr>
          <p:cNvSpPr/>
          <p:nvPr/>
        </p:nvSpPr>
        <p:spPr bwMode="auto">
          <a:xfrm>
            <a:off x="983176" y="3010956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湖北直营部</a:t>
            </a:r>
          </a:p>
        </p:txBody>
      </p:sp>
      <p:sp>
        <p:nvSpPr>
          <p:cNvPr id="5" name="Rounded Rectangle 113">
            <a:extLst>
              <a:ext uri="{FF2B5EF4-FFF2-40B4-BE49-F238E27FC236}">
                <a16:creationId xmlns:a16="http://schemas.microsoft.com/office/drawing/2014/main" id="{BACFAAB4-3E1D-1EB7-F251-FD0D7D7238AB}"/>
              </a:ext>
            </a:extLst>
          </p:cNvPr>
          <p:cNvSpPr/>
          <p:nvPr/>
        </p:nvSpPr>
        <p:spPr bwMode="auto">
          <a:xfrm>
            <a:off x="983176" y="4010425"/>
            <a:ext cx="1355327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各区域中心</a:t>
            </a:r>
          </a:p>
        </p:txBody>
      </p:sp>
      <p:sp>
        <p:nvSpPr>
          <p:cNvPr id="6" name="Rounded Rectangle 113">
            <a:extLst>
              <a:ext uri="{FF2B5EF4-FFF2-40B4-BE49-F238E27FC236}">
                <a16:creationId xmlns:a16="http://schemas.microsoft.com/office/drawing/2014/main" id="{320EBF83-BCFE-499B-BB94-3DD5B84CB9A8}"/>
              </a:ext>
            </a:extLst>
          </p:cNvPr>
          <p:cNvSpPr/>
          <p:nvPr/>
        </p:nvSpPr>
        <p:spPr bwMode="auto">
          <a:xfrm>
            <a:off x="3658101" y="2892756"/>
            <a:ext cx="1872161" cy="62807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电话</a:t>
            </a:r>
            <a:r>
              <a:rPr lang="en-US" altLang="zh-CN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微信等报备</a:t>
            </a:r>
            <a:br>
              <a:rPr lang="en-US" altLang="zh-CN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</a:b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并提交相关信息</a:t>
            </a:r>
          </a:p>
        </p:txBody>
      </p:sp>
      <p:sp>
        <p:nvSpPr>
          <p:cNvPr id="7" name="Rounded Rectangle 113">
            <a:extLst>
              <a:ext uri="{FF2B5EF4-FFF2-40B4-BE49-F238E27FC236}">
                <a16:creationId xmlns:a16="http://schemas.microsoft.com/office/drawing/2014/main" id="{510E2170-D2EA-8985-6C17-3A459D53CCFD}"/>
              </a:ext>
            </a:extLst>
          </p:cNvPr>
          <p:cNvSpPr/>
          <p:nvPr/>
        </p:nvSpPr>
        <p:spPr bwMode="auto">
          <a:xfrm>
            <a:off x="6867252" y="2849086"/>
            <a:ext cx="1804443" cy="628067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客户运营中心</a:t>
            </a:r>
            <a:endParaRPr lang="en-US" altLang="zh-CN" sz="1600" b="1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长沙总部录入</a:t>
            </a:r>
          </a:p>
        </p:txBody>
      </p:sp>
      <p:sp>
        <p:nvSpPr>
          <p:cNvPr id="8" name="Rounded Rectangle 113">
            <a:extLst>
              <a:ext uri="{FF2B5EF4-FFF2-40B4-BE49-F238E27FC236}">
                <a16:creationId xmlns:a16="http://schemas.microsoft.com/office/drawing/2014/main" id="{41D17E24-2920-3A1B-8A9E-48F5F3BF251B}"/>
              </a:ext>
            </a:extLst>
          </p:cNvPr>
          <p:cNvSpPr/>
          <p:nvPr/>
        </p:nvSpPr>
        <p:spPr bwMode="auto">
          <a:xfrm flipH="1">
            <a:off x="10068550" y="2980538"/>
            <a:ext cx="16454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客户报备成功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BFFF2635-21BB-69B3-FCFA-CCEB0F332915}"/>
              </a:ext>
            </a:extLst>
          </p:cNvPr>
          <p:cNvCxnSpPr>
            <a:cxnSpLocks/>
          </p:cNvCxnSpPr>
          <p:nvPr/>
        </p:nvCxnSpPr>
        <p:spPr>
          <a:xfrm>
            <a:off x="2504767" y="3233296"/>
            <a:ext cx="1033561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9FCFDD0-A694-DC76-3791-F66BBB15EDEC}"/>
              </a:ext>
            </a:extLst>
          </p:cNvPr>
          <p:cNvCxnSpPr>
            <a:cxnSpLocks/>
          </p:cNvCxnSpPr>
          <p:nvPr/>
        </p:nvCxnSpPr>
        <p:spPr>
          <a:xfrm>
            <a:off x="5631711" y="3196382"/>
            <a:ext cx="1066689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5700E50-989E-9511-442E-36D8A9F2CA1A}"/>
              </a:ext>
            </a:extLst>
          </p:cNvPr>
          <p:cNvCxnSpPr>
            <a:cxnSpLocks/>
          </p:cNvCxnSpPr>
          <p:nvPr/>
        </p:nvCxnSpPr>
        <p:spPr>
          <a:xfrm>
            <a:off x="8859186" y="3192469"/>
            <a:ext cx="1066689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13">
            <a:extLst>
              <a:ext uri="{FF2B5EF4-FFF2-40B4-BE49-F238E27FC236}">
                <a16:creationId xmlns:a16="http://schemas.microsoft.com/office/drawing/2014/main" id="{83BDBA10-D9C9-9C8C-678F-3AAE7CA78736}"/>
              </a:ext>
            </a:extLst>
          </p:cNvPr>
          <p:cNvSpPr/>
          <p:nvPr/>
        </p:nvSpPr>
        <p:spPr bwMode="auto">
          <a:xfrm>
            <a:off x="983176" y="4924825"/>
            <a:ext cx="1355327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其余业务人员</a:t>
            </a:r>
          </a:p>
        </p:txBody>
      </p:sp>
    </p:spTree>
    <p:extLst>
      <p:ext uri="{BB962C8B-B14F-4D97-AF65-F5344CB8AC3E}">
        <p14:creationId xmlns:p14="http://schemas.microsoft.com/office/powerpoint/2010/main" val="1447883539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30D070-F411-ADF8-8EE3-A7A8654A688E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</a:rPr>
              <a:t>项目需求业务流程</a:t>
            </a:r>
          </a:p>
        </p:txBody>
      </p:sp>
      <p:sp>
        <p:nvSpPr>
          <p:cNvPr id="3" name="Rounded Rectangle 113">
            <a:extLst>
              <a:ext uri="{FF2B5EF4-FFF2-40B4-BE49-F238E27FC236}">
                <a16:creationId xmlns:a16="http://schemas.microsoft.com/office/drawing/2014/main" id="{92B568C4-E8D7-BD8C-E248-E3FAA277A305}"/>
              </a:ext>
            </a:extLst>
          </p:cNvPr>
          <p:cNvSpPr/>
          <p:nvPr/>
        </p:nvSpPr>
        <p:spPr bwMode="auto">
          <a:xfrm>
            <a:off x="415359" y="2137383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湖南直营部</a:t>
            </a:r>
          </a:p>
        </p:txBody>
      </p:sp>
      <p:sp>
        <p:nvSpPr>
          <p:cNvPr id="4" name="Rounded Rectangle 113">
            <a:extLst>
              <a:ext uri="{FF2B5EF4-FFF2-40B4-BE49-F238E27FC236}">
                <a16:creationId xmlns:a16="http://schemas.microsoft.com/office/drawing/2014/main" id="{A61C78BE-539C-8B2D-F842-A2299E024731}"/>
              </a:ext>
            </a:extLst>
          </p:cNvPr>
          <p:cNvSpPr/>
          <p:nvPr/>
        </p:nvSpPr>
        <p:spPr bwMode="auto">
          <a:xfrm>
            <a:off x="415359" y="3136852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湖北直营部</a:t>
            </a:r>
          </a:p>
        </p:txBody>
      </p:sp>
      <p:sp>
        <p:nvSpPr>
          <p:cNvPr id="5" name="Rounded Rectangle 113">
            <a:extLst>
              <a:ext uri="{FF2B5EF4-FFF2-40B4-BE49-F238E27FC236}">
                <a16:creationId xmlns:a16="http://schemas.microsoft.com/office/drawing/2014/main" id="{8C416960-DA38-A03C-E78A-77D2908EA19F}"/>
              </a:ext>
            </a:extLst>
          </p:cNvPr>
          <p:cNvSpPr/>
          <p:nvPr/>
        </p:nvSpPr>
        <p:spPr bwMode="auto">
          <a:xfrm>
            <a:off x="415359" y="4136321"/>
            <a:ext cx="1355327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各区域中心</a:t>
            </a:r>
          </a:p>
        </p:txBody>
      </p:sp>
      <p:sp>
        <p:nvSpPr>
          <p:cNvPr id="6" name="Rounded Rectangle 113">
            <a:extLst>
              <a:ext uri="{FF2B5EF4-FFF2-40B4-BE49-F238E27FC236}">
                <a16:creationId xmlns:a16="http://schemas.microsoft.com/office/drawing/2014/main" id="{6A98C4F2-76C3-41D5-D287-810C02F36E91}"/>
              </a:ext>
            </a:extLst>
          </p:cNvPr>
          <p:cNvSpPr/>
          <p:nvPr/>
        </p:nvSpPr>
        <p:spPr bwMode="auto">
          <a:xfrm>
            <a:off x="3090284" y="3018652"/>
            <a:ext cx="1872161" cy="62807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项目需求填写提交</a:t>
            </a:r>
          </a:p>
        </p:txBody>
      </p:sp>
      <p:sp>
        <p:nvSpPr>
          <p:cNvPr id="7" name="Rounded Rectangle 113">
            <a:extLst>
              <a:ext uri="{FF2B5EF4-FFF2-40B4-BE49-F238E27FC236}">
                <a16:creationId xmlns:a16="http://schemas.microsoft.com/office/drawing/2014/main" id="{517FD52C-1989-FF13-579D-1C387EA4883E}"/>
              </a:ext>
            </a:extLst>
          </p:cNvPr>
          <p:cNvSpPr/>
          <p:nvPr/>
        </p:nvSpPr>
        <p:spPr bwMode="auto">
          <a:xfrm>
            <a:off x="6299435" y="2974982"/>
            <a:ext cx="1804443" cy="628067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客户运营中心</a:t>
            </a:r>
            <a:endParaRPr lang="en-US" altLang="zh-CN" sz="1600" b="1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总经理审批</a:t>
            </a:r>
          </a:p>
        </p:txBody>
      </p:sp>
      <p:sp>
        <p:nvSpPr>
          <p:cNvPr id="8" name="Rounded Rectangle 113">
            <a:extLst>
              <a:ext uri="{FF2B5EF4-FFF2-40B4-BE49-F238E27FC236}">
                <a16:creationId xmlns:a16="http://schemas.microsoft.com/office/drawing/2014/main" id="{2C8C77EA-98A3-B0A8-65A6-78084B735229}"/>
              </a:ext>
            </a:extLst>
          </p:cNvPr>
          <p:cNvSpPr/>
          <p:nvPr/>
        </p:nvSpPr>
        <p:spPr bwMode="auto">
          <a:xfrm flipH="1">
            <a:off x="9500733" y="3106434"/>
            <a:ext cx="16454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产品运营中心总经理审批（指派技术负责人）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43C1B42-F617-8C59-C567-5F821B325884}"/>
              </a:ext>
            </a:extLst>
          </p:cNvPr>
          <p:cNvCxnSpPr>
            <a:cxnSpLocks/>
          </p:cNvCxnSpPr>
          <p:nvPr/>
        </p:nvCxnSpPr>
        <p:spPr>
          <a:xfrm>
            <a:off x="1936950" y="3359192"/>
            <a:ext cx="1033561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02E1948-3898-30F7-6B09-F5146C8B09FA}"/>
              </a:ext>
            </a:extLst>
          </p:cNvPr>
          <p:cNvCxnSpPr>
            <a:cxnSpLocks/>
          </p:cNvCxnSpPr>
          <p:nvPr/>
        </p:nvCxnSpPr>
        <p:spPr>
          <a:xfrm>
            <a:off x="5063894" y="3322278"/>
            <a:ext cx="1066689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661A01E-ADED-8BAF-8C1D-ADEAA24F0F2D}"/>
              </a:ext>
            </a:extLst>
          </p:cNvPr>
          <p:cNvCxnSpPr>
            <a:cxnSpLocks/>
          </p:cNvCxnSpPr>
          <p:nvPr/>
        </p:nvCxnSpPr>
        <p:spPr>
          <a:xfrm>
            <a:off x="8291369" y="3318365"/>
            <a:ext cx="1066689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3">
            <a:extLst>
              <a:ext uri="{FF2B5EF4-FFF2-40B4-BE49-F238E27FC236}">
                <a16:creationId xmlns:a16="http://schemas.microsoft.com/office/drawing/2014/main" id="{2A610EFB-36A2-371E-97DF-63DF83101C89}"/>
              </a:ext>
            </a:extLst>
          </p:cNvPr>
          <p:cNvSpPr/>
          <p:nvPr/>
        </p:nvSpPr>
        <p:spPr bwMode="auto">
          <a:xfrm flipH="1">
            <a:off x="9500733" y="4610556"/>
            <a:ext cx="16454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结束流程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6EDA9FD-0B88-4027-DB61-D2ED805AB76F}"/>
              </a:ext>
            </a:extLst>
          </p:cNvPr>
          <p:cNvCxnSpPr>
            <a:cxnSpLocks/>
          </p:cNvCxnSpPr>
          <p:nvPr/>
        </p:nvCxnSpPr>
        <p:spPr>
          <a:xfrm>
            <a:off x="10323442" y="3845425"/>
            <a:ext cx="0" cy="581791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012723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83ABFE-B6C6-CBB4-4C96-7CCEAF1A9DF9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</a:rPr>
              <a:t>项目方案业务流程</a:t>
            </a:r>
          </a:p>
        </p:txBody>
      </p:sp>
      <p:sp>
        <p:nvSpPr>
          <p:cNvPr id="3" name="Rounded Rectangle 113">
            <a:extLst>
              <a:ext uri="{FF2B5EF4-FFF2-40B4-BE49-F238E27FC236}">
                <a16:creationId xmlns:a16="http://schemas.microsoft.com/office/drawing/2014/main" id="{E6C280F2-AFFD-7704-2FA6-AD8032E093C2}"/>
              </a:ext>
            </a:extLst>
          </p:cNvPr>
          <p:cNvSpPr/>
          <p:nvPr/>
        </p:nvSpPr>
        <p:spPr bwMode="auto">
          <a:xfrm>
            <a:off x="344940" y="3077084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项目技术负责人</a:t>
            </a:r>
          </a:p>
        </p:txBody>
      </p:sp>
      <p:sp>
        <p:nvSpPr>
          <p:cNvPr id="6" name="Rounded Rectangle 113">
            <a:extLst>
              <a:ext uri="{FF2B5EF4-FFF2-40B4-BE49-F238E27FC236}">
                <a16:creationId xmlns:a16="http://schemas.microsoft.com/office/drawing/2014/main" id="{30DF62B1-F058-F22F-6811-0F9DE1AF428B}"/>
              </a:ext>
            </a:extLst>
          </p:cNvPr>
          <p:cNvSpPr/>
          <p:nvPr/>
        </p:nvSpPr>
        <p:spPr bwMode="auto">
          <a:xfrm>
            <a:off x="3090284" y="3018652"/>
            <a:ext cx="1872161" cy="62807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项目方案提交</a:t>
            </a:r>
          </a:p>
        </p:txBody>
      </p:sp>
      <p:sp>
        <p:nvSpPr>
          <p:cNvPr id="7" name="Rounded Rectangle 113">
            <a:extLst>
              <a:ext uri="{FF2B5EF4-FFF2-40B4-BE49-F238E27FC236}">
                <a16:creationId xmlns:a16="http://schemas.microsoft.com/office/drawing/2014/main" id="{DBF80D8A-4EB6-F645-9E84-CE82744AE9B6}"/>
              </a:ext>
            </a:extLst>
          </p:cNvPr>
          <p:cNvSpPr/>
          <p:nvPr/>
        </p:nvSpPr>
        <p:spPr bwMode="auto">
          <a:xfrm>
            <a:off x="6299435" y="2974982"/>
            <a:ext cx="1804443" cy="628067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客户运营中心</a:t>
            </a:r>
            <a:r>
              <a:rPr lang="en-US" altLang="zh-CN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产品运营中心</a:t>
            </a:r>
            <a:r>
              <a:rPr lang="en-US" altLang="zh-CN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产品研发中心经理审批</a:t>
            </a:r>
          </a:p>
        </p:txBody>
      </p:sp>
      <p:sp>
        <p:nvSpPr>
          <p:cNvPr id="8" name="Rounded Rectangle 113">
            <a:extLst>
              <a:ext uri="{FF2B5EF4-FFF2-40B4-BE49-F238E27FC236}">
                <a16:creationId xmlns:a16="http://schemas.microsoft.com/office/drawing/2014/main" id="{710DBECD-406D-B51F-13D2-2A2C11116F32}"/>
              </a:ext>
            </a:extLst>
          </p:cNvPr>
          <p:cNvSpPr/>
          <p:nvPr/>
        </p:nvSpPr>
        <p:spPr bwMode="auto">
          <a:xfrm flipH="1">
            <a:off x="6299435" y="1722403"/>
            <a:ext cx="16454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抄送钱总、刘总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19BD8FB4-AA85-6806-9EB8-91A884B31BA6}"/>
              </a:ext>
            </a:extLst>
          </p:cNvPr>
          <p:cNvCxnSpPr>
            <a:cxnSpLocks/>
          </p:cNvCxnSpPr>
          <p:nvPr/>
        </p:nvCxnSpPr>
        <p:spPr>
          <a:xfrm>
            <a:off x="1936950" y="3359192"/>
            <a:ext cx="1033561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94CBF00A-B578-ADE0-6933-4AA7F95FB0B6}"/>
              </a:ext>
            </a:extLst>
          </p:cNvPr>
          <p:cNvCxnSpPr>
            <a:cxnSpLocks/>
          </p:cNvCxnSpPr>
          <p:nvPr/>
        </p:nvCxnSpPr>
        <p:spPr>
          <a:xfrm>
            <a:off x="5063894" y="3322278"/>
            <a:ext cx="1066689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BF3DF43-9790-CE77-69FC-F9DF7D157F9E}"/>
              </a:ext>
            </a:extLst>
          </p:cNvPr>
          <p:cNvCxnSpPr>
            <a:cxnSpLocks/>
          </p:cNvCxnSpPr>
          <p:nvPr/>
        </p:nvCxnSpPr>
        <p:spPr>
          <a:xfrm flipV="1">
            <a:off x="7127200" y="2219739"/>
            <a:ext cx="0" cy="608295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3">
            <a:extLst>
              <a:ext uri="{FF2B5EF4-FFF2-40B4-BE49-F238E27FC236}">
                <a16:creationId xmlns:a16="http://schemas.microsoft.com/office/drawing/2014/main" id="{4CAE8A08-EEA3-159C-5F65-1FBA08AA53F1}"/>
              </a:ext>
            </a:extLst>
          </p:cNvPr>
          <p:cNvSpPr/>
          <p:nvPr/>
        </p:nvSpPr>
        <p:spPr bwMode="auto">
          <a:xfrm flipH="1">
            <a:off x="9141523" y="3077084"/>
            <a:ext cx="16454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客户确认环节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6DCF86B6-A1DB-ED69-7A2C-DFB5857E4871}"/>
              </a:ext>
            </a:extLst>
          </p:cNvPr>
          <p:cNvCxnSpPr>
            <a:cxnSpLocks/>
          </p:cNvCxnSpPr>
          <p:nvPr/>
        </p:nvCxnSpPr>
        <p:spPr>
          <a:xfrm>
            <a:off x="8256103" y="3322278"/>
            <a:ext cx="733195" cy="10409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13">
            <a:extLst>
              <a:ext uri="{FF2B5EF4-FFF2-40B4-BE49-F238E27FC236}">
                <a16:creationId xmlns:a16="http://schemas.microsoft.com/office/drawing/2014/main" id="{E7562C0D-01DD-1E51-D03D-DD2263563F0F}"/>
              </a:ext>
            </a:extLst>
          </p:cNvPr>
          <p:cNvSpPr/>
          <p:nvPr/>
        </p:nvSpPr>
        <p:spPr bwMode="auto">
          <a:xfrm flipH="1">
            <a:off x="9209187" y="4385269"/>
            <a:ext cx="16454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结束流程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4694525-52E0-9B14-B565-D2C888B94AFF}"/>
              </a:ext>
            </a:extLst>
          </p:cNvPr>
          <p:cNvCxnSpPr>
            <a:cxnSpLocks/>
          </p:cNvCxnSpPr>
          <p:nvPr/>
        </p:nvCxnSpPr>
        <p:spPr>
          <a:xfrm>
            <a:off x="10031896" y="3646722"/>
            <a:ext cx="0" cy="646982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31730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FB7E07-DD23-C15C-1156-5C6658626D9E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</a:rPr>
              <a:t>项目实施通知业务流程</a:t>
            </a:r>
          </a:p>
        </p:txBody>
      </p:sp>
      <p:sp>
        <p:nvSpPr>
          <p:cNvPr id="3" name="Rounded Rectangle 113">
            <a:extLst>
              <a:ext uri="{FF2B5EF4-FFF2-40B4-BE49-F238E27FC236}">
                <a16:creationId xmlns:a16="http://schemas.microsoft.com/office/drawing/2014/main" id="{20EE5DCB-01B6-87EE-C5CB-2EFF9840694F}"/>
              </a:ext>
            </a:extLst>
          </p:cNvPr>
          <p:cNvSpPr/>
          <p:nvPr/>
        </p:nvSpPr>
        <p:spPr bwMode="auto">
          <a:xfrm>
            <a:off x="344940" y="3077084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项目需求</a:t>
            </a:r>
            <a:endParaRPr lang="en-US" altLang="zh-CN" sz="1600" b="1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提出人</a:t>
            </a:r>
          </a:p>
        </p:txBody>
      </p:sp>
      <p:sp>
        <p:nvSpPr>
          <p:cNvPr id="4" name="Rounded Rectangle 113">
            <a:extLst>
              <a:ext uri="{FF2B5EF4-FFF2-40B4-BE49-F238E27FC236}">
                <a16:creationId xmlns:a16="http://schemas.microsoft.com/office/drawing/2014/main" id="{D5EC051C-3C56-070D-AD6A-1D36FA35F073}"/>
              </a:ext>
            </a:extLst>
          </p:cNvPr>
          <p:cNvSpPr/>
          <p:nvPr/>
        </p:nvSpPr>
        <p:spPr bwMode="auto">
          <a:xfrm>
            <a:off x="3090284" y="3018652"/>
            <a:ext cx="1872161" cy="62807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发起实施通知</a:t>
            </a:r>
          </a:p>
        </p:txBody>
      </p:sp>
      <p:sp>
        <p:nvSpPr>
          <p:cNvPr id="5" name="Rounded Rectangle 113">
            <a:extLst>
              <a:ext uri="{FF2B5EF4-FFF2-40B4-BE49-F238E27FC236}">
                <a16:creationId xmlns:a16="http://schemas.microsoft.com/office/drawing/2014/main" id="{FA755AB5-E742-F683-1DF8-20B22661585A}"/>
              </a:ext>
            </a:extLst>
          </p:cNvPr>
          <p:cNvSpPr/>
          <p:nvPr/>
        </p:nvSpPr>
        <p:spPr bwMode="auto">
          <a:xfrm>
            <a:off x="6299435" y="2974982"/>
            <a:ext cx="1804443" cy="628067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直营</a:t>
            </a:r>
            <a:r>
              <a:rPr lang="en-US" altLang="zh-CN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区域中心总经理审批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4384CE4-0F2F-2D99-CE88-9D606B72840E}"/>
              </a:ext>
            </a:extLst>
          </p:cNvPr>
          <p:cNvCxnSpPr>
            <a:cxnSpLocks/>
          </p:cNvCxnSpPr>
          <p:nvPr/>
        </p:nvCxnSpPr>
        <p:spPr>
          <a:xfrm>
            <a:off x="1936950" y="3359192"/>
            <a:ext cx="1033561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1DCBFBB7-4C29-58A2-97E4-03F8D1B7F2AE}"/>
              </a:ext>
            </a:extLst>
          </p:cNvPr>
          <p:cNvCxnSpPr>
            <a:cxnSpLocks/>
          </p:cNvCxnSpPr>
          <p:nvPr/>
        </p:nvCxnSpPr>
        <p:spPr>
          <a:xfrm>
            <a:off x="5063894" y="3322278"/>
            <a:ext cx="1066689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113">
            <a:extLst>
              <a:ext uri="{FF2B5EF4-FFF2-40B4-BE49-F238E27FC236}">
                <a16:creationId xmlns:a16="http://schemas.microsoft.com/office/drawing/2014/main" id="{4001B712-055F-B347-02FA-A683BFBE98F1}"/>
              </a:ext>
            </a:extLst>
          </p:cNvPr>
          <p:cNvSpPr/>
          <p:nvPr/>
        </p:nvSpPr>
        <p:spPr bwMode="auto">
          <a:xfrm flipH="1">
            <a:off x="9141523" y="3077084"/>
            <a:ext cx="16454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客户运营中心钟经理审批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601E710-43A1-F444-D347-1050404F8642}"/>
              </a:ext>
            </a:extLst>
          </p:cNvPr>
          <p:cNvCxnSpPr>
            <a:cxnSpLocks/>
          </p:cNvCxnSpPr>
          <p:nvPr/>
        </p:nvCxnSpPr>
        <p:spPr>
          <a:xfrm>
            <a:off x="8256103" y="3322278"/>
            <a:ext cx="733195" cy="10409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3">
            <a:extLst>
              <a:ext uri="{FF2B5EF4-FFF2-40B4-BE49-F238E27FC236}">
                <a16:creationId xmlns:a16="http://schemas.microsoft.com/office/drawing/2014/main" id="{625067F3-5438-2BC8-29DF-EE18BEA94E74}"/>
              </a:ext>
            </a:extLst>
          </p:cNvPr>
          <p:cNvSpPr/>
          <p:nvPr/>
        </p:nvSpPr>
        <p:spPr bwMode="auto">
          <a:xfrm flipH="1">
            <a:off x="9209187" y="4385269"/>
            <a:ext cx="1645418" cy="842714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产品运营中心总经理审批（指派项目经理）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488C58D-756D-73AC-AF51-E0DD7D67284C}"/>
              </a:ext>
            </a:extLst>
          </p:cNvPr>
          <p:cNvCxnSpPr>
            <a:cxnSpLocks/>
          </p:cNvCxnSpPr>
          <p:nvPr/>
        </p:nvCxnSpPr>
        <p:spPr>
          <a:xfrm>
            <a:off x="10031896" y="3646722"/>
            <a:ext cx="0" cy="646982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13">
            <a:extLst>
              <a:ext uri="{FF2B5EF4-FFF2-40B4-BE49-F238E27FC236}">
                <a16:creationId xmlns:a16="http://schemas.microsoft.com/office/drawing/2014/main" id="{8B7554C8-A15A-7AC6-24F1-C8030BAD61E9}"/>
              </a:ext>
            </a:extLst>
          </p:cNvPr>
          <p:cNvSpPr/>
          <p:nvPr/>
        </p:nvSpPr>
        <p:spPr bwMode="auto">
          <a:xfrm flipH="1">
            <a:off x="6729627" y="4647467"/>
            <a:ext cx="16454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流程结束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99421CB-5771-4B3C-0C7C-B15AB259AEA6}"/>
              </a:ext>
            </a:extLst>
          </p:cNvPr>
          <p:cNvCxnSpPr>
            <a:cxnSpLocks/>
          </p:cNvCxnSpPr>
          <p:nvPr/>
        </p:nvCxnSpPr>
        <p:spPr>
          <a:xfrm flipH="1">
            <a:off x="8514522" y="4838081"/>
            <a:ext cx="638850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13">
            <a:extLst>
              <a:ext uri="{FF2B5EF4-FFF2-40B4-BE49-F238E27FC236}">
                <a16:creationId xmlns:a16="http://schemas.microsoft.com/office/drawing/2014/main" id="{BB492A2E-FA39-E340-B823-4CBED3D1967E}"/>
              </a:ext>
            </a:extLst>
          </p:cNvPr>
          <p:cNvSpPr/>
          <p:nvPr/>
        </p:nvSpPr>
        <p:spPr bwMode="auto">
          <a:xfrm flipH="1">
            <a:off x="9182683" y="5638672"/>
            <a:ext cx="16454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抄送钱总、皮总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ABEF56A-E746-5FC1-99D4-DE309134B9DA}"/>
              </a:ext>
            </a:extLst>
          </p:cNvPr>
          <p:cNvCxnSpPr>
            <a:cxnSpLocks/>
          </p:cNvCxnSpPr>
          <p:nvPr/>
        </p:nvCxnSpPr>
        <p:spPr>
          <a:xfrm>
            <a:off x="10031896" y="5293044"/>
            <a:ext cx="0" cy="312626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7846071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B4D318-8511-6E04-EA1F-D094A0AF082B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</a:rPr>
              <a:t>项目立项业务流程</a:t>
            </a:r>
          </a:p>
        </p:txBody>
      </p:sp>
      <p:sp>
        <p:nvSpPr>
          <p:cNvPr id="3" name="Rounded Rectangle 113">
            <a:extLst>
              <a:ext uri="{FF2B5EF4-FFF2-40B4-BE49-F238E27FC236}">
                <a16:creationId xmlns:a16="http://schemas.microsoft.com/office/drawing/2014/main" id="{8D16651D-97C4-B7C5-E843-C4D2E6B53926}"/>
              </a:ext>
            </a:extLst>
          </p:cNvPr>
          <p:cNvSpPr/>
          <p:nvPr/>
        </p:nvSpPr>
        <p:spPr bwMode="auto">
          <a:xfrm>
            <a:off x="344940" y="3077084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项目经理</a:t>
            </a:r>
          </a:p>
        </p:txBody>
      </p:sp>
      <p:sp>
        <p:nvSpPr>
          <p:cNvPr id="4" name="Rounded Rectangle 113">
            <a:extLst>
              <a:ext uri="{FF2B5EF4-FFF2-40B4-BE49-F238E27FC236}">
                <a16:creationId xmlns:a16="http://schemas.microsoft.com/office/drawing/2014/main" id="{31992242-916B-9B14-D099-43A6C1747A45}"/>
              </a:ext>
            </a:extLst>
          </p:cNvPr>
          <p:cNvSpPr/>
          <p:nvPr/>
        </p:nvSpPr>
        <p:spPr bwMode="auto">
          <a:xfrm>
            <a:off x="3090284" y="3018652"/>
            <a:ext cx="1872161" cy="62807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发起项目立项</a:t>
            </a:r>
          </a:p>
        </p:txBody>
      </p:sp>
      <p:sp>
        <p:nvSpPr>
          <p:cNvPr id="5" name="Rounded Rectangle 113">
            <a:extLst>
              <a:ext uri="{FF2B5EF4-FFF2-40B4-BE49-F238E27FC236}">
                <a16:creationId xmlns:a16="http://schemas.microsoft.com/office/drawing/2014/main" id="{938C8577-19B6-1002-CD6D-F9FEE9961579}"/>
              </a:ext>
            </a:extLst>
          </p:cNvPr>
          <p:cNvSpPr/>
          <p:nvPr/>
        </p:nvSpPr>
        <p:spPr bwMode="auto">
          <a:xfrm>
            <a:off x="6299435" y="2974982"/>
            <a:ext cx="1804443" cy="628067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产品研发中心总经理审批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B522737C-813D-68D8-B6A8-8602C51C2C32}"/>
              </a:ext>
            </a:extLst>
          </p:cNvPr>
          <p:cNvCxnSpPr>
            <a:cxnSpLocks/>
          </p:cNvCxnSpPr>
          <p:nvPr/>
        </p:nvCxnSpPr>
        <p:spPr>
          <a:xfrm>
            <a:off x="1936950" y="3359192"/>
            <a:ext cx="1033561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503141B-43B1-2F4E-F616-D7E401F0100D}"/>
              </a:ext>
            </a:extLst>
          </p:cNvPr>
          <p:cNvCxnSpPr>
            <a:cxnSpLocks/>
          </p:cNvCxnSpPr>
          <p:nvPr/>
        </p:nvCxnSpPr>
        <p:spPr>
          <a:xfrm>
            <a:off x="5063894" y="3322278"/>
            <a:ext cx="1066689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1C03E6AE-45BF-0654-9870-EBCCFDD3447F}"/>
              </a:ext>
            </a:extLst>
          </p:cNvPr>
          <p:cNvCxnSpPr>
            <a:cxnSpLocks/>
          </p:cNvCxnSpPr>
          <p:nvPr/>
        </p:nvCxnSpPr>
        <p:spPr>
          <a:xfrm>
            <a:off x="8256103" y="3322278"/>
            <a:ext cx="733195" cy="10409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13">
            <a:extLst>
              <a:ext uri="{FF2B5EF4-FFF2-40B4-BE49-F238E27FC236}">
                <a16:creationId xmlns:a16="http://schemas.microsoft.com/office/drawing/2014/main" id="{CA8F1B2F-CE99-2F92-A739-DC85CF8C2F7A}"/>
              </a:ext>
            </a:extLst>
          </p:cNvPr>
          <p:cNvSpPr/>
          <p:nvPr/>
        </p:nvSpPr>
        <p:spPr bwMode="auto">
          <a:xfrm flipH="1">
            <a:off x="9050161" y="3110347"/>
            <a:ext cx="16454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流程结束</a:t>
            </a:r>
          </a:p>
        </p:txBody>
      </p:sp>
    </p:spTree>
    <p:extLst>
      <p:ext uri="{BB962C8B-B14F-4D97-AF65-F5344CB8AC3E}">
        <p14:creationId xmlns:p14="http://schemas.microsoft.com/office/powerpoint/2010/main" val="2407154195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D9B86B-D590-BE72-BD8E-08FDD9E79C40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</a:rPr>
              <a:t>项目计划与进度填报业务流程</a:t>
            </a:r>
          </a:p>
        </p:txBody>
      </p:sp>
      <p:sp>
        <p:nvSpPr>
          <p:cNvPr id="3" name="Rounded Rectangle 113">
            <a:extLst>
              <a:ext uri="{FF2B5EF4-FFF2-40B4-BE49-F238E27FC236}">
                <a16:creationId xmlns:a16="http://schemas.microsoft.com/office/drawing/2014/main" id="{1CCC568C-D759-D8CB-C9C3-85A09D021594}"/>
              </a:ext>
            </a:extLst>
          </p:cNvPr>
          <p:cNvSpPr/>
          <p:nvPr/>
        </p:nvSpPr>
        <p:spPr bwMode="auto">
          <a:xfrm>
            <a:off x="344940" y="3077084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项目经理</a:t>
            </a:r>
          </a:p>
        </p:txBody>
      </p:sp>
      <p:sp>
        <p:nvSpPr>
          <p:cNvPr id="4" name="Rounded Rectangle 113">
            <a:extLst>
              <a:ext uri="{FF2B5EF4-FFF2-40B4-BE49-F238E27FC236}">
                <a16:creationId xmlns:a16="http://schemas.microsoft.com/office/drawing/2014/main" id="{EDC5CDFB-82F7-2ED2-7532-13705E76432C}"/>
              </a:ext>
            </a:extLst>
          </p:cNvPr>
          <p:cNvSpPr/>
          <p:nvPr/>
        </p:nvSpPr>
        <p:spPr bwMode="auto">
          <a:xfrm>
            <a:off x="3090284" y="3018652"/>
            <a:ext cx="1872161" cy="62807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细化项目阶段</a:t>
            </a:r>
            <a:endParaRPr lang="en-US" altLang="zh-CN" sz="1600" b="1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计划任务</a:t>
            </a:r>
          </a:p>
        </p:txBody>
      </p:sp>
      <p:sp>
        <p:nvSpPr>
          <p:cNvPr id="5" name="Rounded Rectangle 113">
            <a:extLst>
              <a:ext uri="{FF2B5EF4-FFF2-40B4-BE49-F238E27FC236}">
                <a16:creationId xmlns:a16="http://schemas.microsoft.com/office/drawing/2014/main" id="{F3BB1499-40FC-3BA6-2A75-53B392FB9BF7}"/>
              </a:ext>
            </a:extLst>
          </p:cNvPr>
          <p:cNvSpPr/>
          <p:nvPr/>
        </p:nvSpPr>
        <p:spPr bwMode="auto">
          <a:xfrm>
            <a:off x="6299435" y="2974982"/>
            <a:ext cx="1804443" cy="628067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项目阶段负责人填报进度（周报）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4025B51-D672-7AE8-20B9-99664D27309D}"/>
              </a:ext>
            </a:extLst>
          </p:cNvPr>
          <p:cNvCxnSpPr>
            <a:cxnSpLocks/>
          </p:cNvCxnSpPr>
          <p:nvPr/>
        </p:nvCxnSpPr>
        <p:spPr>
          <a:xfrm>
            <a:off x="1936950" y="3359192"/>
            <a:ext cx="1033561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738A3304-9CE3-8228-1BF6-7CEEAFA7EA1B}"/>
              </a:ext>
            </a:extLst>
          </p:cNvPr>
          <p:cNvCxnSpPr>
            <a:cxnSpLocks/>
          </p:cNvCxnSpPr>
          <p:nvPr/>
        </p:nvCxnSpPr>
        <p:spPr>
          <a:xfrm>
            <a:off x="5063894" y="3322278"/>
            <a:ext cx="1066689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7486243-58FA-F819-3F0A-29438B732B01}"/>
              </a:ext>
            </a:extLst>
          </p:cNvPr>
          <p:cNvCxnSpPr>
            <a:cxnSpLocks/>
          </p:cNvCxnSpPr>
          <p:nvPr/>
        </p:nvCxnSpPr>
        <p:spPr>
          <a:xfrm>
            <a:off x="8256103" y="3322278"/>
            <a:ext cx="733195" cy="10409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113">
            <a:extLst>
              <a:ext uri="{FF2B5EF4-FFF2-40B4-BE49-F238E27FC236}">
                <a16:creationId xmlns:a16="http://schemas.microsoft.com/office/drawing/2014/main" id="{612729AF-47EE-66E7-F5AF-360D1CD4D8A8}"/>
              </a:ext>
            </a:extLst>
          </p:cNvPr>
          <p:cNvSpPr/>
          <p:nvPr/>
        </p:nvSpPr>
        <p:spPr bwMode="auto">
          <a:xfrm flipH="1">
            <a:off x="9050161" y="3110347"/>
            <a:ext cx="16454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流程结束</a:t>
            </a:r>
          </a:p>
        </p:txBody>
      </p:sp>
    </p:spTree>
    <p:extLst>
      <p:ext uri="{BB962C8B-B14F-4D97-AF65-F5344CB8AC3E}">
        <p14:creationId xmlns:p14="http://schemas.microsoft.com/office/powerpoint/2010/main" val="1576985676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">
            <a:extLst>
              <a:ext uri="{FF2B5EF4-FFF2-40B4-BE49-F238E27FC236}">
                <a16:creationId xmlns:a16="http://schemas.microsoft.com/office/drawing/2014/main" id="{906F0FE4-8E51-0A24-06ED-D2574AB8408B}"/>
              </a:ext>
            </a:extLst>
          </p:cNvPr>
          <p:cNvSpPr txBox="1"/>
          <p:nvPr/>
        </p:nvSpPr>
        <p:spPr>
          <a:xfrm>
            <a:off x="3768532" y="1780098"/>
            <a:ext cx="4634865" cy="1258570"/>
          </a:xfrm>
          <a:prstGeom prst="rect">
            <a:avLst/>
          </a:prstGeom>
          <a:noFill/>
        </p:spPr>
        <p:txBody>
          <a:bodyPr wrap="square" lIns="28925" tIns="14462" rIns="28925" bIns="14462" rtlCol="0">
            <a:spAutoFit/>
          </a:bodyPr>
          <a:lstStyle>
            <a:defPPr>
              <a:defRPr lang="zh-CN"/>
            </a:defPPr>
            <a:lvl1pPr>
              <a:defRPr sz="5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dist"/>
            <a:r>
              <a:rPr lang="zh-CN" altLang="en-US" sz="8000" spc="169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感谢观看</a:t>
            </a:r>
          </a:p>
        </p:txBody>
      </p:sp>
      <p:sp>
        <p:nvSpPr>
          <p:cNvPr id="4" name="TextBox 48">
            <a:extLst>
              <a:ext uri="{FF2B5EF4-FFF2-40B4-BE49-F238E27FC236}">
                <a16:creationId xmlns:a16="http://schemas.microsoft.com/office/drawing/2014/main" id="{9F475AC9-AE9B-6C51-0828-DBD1CD4710B2}"/>
              </a:ext>
            </a:extLst>
          </p:cNvPr>
          <p:cNvSpPr txBox="1"/>
          <p:nvPr/>
        </p:nvSpPr>
        <p:spPr>
          <a:xfrm>
            <a:off x="4457567" y="3609063"/>
            <a:ext cx="3944937" cy="659765"/>
          </a:xfrm>
          <a:prstGeom prst="rect">
            <a:avLst/>
          </a:prstGeom>
          <a:noFill/>
        </p:spPr>
        <p:txBody>
          <a:bodyPr wrap="square" lIns="68571" tIns="34285" rIns="68571" bIns="34285" rtlCol="0">
            <a:sp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地址：湖南省长沙市岳麓区咸嘉湖街道王府井写字楼1306</a:t>
            </a:r>
            <a:endParaRPr lang="en-US" sz="11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0" algn="l">
              <a:lnSpc>
                <a:spcPct val="117000"/>
              </a:lnSpc>
            </a:pP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电话：</a:t>
            </a: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0731-82441008</a:t>
            </a:r>
            <a:endParaRPr lang="en-US" altLang="zh-CN" sz="1100" b="0" i="0" u="none" strike="noStrike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网址：</a:t>
            </a: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https://www.hunmingai.com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pic>
        <p:nvPicPr>
          <p:cNvPr id="5" name="图片 4" descr="C:/Users/HUAWEI/Desktop/扫码_搜索联合传播样式-白色版.png扫码_搜索联合传播样式-白色版">
            <a:extLst>
              <a:ext uri="{FF2B5EF4-FFF2-40B4-BE49-F238E27FC236}">
                <a16:creationId xmlns:a16="http://schemas.microsoft.com/office/drawing/2014/main" id="{BDA1770F-817C-566F-E027-69D4BE3808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" b="21"/>
          <a:stretch>
            <a:fillRect/>
          </a:stretch>
        </p:blipFill>
        <p:spPr>
          <a:xfrm>
            <a:off x="3414577" y="3263390"/>
            <a:ext cx="1006894" cy="100689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AEB0A00-A713-5771-BA4E-34DA85C0C3C2}"/>
              </a:ext>
            </a:extLst>
          </p:cNvPr>
          <p:cNvSpPr/>
          <p:nvPr/>
        </p:nvSpPr>
        <p:spPr>
          <a:xfrm>
            <a:off x="4457507" y="3271078"/>
            <a:ext cx="474916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昕彤赋能（长沙）人工智能行业应用系统有限公司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B03AC9-A463-C527-9DA1-C2212DFE0994}"/>
              </a:ext>
            </a:extLst>
          </p:cNvPr>
          <p:cNvSpPr/>
          <p:nvPr/>
        </p:nvSpPr>
        <p:spPr>
          <a:xfrm>
            <a:off x="3330794" y="1849243"/>
            <a:ext cx="4954526" cy="792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500"/>
              </a:lnSpc>
            </a:pP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汉仪书宋二简" panose="0201060000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73394994-c40b-46c8-80ca-5c36dbb6afdc"/>
  <p:tag name="COMMONDATA" val="eyJoZGlkIjoiMjI1ZmQyMTYzOTAwNjg5YzAwODM1NGYzNWEzODcyYj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C000"/>
        </a:solidFill>
      </a:spPr>
      <a:bodyPr rtlCol="0" anchor="ctr"/>
      <a:lstStyle>
        <a:defPPr algn="ctr">
          <a:defRPr sz="1200" b="1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36194</TotalTime>
  <Words>556</Words>
  <Application>Microsoft Office PowerPoint</Application>
  <PresentationFormat>宽屏</PresentationFormat>
  <Paragraphs>127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微软雅黑</vt:lpstr>
      <vt:lpstr>Arial</vt:lpstr>
      <vt:lpstr>Calibri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贵 张</cp:lastModifiedBy>
  <cp:revision>1803</cp:revision>
  <cp:lastPrinted>2021-06-16T06:29:00Z</cp:lastPrinted>
  <dcterms:created xsi:type="dcterms:W3CDTF">2019-06-19T02:08:00Z</dcterms:created>
  <dcterms:modified xsi:type="dcterms:W3CDTF">2026-04-21T10:20:06Z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ICV">
    <vt:lpwstr>702A9507C5A14EB0BECAC24DB445FB33</vt:lpwstr>
  </property>
</Properties>
</file>