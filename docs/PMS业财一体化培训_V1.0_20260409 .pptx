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10210" r:id="rId2"/>
    <p:sldId id="10335" r:id="rId3"/>
    <p:sldId id="10344" r:id="rId4"/>
    <p:sldId id="10351" r:id="rId5"/>
    <p:sldId id="10343" r:id="rId6"/>
    <p:sldId id="10350" r:id="rId7"/>
    <p:sldId id="10348" r:id="rId8"/>
    <p:sldId id="10345" r:id="rId9"/>
    <p:sldId id="10346" r:id="rId10"/>
    <p:sldId id="10338" r:id="rId11"/>
    <p:sldId id="10347" r:id="rId12"/>
    <p:sldId id="10349" r:id="rId13"/>
    <p:sldId id="10352" r:id="rId14"/>
    <p:sldId id="10353" r:id="rId15"/>
    <p:sldId id="418" r:id="rId16"/>
  </p:sldIdLst>
  <p:sldSz cx="12192000" cy="6858000"/>
  <p:notesSz cx="6797675" cy="9926638"/>
  <p:custDataLst>
    <p:tags r:id="rId19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737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52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本" initials="本" lastIdx="1" clrIdx="0"/>
  <p:cmAuthor id="2" name="Jason" initials="J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DBA"/>
    <a:srgbClr val="6DABD8"/>
    <a:srgbClr val="7EB7D8"/>
    <a:srgbClr val="F6F6F6"/>
    <a:srgbClr val="BFD732"/>
    <a:srgbClr val="FFFFFF"/>
    <a:srgbClr val="2094CE"/>
    <a:srgbClr val="F8F8FA"/>
    <a:srgbClr val="CACACA"/>
    <a:srgbClr val="446D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35" autoAdjust="0"/>
    <p:restoredTop sz="86332" autoAdjust="0"/>
  </p:normalViewPr>
  <p:slideViewPr>
    <p:cSldViewPr snapToGrid="0">
      <p:cViewPr varScale="1">
        <p:scale>
          <a:sx n="91" d="100"/>
          <a:sy n="91" d="100"/>
        </p:scale>
        <p:origin x="44" y="156"/>
      </p:cViewPr>
      <p:guideLst>
        <p:guide pos="3737"/>
        <p:guide orient="horz" pos="2160"/>
      </p:guideLst>
    </p:cSldViewPr>
  </p:slideViewPr>
  <p:outlineViewPr>
    <p:cViewPr>
      <p:scale>
        <a:sx n="33" d="100"/>
        <a:sy n="33" d="100"/>
      </p:scale>
      <p:origin x="0" y="-180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4260"/>
    </p:cViewPr>
  </p:sorterViewPr>
  <p:notesViewPr>
    <p:cSldViewPr snapToGrid="0">
      <p:cViewPr varScale="1">
        <p:scale>
          <a:sx n="47" d="100"/>
          <a:sy n="47" d="100"/>
        </p:scale>
        <p:origin x="2792" y="48"/>
      </p:cViewPr>
      <p:guideLst>
        <p:guide orient="horz" pos="3252"/>
        <p:guide pos="2141"/>
      </p:guideLst>
    </p:cSldViewPr>
  </p:notes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9135A90-B6C7-4DA4-BD33-3A240A77BB8C}" type="datetimeFigureOut">
              <a:rPr lang="zh-CN" altLang="en-US"/>
              <a:t>2026-04-07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fld id="{DFB826EF-C3E9-4C5A-8F5E-C9EDAF071AEA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defRPr sz="1200" noProof="1">
                <a:latin typeface="+mn-lt"/>
                <a:ea typeface="+mn-ea"/>
              </a:defRPr>
            </a:lvl1pPr>
          </a:lstStyle>
          <a:p>
            <a:pPr>
              <a:defRPr/>
            </a:pPr>
            <a:fld id="{0D130321-0F65-4BC9-8A6C-8A8C5484039F}" type="datetimeFigureOut">
              <a:rPr lang="zh-CN" altLang="en-US"/>
              <a:t>2026-04-07</a:t>
            </a:fld>
            <a:endParaRPr lang="zh-CN" altLang="en-US"/>
          </a:p>
        </p:txBody>
      </p:sp>
      <p:sp>
        <p:nvSpPr>
          <p:cNvPr id="7172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</a:ln>
        </p:spPr>
      </p:sp>
      <p:sp>
        <p:nvSpPr>
          <p:cNvPr id="9221" name="备注占位符 4"/>
          <p:cNvSpPr>
            <a:spLocks noGrp="1" noChangeArrowheads="1"/>
          </p:cNvSpPr>
          <p:nvPr>
            <p:ph type="body" sz="quarter" idx="9"/>
          </p:nvPr>
        </p:nvSpPr>
        <p:spPr bwMode="auto">
          <a:xfrm>
            <a:off x="679768" y="4777194"/>
            <a:ext cx="5438140" cy="390861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fld id="{431FBF55-2C81-49EB-ADF0-0995E9D08B34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2" descr="002-0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588"/>
            <a:ext cx="12192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图片 4" descr="logo文字带英文与中文左右排列">
            <a:extLst>
              <a:ext uri="{FF2B5EF4-FFF2-40B4-BE49-F238E27FC236}">
                <a16:creationId xmlns:a16="http://schemas.microsoft.com/office/drawing/2014/main" id="{C6EDB94D-3CEC-46A8-F24C-0DFDBE959C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58758" y="127221"/>
            <a:ext cx="1882140" cy="4533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002-0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588"/>
            <a:ext cx="12192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角三角形 2"/>
          <p:cNvSpPr>
            <a:spLocks noChangeArrowheads="1"/>
          </p:cNvSpPr>
          <p:nvPr userDrawn="1"/>
        </p:nvSpPr>
        <p:spPr bwMode="auto">
          <a:xfrm rot="5400000">
            <a:off x="165894" y="229394"/>
            <a:ext cx="274638" cy="273050"/>
          </a:xfrm>
          <a:prstGeom prst="rtTriangle">
            <a:avLst/>
          </a:prstGeom>
          <a:solidFill>
            <a:srgbClr val="0043A5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endParaRPr lang="zh-CN" altLang="en-US">
              <a:solidFill>
                <a:srgbClr val="0043A5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Isosceles Triangle 3"/>
          <p:cNvSpPr/>
          <p:nvPr userDrawn="1"/>
        </p:nvSpPr>
        <p:spPr>
          <a:xfrm rot="16200000">
            <a:off x="11626850" y="6221413"/>
            <a:ext cx="358775" cy="774700"/>
          </a:xfrm>
          <a:prstGeom prst="triangle">
            <a:avLst/>
          </a:prstGeom>
          <a:solidFill>
            <a:srgbClr val="0E57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0" tIns="0" rIns="0" bIns="0" anchor="ctr"/>
          <a:lstStyle/>
          <a:p>
            <a:pPr algn="ctr" eaLnBrk="1" hangingPunct="1"/>
            <a:fld id="{D6ED0BA3-7E75-4C26-B4B8-F12C990C7A51}" type="slidenum">
              <a:rPr lang="zh-CN" altLang="en-US" sz="1200">
                <a:solidFill>
                  <a:srgbClr val="FFFFFF"/>
                </a:solidFill>
              </a:rPr>
              <a:t>‹#›</a:t>
            </a:fld>
            <a:endParaRPr lang="zh-CN" altLang="en-US" sz="1200">
              <a:solidFill>
                <a:srgbClr val="FFFFFF"/>
              </a:solidFill>
            </a:endParaRPr>
          </a:p>
        </p:txBody>
      </p:sp>
      <p:pic>
        <p:nvPicPr>
          <p:cNvPr id="5" name="图片 4" descr="logo文字带英文与中文左右排列">
            <a:extLst>
              <a:ext uri="{FF2B5EF4-FFF2-40B4-BE49-F238E27FC236}">
                <a16:creationId xmlns:a16="http://schemas.microsoft.com/office/drawing/2014/main" id="{E55C29AE-8285-51BC-6A0B-0D86351898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58758" y="127221"/>
            <a:ext cx="1882140" cy="4533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logo文字带英文与中文左右排列">
            <a:extLst>
              <a:ext uri="{FF2B5EF4-FFF2-40B4-BE49-F238E27FC236}">
                <a16:creationId xmlns:a16="http://schemas.microsoft.com/office/drawing/2014/main" id="{C654F6C1-9057-AC68-44AC-8153428C62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58758" y="127221"/>
            <a:ext cx="1882140" cy="4533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D15DCF-B6C0-436A-B323-0F6F8456F11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图片 4" descr="logo文字带英文与中文左右排列">
            <a:extLst>
              <a:ext uri="{FF2B5EF4-FFF2-40B4-BE49-F238E27FC236}">
                <a16:creationId xmlns:a16="http://schemas.microsoft.com/office/drawing/2014/main" id="{0428E576-3439-CDE9-1C1C-201ECED9CD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58758" y="127221"/>
            <a:ext cx="1882140" cy="4533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" y="0"/>
            <a:ext cx="12191999" cy="1032038"/>
          </a:xfrm>
          <a:prstGeom prst="rect">
            <a:avLst/>
          </a:prstGeom>
        </p:spPr>
        <p:txBody>
          <a:bodyPr lIns="539959" tIns="45717" rIns="91433" bIns="45717" anchor="ctr">
            <a:normAutofit/>
          </a:bodyPr>
          <a:lstStyle>
            <a:lvl1pPr algn="l"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964" y="-92"/>
            <a:ext cx="12224107" cy="1444752"/>
          </a:xfrm>
          <a:prstGeom prst="rect">
            <a:avLst/>
          </a:prstGeom>
        </p:spPr>
      </p:pic>
      <p:pic>
        <p:nvPicPr>
          <p:cNvPr id="9" name="图片 8" descr="MTC Logo-Registered.png"/>
          <p:cNvPicPr>
            <a:picLocks noChangeAspect="1"/>
          </p:cNvPicPr>
          <p:nvPr userDrawn="1"/>
        </p:nvPicPr>
        <p:blipFill>
          <a:blip r:embed="rId3" cstate="screen">
            <a:biLevel thresh="25000"/>
          </a:blip>
          <a:stretch>
            <a:fillRect/>
          </a:stretch>
        </p:blipFill>
        <p:spPr>
          <a:xfrm>
            <a:off x="10867300" y="389628"/>
            <a:ext cx="1171191" cy="292798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 userDrawn="1"/>
        </p:nvSpPr>
        <p:spPr>
          <a:xfrm>
            <a:off x="-1151731" y="580173"/>
            <a:ext cx="511961" cy="204069"/>
          </a:xfrm>
          <a:prstGeom prst="rect">
            <a:avLst/>
          </a:prstGeom>
          <a:solidFill>
            <a:srgbClr val="0E43F0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-1151731" y="354504"/>
            <a:ext cx="511962" cy="204069"/>
          </a:xfrm>
          <a:prstGeom prst="rect">
            <a:avLst/>
          </a:prstGeom>
          <a:solidFill>
            <a:srgbClr val="718EF7"/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-1151731" y="128835"/>
            <a:ext cx="511961" cy="204069"/>
          </a:xfrm>
          <a:prstGeom prst="rect">
            <a:avLst/>
          </a:prstGeom>
          <a:solidFill>
            <a:srgbClr val="A1B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6" name="矩形 25"/>
          <p:cNvSpPr/>
          <p:nvPr userDrawn="1"/>
        </p:nvSpPr>
        <p:spPr>
          <a:xfrm>
            <a:off x="-567762" y="576007"/>
            <a:ext cx="511961" cy="20406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7" name="矩形 26"/>
          <p:cNvSpPr/>
          <p:nvPr userDrawn="1"/>
        </p:nvSpPr>
        <p:spPr>
          <a:xfrm>
            <a:off x="-567762" y="350338"/>
            <a:ext cx="511962" cy="204069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-567762" y="124669"/>
            <a:ext cx="511961" cy="204069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Rectangle 37"/>
          <p:cNvSpPr/>
          <p:nvPr userDrawn="1"/>
        </p:nvSpPr>
        <p:spPr bwMode="auto">
          <a:xfrm>
            <a:off x="8906623" y="6558176"/>
            <a:ext cx="3833840" cy="16184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r>
              <a:rPr lang="zh-CN" altLang="en-US" sz="1000" b="0" i="0" spc="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Microsoft YaHei Bold" charset="0"/>
              </a:rPr>
              <a:t>版权所有</a:t>
            </a:r>
            <a:r>
              <a:rPr lang="en-US" altLang="zh-CN" sz="1000" b="0" i="0" spc="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 charset="0"/>
              </a:rPr>
              <a:t>©1996-2022 </a:t>
            </a:r>
            <a:r>
              <a:rPr lang="zh-CN" altLang="en-US" sz="10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 charset="0"/>
              </a:rPr>
              <a:t>普菲特计算机技术股份有限公司</a:t>
            </a:r>
            <a:endParaRPr lang="zh-CN" altLang="en-US" sz="1000" b="0" i="0" spc="0" baseline="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Microsoft YaHei Bold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60" y="6408995"/>
            <a:ext cx="1169634" cy="394693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8536" y="138194"/>
            <a:ext cx="1197968" cy="27019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 spc="300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3200" kern="1200" spc="150">
          <a:solidFill>
            <a:srgbClr val="595959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rtl="0" eaLnBrk="0" fontAlgn="base" hangingPunct="0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</a:tabLst>
        <a:defRPr sz="1600" kern="1200" spc="150">
          <a:solidFill>
            <a:srgbClr val="595959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rtl="0" eaLnBrk="0" fontAlgn="base" hangingPunct="0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</a:tabLst>
        <a:defRPr sz="1600" kern="1200" spc="150">
          <a:solidFill>
            <a:srgbClr val="595959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rtl="0" eaLnBrk="0" fontAlgn="base" hangingPunct="0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pitchFamily="2" charset="2"/>
        <a:buChar char=""/>
        <a:tabLst>
          <a:tab pos="1609725" algn="l"/>
        </a:tabLst>
        <a:defRPr sz="1400" kern="1200" spc="150">
          <a:solidFill>
            <a:srgbClr val="595959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rtl="0" eaLnBrk="0" fontAlgn="base" hangingPunct="0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tabLst>
          <a:tab pos="1609725" algn="l"/>
        </a:tabLst>
        <a:defRPr sz="1400" kern="1200" spc="150">
          <a:solidFill>
            <a:srgbClr val="595959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230628" y="1217384"/>
            <a:ext cx="5698996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6000" b="1" dirty="0"/>
              <a:t>PMS</a:t>
            </a:r>
            <a:r>
              <a:rPr lang="zh-CN" altLang="en-US" sz="6000" b="1" dirty="0"/>
              <a:t>业财一体化</a:t>
            </a:r>
            <a:endParaRPr lang="en-US" altLang="zh-CN" sz="6000" b="1" dirty="0"/>
          </a:p>
          <a:p>
            <a:pPr algn="ctr"/>
            <a:r>
              <a:rPr lang="zh-CN" altLang="en-US" sz="6000" b="1" dirty="0"/>
              <a:t>一期规划汇报</a:t>
            </a:r>
            <a:endParaRPr lang="en-US" altLang="zh-CN" sz="6000" b="1" dirty="0"/>
          </a:p>
        </p:txBody>
      </p:sp>
      <p:sp>
        <p:nvSpPr>
          <p:cNvPr id="2" name="文本框 31">
            <a:extLst>
              <a:ext uri="{FF2B5EF4-FFF2-40B4-BE49-F238E27FC236}">
                <a16:creationId xmlns:a16="http://schemas.microsoft.com/office/drawing/2014/main" id="{AC550207-EEB7-380A-9BFA-68A84AE9D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2197" y="3539843"/>
            <a:ext cx="4987606" cy="390602"/>
          </a:xfrm>
          <a:prstGeom prst="rect">
            <a:avLst/>
          </a:prstGeom>
          <a:noFill/>
          <a:ln w="12700">
            <a:noFill/>
            <a:round/>
          </a:ln>
        </p:spPr>
        <p:txBody>
          <a:bodyPr lIns="0" tIns="0" rIns="0" bIns="0" anchor="ctr"/>
          <a:lstStyle/>
          <a:p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昕彤赋能（长沙）人工智能行业应用系统有限公司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42C6A7-6CD2-7F95-4498-F0984DF34E64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sz="2400" dirty="0">
                <a:latin typeface="微软雅黑" panose="020B0503020204020204" pitchFamily="34" charset="-122"/>
              </a:rPr>
              <a:t>PMS</a:t>
            </a:r>
            <a:r>
              <a:rPr lang="zh-CN" altLang="en-US" sz="2400" dirty="0">
                <a:latin typeface="微软雅黑" panose="020B0503020204020204" pitchFamily="34" charset="-122"/>
              </a:rPr>
              <a:t>业财一体化平台目标</a:t>
            </a:r>
          </a:p>
        </p:txBody>
      </p:sp>
      <p:sp>
        <p:nvSpPr>
          <p:cNvPr id="3" name="直角三角形 2">
            <a:extLst>
              <a:ext uri="{FF2B5EF4-FFF2-40B4-BE49-F238E27FC236}">
                <a16:creationId xmlns:a16="http://schemas.microsoft.com/office/drawing/2014/main" id="{89A754AC-DD45-E943-F253-2F5D473E9F5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9738" y="119416"/>
            <a:ext cx="360000" cy="360000"/>
          </a:xfrm>
          <a:prstGeom prst="rtTriangle">
            <a:avLst/>
          </a:prstGeom>
          <a:solidFill>
            <a:srgbClr val="0043A5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endParaRPr lang="zh-CN" altLang="en-US">
              <a:solidFill>
                <a:srgbClr val="0043A5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01B888C-7611-B536-DCB6-12C589210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507" y="805705"/>
            <a:ext cx="5269044" cy="1604892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3E7C4AAD-16F2-E605-1819-51977AE27D02}"/>
              </a:ext>
            </a:extLst>
          </p:cNvPr>
          <p:cNvSpPr/>
          <p:nvPr/>
        </p:nvSpPr>
        <p:spPr>
          <a:xfrm>
            <a:off x="749507" y="3026810"/>
            <a:ext cx="5269043" cy="918148"/>
          </a:xfrm>
          <a:prstGeom prst="roundRect">
            <a:avLst/>
          </a:prstGeom>
          <a:solidFill>
            <a:srgbClr val="6DABD8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合同型项目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0FB8A8A-5472-8BD1-A3F6-951471944AF7}"/>
              </a:ext>
            </a:extLst>
          </p:cNvPr>
          <p:cNvSpPr/>
          <p:nvPr/>
        </p:nvSpPr>
        <p:spPr>
          <a:xfrm>
            <a:off x="749508" y="4406869"/>
            <a:ext cx="5269043" cy="918148"/>
          </a:xfrm>
          <a:prstGeom prst="roundRect">
            <a:avLst/>
          </a:prstGeom>
          <a:solidFill>
            <a:srgbClr val="6DABD8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试运行项目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2F46D0E0-421A-AC3E-FAE1-8049C8A177CF}"/>
              </a:ext>
            </a:extLst>
          </p:cNvPr>
          <p:cNvSpPr/>
          <p:nvPr/>
        </p:nvSpPr>
        <p:spPr>
          <a:xfrm>
            <a:off x="6438276" y="2728242"/>
            <a:ext cx="1296650" cy="749508"/>
          </a:xfrm>
          <a:prstGeom prst="rightArrow">
            <a:avLst/>
          </a:prstGeom>
          <a:solidFill>
            <a:srgbClr val="004DBA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4D57399-13BF-81D0-DE03-906A103EC286}"/>
              </a:ext>
            </a:extLst>
          </p:cNvPr>
          <p:cNvSpPr/>
          <p:nvPr/>
        </p:nvSpPr>
        <p:spPr>
          <a:xfrm>
            <a:off x="7869837" y="805705"/>
            <a:ext cx="3924924" cy="4519311"/>
          </a:xfrm>
          <a:prstGeom prst="roundRect">
            <a:avLst/>
          </a:prstGeom>
          <a:solidFill>
            <a:srgbClr val="6DABD8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7C37481-EC26-D0AA-13A5-CC936D50F8E5}"/>
              </a:ext>
            </a:extLst>
          </p:cNvPr>
          <p:cNvSpPr txBox="1"/>
          <p:nvPr/>
        </p:nvSpPr>
        <p:spPr>
          <a:xfrm>
            <a:off x="8127170" y="1045596"/>
            <a:ext cx="31029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基于</a:t>
            </a:r>
            <a:r>
              <a:rPr lang="en-US" altLang="zh-CN" sz="1600" b="1" dirty="0"/>
              <a:t>BPM</a:t>
            </a:r>
            <a:r>
              <a:rPr lang="zh-CN" altLang="en-US" sz="1600" b="1" dirty="0"/>
              <a:t>的项目财务一体化平台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7ED98FC-1DC3-DF1B-AA56-B74E9A9FBD0A}"/>
              </a:ext>
            </a:extLst>
          </p:cNvPr>
          <p:cNvSpPr txBox="1"/>
          <p:nvPr/>
        </p:nvSpPr>
        <p:spPr>
          <a:xfrm>
            <a:off x="8122172" y="1790349"/>
            <a:ext cx="332032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1</a:t>
            </a:r>
            <a:r>
              <a:rPr lang="zh-CN" altLang="en-US" sz="1600" dirty="0"/>
              <a:t>、包含业务到财务的全流程管理，解决数据同源、流程联动；解决业务财务两张皮，业务触发财务，财务反馈业务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CB8F90C-78D3-435A-0D57-EA50B09D0530}"/>
              </a:ext>
            </a:extLst>
          </p:cNvPr>
          <p:cNvSpPr txBox="1"/>
          <p:nvPr/>
        </p:nvSpPr>
        <p:spPr>
          <a:xfrm>
            <a:off x="8122171" y="3315960"/>
            <a:ext cx="33203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2</a:t>
            </a:r>
            <a:r>
              <a:rPr lang="zh-CN" altLang="en-US" sz="1600" dirty="0"/>
              <a:t>、财务：事前管控与实时洞察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18F6B9E-F24C-19C4-44FC-CAD6F3169FFA}"/>
              </a:ext>
            </a:extLst>
          </p:cNvPr>
          <p:cNvSpPr txBox="1"/>
          <p:nvPr/>
        </p:nvSpPr>
        <p:spPr>
          <a:xfrm>
            <a:off x="8122170" y="4145400"/>
            <a:ext cx="33203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3</a:t>
            </a:r>
            <a:r>
              <a:rPr lang="zh-CN" altLang="en-US" sz="1600" dirty="0"/>
              <a:t>、业务：全局协同与闭环管理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0281DE3-4B7D-1C00-E812-55407C3035C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64633" y="5399458"/>
            <a:ext cx="11235055" cy="1116781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lumMod val="85000"/>
                <a:alpha val="38000"/>
              </a:schemeClr>
            </a:outerShdw>
          </a:effectLst>
        </p:spPr>
        <p:txBody>
          <a:bodyPr wrap="square" rtlCol="0">
            <a:spAutoFit/>
          </a:bodyPr>
          <a:lstStyle/>
          <a:p>
            <a:pPr indent="457200" algn="ctr">
              <a:lnSpc>
                <a:spcPct val="200000"/>
              </a:lnSpc>
            </a:pPr>
            <a:r>
              <a:rPr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</a:t>
            </a:r>
            <a:r>
              <a:rPr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</a:t>
            </a:r>
            <a:r>
              <a:rPr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为主线，实现从项目立项、项目预算、项目合同、项目收入/成本/利润、项目计划/执行/反馈</a:t>
            </a:r>
            <a:r>
              <a:rPr lang="zh-CN"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</a:t>
            </a:r>
            <a:r>
              <a:rPr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</a:p>
          <a:p>
            <a:pPr indent="457200" algn="ctr">
              <a:lnSpc>
                <a:spcPct val="200000"/>
              </a:lnSpc>
            </a:pPr>
            <a:r>
              <a:rPr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到项目</a:t>
            </a:r>
            <a:r>
              <a:rPr lang="zh-CN"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财务</a:t>
            </a:r>
            <a:r>
              <a:rPr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、项目</a:t>
            </a:r>
            <a:r>
              <a:rPr lang="zh-CN"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分析</a:t>
            </a:r>
            <a:r>
              <a:rPr b="1" dirty="0" err="1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b="1" dirty="0" err="1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业财一体化管理</a:t>
            </a:r>
            <a:r>
              <a:rPr b="1" dirty="0" err="1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。帮助企业规范业务流程，促进</a:t>
            </a:r>
            <a:r>
              <a:rPr lang="zh-CN"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</a:t>
            </a:r>
            <a:r>
              <a:rPr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利润提升！</a:t>
            </a:r>
          </a:p>
        </p:txBody>
      </p:sp>
    </p:spTree>
    <p:extLst>
      <p:ext uri="{BB962C8B-B14F-4D97-AF65-F5344CB8AC3E}">
        <p14:creationId xmlns:p14="http://schemas.microsoft.com/office/powerpoint/2010/main" val="212343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标题 1">
            <a:extLst>
              <a:ext uri="{FF2B5EF4-FFF2-40B4-BE49-F238E27FC236}">
                <a16:creationId xmlns:a16="http://schemas.microsoft.com/office/drawing/2014/main" id="{9AD1E328-3903-F892-9069-EE1DBC9BF02F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sz="2400" dirty="0">
                <a:latin typeface="微软雅黑" panose="020B0503020204020204" pitchFamily="34" charset="-122"/>
              </a:rPr>
              <a:t>PMS</a:t>
            </a:r>
            <a:r>
              <a:rPr lang="zh-CN" altLang="en-US" sz="2400" dirty="0">
                <a:latin typeface="微软雅黑" panose="020B0503020204020204" pitchFamily="34" charset="-122"/>
              </a:rPr>
              <a:t>业财一体化整体流程说明（一期）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7F717018-4240-D182-1866-3AA6584BCBE3}"/>
              </a:ext>
            </a:extLst>
          </p:cNvPr>
          <p:cNvSpPr/>
          <p:nvPr/>
        </p:nvSpPr>
        <p:spPr>
          <a:xfrm>
            <a:off x="198781" y="795131"/>
            <a:ext cx="11799737" cy="430530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32004" rIns="106013" bIns="32004" spcCol="1270" rtlCol="0" anchor="ctr"/>
          <a:lstStyle/>
          <a:p>
            <a:pPr algn="ctr" defTabSz="533400">
              <a:lnSpc>
                <a:spcPct val="90000"/>
              </a:lnSpc>
              <a:spcAft>
                <a:spcPct val="35000"/>
              </a:spcAft>
            </a:pPr>
            <a:endParaRPr lang="zh-TW" altLang="en-US" sz="1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1" name="TextBox 180">
            <a:extLst>
              <a:ext uri="{FF2B5EF4-FFF2-40B4-BE49-F238E27FC236}">
                <a16:creationId xmlns:a16="http://schemas.microsoft.com/office/drawing/2014/main" id="{D9E4E32F-520D-37FA-73E1-5D03439E9844}"/>
              </a:ext>
            </a:extLst>
          </p:cNvPr>
          <p:cNvSpPr txBox="1"/>
          <p:nvPr/>
        </p:nvSpPr>
        <p:spPr>
          <a:xfrm>
            <a:off x="1088830" y="860077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zh-CN" altLang="en-US" sz="1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客户管理</a:t>
            </a:r>
            <a:endParaRPr lang="zh-TW" altLang="en-US" sz="12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2" name="TextBox 181">
            <a:extLst>
              <a:ext uri="{FF2B5EF4-FFF2-40B4-BE49-F238E27FC236}">
                <a16:creationId xmlns:a16="http://schemas.microsoft.com/office/drawing/2014/main" id="{63FA4C43-43E8-5279-A4E6-F9F701B6C10E}"/>
              </a:ext>
            </a:extLst>
          </p:cNvPr>
          <p:cNvSpPr txBox="1"/>
          <p:nvPr/>
        </p:nvSpPr>
        <p:spPr>
          <a:xfrm>
            <a:off x="4118771" y="860077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zh-CN" altLang="en-US" sz="1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项目管理</a:t>
            </a:r>
            <a:endParaRPr lang="zh-TW" altLang="en-US" sz="12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3" name="TextBox 183">
            <a:extLst>
              <a:ext uri="{FF2B5EF4-FFF2-40B4-BE49-F238E27FC236}">
                <a16:creationId xmlns:a16="http://schemas.microsoft.com/office/drawing/2014/main" id="{FEE821E0-0284-B97F-F67F-C1D548146F5D}"/>
              </a:ext>
            </a:extLst>
          </p:cNvPr>
          <p:cNvSpPr txBox="1"/>
          <p:nvPr/>
        </p:nvSpPr>
        <p:spPr>
          <a:xfrm>
            <a:off x="7148712" y="860077"/>
            <a:ext cx="8002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zh-CN" altLang="en-US" sz="1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合同管理</a:t>
            </a:r>
            <a:endParaRPr lang="zh-TW" altLang="en-US" sz="12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5" name="TextBox 183">
            <a:extLst>
              <a:ext uri="{FF2B5EF4-FFF2-40B4-BE49-F238E27FC236}">
                <a16:creationId xmlns:a16="http://schemas.microsoft.com/office/drawing/2014/main" id="{BDDCB342-42E9-70B8-DD55-D353C17DA6EE}"/>
              </a:ext>
            </a:extLst>
          </p:cNvPr>
          <p:cNvSpPr txBox="1"/>
          <p:nvPr/>
        </p:nvSpPr>
        <p:spPr>
          <a:xfrm>
            <a:off x="10178653" y="860077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zh-CN" altLang="en-US" sz="1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收入管理</a:t>
            </a:r>
            <a:endParaRPr lang="zh-TW" altLang="en-US" sz="12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675360F7-C073-45DA-5AE4-7A3E01626F0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98781" y="5997923"/>
            <a:ext cx="11794438" cy="5695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31" name="流程图: 过程 130">
            <a:extLst>
              <a:ext uri="{FF2B5EF4-FFF2-40B4-BE49-F238E27FC236}">
                <a16:creationId xmlns:a16="http://schemas.microsoft.com/office/drawing/2014/main" id="{9B3B64A9-D6DE-7528-3ED3-4B39ABE7931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911376" y="6146513"/>
            <a:ext cx="1521712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收入凭证</a:t>
            </a:r>
          </a:p>
        </p:txBody>
      </p:sp>
      <p:sp>
        <p:nvSpPr>
          <p:cNvPr id="132" name="流程图: 过程 131">
            <a:extLst>
              <a:ext uri="{FF2B5EF4-FFF2-40B4-BE49-F238E27FC236}">
                <a16:creationId xmlns:a16="http://schemas.microsoft.com/office/drawing/2014/main" id="{DF48D6C0-B3C9-175B-9AAC-49E49BFA17E6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888766" y="6146513"/>
            <a:ext cx="1521044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收款凭证</a:t>
            </a:r>
          </a:p>
        </p:txBody>
      </p:sp>
      <p:sp>
        <p:nvSpPr>
          <p:cNvPr id="133" name="流程图: 过程 132">
            <a:extLst>
              <a:ext uri="{FF2B5EF4-FFF2-40B4-BE49-F238E27FC236}">
                <a16:creationId xmlns:a16="http://schemas.microsoft.com/office/drawing/2014/main" id="{E414E0B5-1DE0-0DEA-8DC7-81AA47D6A95B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865521" y="6155403"/>
            <a:ext cx="1521044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成本凭证</a:t>
            </a:r>
          </a:p>
        </p:txBody>
      </p:sp>
      <p:sp>
        <p:nvSpPr>
          <p:cNvPr id="134" name="流程图: 过程 133">
            <a:extLst>
              <a:ext uri="{FF2B5EF4-FFF2-40B4-BE49-F238E27FC236}">
                <a16:creationId xmlns:a16="http://schemas.microsoft.com/office/drawing/2014/main" id="{A5DB2035-40C6-B77B-C11E-2953DC178EAC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7842276" y="6152863"/>
            <a:ext cx="1521044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付款凭证</a:t>
            </a:r>
          </a:p>
        </p:txBody>
      </p:sp>
      <p:sp>
        <p:nvSpPr>
          <p:cNvPr id="135" name="流程图: 过程 134">
            <a:extLst>
              <a:ext uri="{FF2B5EF4-FFF2-40B4-BE49-F238E27FC236}">
                <a16:creationId xmlns:a16="http://schemas.microsoft.com/office/drawing/2014/main" id="{C72C0DC0-8293-09BF-53F7-45C59FE1252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9819031" y="6145243"/>
            <a:ext cx="1521044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税务主数据</a:t>
            </a: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AB25BF9D-13D0-72C4-3C6B-4AE295BA655F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94361" y="6144608"/>
            <a:ext cx="1037622" cy="28956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财务</a:t>
            </a:r>
          </a:p>
        </p:txBody>
      </p:sp>
      <p:sp>
        <p:nvSpPr>
          <p:cNvPr id="137" name="Rounded Rectangle 113">
            <a:extLst>
              <a:ext uri="{FF2B5EF4-FFF2-40B4-BE49-F238E27FC236}">
                <a16:creationId xmlns:a16="http://schemas.microsoft.com/office/drawing/2014/main" id="{74EBAC7F-3779-2436-553C-D3B16B300D20}"/>
              </a:ext>
            </a:extLst>
          </p:cNvPr>
          <p:cNvSpPr/>
          <p:nvPr/>
        </p:nvSpPr>
        <p:spPr bwMode="auto">
          <a:xfrm>
            <a:off x="725222" y="2201520"/>
            <a:ext cx="1197168" cy="423862"/>
          </a:xfrm>
          <a:prstGeom prst="roundRect">
            <a:avLst/>
          </a:prstGeom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0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客户资料</a:t>
            </a:r>
          </a:p>
        </p:txBody>
      </p:sp>
      <p:sp>
        <p:nvSpPr>
          <p:cNvPr id="138" name="Rounded Rectangle 113">
            <a:extLst>
              <a:ext uri="{FF2B5EF4-FFF2-40B4-BE49-F238E27FC236}">
                <a16:creationId xmlns:a16="http://schemas.microsoft.com/office/drawing/2014/main" id="{F487E2BE-0402-A7E2-AE2E-9B6B0070CD68}"/>
              </a:ext>
            </a:extLst>
          </p:cNvPr>
          <p:cNvSpPr/>
          <p:nvPr/>
        </p:nvSpPr>
        <p:spPr bwMode="auto">
          <a:xfrm>
            <a:off x="725222" y="1341807"/>
            <a:ext cx="1197168" cy="423862"/>
          </a:xfrm>
          <a:prstGeom prst="roundRect">
            <a:avLst/>
          </a:prstGeom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en-US" altLang="zh-CN" sz="10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10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客户准入</a:t>
            </a:r>
          </a:p>
        </p:txBody>
      </p:sp>
      <p:sp>
        <p:nvSpPr>
          <p:cNvPr id="140" name="Rounded Rectangle 113">
            <a:extLst>
              <a:ext uri="{FF2B5EF4-FFF2-40B4-BE49-F238E27FC236}">
                <a16:creationId xmlns:a16="http://schemas.microsoft.com/office/drawing/2014/main" id="{B7D95067-D927-800F-E95E-760597EF4FE4}"/>
              </a:ext>
            </a:extLst>
          </p:cNvPr>
          <p:cNvSpPr/>
          <p:nvPr/>
        </p:nvSpPr>
        <p:spPr bwMode="auto">
          <a:xfrm>
            <a:off x="4021451" y="2182735"/>
            <a:ext cx="860651" cy="423862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1"/>
            </a:solidFill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0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项目立项</a:t>
            </a:r>
          </a:p>
        </p:txBody>
      </p:sp>
      <p:sp>
        <p:nvSpPr>
          <p:cNvPr id="141" name="Rounded Rectangle 113">
            <a:extLst>
              <a:ext uri="{FF2B5EF4-FFF2-40B4-BE49-F238E27FC236}">
                <a16:creationId xmlns:a16="http://schemas.microsoft.com/office/drawing/2014/main" id="{B8365C98-94BF-F3E4-1392-6F8D4B909B0F}"/>
              </a:ext>
            </a:extLst>
          </p:cNvPr>
          <p:cNvSpPr/>
          <p:nvPr/>
        </p:nvSpPr>
        <p:spPr bwMode="auto">
          <a:xfrm>
            <a:off x="5237815" y="1315510"/>
            <a:ext cx="860650" cy="423862"/>
          </a:xfrm>
          <a:prstGeom prst="roundRect">
            <a:avLst/>
          </a:prstGeom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0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调研问卷</a:t>
            </a:r>
          </a:p>
        </p:txBody>
      </p:sp>
      <p:sp>
        <p:nvSpPr>
          <p:cNvPr id="142" name="Rounded Rectangle 113">
            <a:extLst>
              <a:ext uri="{FF2B5EF4-FFF2-40B4-BE49-F238E27FC236}">
                <a16:creationId xmlns:a16="http://schemas.microsoft.com/office/drawing/2014/main" id="{FA16D74A-FF40-2BAD-C91F-5E6AA275F419}"/>
              </a:ext>
            </a:extLst>
          </p:cNvPr>
          <p:cNvSpPr/>
          <p:nvPr/>
        </p:nvSpPr>
        <p:spPr bwMode="auto">
          <a:xfrm>
            <a:off x="4021452" y="1315510"/>
            <a:ext cx="860652" cy="423862"/>
          </a:xfrm>
          <a:prstGeom prst="roundRect">
            <a:avLst/>
          </a:prstGeom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0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项目类型</a:t>
            </a:r>
            <a:br>
              <a:rPr lang="en-US" altLang="zh-CN" sz="10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</a:br>
            <a:r>
              <a:rPr lang="zh-CN" altLang="en-US" sz="10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（项目阶段）</a:t>
            </a:r>
          </a:p>
        </p:txBody>
      </p:sp>
      <p:sp>
        <p:nvSpPr>
          <p:cNvPr id="143" name="Rounded Rectangle 113">
            <a:extLst>
              <a:ext uri="{FF2B5EF4-FFF2-40B4-BE49-F238E27FC236}">
                <a16:creationId xmlns:a16="http://schemas.microsoft.com/office/drawing/2014/main" id="{4C7736FA-477A-D6E6-B7C5-E8A03A338AD2}"/>
              </a:ext>
            </a:extLst>
          </p:cNvPr>
          <p:cNvSpPr/>
          <p:nvPr/>
        </p:nvSpPr>
        <p:spPr bwMode="auto">
          <a:xfrm>
            <a:off x="5237815" y="3049960"/>
            <a:ext cx="860650" cy="423862"/>
          </a:xfrm>
          <a:prstGeom prst="roundRect">
            <a:avLst/>
          </a:prstGeom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0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计划模板</a:t>
            </a:r>
            <a:endParaRPr lang="en-US" altLang="zh-CN" sz="1000" b="1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algn="ctr" defTabSz="814388" eaLnBrk="0" hangingPunct="0">
              <a:defRPr/>
            </a:pPr>
            <a:r>
              <a:rPr lang="en-US" altLang="zh-CN" sz="10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(WBS</a:t>
            </a:r>
            <a:r>
              <a:rPr lang="zh-CN" altLang="en-US" sz="10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模板</a:t>
            </a:r>
            <a:r>
              <a:rPr lang="en-US" altLang="zh-CN" sz="10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000" b="1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4" name="Rounded Rectangle 113">
            <a:extLst>
              <a:ext uri="{FF2B5EF4-FFF2-40B4-BE49-F238E27FC236}">
                <a16:creationId xmlns:a16="http://schemas.microsoft.com/office/drawing/2014/main" id="{5239A33D-5400-8A74-7FCF-C78219EB6DF9}"/>
              </a:ext>
            </a:extLst>
          </p:cNvPr>
          <p:cNvSpPr/>
          <p:nvPr/>
        </p:nvSpPr>
        <p:spPr bwMode="auto">
          <a:xfrm>
            <a:off x="4021451" y="3049960"/>
            <a:ext cx="860651" cy="423862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1"/>
            </a:solidFill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/>
            <a:r>
              <a:rPr lang="zh-CN" altLang="en-US" sz="10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项目计划</a:t>
            </a:r>
          </a:p>
        </p:txBody>
      </p:sp>
      <p:sp>
        <p:nvSpPr>
          <p:cNvPr id="145" name="Rounded Rectangle 113">
            <a:extLst>
              <a:ext uri="{FF2B5EF4-FFF2-40B4-BE49-F238E27FC236}">
                <a16:creationId xmlns:a16="http://schemas.microsoft.com/office/drawing/2014/main" id="{65E58692-162D-0A09-CEDA-FF36DCCBA9DC}"/>
              </a:ext>
            </a:extLst>
          </p:cNvPr>
          <p:cNvSpPr/>
          <p:nvPr/>
        </p:nvSpPr>
        <p:spPr bwMode="auto">
          <a:xfrm>
            <a:off x="2730476" y="3049960"/>
            <a:ext cx="860650" cy="423862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1"/>
            </a:solidFill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/>
            <a:r>
              <a:rPr lang="zh-CN" altLang="en-US" sz="10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计划变更</a:t>
            </a:r>
          </a:p>
        </p:txBody>
      </p:sp>
      <p:sp>
        <p:nvSpPr>
          <p:cNvPr id="146" name="Rounded Rectangle 113">
            <a:extLst>
              <a:ext uri="{FF2B5EF4-FFF2-40B4-BE49-F238E27FC236}">
                <a16:creationId xmlns:a16="http://schemas.microsoft.com/office/drawing/2014/main" id="{12903273-3810-36DE-6499-46AF8BDFA41B}"/>
              </a:ext>
            </a:extLst>
          </p:cNvPr>
          <p:cNvSpPr/>
          <p:nvPr/>
        </p:nvSpPr>
        <p:spPr bwMode="auto">
          <a:xfrm>
            <a:off x="4021451" y="3917185"/>
            <a:ext cx="860651" cy="423862"/>
          </a:xfrm>
          <a:prstGeom prst="roundRect">
            <a:avLst/>
          </a:prstGeom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0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我的任务</a:t>
            </a:r>
          </a:p>
        </p:txBody>
      </p:sp>
      <p:sp>
        <p:nvSpPr>
          <p:cNvPr id="147" name="Rounded Rectangle 113">
            <a:extLst>
              <a:ext uri="{FF2B5EF4-FFF2-40B4-BE49-F238E27FC236}">
                <a16:creationId xmlns:a16="http://schemas.microsoft.com/office/drawing/2014/main" id="{57F788AE-1421-CA36-B8A0-590BF0D3E2A8}"/>
              </a:ext>
            </a:extLst>
          </p:cNvPr>
          <p:cNvSpPr/>
          <p:nvPr/>
        </p:nvSpPr>
        <p:spPr bwMode="auto">
          <a:xfrm>
            <a:off x="4021451" y="4784412"/>
            <a:ext cx="860651" cy="423862"/>
          </a:xfrm>
          <a:prstGeom prst="roundRect">
            <a:avLst/>
          </a:prstGeom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0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进度填报</a:t>
            </a:r>
          </a:p>
        </p:txBody>
      </p:sp>
      <p:sp>
        <p:nvSpPr>
          <p:cNvPr id="148" name="Rounded Rectangle 113">
            <a:extLst>
              <a:ext uri="{FF2B5EF4-FFF2-40B4-BE49-F238E27FC236}">
                <a16:creationId xmlns:a16="http://schemas.microsoft.com/office/drawing/2014/main" id="{C4375089-2E87-9B94-9DC1-E7EE150CB10F}"/>
              </a:ext>
            </a:extLst>
          </p:cNvPr>
          <p:cNvSpPr/>
          <p:nvPr/>
        </p:nvSpPr>
        <p:spPr bwMode="auto">
          <a:xfrm>
            <a:off x="7191708" y="2196403"/>
            <a:ext cx="860650" cy="423862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1"/>
            </a:solidFill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/>
            <a:r>
              <a:rPr lang="zh-CN" altLang="en-US" sz="10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收入合同</a:t>
            </a:r>
          </a:p>
        </p:txBody>
      </p:sp>
      <p:sp>
        <p:nvSpPr>
          <p:cNvPr id="149" name="Rounded Rectangle 113">
            <a:extLst>
              <a:ext uri="{FF2B5EF4-FFF2-40B4-BE49-F238E27FC236}">
                <a16:creationId xmlns:a16="http://schemas.microsoft.com/office/drawing/2014/main" id="{D6A7CCD2-FB8C-F57C-DE6F-C52F5BA5AA6C}"/>
              </a:ext>
            </a:extLst>
          </p:cNvPr>
          <p:cNvSpPr/>
          <p:nvPr/>
        </p:nvSpPr>
        <p:spPr bwMode="auto">
          <a:xfrm>
            <a:off x="7188272" y="1307558"/>
            <a:ext cx="860650" cy="423862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1"/>
            </a:solidFill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/>
            <a:r>
              <a:rPr lang="zh-CN" altLang="en-US" sz="10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合同变更</a:t>
            </a:r>
          </a:p>
        </p:txBody>
      </p:sp>
      <p:sp>
        <p:nvSpPr>
          <p:cNvPr id="150" name="Rounded Rectangle 113">
            <a:extLst>
              <a:ext uri="{FF2B5EF4-FFF2-40B4-BE49-F238E27FC236}">
                <a16:creationId xmlns:a16="http://schemas.microsoft.com/office/drawing/2014/main" id="{D0707586-ED44-B586-80AB-1A5159547D66}"/>
              </a:ext>
            </a:extLst>
          </p:cNvPr>
          <p:cNvSpPr/>
          <p:nvPr/>
        </p:nvSpPr>
        <p:spPr bwMode="auto">
          <a:xfrm>
            <a:off x="7188272" y="3085248"/>
            <a:ext cx="860650" cy="423862"/>
          </a:xfrm>
          <a:prstGeom prst="roundRect">
            <a:avLst/>
          </a:prstGeom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0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服务明细</a:t>
            </a:r>
          </a:p>
        </p:txBody>
      </p:sp>
      <p:sp>
        <p:nvSpPr>
          <p:cNvPr id="151" name="Rounded Rectangle 113">
            <a:extLst>
              <a:ext uri="{FF2B5EF4-FFF2-40B4-BE49-F238E27FC236}">
                <a16:creationId xmlns:a16="http://schemas.microsoft.com/office/drawing/2014/main" id="{D2625B31-E4A2-2541-5989-C10A02AACFCA}"/>
              </a:ext>
            </a:extLst>
          </p:cNvPr>
          <p:cNvSpPr/>
          <p:nvPr/>
        </p:nvSpPr>
        <p:spPr bwMode="auto">
          <a:xfrm>
            <a:off x="7188272" y="3974094"/>
            <a:ext cx="860650" cy="423862"/>
          </a:xfrm>
          <a:prstGeom prst="roundRect">
            <a:avLst/>
          </a:prstGeom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0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收款条件</a:t>
            </a:r>
          </a:p>
        </p:txBody>
      </p:sp>
      <p:sp>
        <p:nvSpPr>
          <p:cNvPr id="152" name="Rounded Rectangle 113">
            <a:extLst>
              <a:ext uri="{FF2B5EF4-FFF2-40B4-BE49-F238E27FC236}">
                <a16:creationId xmlns:a16="http://schemas.microsoft.com/office/drawing/2014/main" id="{5412FB61-23C5-CB2B-C0CE-E982DBC1CB8D}"/>
              </a:ext>
            </a:extLst>
          </p:cNvPr>
          <p:cNvSpPr/>
          <p:nvPr/>
        </p:nvSpPr>
        <p:spPr bwMode="auto">
          <a:xfrm>
            <a:off x="9419580" y="1416699"/>
            <a:ext cx="860650" cy="423862"/>
          </a:xfrm>
          <a:prstGeom prst="roundRect">
            <a:avLst/>
          </a:prstGeom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0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收款计划</a:t>
            </a:r>
          </a:p>
        </p:txBody>
      </p:sp>
      <p:sp>
        <p:nvSpPr>
          <p:cNvPr id="153" name="Rounded Rectangle 113">
            <a:extLst>
              <a:ext uri="{FF2B5EF4-FFF2-40B4-BE49-F238E27FC236}">
                <a16:creationId xmlns:a16="http://schemas.microsoft.com/office/drawing/2014/main" id="{A5F5E291-5F92-B9F3-F176-49AC388B6158}"/>
              </a:ext>
            </a:extLst>
          </p:cNvPr>
          <p:cNvSpPr/>
          <p:nvPr/>
        </p:nvSpPr>
        <p:spPr bwMode="auto">
          <a:xfrm>
            <a:off x="10799502" y="2124119"/>
            <a:ext cx="860650" cy="423862"/>
          </a:xfrm>
          <a:prstGeom prst="roundRect">
            <a:avLst/>
          </a:prstGeom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0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应收单</a:t>
            </a:r>
          </a:p>
        </p:txBody>
      </p:sp>
      <p:sp>
        <p:nvSpPr>
          <p:cNvPr id="154" name="Rounded Rectangle 113">
            <a:extLst>
              <a:ext uri="{FF2B5EF4-FFF2-40B4-BE49-F238E27FC236}">
                <a16:creationId xmlns:a16="http://schemas.microsoft.com/office/drawing/2014/main" id="{80F8CD01-B610-6BB7-DB71-EFB15D43C0CF}"/>
              </a:ext>
            </a:extLst>
          </p:cNvPr>
          <p:cNvSpPr/>
          <p:nvPr/>
        </p:nvSpPr>
        <p:spPr bwMode="auto">
          <a:xfrm>
            <a:off x="10799502" y="3173754"/>
            <a:ext cx="860650" cy="423862"/>
          </a:xfrm>
          <a:prstGeom prst="roundRect">
            <a:avLst/>
          </a:prstGeom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0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收款单</a:t>
            </a:r>
          </a:p>
        </p:txBody>
      </p:sp>
      <p:sp>
        <p:nvSpPr>
          <p:cNvPr id="155" name="Rounded Rectangle 113">
            <a:extLst>
              <a:ext uri="{FF2B5EF4-FFF2-40B4-BE49-F238E27FC236}">
                <a16:creationId xmlns:a16="http://schemas.microsoft.com/office/drawing/2014/main" id="{93F6D627-4EB2-0370-1F1F-8C6C8FBDFE86}"/>
              </a:ext>
            </a:extLst>
          </p:cNvPr>
          <p:cNvSpPr/>
          <p:nvPr/>
        </p:nvSpPr>
        <p:spPr bwMode="auto">
          <a:xfrm>
            <a:off x="10799502" y="4189797"/>
            <a:ext cx="860650" cy="423862"/>
          </a:xfrm>
          <a:prstGeom prst="roundRect">
            <a:avLst/>
          </a:prstGeom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0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收款核销</a:t>
            </a:r>
          </a:p>
        </p:txBody>
      </p:sp>
      <p:sp>
        <p:nvSpPr>
          <p:cNvPr id="156" name="Rounded Rectangle 113">
            <a:extLst>
              <a:ext uri="{FF2B5EF4-FFF2-40B4-BE49-F238E27FC236}">
                <a16:creationId xmlns:a16="http://schemas.microsoft.com/office/drawing/2014/main" id="{F182DCC1-C228-8BFF-776A-C14C0B2CC059}"/>
              </a:ext>
            </a:extLst>
          </p:cNvPr>
          <p:cNvSpPr/>
          <p:nvPr/>
        </p:nvSpPr>
        <p:spPr bwMode="auto">
          <a:xfrm>
            <a:off x="9419580" y="2124119"/>
            <a:ext cx="860650" cy="423862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1"/>
            </a:solidFill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/>
            <a:r>
              <a:rPr lang="zh-CN" altLang="en-US" sz="10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开票申请</a:t>
            </a:r>
          </a:p>
        </p:txBody>
      </p:sp>
      <p:sp>
        <p:nvSpPr>
          <p:cNvPr id="157" name="Rounded Rectangle 113">
            <a:extLst>
              <a:ext uri="{FF2B5EF4-FFF2-40B4-BE49-F238E27FC236}">
                <a16:creationId xmlns:a16="http://schemas.microsoft.com/office/drawing/2014/main" id="{77468A86-1E4A-172B-23E9-8DBEFC0061CB}"/>
              </a:ext>
            </a:extLst>
          </p:cNvPr>
          <p:cNvSpPr/>
          <p:nvPr/>
        </p:nvSpPr>
        <p:spPr bwMode="auto">
          <a:xfrm>
            <a:off x="9416144" y="3538959"/>
            <a:ext cx="860650" cy="423862"/>
          </a:xfrm>
          <a:prstGeom prst="roundRect">
            <a:avLst/>
          </a:prstGeom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0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蓝字发票</a:t>
            </a:r>
          </a:p>
        </p:txBody>
      </p:sp>
      <p:sp>
        <p:nvSpPr>
          <p:cNvPr id="158" name="Rounded Rectangle 113">
            <a:extLst>
              <a:ext uri="{FF2B5EF4-FFF2-40B4-BE49-F238E27FC236}">
                <a16:creationId xmlns:a16="http://schemas.microsoft.com/office/drawing/2014/main" id="{91E63ED3-FF44-EA43-B251-9BAE7EE87465}"/>
              </a:ext>
            </a:extLst>
          </p:cNvPr>
          <p:cNvSpPr/>
          <p:nvPr/>
        </p:nvSpPr>
        <p:spPr bwMode="auto">
          <a:xfrm>
            <a:off x="9419580" y="4246379"/>
            <a:ext cx="860650" cy="423862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1"/>
            </a:solidFill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/>
            <a:r>
              <a:rPr lang="zh-CN" altLang="en-US" sz="1000" b="1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红冲</a:t>
            </a:r>
            <a:r>
              <a:rPr lang="en-US" altLang="zh-CN" sz="10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10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作废</a:t>
            </a:r>
          </a:p>
        </p:txBody>
      </p:sp>
      <p:sp>
        <p:nvSpPr>
          <p:cNvPr id="159" name="Rounded Rectangle 113">
            <a:extLst>
              <a:ext uri="{FF2B5EF4-FFF2-40B4-BE49-F238E27FC236}">
                <a16:creationId xmlns:a16="http://schemas.microsoft.com/office/drawing/2014/main" id="{8BA880F6-468E-665E-DB08-C68058ED8099}"/>
              </a:ext>
            </a:extLst>
          </p:cNvPr>
          <p:cNvSpPr/>
          <p:nvPr/>
        </p:nvSpPr>
        <p:spPr bwMode="auto">
          <a:xfrm>
            <a:off x="9419580" y="4953799"/>
            <a:ext cx="860650" cy="423862"/>
          </a:xfrm>
          <a:prstGeom prst="roundRect">
            <a:avLst/>
          </a:prstGeom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0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差异处理</a:t>
            </a:r>
          </a:p>
        </p:txBody>
      </p:sp>
      <p:cxnSp>
        <p:nvCxnSpPr>
          <p:cNvPr id="161" name="直接箭头连接符 160">
            <a:extLst>
              <a:ext uri="{FF2B5EF4-FFF2-40B4-BE49-F238E27FC236}">
                <a16:creationId xmlns:a16="http://schemas.microsoft.com/office/drawing/2014/main" id="{2E731D35-A761-FAFD-E7FD-5E13980B6F90}"/>
              </a:ext>
            </a:extLst>
          </p:cNvPr>
          <p:cNvCxnSpPr>
            <a:stCxn id="138" idx="2"/>
            <a:endCxn id="137" idx="0"/>
          </p:cNvCxnSpPr>
          <p:nvPr/>
        </p:nvCxnSpPr>
        <p:spPr>
          <a:xfrm>
            <a:off x="1323806" y="1765669"/>
            <a:ext cx="0" cy="4358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接箭头连接符 164">
            <a:extLst>
              <a:ext uri="{FF2B5EF4-FFF2-40B4-BE49-F238E27FC236}">
                <a16:creationId xmlns:a16="http://schemas.microsoft.com/office/drawing/2014/main" id="{2843B07C-DA5B-5403-8F0D-07D9DF6FA0BF}"/>
              </a:ext>
            </a:extLst>
          </p:cNvPr>
          <p:cNvCxnSpPr>
            <a:stCxn id="142" idx="2"/>
            <a:endCxn id="140" idx="0"/>
          </p:cNvCxnSpPr>
          <p:nvPr/>
        </p:nvCxnSpPr>
        <p:spPr>
          <a:xfrm flipH="1">
            <a:off x="4451777" y="1739372"/>
            <a:ext cx="1" cy="443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箭头连接符 168">
            <a:extLst>
              <a:ext uri="{FF2B5EF4-FFF2-40B4-BE49-F238E27FC236}">
                <a16:creationId xmlns:a16="http://schemas.microsoft.com/office/drawing/2014/main" id="{8017F9CB-EBA0-D3BE-CBDD-137C672F211E}"/>
              </a:ext>
            </a:extLst>
          </p:cNvPr>
          <p:cNvCxnSpPr>
            <a:stCxn id="140" idx="2"/>
            <a:endCxn id="144" idx="0"/>
          </p:cNvCxnSpPr>
          <p:nvPr/>
        </p:nvCxnSpPr>
        <p:spPr>
          <a:xfrm>
            <a:off x="4451777" y="2606597"/>
            <a:ext cx="0" cy="443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接箭头连接符 170">
            <a:extLst>
              <a:ext uri="{FF2B5EF4-FFF2-40B4-BE49-F238E27FC236}">
                <a16:creationId xmlns:a16="http://schemas.microsoft.com/office/drawing/2014/main" id="{F91A2454-8437-777A-835B-4AE37DD20BB9}"/>
              </a:ext>
            </a:extLst>
          </p:cNvPr>
          <p:cNvCxnSpPr>
            <a:stCxn id="144" idx="2"/>
            <a:endCxn id="146" idx="0"/>
          </p:cNvCxnSpPr>
          <p:nvPr/>
        </p:nvCxnSpPr>
        <p:spPr>
          <a:xfrm>
            <a:off x="4451777" y="3473822"/>
            <a:ext cx="0" cy="443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接箭头连接符 172">
            <a:extLst>
              <a:ext uri="{FF2B5EF4-FFF2-40B4-BE49-F238E27FC236}">
                <a16:creationId xmlns:a16="http://schemas.microsoft.com/office/drawing/2014/main" id="{D7899A36-E3FB-823B-2DAA-234942C81ABF}"/>
              </a:ext>
            </a:extLst>
          </p:cNvPr>
          <p:cNvCxnSpPr>
            <a:stCxn id="146" idx="2"/>
            <a:endCxn id="147" idx="0"/>
          </p:cNvCxnSpPr>
          <p:nvPr/>
        </p:nvCxnSpPr>
        <p:spPr>
          <a:xfrm>
            <a:off x="4451777" y="4341047"/>
            <a:ext cx="0" cy="443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接箭头连接符 176">
            <a:extLst>
              <a:ext uri="{FF2B5EF4-FFF2-40B4-BE49-F238E27FC236}">
                <a16:creationId xmlns:a16="http://schemas.microsoft.com/office/drawing/2014/main" id="{3574A4E5-0511-CE73-A835-5B21D7229D42}"/>
              </a:ext>
            </a:extLst>
          </p:cNvPr>
          <p:cNvCxnSpPr>
            <a:stCxn id="143" idx="1"/>
            <a:endCxn id="144" idx="3"/>
          </p:cNvCxnSpPr>
          <p:nvPr/>
        </p:nvCxnSpPr>
        <p:spPr>
          <a:xfrm flipH="1">
            <a:off x="4882102" y="3261891"/>
            <a:ext cx="3557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箭头连接符 178">
            <a:extLst>
              <a:ext uri="{FF2B5EF4-FFF2-40B4-BE49-F238E27FC236}">
                <a16:creationId xmlns:a16="http://schemas.microsoft.com/office/drawing/2014/main" id="{B49FC392-59DB-2429-7756-67BBE5CC6BA3}"/>
              </a:ext>
            </a:extLst>
          </p:cNvPr>
          <p:cNvCxnSpPr>
            <a:stCxn id="140" idx="3"/>
            <a:endCxn id="148" idx="1"/>
          </p:cNvCxnSpPr>
          <p:nvPr/>
        </p:nvCxnSpPr>
        <p:spPr>
          <a:xfrm>
            <a:off x="4882102" y="2394666"/>
            <a:ext cx="2309606" cy="13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箭头连接符 180">
            <a:extLst>
              <a:ext uri="{FF2B5EF4-FFF2-40B4-BE49-F238E27FC236}">
                <a16:creationId xmlns:a16="http://schemas.microsoft.com/office/drawing/2014/main" id="{5BEB70F6-01A3-0EDA-A737-5BF15F12788E}"/>
              </a:ext>
            </a:extLst>
          </p:cNvPr>
          <p:cNvCxnSpPr>
            <a:stCxn id="137" idx="3"/>
            <a:endCxn id="140" idx="1"/>
          </p:cNvCxnSpPr>
          <p:nvPr/>
        </p:nvCxnSpPr>
        <p:spPr>
          <a:xfrm flipV="1">
            <a:off x="1922390" y="2394666"/>
            <a:ext cx="2099061" cy="187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接箭头连接符 182">
            <a:extLst>
              <a:ext uri="{FF2B5EF4-FFF2-40B4-BE49-F238E27FC236}">
                <a16:creationId xmlns:a16="http://schemas.microsoft.com/office/drawing/2014/main" id="{F545E294-0C8B-5491-E4AF-CAE3A20004A1}"/>
              </a:ext>
            </a:extLst>
          </p:cNvPr>
          <p:cNvCxnSpPr>
            <a:stCxn id="148" idx="0"/>
            <a:endCxn id="149" idx="2"/>
          </p:cNvCxnSpPr>
          <p:nvPr/>
        </p:nvCxnSpPr>
        <p:spPr>
          <a:xfrm flipH="1" flipV="1">
            <a:off x="7618597" y="1731420"/>
            <a:ext cx="3436" cy="4649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接箭头连接符 184">
            <a:extLst>
              <a:ext uri="{FF2B5EF4-FFF2-40B4-BE49-F238E27FC236}">
                <a16:creationId xmlns:a16="http://schemas.microsoft.com/office/drawing/2014/main" id="{BA3078E7-7A6B-C03D-5747-372E9CFE7801}"/>
              </a:ext>
            </a:extLst>
          </p:cNvPr>
          <p:cNvCxnSpPr>
            <a:stCxn id="148" idx="2"/>
            <a:endCxn id="150" idx="0"/>
          </p:cNvCxnSpPr>
          <p:nvPr/>
        </p:nvCxnSpPr>
        <p:spPr>
          <a:xfrm flipH="1">
            <a:off x="7618597" y="2620265"/>
            <a:ext cx="3436" cy="4649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接箭头连接符 186">
            <a:extLst>
              <a:ext uri="{FF2B5EF4-FFF2-40B4-BE49-F238E27FC236}">
                <a16:creationId xmlns:a16="http://schemas.microsoft.com/office/drawing/2014/main" id="{072CCA94-4A46-020E-6F0B-A9189C5379DD}"/>
              </a:ext>
            </a:extLst>
          </p:cNvPr>
          <p:cNvCxnSpPr>
            <a:stCxn id="150" idx="2"/>
            <a:endCxn id="151" idx="0"/>
          </p:cNvCxnSpPr>
          <p:nvPr/>
        </p:nvCxnSpPr>
        <p:spPr>
          <a:xfrm>
            <a:off x="7618597" y="3509110"/>
            <a:ext cx="0" cy="464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连接符: 肘形 190">
            <a:extLst>
              <a:ext uri="{FF2B5EF4-FFF2-40B4-BE49-F238E27FC236}">
                <a16:creationId xmlns:a16="http://schemas.microsoft.com/office/drawing/2014/main" id="{704B2B17-64CB-224B-D3E8-D1B82E5458B1}"/>
              </a:ext>
            </a:extLst>
          </p:cNvPr>
          <p:cNvCxnSpPr>
            <a:stCxn id="151" idx="3"/>
            <a:endCxn id="152" idx="1"/>
          </p:cNvCxnSpPr>
          <p:nvPr/>
        </p:nvCxnSpPr>
        <p:spPr>
          <a:xfrm flipV="1">
            <a:off x="8048922" y="1628630"/>
            <a:ext cx="1370658" cy="255739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连接符: 肘形 192">
            <a:extLst>
              <a:ext uri="{FF2B5EF4-FFF2-40B4-BE49-F238E27FC236}">
                <a16:creationId xmlns:a16="http://schemas.microsoft.com/office/drawing/2014/main" id="{283F4F57-E6D6-FCE4-C892-C8D467FFFCE5}"/>
              </a:ext>
            </a:extLst>
          </p:cNvPr>
          <p:cNvCxnSpPr>
            <a:stCxn id="141" idx="2"/>
            <a:endCxn id="140" idx="0"/>
          </p:cNvCxnSpPr>
          <p:nvPr/>
        </p:nvCxnSpPr>
        <p:spPr>
          <a:xfrm rot="5400000">
            <a:off x="4838278" y="1352872"/>
            <a:ext cx="443363" cy="121636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直接箭头连接符 193">
            <a:extLst>
              <a:ext uri="{FF2B5EF4-FFF2-40B4-BE49-F238E27FC236}">
                <a16:creationId xmlns:a16="http://schemas.microsoft.com/office/drawing/2014/main" id="{5C363B5E-AF3A-EF46-F542-E202A9E41F41}"/>
              </a:ext>
            </a:extLst>
          </p:cNvPr>
          <p:cNvCxnSpPr>
            <a:cxnSpLocks/>
            <a:stCxn id="144" idx="1"/>
            <a:endCxn id="145" idx="3"/>
          </p:cNvCxnSpPr>
          <p:nvPr/>
        </p:nvCxnSpPr>
        <p:spPr>
          <a:xfrm flipH="1">
            <a:off x="3591126" y="3261891"/>
            <a:ext cx="4303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直接箭头连接符 199">
            <a:extLst>
              <a:ext uri="{FF2B5EF4-FFF2-40B4-BE49-F238E27FC236}">
                <a16:creationId xmlns:a16="http://schemas.microsoft.com/office/drawing/2014/main" id="{B70A4CD9-57F3-0786-7A0C-7FE0A96FB347}"/>
              </a:ext>
            </a:extLst>
          </p:cNvPr>
          <p:cNvCxnSpPr>
            <a:cxnSpLocks/>
            <a:stCxn id="153" idx="2"/>
            <a:endCxn id="154" idx="0"/>
          </p:cNvCxnSpPr>
          <p:nvPr/>
        </p:nvCxnSpPr>
        <p:spPr>
          <a:xfrm>
            <a:off x="11229827" y="2547981"/>
            <a:ext cx="0" cy="6257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接箭头连接符 204">
            <a:extLst>
              <a:ext uri="{FF2B5EF4-FFF2-40B4-BE49-F238E27FC236}">
                <a16:creationId xmlns:a16="http://schemas.microsoft.com/office/drawing/2014/main" id="{2408E2F6-31FF-C7CB-DA12-9ACCADC13D9C}"/>
              </a:ext>
            </a:extLst>
          </p:cNvPr>
          <p:cNvCxnSpPr>
            <a:stCxn id="154" idx="2"/>
            <a:endCxn id="155" idx="0"/>
          </p:cNvCxnSpPr>
          <p:nvPr/>
        </p:nvCxnSpPr>
        <p:spPr>
          <a:xfrm>
            <a:off x="11229827" y="3597616"/>
            <a:ext cx="0" cy="592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箭头连接符 206">
            <a:extLst>
              <a:ext uri="{FF2B5EF4-FFF2-40B4-BE49-F238E27FC236}">
                <a16:creationId xmlns:a16="http://schemas.microsoft.com/office/drawing/2014/main" id="{5EBC29B6-361C-0334-FE6A-740736A5676C}"/>
              </a:ext>
            </a:extLst>
          </p:cNvPr>
          <p:cNvCxnSpPr>
            <a:stCxn id="152" idx="2"/>
            <a:endCxn id="156" idx="0"/>
          </p:cNvCxnSpPr>
          <p:nvPr/>
        </p:nvCxnSpPr>
        <p:spPr>
          <a:xfrm>
            <a:off x="9849905" y="1840561"/>
            <a:ext cx="0" cy="283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接箭头连接符 212">
            <a:extLst>
              <a:ext uri="{FF2B5EF4-FFF2-40B4-BE49-F238E27FC236}">
                <a16:creationId xmlns:a16="http://schemas.microsoft.com/office/drawing/2014/main" id="{5E32554B-C8FB-593E-5D0A-A60F6E2C4F4B}"/>
              </a:ext>
            </a:extLst>
          </p:cNvPr>
          <p:cNvCxnSpPr>
            <a:stCxn id="157" idx="2"/>
            <a:endCxn id="158" idx="0"/>
          </p:cNvCxnSpPr>
          <p:nvPr/>
        </p:nvCxnSpPr>
        <p:spPr>
          <a:xfrm>
            <a:off x="9846469" y="3962821"/>
            <a:ext cx="3436" cy="283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直接箭头连接符 214">
            <a:extLst>
              <a:ext uri="{FF2B5EF4-FFF2-40B4-BE49-F238E27FC236}">
                <a16:creationId xmlns:a16="http://schemas.microsoft.com/office/drawing/2014/main" id="{83CC04F0-4484-E82B-0ABA-A2A50B220878}"/>
              </a:ext>
            </a:extLst>
          </p:cNvPr>
          <p:cNvCxnSpPr>
            <a:stCxn id="158" idx="2"/>
            <a:endCxn id="159" idx="0"/>
          </p:cNvCxnSpPr>
          <p:nvPr/>
        </p:nvCxnSpPr>
        <p:spPr>
          <a:xfrm>
            <a:off x="9849905" y="4670241"/>
            <a:ext cx="0" cy="283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Rounded Rectangle 113">
            <a:extLst>
              <a:ext uri="{FF2B5EF4-FFF2-40B4-BE49-F238E27FC236}">
                <a16:creationId xmlns:a16="http://schemas.microsoft.com/office/drawing/2014/main" id="{EBB1D364-BAB4-099D-B463-EC8D37DA1702}"/>
              </a:ext>
            </a:extLst>
          </p:cNvPr>
          <p:cNvSpPr/>
          <p:nvPr/>
        </p:nvSpPr>
        <p:spPr bwMode="auto">
          <a:xfrm>
            <a:off x="9416144" y="2831539"/>
            <a:ext cx="860650" cy="423862"/>
          </a:xfrm>
          <a:prstGeom prst="roundRect">
            <a:avLst/>
          </a:prstGeom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0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百望电子发票</a:t>
            </a:r>
          </a:p>
        </p:txBody>
      </p:sp>
      <p:cxnSp>
        <p:nvCxnSpPr>
          <p:cNvPr id="220" name="直接箭头连接符 219">
            <a:extLst>
              <a:ext uri="{FF2B5EF4-FFF2-40B4-BE49-F238E27FC236}">
                <a16:creationId xmlns:a16="http://schemas.microsoft.com/office/drawing/2014/main" id="{7DDE9E73-5BD6-405A-7C62-8FA975BCC289}"/>
              </a:ext>
            </a:extLst>
          </p:cNvPr>
          <p:cNvCxnSpPr>
            <a:cxnSpLocks/>
            <a:stCxn id="219" idx="2"/>
            <a:endCxn id="157" idx="0"/>
          </p:cNvCxnSpPr>
          <p:nvPr/>
        </p:nvCxnSpPr>
        <p:spPr>
          <a:xfrm>
            <a:off x="9846469" y="3255401"/>
            <a:ext cx="0" cy="283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接箭头连接符 222">
            <a:extLst>
              <a:ext uri="{FF2B5EF4-FFF2-40B4-BE49-F238E27FC236}">
                <a16:creationId xmlns:a16="http://schemas.microsoft.com/office/drawing/2014/main" id="{8D5F7874-A994-E4E3-0B30-5F79D772F320}"/>
              </a:ext>
            </a:extLst>
          </p:cNvPr>
          <p:cNvCxnSpPr>
            <a:cxnSpLocks/>
            <a:stCxn id="156" idx="2"/>
            <a:endCxn id="219" idx="0"/>
          </p:cNvCxnSpPr>
          <p:nvPr/>
        </p:nvCxnSpPr>
        <p:spPr>
          <a:xfrm flipH="1">
            <a:off x="9846469" y="2547981"/>
            <a:ext cx="3436" cy="283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8" name="组合 227">
            <a:extLst>
              <a:ext uri="{FF2B5EF4-FFF2-40B4-BE49-F238E27FC236}">
                <a16:creationId xmlns:a16="http://schemas.microsoft.com/office/drawing/2014/main" id="{5FA6E3EE-7339-E096-04C6-CAD4E422C5B4}"/>
              </a:ext>
            </a:extLst>
          </p:cNvPr>
          <p:cNvGrpSpPr/>
          <p:nvPr/>
        </p:nvGrpSpPr>
        <p:grpSpPr>
          <a:xfrm>
            <a:off x="8931233" y="486239"/>
            <a:ext cx="1946164" cy="276999"/>
            <a:chOff x="7019987" y="495993"/>
            <a:chExt cx="1946164" cy="276999"/>
          </a:xfrm>
        </p:grpSpPr>
        <p:sp>
          <p:nvSpPr>
            <p:cNvPr id="226" name="Rounded Rectangle 113">
              <a:extLst>
                <a:ext uri="{FF2B5EF4-FFF2-40B4-BE49-F238E27FC236}">
                  <a16:creationId xmlns:a16="http://schemas.microsoft.com/office/drawing/2014/main" id="{02E6669E-229C-2A78-D49E-89CCC8F5FE8D}"/>
                </a:ext>
              </a:extLst>
            </p:cNvPr>
            <p:cNvSpPr/>
            <p:nvPr/>
          </p:nvSpPr>
          <p:spPr bwMode="auto">
            <a:xfrm>
              <a:off x="7019987" y="568057"/>
              <a:ext cx="257450" cy="128350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accent1"/>
              </a:solidFill>
              <a:headEnd type="none" w="sm" len="sm"/>
              <a:tailEnd type="none" w="sm" len="sm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rIns="0" anchor="ctr"/>
            <a:lstStyle/>
            <a:p>
              <a:pPr algn="ctr" defTabSz="814388"/>
              <a:endParaRPr lang="zh-CN" altLang="en-US" sz="10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7" name="文本框 226">
              <a:extLst>
                <a:ext uri="{FF2B5EF4-FFF2-40B4-BE49-F238E27FC236}">
                  <a16:creationId xmlns:a16="http://schemas.microsoft.com/office/drawing/2014/main" id="{BC4DE525-2F2A-96BD-E813-48054E6981FE}"/>
                </a:ext>
              </a:extLst>
            </p:cNvPr>
            <p:cNvSpPr txBox="1"/>
            <p:nvPr/>
          </p:nvSpPr>
          <p:spPr>
            <a:xfrm>
              <a:off x="7277437" y="495993"/>
              <a:ext cx="16887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/>
                <a:t>涉及审批流</a:t>
              </a:r>
            </a:p>
          </p:txBody>
        </p:sp>
      </p:grpSp>
      <p:cxnSp>
        <p:nvCxnSpPr>
          <p:cNvPr id="230" name="连接符: 肘形 229">
            <a:extLst>
              <a:ext uri="{FF2B5EF4-FFF2-40B4-BE49-F238E27FC236}">
                <a16:creationId xmlns:a16="http://schemas.microsoft.com/office/drawing/2014/main" id="{94BC588E-FC4C-B7E2-654E-0A6B10E1330B}"/>
              </a:ext>
            </a:extLst>
          </p:cNvPr>
          <p:cNvCxnSpPr>
            <a:stCxn id="158" idx="1"/>
            <a:endCxn id="156" idx="1"/>
          </p:cNvCxnSpPr>
          <p:nvPr/>
        </p:nvCxnSpPr>
        <p:spPr>
          <a:xfrm rot="10800000">
            <a:off x="9419580" y="2336050"/>
            <a:ext cx="12700" cy="2122260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接箭头连接符 234">
            <a:extLst>
              <a:ext uri="{FF2B5EF4-FFF2-40B4-BE49-F238E27FC236}">
                <a16:creationId xmlns:a16="http://schemas.microsoft.com/office/drawing/2014/main" id="{5175CD0B-817E-BB27-6DD7-A1E0C6A335A3}"/>
              </a:ext>
            </a:extLst>
          </p:cNvPr>
          <p:cNvCxnSpPr>
            <a:cxnSpLocks/>
            <a:stCxn id="153" idx="1"/>
            <a:endCxn id="156" idx="3"/>
          </p:cNvCxnSpPr>
          <p:nvPr/>
        </p:nvCxnSpPr>
        <p:spPr>
          <a:xfrm flipH="1">
            <a:off x="10280230" y="2336050"/>
            <a:ext cx="5192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连接符: 肘形 237">
            <a:extLst>
              <a:ext uri="{FF2B5EF4-FFF2-40B4-BE49-F238E27FC236}">
                <a16:creationId xmlns:a16="http://schemas.microsoft.com/office/drawing/2014/main" id="{B6434E66-AA6D-2FFB-FC32-F9B198F6C388}"/>
              </a:ext>
            </a:extLst>
          </p:cNvPr>
          <p:cNvCxnSpPr>
            <a:cxnSpLocks/>
            <a:stCxn id="152" idx="3"/>
            <a:endCxn id="153" idx="0"/>
          </p:cNvCxnSpPr>
          <p:nvPr/>
        </p:nvCxnSpPr>
        <p:spPr>
          <a:xfrm>
            <a:off x="10280230" y="1628630"/>
            <a:ext cx="949597" cy="49548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ounded Rectangle 113">
            <a:extLst>
              <a:ext uri="{FF2B5EF4-FFF2-40B4-BE49-F238E27FC236}">
                <a16:creationId xmlns:a16="http://schemas.microsoft.com/office/drawing/2014/main" id="{47BC9CD7-3EDB-D258-EEA0-A4CF5CFD75B2}"/>
              </a:ext>
            </a:extLst>
          </p:cNvPr>
          <p:cNvSpPr/>
          <p:nvPr/>
        </p:nvSpPr>
        <p:spPr bwMode="auto">
          <a:xfrm>
            <a:off x="5237815" y="5401244"/>
            <a:ext cx="860651" cy="423862"/>
          </a:xfrm>
          <a:prstGeom prst="roundRect">
            <a:avLst/>
          </a:prstGeom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0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项目结项</a:t>
            </a:r>
          </a:p>
        </p:txBody>
      </p:sp>
      <p:cxnSp>
        <p:nvCxnSpPr>
          <p:cNvPr id="4" name="连接符: 肘形 3">
            <a:extLst>
              <a:ext uri="{FF2B5EF4-FFF2-40B4-BE49-F238E27FC236}">
                <a16:creationId xmlns:a16="http://schemas.microsoft.com/office/drawing/2014/main" id="{245808AB-EC1B-3235-0981-C69AF3222074}"/>
              </a:ext>
            </a:extLst>
          </p:cNvPr>
          <p:cNvCxnSpPr>
            <a:stCxn id="147" idx="2"/>
            <a:endCxn id="2" idx="1"/>
          </p:cNvCxnSpPr>
          <p:nvPr/>
        </p:nvCxnSpPr>
        <p:spPr>
          <a:xfrm rot="16200000" flipH="1">
            <a:off x="4642346" y="5017705"/>
            <a:ext cx="404901" cy="78603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连接符: 肘形 5">
            <a:extLst>
              <a:ext uri="{FF2B5EF4-FFF2-40B4-BE49-F238E27FC236}">
                <a16:creationId xmlns:a16="http://schemas.microsoft.com/office/drawing/2014/main" id="{1DB3B0EB-AD91-611E-8409-F24CF95BFD3E}"/>
              </a:ext>
            </a:extLst>
          </p:cNvPr>
          <p:cNvCxnSpPr>
            <a:stCxn id="155" idx="2"/>
            <a:endCxn id="2" idx="3"/>
          </p:cNvCxnSpPr>
          <p:nvPr/>
        </p:nvCxnSpPr>
        <p:spPr>
          <a:xfrm rot="5400000">
            <a:off x="8164389" y="2547737"/>
            <a:ext cx="999516" cy="513136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连接符: 肘形 7">
            <a:extLst>
              <a:ext uri="{FF2B5EF4-FFF2-40B4-BE49-F238E27FC236}">
                <a16:creationId xmlns:a16="http://schemas.microsoft.com/office/drawing/2014/main" id="{AC271770-37D7-1304-EAB0-FDBC12672628}"/>
              </a:ext>
            </a:extLst>
          </p:cNvPr>
          <p:cNvCxnSpPr>
            <a:stCxn id="157" idx="1"/>
            <a:endCxn id="2" idx="0"/>
          </p:cNvCxnSpPr>
          <p:nvPr/>
        </p:nvCxnSpPr>
        <p:spPr>
          <a:xfrm rot="10800000" flipV="1">
            <a:off x="5668142" y="3750890"/>
            <a:ext cx="3748003" cy="165035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8651039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446251-0141-58CA-5697-A136A6587B51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sz="2400" dirty="0">
                <a:latin typeface="微软雅黑" panose="020B0503020204020204" pitchFamily="34" charset="-122"/>
              </a:rPr>
              <a:t>PMS</a:t>
            </a:r>
            <a:r>
              <a:rPr lang="zh-CN" altLang="en-US" sz="2400" dirty="0">
                <a:latin typeface="微软雅黑" panose="020B0503020204020204" pitchFamily="34" charset="-122"/>
              </a:rPr>
              <a:t>业财一体合同支撑建设（合同计价方式）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099757B6-3FBD-AFEF-F123-2C4D83CCD982}"/>
              </a:ext>
            </a:extLst>
          </p:cNvPr>
          <p:cNvSpPr/>
          <p:nvPr/>
        </p:nvSpPr>
        <p:spPr>
          <a:xfrm>
            <a:off x="2069195" y="1698732"/>
            <a:ext cx="2071138" cy="681780"/>
          </a:xfrm>
          <a:prstGeom prst="roundRect">
            <a:avLst/>
          </a:prstGeom>
          <a:solidFill>
            <a:srgbClr val="6DABD8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销售收入合同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1C92E11-D2B0-8186-7133-90632C2AC585}"/>
              </a:ext>
            </a:extLst>
          </p:cNvPr>
          <p:cNvSpPr/>
          <p:nvPr/>
        </p:nvSpPr>
        <p:spPr>
          <a:xfrm>
            <a:off x="2069195" y="4649371"/>
            <a:ext cx="2071138" cy="681780"/>
          </a:xfrm>
          <a:prstGeom prst="roundRect">
            <a:avLst/>
          </a:prstGeom>
          <a:solidFill>
            <a:srgbClr val="6DABD8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采购支出合同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ounded Rectangle 113">
            <a:extLst>
              <a:ext uri="{FF2B5EF4-FFF2-40B4-BE49-F238E27FC236}">
                <a16:creationId xmlns:a16="http://schemas.microsoft.com/office/drawing/2014/main" id="{FE9C662F-BE1B-DC77-56CA-D026A80FE02E}"/>
              </a:ext>
            </a:extLst>
          </p:cNvPr>
          <p:cNvSpPr/>
          <p:nvPr/>
        </p:nvSpPr>
        <p:spPr bwMode="auto">
          <a:xfrm>
            <a:off x="5193854" y="1096285"/>
            <a:ext cx="3584385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一次性项目服务合同</a:t>
            </a:r>
          </a:p>
        </p:txBody>
      </p:sp>
      <p:sp>
        <p:nvSpPr>
          <p:cNvPr id="8" name="Rounded Rectangle 113">
            <a:extLst>
              <a:ext uri="{FF2B5EF4-FFF2-40B4-BE49-F238E27FC236}">
                <a16:creationId xmlns:a16="http://schemas.microsoft.com/office/drawing/2014/main" id="{0EC471EA-57C2-57A5-AF29-1A1BC334D7AF}"/>
              </a:ext>
            </a:extLst>
          </p:cNvPr>
          <p:cNvSpPr/>
          <p:nvPr/>
        </p:nvSpPr>
        <p:spPr bwMode="auto">
          <a:xfrm>
            <a:off x="5193852" y="2040243"/>
            <a:ext cx="3584385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技术服务（年服务费）</a:t>
            </a:r>
          </a:p>
        </p:txBody>
      </p:sp>
      <p:sp>
        <p:nvSpPr>
          <p:cNvPr id="10" name="Rounded Rectangle 113">
            <a:extLst>
              <a:ext uri="{FF2B5EF4-FFF2-40B4-BE49-F238E27FC236}">
                <a16:creationId xmlns:a16="http://schemas.microsoft.com/office/drawing/2014/main" id="{BE0204ED-74E7-B568-65AC-913E6C12DC2C}"/>
              </a:ext>
            </a:extLst>
          </p:cNvPr>
          <p:cNvSpPr/>
          <p:nvPr/>
        </p:nvSpPr>
        <p:spPr bwMode="auto">
          <a:xfrm>
            <a:off x="5193854" y="4205772"/>
            <a:ext cx="3584383" cy="423862"/>
          </a:xfrm>
          <a:prstGeom prst="roundRect">
            <a:avLst/>
          </a:prstGeom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一次性总价合同</a:t>
            </a:r>
          </a:p>
        </p:txBody>
      </p:sp>
      <p:sp>
        <p:nvSpPr>
          <p:cNvPr id="11" name="Rounded Rectangle 113">
            <a:extLst>
              <a:ext uri="{FF2B5EF4-FFF2-40B4-BE49-F238E27FC236}">
                <a16:creationId xmlns:a16="http://schemas.microsoft.com/office/drawing/2014/main" id="{BDFF46D5-CE35-A317-877F-D72838FD9AA6}"/>
              </a:ext>
            </a:extLst>
          </p:cNvPr>
          <p:cNvSpPr/>
          <p:nvPr/>
        </p:nvSpPr>
        <p:spPr bwMode="auto">
          <a:xfrm>
            <a:off x="5193854" y="4776590"/>
            <a:ext cx="3584383" cy="423862"/>
          </a:xfrm>
          <a:prstGeom prst="roundRect">
            <a:avLst/>
          </a:prstGeom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单价合同</a:t>
            </a:r>
          </a:p>
        </p:txBody>
      </p:sp>
      <p:sp>
        <p:nvSpPr>
          <p:cNvPr id="12" name="Rounded Rectangle 113">
            <a:extLst>
              <a:ext uri="{FF2B5EF4-FFF2-40B4-BE49-F238E27FC236}">
                <a16:creationId xmlns:a16="http://schemas.microsoft.com/office/drawing/2014/main" id="{5074ACA1-C806-2F81-7E3A-5D0D82D29A50}"/>
              </a:ext>
            </a:extLst>
          </p:cNvPr>
          <p:cNvSpPr/>
          <p:nvPr/>
        </p:nvSpPr>
        <p:spPr bwMode="auto">
          <a:xfrm>
            <a:off x="5193852" y="5417365"/>
            <a:ext cx="3584383" cy="423862"/>
          </a:xfrm>
          <a:prstGeom prst="roundRect">
            <a:avLst/>
          </a:prstGeom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框架协议</a:t>
            </a:r>
            <a:r>
              <a:rPr lang="en-US" altLang="zh-CN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+</a:t>
            </a: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订单合同</a:t>
            </a:r>
          </a:p>
        </p:txBody>
      </p:sp>
      <p:sp>
        <p:nvSpPr>
          <p:cNvPr id="13" name="Rounded Rectangle 113">
            <a:extLst>
              <a:ext uri="{FF2B5EF4-FFF2-40B4-BE49-F238E27FC236}">
                <a16:creationId xmlns:a16="http://schemas.microsoft.com/office/drawing/2014/main" id="{8A42F25A-2453-3DA6-2497-18149AF49882}"/>
              </a:ext>
            </a:extLst>
          </p:cNvPr>
          <p:cNvSpPr/>
          <p:nvPr/>
        </p:nvSpPr>
        <p:spPr bwMode="auto">
          <a:xfrm>
            <a:off x="5193853" y="3009915"/>
            <a:ext cx="3584385" cy="423862"/>
          </a:xfrm>
          <a:prstGeom prst="roundRect">
            <a:avLst/>
          </a:prstGeom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效果合同（</a:t>
            </a:r>
            <a:r>
              <a:rPr lang="en-US" altLang="zh-CN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EMC</a:t>
            </a: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能源）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034C9519-F30E-6B78-9740-7967653E9060}"/>
              </a:ext>
            </a:extLst>
          </p:cNvPr>
          <p:cNvSpPr/>
          <p:nvPr/>
        </p:nvSpPr>
        <p:spPr>
          <a:xfrm>
            <a:off x="4325187" y="1847515"/>
            <a:ext cx="683812" cy="384213"/>
          </a:xfrm>
          <a:prstGeom prst="rightArrow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/>
            <a:endParaRPr lang="zh-CN" altLang="en-US" sz="1600" b="1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0977AD25-1B1E-2819-F28B-59559E3A2DD8}"/>
              </a:ext>
            </a:extLst>
          </p:cNvPr>
          <p:cNvSpPr/>
          <p:nvPr/>
        </p:nvSpPr>
        <p:spPr>
          <a:xfrm>
            <a:off x="4325187" y="4878287"/>
            <a:ext cx="683812" cy="384213"/>
          </a:xfrm>
          <a:prstGeom prst="rightArrow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/>
            <a:endParaRPr lang="zh-CN" altLang="en-US" sz="1600" b="1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Rounded Rectangle 113">
            <a:extLst>
              <a:ext uri="{FF2B5EF4-FFF2-40B4-BE49-F238E27FC236}">
                <a16:creationId xmlns:a16="http://schemas.microsoft.com/office/drawing/2014/main" id="{76D50451-19FF-C87C-8E75-5058167F55A7}"/>
              </a:ext>
            </a:extLst>
          </p:cNvPr>
          <p:cNvSpPr/>
          <p:nvPr/>
        </p:nvSpPr>
        <p:spPr bwMode="auto">
          <a:xfrm>
            <a:off x="5193852" y="6084066"/>
            <a:ext cx="3584383" cy="423862"/>
          </a:xfrm>
          <a:prstGeom prst="roundRect">
            <a:avLst/>
          </a:prstGeom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服务合同同上</a:t>
            </a:r>
          </a:p>
        </p:txBody>
      </p:sp>
    </p:spTree>
    <p:extLst>
      <p:ext uri="{BB962C8B-B14F-4D97-AF65-F5344CB8AC3E}">
        <p14:creationId xmlns:p14="http://schemas.microsoft.com/office/powerpoint/2010/main" val="3396585468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B4780D-D07C-A236-5DF0-86E210D31DF9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sz="2400" dirty="0">
                <a:latin typeface="微软雅黑" panose="020B0503020204020204" pitchFamily="34" charset="-122"/>
              </a:rPr>
              <a:t>PMS</a:t>
            </a:r>
            <a:r>
              <a:rPr lang="zh-CN" altLang="en-US" sz="2400" dirty="0">
                <a:latin typeface="微软雅黑" panose="020B0503020204020204" pitchFamily="34" charset="-122"/>
              </a:rPr>
              <a:t>业财一体化已规划业务蓝图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D797C29-206B-38B4-21DC-88FBC6D2B618}"/>
              </a:ext>
            </a:extLst>
          </p:cNvPr>
          <p:cNvSpPr/>
          <p:nvPr/>
        </p:nvSpPr>
        <p:spPr>
          <a:xfrm>
            <a:off x="9202711" y="1360887"/>
            <a:ext cx="1041817" cy="4558934"/>
          </a:xfrm>
          <a:prstGeom prst="roundRect">
            <a:avLst/>
          </a:prstGeom>
          <a:solidFill>
            <a:schemeClr val="accent4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户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限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C78CC91-E635-BD86-6ECF-684E64B116FB}"/>
              </a:ext>
            </a:extLst>
          </p:cNvPr>
          <p:cNvSpPr/>
          <p:nvPr/>
        </p:nvSpPr>
        <p:spPr>
          <a:xfrm>
            <a:off x="8013492" y="1360887"/>
            <a:ext cx="1041817" cy="4558933"/>
          </a:xfrm>
          <a:prstGeom prst="roundRect">
            <a:avLst/>
          </a:prstGeom>
          <a:solidFill>
            <a:schemeClr val="accent4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审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批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3AF1DA5-275C-0A87-B467-EB737A1DF22D}"/>
              </a:ext>
            </a:extLst>
          </p:cNvPr>
          <p:cNvSpPr/>
          <p:nvPr/>
        </p:nvSpPr>
        <p:spPr>
          <a:xfrm>
            <a:off x="1312905" y="5240015"/>
            <a:ext cx="2071138" cy="681780"/>
          </a:xfrm>
          <a:prstGeom prst="roundRect">
            <a:avLst/>
          </a:prstGeom>
          <a:solidFill>
            <a:schemeClr val="accent4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客户管理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EF3F022-060C-88C6-B657-50ADED1A016F}"/>
              </a:ext>
            </a:extLst>
          </p:cNvPr>
          <p:cNvSpPr/>
          <p:nvPr/>
        </p:nvSpPr>
        <p:spPr>
          <a:xfrm>
            <a:off x="1302913" y="4464191"/>
            <a:ext cx="2071138" cy="681780"/>
          </a:xfrm>
          <a:prstGeom prst="roundRect">
            <a:avLst/>
          </a:prstGeom>
          <a:solidFill>
            <a:schemeClr val="accent4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计划模板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E0BBD5C-41BB-66D6-9EF5-71DDFAFD32C3}"/>
              </a:ext>
            </a:extLst>
          </p:cNvPr>
          <p:cNvSpPr/>
          <p:nvPr/>
        </p:nvSpPr>
        <p:spPr>
          <a:xfrm>
            <a:off x="1302913" y="3688365"/>
            <a:ext cx="2071138" cy="681780"/>
          </a:xfrm>
          <a:prstGeom prst="roundRect">
            <a:avLst/>
          </a:prstGeom>
          <a:solidFill>
            <a:schemeClr val="accent4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项目立项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211C023-B05C-2149-68BC-3B722A2C668B}"/>
              </a:ext>
            </a:extLst>
          </p:cNvPr>
          <p:cNvSpPr/>
          <p:nvPr/>
        </p:nvSpPr>
        <p:spPr>
          <a:xfrm>
            <a:off x="3530198" y="5238040"/>
            <a:ext cx="2071138" cy="681780"/>
          </a:xfrm>
          <a:prstGeom prst="roundRect">
            <a:avLst/>
          </a:prstGeom>
          <a:solidFill>
            <a:schemeClr val="accent4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调研问卷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80379A5-6640-99D4-A12B-D912D1C76596}"/>
              </a:ext>
            </a:extLst>
          </p:cNvPr>
          <p:cNvSpPr/>
          <p:nvPr/>
        </p:nvSpPr>
        <p:spPr>
          <a:xfrm>
            <a:off x="3531445" y="4462611"/>
            <a:ext cx="2071138" cy="681780"/>
          </a:xfrm>
          <a:prstGeom prst="roundRect">
            <a:avLst/>
          </a:prstGeom>
          <a:solidFill>
            <a:schemeClr val="accent4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项目类型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3C95B8B-3892-6DFD-5024-76F97D58094A}"/>
              </a:ext>
            </a:extLst>
          </p:cNvPr>
          <p:cNvSpPr/>
          <p:nvPr/>
        </p:nvSpPr>
        <p:spPr>
          <a:xfrm>
            <a:off x="1302913" y="2912539"/>
            <a:ext cx="2071138" cy="681780"/>
          </a:xfrm>
          <a:prstGeom prst="roundRect">
            <a:avLst/>
          </a:prstGeom>
          <a:solidFill>
            <a:schemeClr val="accent4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项目进度填报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8D2EFA6-AC03-CDFC-B7E0-2C498BE72B7B}"/>
              </a:ext>
            </a:extLst>
          </p:cNvPr>
          <p:cNvSpPr/>
          <p:nvPr/>
        </p:nvSpPr>
        <p:spPr>
          <a:xfrm>
            <a:off x="3535193" y="3687180"/>
            <a:ext cx="2071138" cy="681780"/>
          </a:xfrm>
          <a:prstGeom prst="roundRect">
            <a:avLst/>
          </a:prstGeom>
          <a:solidFill>
            <a:schemeClr val="accent4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项目计划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AB84E5E-8939-F27C-5584-B93C9D4A05E5}"/>
              </a:ext>
            </a:extLst>
          </p:cNvPr>
          <p:cNvSpPr/>
          <p:nvPr/>
        </p:nvSpPr>
        <p:spPr>
          <a:xfrm>
            <a:off x="1295417" y="723294"/>
            <a:ext cx="8946610" cy="554179"/>
          </a:xfrm>
          <a:prstGeom prst="roundRect">
            <a:avLst/>
          </a:prstGeom>
          <a:solidFill>
            <a:schemeClr val="accent4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报表管理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7F2463E-D885-0BEE-26CE-8FD12FE835E8}"/>
              </a:ext>
            </a:extLst>
          </p:cNvPr>
          <p:cNvSpPr/>
          <p:nvPr/>
        </p:nvSpPr>
        <p:spPr>
          <a:xfrm>
            <a:off x="3521453" y="2911749"/>
            <a:ext cx="2071138" cy="681780"/>
          </a:xfrm>
          <a:prstGeom prst="roundRect">
            <a:avLst/>
          </a:prstGeom>
          <a:solidFill>
            <a:srgbClr val="6DABD8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计划变更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AB3C620-C509-3F1F-C8E5-76C5D36D7825}"/>
              </a:ext>
            </a:extLst>
          </p:cNvPr>
          <p:cNvSpPr/>
          <p:nvPr/>
        </p:nvSpPr>
        <p:spPr>
          <a:xfrm>
            <a:off x="5768722" y="5238040"/>
            <a:ext cx="2071138" cy="681780"/>
          </a:xfrm>
          <a:prstGeom prst="roundRect">
            <a:avLst/>
          </a:prstGeom>
          <a:solidFill>
            <a:srgbClr val="6DABD8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合同管理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C8FFF6E-859F-75B5-C153-E2346E64BE11}"/>
              </a:ext>
            </a:extLst>
          </p:cNvPr>
          <p:cNvSpPr/>
          <p:nvPr/>
        </p:nvSpPr>
        <p:spPr>
          <a:xfrm>
            <a:off x="5769969" y="4462611"/>
            <a:ext cx="2071138" cy="681780"/>
          </a:xfrm>
          <a:prstGeom prst="roundRect">
            <a:avLst/>
          </a:prstGeom>
          <a:solidFill>
            <a:srgbClr val="6DABD8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服务明细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6A46E38-11B9-F107-1E89-44B41D4336A8}"/>
              </a:ext>
            </a:extLst>
          </p:cNvPr>
          <p:cNvSpPr/>
          <p:nvPr/>
        </p:nvSpPr>
        <p:spPr>
          <a:xfrm>
            <a:off x="5773717" y="3687180"/>
            <a:ext cx="2071138" cy="681780"/>
          </a:xfrm>
          <a:prstGeom prst="roundRect">
            <a:avLst/>
          </a:prstGeom>
          <a:solidFill>
            <a:srgbClr val="6DABD8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收款条件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42D062F2-CEAC-B165-DC4C-2F5C80315DC8}"/>
              </a:ext>
            </a:extLst>
          </p:cNvPr>
          <p:cNvSpPr/>
          <p:nvPr/>
        </p:nvSpPr>
        <p:spPr>
          <a:xfrm>
            <a:off x="5759977" y="2911749"/>
            <a:ext cx="2071138" cy="681780"/>
          </a:xfrm>
          <a:prstGeom prst="roundRect">
            <a:avLst/>
          </a:prstGeom>
          <a:solidFill>
            <a:srgbClr val="6DABD8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合同变更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C3A2CFA-A563-5706-80D7-D1F3347C36AE}"/>
              </a:ext>
            </a:extLst>
          </p:cNvPr>
          <p:cNvSpPr/>
          <p:nvPr/>
        </p:nvSpPr>
        <p:spPr>
          <a:xfrm>
            <a:off x="1297918" y="2136713"/>
            <a:ext cx="2071138" cy="681780"/>
          </a:xfrm>
          <a:prstGeom prst="roundRect">
            <a:avLst/>
          </a:prstGeom>
          <a:solidFill>
            <a:srgbClr val="6DABD8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开票申请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D593AFF2-8C16-A0AE-5F0B-62843F1D9DD6}"/>
              </a:ext>
            </a:extLst>
          </p:cNvPr>
          <p:cNvSpPr/>
          <p:nvPr/>
        </p:nvSpPr>
        <p:spPr>
          <a:xfrm>
            <a:off x="1297918" y="1360887"/>
            <a:ext cx="2071138" cy="681780"/>
          </a:xfrm>
          <a:prstGeom prst="roundRect">
            <a:avLst/>
          </a:prstGeom>
          <a:solidFill>
            <a:srgbClr val="6DABD8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收款计划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5E5A890-0205-C816-3ABD-7407C9BDDD78}"/>
              </a:ext>
            </a:extLst>
          </p:cNvPr>
          <p:cNvSpPr/>
          <p:nvPr/>
        </p:nvSpPr>
        <p:spPr>
          <a:xfrm>
            <a:off x="3530198" y="2136318"/>
            <a:ext cx="2071138" cy="681780"/>
          </a:xfrm>
          <a:prstGeom prst="roundRect">
            <a:avLst/>
          </a:prstGeom>
          <a:solidFill>
            <a:srgbClr val="6DABD8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发票管理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EB4DB7B-9DFF-B575-25A4-EC285230F2E3}"/>
              </a:ext>
            </a:extLst>
          </p:cNvPr>
          <p:cNvSpPr/>
          <p:nvPr/>
        </p:nvSpPr>
        <p:spPr>
          <a:xfrm>
            <a:off x="3516458" y="1360887"/>
            <a:ext cx="2071138" cy="681780"/>
          </a:xfrm>
          <a:prstGeom prst="roundRect">
            <a:avLst/>
          </a:prstGeom>
          <a:solidFill>
            <a:srgbClr val="6DABD8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应收单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4D3C7C73-8B75-FE9F-6B29-B65E47F52A6B}"/>
              </a:ext>
            </a:extLst>
          </p:cNvPr>
          <p:cNvSpPr/>
          <p:nvPr/>
        </p:nvSpPr>
        <p:spPr>
          <a:xfrm>
            <a:off x="5768722" y="2136318"/>
            <a:ext cx="2071138" cy="681780"/>
          </a:xfrm>
          <a:prstGeom prst="roundRect">
            <a:avLst/>
          </a:prstGeom>
          <a:solidFill>
            <a:srgbClr val="6DABD8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红冲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作废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1DB89BCE-475C-F2FC-B944-DC1EB81DE7BA}"/>
              </a:ext>
            </a:extLst>
          </p:cNvPr>
          <p:cNvSpPr/>
          <p:nvPr/>
        </p:nvSpPr>
        <p:spPr>
          <a:xfrm>
            <a:off x="5754982" y="1360887"/>
            <a:ext cx="2071138" cy="681780"/>
          </a:xfrm>
          <a:prstGeom prst="roundRect">
            <a:avLst/>
          </a:prstGeom>
          <a:solidFill>
            <a:srgbClr val="6DABD8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收款核销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8DCC49FE-98B0-6EFC-3A7A-9E3E6F2C4A15}"/>
              </a:ext>
            </a:extLst>
          </p:cNvPr>
          <p:cNvSpPr/>
          <p:nvPr/>
        </p:nvSpPr>
        <p:spPr>
          <a:xfrm>
            <a:off x="1295417" y="6013469"/>
            <a:ext cx="4970472" cy="68178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用友财务系统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EE919EEF-6D9E-2A4A-B3CF-8AE3977DF6DE}"/>
              </a:ext>
            </a:extLst>
          </p:cNvPr>
          <p:cNvSpPr/>
          <p:nvPr/>
        </p:nvSpPr>
        <p:spPr>
          <a:xfrm>
            <a:off x="6380823" y="6003234"/>
            <a:ext cx="3861204" cy="68178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百望开票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EB2F7E3-C97B-14E9-09EF-A95AE0465CBA}"/>
              </a:ext>
            </a:extLst>
          </p:cNvPr>
          <p:cNvSpPr/>
          <p:nvPr/>
        </p:nvSpPr>
        <p:spPr>
          <a:xfrm>
            <a:off x="10614990" y="1325181"/>
            <a:ext cx="181259" cy="127221"/>
          </a:xfrm>
          <a:prstGeom prst="roundRect">
            <a:avLst/>
          </a:prstGeom>
          <a:solidFill>
            <a:schemeClr val="accent4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C5E2B73-C362-881A-BCC7-33C63AFC69D9}"/>
              </a:ext>
            </a:extLst>
          </p:cNvPr>
          <p:cNvSpPr txBox="1"/>
          <p:nvPr/>
        </p:nvSpPr>
        <p:spPr>
          <a:xfrm>
            <a:off x="10796249" y="1234902"/>
            <a:ext cx="11234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一期上线功能</a:t>
            </a:r>
          </a:p>
        </p:txBody>
      </p:sp>
    </p:spTree>
    <p:extLst>
      <p:ext uri="{BB962C8B-B14F-4D97-AF65-F5344CB8AC3E}">
        <p14:creationId xmlns:p14="http://schemas.microsoft.com/office/powerpoint/2010/main" val="265065377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14599A7-6F74-4560-21B7-58CEC2F26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72" y="1061933"/>
            <a:ext cx="11971428" cy="4304762"/>
          </a:xfrm>
          <a:prstGeom prst="rect">
            <a:avLst/>
          </a:prstGeom>
        </p:spPr>
      </p:pic>
      <p:sp>
        <p:nvSpPr>
          <p:cNvPr id="8" name="标题 1">
            <a:extLst>
              <a:ext uri="{FF2B5EF4-FFF2-40B4-BE49-F238E27FC236}">
                <a16:creationId xmlns:a16="http://schemas.microsoft.com/office/drawing/2014/main" id="{76D86570-3FB3-4C94-40E9-597B28201F1C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400" dirty="0">
                <a:latin typeface="微软雅黑" panose="020B0503020204020204" pitchFamily="34" charset="-122"/>
              </a:rPr>
              <a:t>项目全生命周期管理（一期上线）</a:t>
            </a:r>
          </a:p>
        </p:txBody>
      </p:sp>
    </p:spTree>
    <p:extLst>
      <p:ext uri="{BB962C8B-B14F-4D97-AF65-F5344CB8AC3E}">
        <p14:creationId xmlns:p14="http://schemas.microsoft.com/office/powerpoint/2010/main" val="3320851764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1D7252-36E3-90FF-8043-4C779207CF40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sz="2400" dirty="0">
                <a:latin typeface="微软雅黑" panose="020B0503020204020204" pitchFamily="34" charset="-122"/>
              </a:rPr>
              <a:t>PMS</a:t>
            </a:r>
            <a:r>
              <a:rPr lang="zh-CN" altLang="en-US" sz="2400" dirty="0">
                <a:latin typeface="微软雅黑" panose="020B0503020204020204" pitchFamily="34" charset="-122"/>
              </a:rPr>
              <a:t>业财一体化待规划业务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3B17980-95F7-1A49-9FC5-20C4A072FBBD}"/>
              </a:ext>
            </a:extLst>
          </p:cNvPr>
          <p:cNvSpPr/>
          <p:nvPr/>
        </p:nvSpPr>
        <p:spPr>
          <a:xfrm>
            <a:off x="4928834" y="3023067"/>
            <a:ext cx="2071138" cy="681780"/>
          </a:xfrm>
          <a:prstGeom prst="roundRect">
            <a:avLst/>
          </a:prstGeom>
          <a:solidFill>
            <a:srgbClr val="6DABD8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费用报销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353691EE-1AFF-77C3-F7EE-5E34E53C45EC}"/>
              </a:ext>
            </a:extLst>
          </p:cNvPr>
          <p:cNvSpPr/>
          <p:nvPr/>
        </p:nvSpPr>
        <p:spPr>
          <a:xfrm>
            <a:off x="4923839" y="3798498"/>
            <a:ext cx="2071138" cy="681780"/>
          </a:xfrm>
          <a:prstGeom prst="roundRect">
            <a:avLst/>
          </a:prstGeom>
          <a:solidFill>
            <a:srgbClr val="6DABD8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费用归集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A79B387-D8FB-7BDD-E4A3-7D6B322DD433}"/>
              </a:ext>
            </a:extLst>
          </p:cNvPr>
          <p:cNvSpPr/>
          <p:nvPr/>
        </p:nvSpPr>
        <p:spPr>
          <a:xfrm>
            <a:off x="2705299" y="2248031"/>
            <a:ext cx="2071138" cy="681780"/>
          </a:xfrm>
          <a:prstGeom prst="roundRect">
            <a:avLst/>
          </a:prstGeom>
          <a:solidFill>
            <a:srgbClr val="6DABD8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支出合同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6E91C4EC-F6D1-94DF-6976-8BD1C35CA2DF}"/>
              </a:ext>
            </a:extLst>
          </p:cNvPr>
          <p:cNvSpPr/>
          <p:nvPr/>
        </p:nvSpPr>
        <p:spPr>
          <a:xfrm>
            <a:off x="2705299" y="1472205"/>
            <a:ext cx="2071138" cy="681780"/>
          </a:xfrm>
          <a:prstGeom prst="roundRect">
            <a:avLst/>
          </a:prstGeom>
          <a:solidFill>
            <a:srgbClr val="6DABD8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项目预算控制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49B69B2-5734-55A0-134C-D455D007FEC9}"/>
              </a:ext>
            </a:extLst>
          </p:cNvPr>
          <p:cNvSpPr/>
          <p:nvPr/>
        </p:nvSpPr>
        <p:spPr>
          <a:xfrm>
            <a:off x="4937579" y="2247636"/>
            <a:ext cx="2071138" cy="681780"/>
          </a:xfrm>
          <a:prstGeom prst="roundRect">
            <a:avLst/>
          </a:prstGeom>
          <a:solidFill>
            <a:srgbClr val="6DABD8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利润核算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C2B26ED-E5B8-ED7B-F1C2-98CE2E835878}"/>
              </a:ext>
            </a:extLst>
          </p:cNvPr>
          <p:cNvSpPr/>
          <p:nvPr/>
        </p:nvSpPr>
        <p:spPr>
          <a:xfrm>
            <a:off x="4923839" y="1472205"/>
            <a:ext cx="2071138" cy="681780"/>
          </a:xfrm>
          <a:prstGeom prst="roundRect">
            <a:avLst/>
          </a:prstGeom>
          <a:solidFill>
            <a:srgbClr val="6DABD8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项目成本核算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599D4B1-40F2-DA7E-24AA-4B328A4FF1DF}"/>
              </a:ext>
            </a:extLst>
          </p:cNvPr>
          <p:cNvSpPr/>
          <p:nvPr/>
        </p:nvSpPr>
        <p:spPr>
          <a:xfrm>
            <a:off x="2690310" y="3023067"/>
            <a:ext cx="2071138" cy="681780"/>
          </a:xfrm>
          <a:prstGeom prst="roundRect">
            <a:avLst/>
          </a:prstGeom>
          <a:solidFill>
            <a:srgbClr val="6DABD8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采购管理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D0D198A-C556-7010-9E7E-22A3BF6B05B4}"/>
              </a:ext>
            </a:extLst>
          </p:cNvPr>
          <p:cNvSpPr/>
          <p:nvPr/>
        </p:nvSpPr>
        <p:spPr>
          <a:xfrm>
            <a:off x="2705299" y="3798498"/>
            <a:ext cx="2071138" cy="681780"/>
          </a:xfrm>
          <a:prstGeom prst="roundRect">
            <a:avLst/>
          </a:prstGeom>
          <a:solidFill>
            <a:srgbClr val="6DABD8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采购收票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576023E-7538-24A0-3ED6-8EB854E84646}"/>
              </a:ext>
            </a:extLst>
          </p:cNvPr>
          <p:cNvSpPr/>
          <p:nvPr/>
        </p:nvSpPr>
        <p:spPr>
          <a:xfrm>
            <a:off x="2705299" y="4578639"/>
            <a:ext cx="2071138" cy="681780"/>
          </a:xfrm>
          <a:prstGeom prst="roundRect">
            <a:avLst/>
          </a:prstGeom>
          <a:solidFill>
            <a:srgbClr val="6DABD8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采购财务对接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46070D5-F59E-D256-01C2-F366E1DAC2D8}"/>
              </a:ext>
            </a:extLst>
          </p:cNvPr>
          <p:cNvSpPr/>
          <p:nvPr/>
        </p:nvSpPr>
        <p:spPr>
          <a:xfrm>
            <a:off x="4923839" y="4573929"/>
            <a:ext cx="2071138" cy="681780"/>
          </a:xfrm>
          <a:prstGeom prst="roundRect">
            <a:avLst/>
          </a:prstGeom>
          <a:solidFill>
            <a:srgbClr val="6DABD8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人工成本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9791260D-BF82-5E55-31BD-75FA904896F7}"/>
              </a:ext>
            </a:extLst>
          </p:cNvPr>
          <p:cNvSpPr/>
          <p:nvPr/>
        </p:nvSpPr>
        <p:spPr>
          <a:xfrm>
            <a:off x="7181098" y="2247636"/>
            <a:ext cx="2071138" cy="681780"/>
          </a:xfrm>
          <a:prstGeom prst="roundRect">
            <a:avLst/>
          </a:prstGeom>
          <a:solidFill>
            <a:srgbClr val="6DABD8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销售报价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E42B9DB5-8BD2-5C08-7DA3-75E97A079E9F}"/>
              </a:ext>
            </a:extLst>
          </p:cNvPr>
          <p:cNvSpPr/>
          <p:nvPr/>
        </p:nvSpPr>
        <p:spPr>
          <a:xfrm>
            <a:off x="7167358" y="1472205"/>
            <a:ext cx="2071138" cy="681780"/>
          </a:xfrm>
          <a:prstGeom prst="roundRect">
            <a:avLst/>
          </a:prstGeom>
          <a:solidFill>
            <a:srgbClr val="6DABD8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线索商机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AB8E7C9B-7A0D-924B-E81A-900B362840B4}"/>
              </a:ext>
            </a:extLst>
          </p:cNvPr>
          <p:cNvSpPr/>
          <p:nvPr/>
        </p:nvSpPr>
        <p:spPr>
          <a:xfrm>
            <a:off x="7181098" y="3023067"/>
            <a:ext cx="2071138" cy="681780"/>
          </a:xfrm>
          <a:prstGeom prst="roundRect">
            <a:avLst/>
          </a:prstGeom>
          <a:solidFill>
            <a:srgbClr val="6DABD8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销售提成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36BB8BCD-F66B-CA0F-07C0-9FECFB1FB2C2}"/>
              </a:ext>
            </a:extLst>
          </p:cNvPr>
          <p:cNvSpPr/>
          <p:nvPr/>
        </p:nvSpPr>
        <p:spPr>
          <a:xfrm>
            <a:off x="7181098" y="3796599"/>
            <a:ext cx="2071138" cy="681780"/>
          </a:xfrm>
          <a:prstGeom prst="roundRect">
            <a:avLst/>
          </a:prstGeom>
          <a:solidFill>
            <a:srgbClr val="6DABD8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项目结项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4646A31F-ABF0-CB42-CB3C-998A8C404410}"/>
              </a:ext>
            </a:extLst>
          </p:cNvPr>
          <p:cNvSpPr/>
          <p:nvPr/>
        </p:nvSpPr>
        <p:spPr>
          <a:xfrm>
            <a:off x="7181098" y="4578639"/>
            <a:ext cx="2071138" cy="681780"/>
          </a:xfrm>
          <a:prstGeom prst="roundRect">
            <a:avLst/>
          </a:prstGeom>
          <a:solidFill>
            <a:srgbClr val="6DABD8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工具赋能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3869565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E61E13-8498-3387-6C18-DF79E5F1CFA7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sz="2400" dirty="0">
                <a:latin typeface="微软雅黑" panose="020B0503020204020204" pitchFamily="34" charset="-122"/>
              </a:rPr>
              <a:t>PMS</a:t>
            </a:r>
            <a:r>
              <a:rPr lang="zh-CN" altLang="en-US" sz="2400" dirty="0">
                <a:latin typeface="微软雅黑" panose="020B0503020204020204" pitchFamily="34" charset="-122"/>
              </a:rPr>
              <a:t>业财一体化业务形式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FA4F71A-CEB9-18F1-48BA-31E0D1B294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1417" y="1865237"/>
            <a:ext cx="2160153" cy="4683080"/>
          </a:xfrm>
          <a:prstGeom prst="rect">
            <a:avLst/>
          </a:prstGeom>
          <a:ln>
            <a:solidFill>
              <a:srgbClr val="00B05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BEE98E3-E73C-9AF7-CBB7-1FDD23C84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469" y="986409"/>
            <a:ext cx="7102079" cy="4106509"/>
          </a:xfrm>
          <a:prstGeom prst="rect">
            <a:avLst/>
          </a:prstGeom>
          <a:ln>
            <a:solidFill>
              <a:srgbClr val="00B05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214495F3-C632-405C-00D3-3E0F3D9179B2}"/>
              </a:ext>
            </a:extLst>
          </p:cNvPr>
          <p:cNvSpPr/>
          <p:nvPr/>
        </p:nvSpPr>
        <p:spPr>
          <a:xfrm>
            <a:off x="5725725" y="645519"/>
            <a:ext cx="2071138" cy="681780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电脑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E24B43E6-E0F7-07F9-5F0F-04A6C8095711}"/>
              </a:ext>
            </a:extLst>
          </p:cNvPr>
          <p:cNvSpPr/>
          <p:nvPr/>
        </p:nvSpPr>
        <p:spPr>
          <a:xfrm>
            <a:off x="7708067" y="1776879"/>
            <a:ext cx="2071138" cy="681780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移动端：飞书自研应用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4C8DE71-918E-39E0-E62B-945CF781B0E6}"/>
              </a:ext>
            </a:extLst>
          </p:cNvPr>
          <p:cNvSpPr txBox="1"/>
          <p:nvPr/>
        </p:nvSpPr>
        <p:spPr>
          <a:xfrm>
            <a:off x="9619180" y="1424923"/>
            <a:ext cx="25728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</a:rPr>
              <a:t>首次登录输入账号进行绑定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888688678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DA8582-70EE-8B9A-AA11-79ED648EB894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sz="2400" dirty="0">
                <a:latin typeface="微软雅黑" panose="020B0503020204020204" pitchFamily="34" charset="-122"/>
              </a:rPr>
              <a:t>PMS</a:t>
            </a:r>
            <a:r>
              <a:rPr lang="zh-CN" altLang="en-US" sz="2400" dirty="0">
                <a:latin typeface="微软雅黑" panose="020B0503020204020204" pitchFamily="34" charset="-122"/>
              </a:rPr>
              <a:t>业财一体外部系统集成场景</a:t>
            </a:r>
          </a:p>
        </p:txBody>
      </p:sp>
      <p:sp>
        <p:nvSpPr>
          <p:cNvPr id="10" name="TextBox 180">
            <a:extLst>
              <a:ext uri="{FF2B5EF4-FFF2-40B4-BE49-F238E27FC236}">
                <a16:creationId xmlns:a16="http://schemas.microsoft.com/office/drawing/2014/main" id="{4B84850E-CA66-F239-A243-FC7BBF3807F8}"/>
              </a:ext>
            </a:extLst>
          </p:cNvPr>
          <p:cNvSpPr txBox="1"/>
          <p:nvPr/>
        </p:nvSpPr>
        <p:spPr>
          <a:xfrm>
            <a:off x="1475762" y="573580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zh-CN" altLang="en-US" sz="1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客户管理</a:t>
            </a:r>
            <a:endParaRPr lang="zh-TW" altLang="en-US" sz="12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Box 181">
            <a:extLst>
              <a:ext uri="{FF2B5EF4-FFF2-40B4-BE49-F238E27FC236}">
                <a16:creationId xmlns:a16="http://schemas.microsoft.com/office/drawing/2014/main" id="{54DB28DC-97BD-2605-2EB5-87EA30DB7CF0}"/>
              </a:ext>
            </a:extLst>
          </p:cNvPr>
          <p:cNvSpPr txBox="1"/>
          <p:nvPr/>
        </p:nvSpPr>
        <p:spPr>
          <a:xfrm>
            <a:off x="4505703" y="573580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zh-CN" altLang="en-US" sz="1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项目管理</a:t>
            </a:r>
            <a:endParaRPr lang="zh-TW" altLang="en-US" sz="12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Rounded Rectangle 113">
            <a:extLst>
              <a:ext uri="{FF2B5EF4-FFF2-40B4-BE49-F238E27FC236}">
                <a16:creationId xmlns:a16="http://schemas.microsoft.com/office/drawing/2014/main" id="{5FC23EE6-B494-AC92-7B6C-0AD8A0244291}"/>
              </a:ext>
            </a:extLst>
          </p:cNvPr>
          <p:cNvSpPr/>
          <p:nvPr/>
        </p:nvSpPr>
        <p:spPr bwMode="auto">
          <a:xfrm>
            <a:off x="5006005" y="850578"/>
            <a:ext cx="2071138" cy="4641089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1"/>
            </a:solidFill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en-US" altLang="zh-CN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PMS</a:t>
            </a:r>
            <a:endParaRPr lang="zh-CN" altLang="en-US" sz="1600" b="1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Rounded Rectangle 113">
            <a:extLst>
              <a:ext uri="{FF2B5EF4-FFF2-40B4-BE49-F238E27FC236}">
                <a16:creationId xmlns:a16="http://schemas.microsoft.com/office/drawing/2014/main" id="{87230EAA-A4B2-C2AD-CEFD-DE13F821954A}"/>
              </a:ext>
            </a:extLst>
          </p:cNvPr>
          <p:cNvSpPr/>
          <p:nvPr/>
        </p:nvSpPr>
        <p:spPr bwMode="auto">
          <a:xfrm>
            <a:off x="1437152" y="850578"/>
            <a:ext cx="2071138" cy="4641089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1"/>
            </a:solidFill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用友</a:t>
            </a:r>
          </a:p>
        </p:txBody>
      </p:sp>
      <p:sp>
        <p:nvSpPr>
          <p:cNvPr id="16" name="Rounded Rectangle 113">
            <a:extLst>
              <a:ext uri="{FF2B5EF4-FFF2-40B4-BE49-F238E27FC236}">
                <a16:creationId xmlns:a16="http://schemas.microsoft.com/office/drawing/2014/main" id="{16CB1D02-96A1-00A4-8568-FDEAECFC0E4C}"/>
              </a:ext>
            </a:extLst>
          </p:cNvPr>
          <p:cNvSpPr/>
          <p:nvPr/>
        </p:nvSpPr>
        <p:spPr bwMode="auto">
          <a:xfrm>
            <a:off x="8574858" y="850579"/>
            <a:ext cx="2071138" cy="4217244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1"/>
            </a:solidFill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飞书</a:t>
            </a:r>
          </a:p>
        </p:txBody>
      </p:sp>
      <p:sp>
        <p:nvSpPr>
          <p:cNvPr id="17" name="Rounded Rectangle 113">
            <a:extLst>
              <a:ext uri="{FF2B5EF4-FFF2-40B4-BE49-F238E27FC236}">
                <a16:creationId xmlns:a16="http://schemas.microsoft.com/office/drawing/2014/main" id="{5C7122D9-D52D-E720-A527-9F063353379C}"/>
              </a:ext>
            </a:extLst>
          </p:cNvPr>
          <p:cNvSpPr/>
          <p:nvPr/>
        </p:nvSpPr>
        <p:spPr bwMode="auto">
          <a:xfrm>
            <a:off x="5006005" y="6211285"/>
            <a:ext cx="2071138" cy="561749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1"/>
            </a:solidFill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百望</a:t>
            </a: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0492BDBA-2B0B-7C31-69E1-F367F3867FC9}"/>
              </a:ext>
            </a:extLst>
          </p:cNvPr>
          <p:cNvCxnSpPr/>
          <p:nvPr/>
        </p:nvCxnSpPr>
        <p:spPr>
          <a:xfrm>
            <a:off x="3576671" y="2663579"/>
            <a:ext cx="1340769" cy="0"/>
          </a:xfrm>
          <a:prstGeom prst="straightConnector1">
            <a:avLst/>
          </a:prstGeom>
          <a:ln w="158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FD698274-D6D1-C459-AE42-3EFCF2E3A6C4}"/>
              </a:ext>
            </a:extLst>
          </p:cNvPr>
          <p:cNvCxnSpPr/>
          <p:nvPr/>
        </p:nvCxnSpPr>
        <p:spPr>
          <a:xfrm>
            <a:off x="3576671" y="3182321"/>
            <a:ext cx="1340769" cy="0"/>
          </a:xfrm>
          <a:prstGeom prst="straightConnector1">
            <a:avLst/>
          </a:prstGeom>
          <a:ln w="158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D5593147-345A-6E8D-A3C4-8211979043DF}"/>
              </a:ext>
            </a:extLst>
          </p:cNvPr>
          <p:cNvCxnSpPr/>
          <p:nvPr/>
        </p:nvCxnSpPr>
        <p:spPr>
          <a:xfrm>
            <a:off x="3576671" y="3649681"/>
            <a:ext cx="1340769" cy="0"/>
          </a:xfrm>
          <a:prstGeom prst="straightConnector1">
            <a:avLst/>
          </a:prstGeom>
          <a:ln w="158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CCCA90D2-4522-B274-DE5C-8EC80A16C142}"/>
              </a:ext>
            </a:extLst>
          </p:cNvPr>
          <p:cNvSpPr txBox="1"/>
          <p:nvPr/>
        </p:nvSpPr>
        <p:spPr>
          <a:xfrm>
            <a:off x="3694662" y="1042649"/>
            <a:ext cx="11234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</a:rPr>
              <a:t>客户主数据</a:t>
            </a:r>
            <a:endParaRPr lang="zh-CN" altLang="en-US" sz="14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410BAD5C-0B87-633D-FF4A-81CBA7823936}"/>
              </a:ext>
            </a:extLst>
          </p:cNvPr>
          <p:cNvSpPr txBox="1"/>
          <p:nvPr/>
        </p:nvSpPr>
        <p:spPr>
          <a:xfrm>
            <a:off x="3694662" y="1643048"/>
            <a:ext cx="11234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</a:rPr>
              <a:t>收款账户</a:t>
            </a:r>
            <a:endParaRPr lang="zh-CN" altLang="en-US" sz="14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23AF647-41AF-DD99-33FA-6E3EF4A79AFC}"/>
              </a:ext>
            </a:extLst>
          </p:cNvPr>
          <p:cNvSpPr txBox="1"/>
          <p:nvPr/>
        </p:nvSpPr>
        <p:spPr>
          <a:xfrm>
            <a:off x="3694662" y="2285494"/>
            <a:ext cx="11234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</a:rPr>
              <a:t>应收单</a:t>
            </a:r>
            <a:endParaRPr lang="zh-CN" altLang="en-US" sz="1400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57CEE1B7-D88D-5036-5E69-4FCEB2F69DFC}"/>
              </a:ext>
            </a:extLst>
          </p:cNvPr>
          <p:cNvSpPr txBox="1"/>
          <p:nvPr/>
        </p:nvSpPr>
        <p:spPr>
          <a:xfrm>
            <a:off x="3694662" y="2874544"/>
            <a:ext cx="11234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</a:rPr>
              <a:t>收款单</a:t>
            </a:r>
            <a:endParaRPr lang="zh-CN" altLang="en-US" sz="1400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BFF5B7FF-4830-29E9-2476-2C13C658A1C4}"/>
              </a:ext>
            </a:extLst>
          </p:cNvPr>
          <p:cNvSpPr txBox="1"/>
          <p:nvPr/>
        </p:nvSpPr>
        <p:spPr>
          <a:xfrm>
            <a:off x="3694662" y="3323591"/>
            <a:ext cx="11234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</a:rPr>
              <a:t>收款核销</a:t>
            </a:r>
            <a:endParaRPr lang="zh-CN" altLang="en-US" sz="1400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B1B3AF18-AF13-2073-7CD1-E9216A3EB7F6}"/>
              </a:ext>
            </a:extLst>
          </p:cNvPr>
          <p:cNvSpPr txBox="1"/>
          <p:nvPr/>
        </p:nvSpPr>
        <p:spPr>
          <a:xfrm>
            <a:off x="3694662" y="3731262"/>
            <a:ext cx="11234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</a:rPr>
              <a:t>开票明细主数据</a:t>
            </a:r>
            <a:endParaRPr lang="zh-CN" altLang="en-US" sz="1400" dirty="0"/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58934785-847E-67F1-5494-39E1E1D74743}"/>
              </a:ext>
            </a:extLst>
          </p:cNvPr>
          <p:cNvCxnSpPr/>
          <p:nvPr/>
        </p:nvCxnSpPr>
        <p:spPr>
          <a:xfrm>
            <a:off x="3576671" y="4885187"/>
            <a:ext cx="1340769" cy="0"/>
          </a:xfrm>
          <a:prstGeom prst="straightConnector1">
            <a:avLst/>
          </a:prstGeom>
          <a:ln w="158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93463932-8902-D023-3E54-556A679B3CFD}"/>
              </a:ext>
            </a:extLst>
          </p:cNvPr>
          <p:cNvSpPr txBox="1"/>
          <p:nvPr/>
        </p:nvSpPr>
        <p:spPr>
          <a:xfrm>
            <a:off x="3694662" y="4522589"/>
            <a:ext cx="11234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</a:rPr>
              <a:t>发票</a:t>
            </a:r>
            <a:endParaRPr lang="zh-CN" altLang="en-US" sz="1400" dirty="0"/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6B1FA5EB-C2DE-0769-690E-F7F17B2F90C0}"/>
              </a:ext>
            </a:extLst>
          </p:cNvPr>
          <p:cNvCxnSpPr/>
          <p:nvPr/>
        </p:nvCxnSpPr>
        <p:spPr>
          <a:xfrm>
            <a:off x="3694662" y="4358639"/>
            <a:ext cx="1123460" cy="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75FD65FF-A988-16DC-F045-243D6DBFF4F2}"/>
              </a:ext>
            </a:extLst>
          </p:cNvPr>
          <p:cNvCxnSpPr/>
          <p:nvPr/>
        </p:nvCxnSpPr>
        <p:spPr>
          <a:xfrm>
            <a:off x="3694662" y="2082799"/>
            <a:ext cx="1123460" cy="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71B01310-0563-D984-9F0E-9C8AE23B9203}"/>
              </a:ext>
            </a:extLst>
          </p:cNvPr>
          <p:cNvCxnSpPr>
            <a:cxnSpLocks/>
          </p:cNvCxnSpPr>
          <p:nvPr/>
        </p:nvCxnSpPr>
        <p:spPr>
          <a:xfrm flipH="1">
            <a:off x="3612660" y="1493519"/>
            <a:ext cx="1205462" cy="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3818ABD4-64D2-FA38-19C5-AF341CF5B37F}"/>
              </a:ext>
            </a:extLst>
          </p:cNvPr>
          <p:cNvCxnSpPr/>
          <p:nvPr/>
        </p:nvCxnSpPr>
        <p:spPr>
          <a:xfrm>
            <a:off x="3551004" y="5343767"/>
            <a:ext cx="1340769" cy="0"/>
          </a:xfrm>
          <a:prstGeom prst="straightConnector1">
            <a:avLst/>
          </a:prstGeom>
          <a:ln w="158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210F1294-D129-7F32-85FC-59F3D619ADB7}"/>
              </a:ext>
            </a:extLst>
          </p:cNvPr>
          <p:cNvSpPr txBox="1"/>
          <p:nvPr/>
        </p:nvSpPr>
        <p:spPr>
          <a:xfrm>
            <a:off x="3668995" y="4981169"/>
            <a:ext cx="11234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账号</a:t>
            </a:r>
          </a:p>
        </p:txBody>
      </p: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546C241A-6D81-6E7F-47D6-DDB3888DE63C}"/>
              </a:ext>
            </a:extLst>
          </p:cNvPr>
          <p:cNvCxnSpPr/>
          <p:nvPr/>
        </p:nvCxnSpPr>
        <p:spPr>
          <a:xfrm>
            <a:off x="7153862" y="2709685"/>
            <a:ext cx="1340769" cy="0"/>
          </a:xfrm>
          <a:prstGeom prst="straightConnector1">
            <a:avLst/>
          </a:prstGeom>
          <a:ln w="158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9CE24BB4-6B5B-CD84-7E76-74691094494A}"/>
              </a:ext>
            </a:extLst>
          </p:cNvPr>
          <p:cNvSpPr txBox="1"/>
          <p:nvPr/>
        </p:nvSpPr>
        <p:spPr>
          <a:xfrm>
            <a:off x="7271853" y="2355802"/>
            <a:ext cx="11234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</a:rPr>
              <a:t>用户部门</a:t>
            </a:r>
            <a:endParaRPr lang="zh-CN" altLang="en-US" sz="1400" dirty="0"/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EB2AD351-386E-138A-964B-FDB9862516B4}"/>
              </a:ext>
            </a:extLst>
          </p:cNvPr>
          <p:cNvCxnSpPr/>
          <p:nvPr/>
        </p:nvCxnSpPr>
        <p:spPr>
          <a:xfrm>
            <a:off x="7153862" y="3382364"/>
            <a:ext cx="1340769" cy="0"/>
          </a:xfrm>
          <a:prstGeom prst="straightConnector1">
            <a:avLst/>
          </a:prstGeom>
          <a:ln w="158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695D3D88-91BE-E0FC-F15C-0BF8AE5A6D2E}"/>
              </a:ext>
            </a:extLst>
          </p:cNvPr>
          <p:cNvSpPr txBox="1"/>
          <p:nvPr/>
        </p:nvSpPr>
        <p:spPr>
          <a:xfrm>
            <a:off x="7271853" y="2902567"/>
            <a:ext cx="11234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</a:rPr>
              <a:t>待办消息通知</a:t>
            </a:r>
            <a:endParaRPr lang="zh-CN" altLang="en-US" sz="1400" dirty="0"/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E60CBAF9-0EA6-A5AF-FFBE-EAB5D9636CEB}"/>
              </a:ext>
            </a:extLst>
          </p:cNvPr>
          <p:cNvCxnSpPr>
            <a:cxnSpLocks/>
          </p:cNvCxnSpPr>
          <p:nvPr/>
        </p:nvCxnSpPr>
        <p:spPr>
          <a:xfrm>
            <a:off x="6096000" y="5565913"/>
            <a:ext cx="0" cy="563076"/>
          </a:xfrm>
          <a:prstGeom prst="straightConnector1">
            <a:avLst/>
          </a:prstGeom>
          <a:ln w="158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7AD9A8D0-AAE1-083E-8CA3-1DFDA8DFBAE0}"/>
              </a:ext>
            </a:extLst>
          </p:cNvPr>
          <p:cNvSpPr txBox="1"/>
          <p:nvPr/>
        </p:nvSpPr>
        <p:spPr>
          <a:xfrm>
            <a:off x="5335415" y="5699645"/>
            <a:ext cx="11234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</a:rPr>
              <a:t>开票</a:t>
            </a:r>
            <a:endParaRPr lang="zh-CN" altLang="en-US" sz="1400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BACDA645-536E-161C-FB0F-C33B352CF778}"/>
              </a:ext>
            </a:extLst>
          </p:cNvPr>
          <p:cNvSpPr txBox="1"/>
          <p:nvPr/>
        </p:nvSpPr>
        <p:spPr>
          <a:xfrm>
            <a:off x="6211384" y="5708472"/>
            <a:ext cx="11234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</a:rPr>
              <a:t>红冲</a:t>
            </a:r>
            <a:r>
              <a:rPr lang="en-US" altLang="zh-CN" sz="140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</a:rPr>
              <a:t>/</a:t>
            </a:r>
            <a:r>
              <a:rPr lang="zh-CN" altLang="en-US" sz="140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</a:rPr>
              <a:t>作废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736457335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A4C09856-0CCB-2278-8B92-46EE8508418F}"/>
              </a:ext>
            </a:extLst>
          </p:cNvPr>
          <p:cNvSpPr/>
          <p:nvPr/>
        </p:nvSpPr>
        <p:spPr>
          <a:xfrm>
            <a:off x="7406003" y="2724334"/>
            <a:ext cx="1503045" cy="3606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 defTabSz="912495" fontAlgn="base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用友财务联调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86A8D07-BC9E-05E9-DB6D-94EF2A70DEDF}"/>
              </a:ext>
            </a:extLst>
          </p:cNvPr>
          <p:cNvSpPr/>
          <p:nvPr/>
        </p:nvSpPr>
        <p:spPr>
          <a:xfrm>
            <a:off x="2847899" y="2804888"/>
            <a:ext cx="2302410" cy="3606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 defTabSz="912495" fontAlgn="base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第一阶段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正式上线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 defTabSz="912495" fontAlgn="base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试运行结束，上线策略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 defTabSz="912495" fontAlgn="base"/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6108EB1-173C-CF20-CCED-5EDFECB83F2B}"/>
              </a:ext>
            </a:extLst>
          </p:cNvPr>
          <p:cNvSpPr/>
          <p:nvPr/>
        </p:nvSpPr>
        <p:spPr>
          <a:xfrm>
            <a:off x="1018987" y="2706603"/>
            <a:ext cx="1664509" cy="3606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 defTabSz="912495" fontAlgn="base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第一阶段：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 defTabSz="912495" fontAlgn="base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项目功能上线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C5D521E-1B7A-AFD8-A97C-AC636BCA1390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400" dirty="0">
                <a:latin typeface="微软雅黑" panose="020B0503020204020204" pitchFamily="34" charset="-122"/>
              </a:rPr>
              <a:t>整体计划安排</a:t>
            </a: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7AB13F20-95C2-8359-30DD-38A0A8C8179C}"/>
              </a:ext>
            </a:extLst>
          </p:cNvPr>
          <p:cNvSpPr/>
          <p:nvPr/>
        </p:nvSpPr>
        <p:spPr>
          <a:xfrm>
            <a:off x="805909" y="3046750"/>
            <a:ext cx="10755442" cy="1738859"/>
          </a:xfrm>
          <a:prstGeom prst="rightArrow">
            <a:avLst/>
          </a:prstGeom>
          <a:solidFill>
            <a:srgbClr val="6DABD8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等腰三角形 4">
            <a:extLst>
              <a:ext uri="{FF2B5EF4-FFF2-40B4-BE49-F238E27FC236}">
                <a16:creationId xmlns:a16="http://schemas.microsoft.com/office/drawing/2014/main" id="{327AA24F-6B9F-8DBD-1A2A-CF1FD1979A6D}"/>
              </a:ext>
            </a:extLst>
          </p:cNvPr>
          <p:cNvSpPr/>
          <p:nvPr/>
        </p:nvSpPr>
        <p:spPr>
          <a:xfrm rot="5400000">
            <a:off x="1641338" y="3198728"/>
            <a:ext cx="196850" cy="189865"/>
          </a:xfrm>
          <a:prstGeom prst="triangl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453EB63-F9AC-EF1B-59B1-6BEBE23FBE33}"/>
              </a:ext>
            </a:extLst>
          </p:cNvPr>
          <p:cNvCxnSpPr/>
          <p:nvPr/>
        </p:nvCxnSpPr>
        <p:spPr>
          <a:xfrm>
            <a:off x="1650228" y="3195553"/>
            <a:ext cx="1905" cy="32448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等腰三角形 6">
            <a:extLst>
              <a:ext uri="{FF2B5EF4-FFF2-40B4-BE49-F238E27FC236}">
                <a16:creationId xmlns:a16="http://schemas.microsoft.com/office/drawing/2014/main" id="{D3D58A78-4ED4-564F-EF59-3AA3292C5EA8}"/>
              </a:ext>
            </a:extLst>
          </p:cNvPr>
          <p:cNvSpPr/>
          <p:nvPr/>
        </p:nvSpPr>
        <p:spPr>
          <a:xfrm rot="5400000">
            <a:off x="3791710" y="3158794"/>
            <a:ext cx="196850" cy="189865"/>
          </a:xfrm>
          <a:prstGeom prst="triangl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62D9B3F-44EB-926D-B3E9-1AB685CDF311}"/>
              </a:ext>
            </a:extLst>
          </p:cNvPr>
          <p:cNvCxnSpPr/>
          <p:nvPr/>
        </p:nvCxnSpPr>
        <p:spPr>
          <a:xfrm>
            <a:off x="3800600" y="3155619"/>
            <a:ext cx="1905" cy="32448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FAA00E83-AE52-3C32-5CC4-AC1D4030DCA3}"/>
              </a:ext>
            </a:extLst>
          </p:cNvPr>
          <p:cNvSpPr/>
          <p:nvPr/>
        </p:nvSpPr>
        <p:spPr>
          <a:xfrm rot="5400000">
            <a:off x="7770543" y="3213628"/>
            <a:ext cx="196850" cy="189865"/>
          </a:xfrm>
          <a:prstGeom prst="triangl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2DCAE1B3-7DF8-3ED2-43F2-22C48EA975B4}"/>
              </a:ext>
            </a:extLst>
          </p:cNvPr>
          <p:cNvCxnSpPr/>
          <p:nvPr/>
        </p:nvCxnSpPr>
        <p:spPr>
          <a:xfrm>
            <a:off x="7779433" y="3210453"/>
            <a:ext cx="1905" cy="32448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26BB6701-EFB5-58ED-CAB4-CD1E4E89C86B}"/>
              </a:ext>
            </a:extLst>
          </p:cNvPr>
          <p:cNvSpPr txBox="1"/>
          <p:nvPr/>
        </p:nvSpPr>
        <p:spPr>
          <a:xfrm>
            <a:off x="586982" y="1247925"/>
            <a:ext cx="5742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814388" eaLnBrk="0" hangingPunct="0">
              <a:defRPr/>
            </a:pPr>
            <a:r>
              <a:rPr lang="zh-CN" altLang="en-US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</a:rPr>
              <a:t>开发</a:t>
            </a:r>
            <a:r>
              <a:rPr lang="en-US" altLang="zh-CN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</a:rPr>
              <a:t>/</a:t>
            </a:r>
            <a:r>
              <a:rPr lang="zh-CN" altLang="en-US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</a:rPr>
              <a:t>测试：欧春辉、李帅辉、柏彬、刘芯、罗梓亮</a:t>
            </a:r>
            <a:endParaRPr lang="zh-CN" altLang="en-US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01D5735-1FC5-5E36-0B94-261869D56325}"/>
              </a:ext>
            </a:extLst>
          </p:cNvPr>
          <p:cNvSpPr txBox="1"/>
          <p:nvPr/>
        </p:nvSpPr>
        <p:spPr>
          <a:xfrm>
            <a:off x="984939" y="3756133"/>
            <a:ext cx="1668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01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.30</a:t>
            </a:r>
            <a:endParaRPr 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F06455B-02C9-4A57-E887-16A84B8337DD}"/>
              </a:ext>
            </a:extLst>
          </p:cNvPr>
          <p:cNvSpPr txBox="1"/>
          <p:nvPr/>
        </p:nvSpPr>
        <p:spPr>
          <a:xfrm>
            <a:off x="3140518" y="3756133"/>
            <a:ext cx="1499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6.02.06</a:t>
            </a:r>
            <a:endParaRPr 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82E0C27-E198-7FAF-46B3-C850897178AF}"/>
              </a:ext>
            </a:extLst>
          </p:cNvPr>
          <p:cNvSpPr txBox="1"/>
          <p:nvPr/>
        </p:nvSpPr>
        <p:spPr>
          <a:xfrm>
            <a:off x="6993079" y="3756133"/>
            <a:ext cx="1666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待定</a:t>
            </a:r>
            <a:endParaRPr 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5B5352E-EA76-2651-6177-D40301B03DCF}"/>
              </a:ext>
            </a:extLst>
          </p:cNvPr>
          <p:cNvSpPr/>
          <p:nvPr/>
        </p:nvSpPr>
        <p:spPr>
          <a:xfrm>
            <a:off x="5534465" y="2686070"/>
            <a:ext cx="1503045" cy="3606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 defTabSz="912495" fontAlgn="base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第二阶段：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 defTabSz="912495" fontAlgn="base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收入功能上线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等腰三角形 17">
            <a:extLst>
              <a:ext uri="{FF2B5EF4-FFF2-40B4-BE49-F238E27FC236}">
                <a16:creationId xmlns:a16="http://schemas.microsoft.com/office/drawing/2014/main" id="{3AE043F9-72AE-9F93-3DE8-9536EE251A41}"/>
              </a:ext>
            </a:extLst>
          </p:cNvPr>
          <p:cNvSpPr/>
          <p:nvPr/>
        </p:nvSpPr>
        <p:spPr>
          <a:xfrm rot="5400000">
            <a:off x="5821207" y="3158794"/>
            <a:ext cx="196850" cy="189865"/>
          </a:xfrm>
          <a:prstGeom prst="triangl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EEA6596-F8AA-575F-7C95-1D468478F88A}"/>
              </a:ext>
            </a:extLst>
          </p:cNvPr>
          <p:cNvCxnSpPr/>
          <p:nvPr/>
        </p:nvCxnSpPr>
        <p:spPr>
          <a:xfrm>
            <a:off x="5830097" y="3155619"/>
            <a:ext cx="1905" cy="32448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CFF6FC45-CFD9-1D04-B383-6EE21B98A031}"/>
              </a:ext>
            </a:extLst>
          </p:cNvPr>
          <p:cNvSpPr txBox="1"/>
          <p:nvPr/>
        </p:nvSpPr>
        <p:spPr>
          <a:xfrm>
            <a:off x="5140035" y="3756133"/>
            <a:ext cx="1499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6.03.14</a:t>
            </a:r>
            <a:endParaRPr 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704C954-7D9C-877F-11AB-BB075E8AB8F0}"/>
              </a:ext>
            </a:extLst>
          </p:cNvPr>
          <p:cNvSpPr/>
          <p:nvPr/>
        </p:nvSpPr>
        <p:spPr>
          <a:xfrm>
            <a:off x="9002513" y="2604120"/>
            <a:ext cx="2268147" cy="3606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 defTabSz="912495" fontAlgn="base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第二阶段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正式上线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2495" fontAlgn="base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试运行结束，上线策略</a:t>
            </a:r>
          </a:p>
        </p:txBody>
      </p:sp>
      <p:sp>
        <p:nvSpPr>
          <p:cNvPr id="22" name="等腰三角形 21">
            <a:extLst>
              <a:ext uri="{FF2B5EF4-FFF2-40B4-BE49-F238E27FC236}">
                <a16:creationId xmlns:a16="http://schemas.microsoft.com/office/drawing/2014/main" id="{54E6F949-4D97-034E-55A2-CC7283D48815}"/>
              </a:ext>
            </a:extLst>
          </p:cNvPr>
          <p:cNvSpPr/>
          <p:nvPr/>
        </p:nvSpPr>
        <p:spPr>
          <a:xfrm rot="5400000">
            <a:off x="9660057" y="3175364"/>
            <a:ext cx="196850" cy="189865"/>
          </a:xfrm>
          <a:prstGeom prst="triangl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B2161FC0-B336-8360-E68A-13DD3C17D096}"/>
              </a:ext>
            </a:extLst>
          </p:cNvPr>
          <p:cNvCxnSpPr/>
          <p:nvPr/>
        </p:nvCxnSpPr>
        <p:spPr>
          <a:xfrm>
            <a:off x="9668947" y="3172189"/>
            <a:ext cx="1905" cy="32448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D0D46846-2EE5-0720-930C-B33549866C7F}"/>
              </a:ext>
            </a:extLst>
          </p:cNvPr>
          <p:cNvSpPr txBox="1"/>
          <p:nvPr/>
        </p:nvSpPr>
        <p:spPr>
          <a:xfrm>
            <a:off x="9002513" y="3756133"/>
            <a:ext cx="1666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待定</a:t>
            </a:r>
            <a:endParaRPr 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BE36530-7CDF-4A35-BBA8-B47364A354F9}"/>
              </a:ext>
            </a:extLst>
          </p:cNvPr>
          <p:cNvSpPr/>
          <p:nvPr/>
        </p:nvSpPr>
        <p:spPr>
          <a:xfrm>
            <a:off x="707232" y="5091339"/>
            <a:ext cx="4866572" cy="3606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 defTabSz="912495" fontAlgn="base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上线整体策略要点：试运行、主数据收集、流程配置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835393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17AC25-BAF5-21BA-5CB8-903DB3FA7591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400" dirty="0">
                <a:latin typeface="微软雅黑" panose="020B0503020204020204" pitchFamily="34" charset="-122"/>
              </a:rPr>
              <a:t>上线计划事项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C02A6FF-D485-A040-68F0-D52B3219A9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0740569"/>
              </p:ext>
            </p:extLst>
          </p:nvPr>
        </p:nvGraphicFramePr>
        <p:xfrm>
          <a:off x="272235" y="699713"/>
          <a:ext cx="11461364" cy="578676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78177">
                  <a:extLst>
                    <a:ext uri="{9D8B030D-6E8A-4147-A177-3AD203B41FA5}">
                      <a16:colId xmlns:a16="http://schemas.microsoft.com/office/drawing/2014/main" val="2451268298"/>
                    </a:ext>
                  </a:extLst>
                </a:gridCol>
                <a:gridCol w="4852505">
                  <a:extLst>
                    <a:ext uri="{9D8B030D-6E8A-4147-A177-3AD203B41FA5}">
                      <a16:colId xmlns:a16="http://schemas.microsoft.com/office/drawing/2014/main" val="97191196"/>
                    </a:ext>
                  </a:extLst>
                </a:gridCol>
                <a:gridCol w="2865341">
                  <a:extLst>
                    <a:ext uri="{9D8B030D-6E8A-4147-A177-3AD203B41FA5}">
                      <a16:colId xmlns:a16="http://schemas.microsoft.com/office/drawing/2014/main" val="3905388736"/>
                    </a:ext>
                  </a:extLst>
                </a:gridCol>
                <a:gridCol w="2865341">
                  <a:extLst>
                    <a:ext uri="{9D8B030D-6E8A-4147-A177-3AD203B41FA5}">
                      <a16:colId xmlns:a16="http://schemas.microsoft.com/office/drawing/2014/main" val="3094691455"/>
                    </a:ext>
                  </a:extLst>
                </a:gridCol>
              </a:tblGrid>
              <a:tr h="419955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序号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具体事项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责任人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备注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127461"/>
                  </a:ext>
                </a:extLst>
              </a:tr>
              <a:tr h="419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试运行（为期一周）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罗梓亮、张贵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系统演示、账号开通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248513"/>
                  </a:ext>
                </a:extLst>
              </a:tr>
              <a:tr h="419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正式环节部署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刘露、欧春辉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6071785"/>
                  </a:ext>
                </a:extLst>
              </a:tr>
              <a:tr h="419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飞书应用权限</a:t>
                      </a:r>
                      <a:r>
                        <a:rPr lang="en-US" altLang="zh-CN" dirty="0"/>
                        <a:t>API</a:t>
                      </a:r>
                      <a:r>
                        <a:rPr lang="zh-CN" altLang="en-US" dirty="0"/>
                        <a:t>审批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皮总协调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昕彤赋能飞书管理员审批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7225926"/>
                  </a:ext>
                </a:extLst>
              </a:tr>
              <a:tr h="65435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主数据收集核对</a:t>
                      </a:r>
                      <a:r>
                        <a:rPr lang="zh-CN" altLang="en-US" sz="14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（参照飞书收集表）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皮总、实施人员、张贵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下拉字段选项、确定的项目类型、项目计划模板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185319"/>
                  </a:ext>
                </a:extLst>
              </a:tr>
              <a:tr h="65435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主数据配置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罗梓亮、张贵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523392"/>
                  </a:ext>
                </a:extLst>
              </a:tr>
              <a:tr h="46004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流程收集核对</a:t>
                      </a:r>
                      <a:r>
                        <a:rPr lang="zh-CN" altLang="en-US" sz="1400" kern="120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（参照飞书收集表）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皮总、实施人员、欧春辉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项目立项审批、项目计划审批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575717"/>
                  </a:ext>
                </a:extLst>
              </a:tr>
              <a:tr h="458046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流程配置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欧春辉、罗梓亮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166920"/>
                  </a:ext>
                </a:extLst>
              </a:tr>
              <a:tr h="46004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用户账号权限收集核对</a:t>
                      </a:r>
                      <a:r>
                        <a:rPr lang="zh-CN" altLang="en-US" sz="1400" kern="120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（参照飞书收集表）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皮总、实施人员、张贵</a:t>
                      </a:r>
                    </a:p>
                    <a:p>
                      <a:pPr algn="l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2248641"/>
                  </a:ext>
                </a:extLst>
              </a:tr>
              <a:tr h="460047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用户账号配置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罗梓亮、张贵</a:t>
                      </a:r>
                    </a:p>
                    <a:p>
                      <a:pPr algn="l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882698"/>
                  </a:ext>
                </a:extLst>
              </a:tr>
              <a:tr h="41995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正式运行（实时跟踪）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5778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0987988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364638-4F11-6B88-816D-1563DA0A5373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400" dirty="0">
                <a:latin typeface="微软雅黑" panose="020B0503020204020204" pitchFamily="34" charset="-122"/>
              </a:rPr>
              <a:t>需求管理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87F0668-529A-1946-1898-745CC181F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031" y="886182"/>
            <a:ext cx="10283687" cy="5600028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6152929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矩形 64">
            <a:extLst>
              <a:ext uri="{FF2B5EF4-FFF2-40B4-BE49-F238E27FC236}">
                <a16:creationId xmlns:a16="http://schemas.microsoft.com/office/drawing/2014/main" id="{4C392654-CF77-5703-D500-934E62BEB32C}"/>
              </a:ext>
            </a:extLst>
          </p:cNvPr>
          <p:cNvSpPr/>
          <p:nvPr/>
        </p:nvSpPr>
        <p:spPr>
          <a:xfrm>
            <a:off x="232348" y="2300992"/>
            <a:ext cx="9218946" cy="4472031"/>
          </a:xfrm>
          <a:prstGeom prst="rect">
            <a:avLst/>
          </a:prstGeom>
          <a:solidFill>
            <a:srgbClr val="FFC00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EA615F2-5F5F-1C50-AE42-F3F58259A57B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400" dirty="0">
                <a:latin typeface="微软雅黑" panose="020B0503020204020204" pitchFamily="34" charset="-122"/>
              </a:rPr>
              <a:t>智能体</a:t>
            </a:r>
            <a:r>
              <a:rPr lang="en-US" altLang="zh-CN" sz="2400" dirty="0">
                <a:latin typeface="微软雅黑" panose="020B0503020204020204" pitchFamily="34" charset="-122"/>
              </a:rPr>
              <a:t>AI-OS</a:t>
            </a:r>
            <a:r>
              <a:rPr lang="zh-CN" altLang="en-US" sz="2400" dirty="0">
                <a:latin typeface="微软雅黑" panose="020B0503020204020204" pitchFamily="34" charset="-122"/>
              </a:rPr>
              <a:t>业务流程现状梳理</a:t>
            </a:r>
          </a:p>
        </p:txBody>
      </p:sp>
      <p:sp>
        <p:nvSpPr>
          <p:cNvPr id="3" name="Rounded Rectangle 113">
            <a:extLst>
              <a:ext uri="{FF2B5EF4-FFF2-40B4-BE49-F238E27FC236}">
                <a16:creationId xmlns:a16="http://schemas.microsoft.com/office/drawing/2014/main" id="{9358A14A-960C-6A41-5BF7-FD7A7BA4086A}"/>
              </a:ext>
            </a:extLst>
          </p:cNvPr>
          <p:cNvSpPr/>
          <p:nvPr/>
        </p:nvSpPr>
        <p:spPr bwMode="auto">
          <a:xfrm>
            <a:off x="599369" y="1265452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意向</a:t>
            </a:r>
          </a:p>
        </p:txBody>
      </p:sp>
      <p:sp>
        <p:nvSpPr>
          <p:cNvPr id="4" name="Rounded Rectangle 113">
            <a:extLst>
              <a:ext uri="{FF2B5EF4-FFF2-40B4-BE49-F238E27FC236}">
                <a16:creationId xmlns:a16="http://schemas.microsoft.com/office/drawing/2014/main" id="{77BDA535-472A-DBA8-FEDB-68934C4D0DC1}"/>
              </a:ext>
            </a:extLst>
          </p:cNvPr>
          <p:cNvSpPr/>
          <p:nvPr/>
        </p:nvSpPr>
        <p:spPr bwMode="auto">
          <a:xfrm>
            <a:off x="3764693" y="1265452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初步对接</a:t>
            </a:r>
          </a:p>
        </p:txBody>
      </p:sp>
      <p:sp>
        <p:nvSpPr>
          <p:cNvPr id="5" name="Rounded Rectangle 113">
            <a:extLst>
              <a:ext uri="{FF2B5EF4-FFF2-40B4-BE49-F238E27FC236}">
                <a16:creationId xmlns:a16="http://schemas.microsoft.com/office/drawing/2014/main" id="{C1E6AE11-9EF9-F76A-360B-9BC472FBF7A6}"/>
              </a:ext>
            </a:extLst>
          </p:cNvPr>
          <p:cNvSpPr/>
          <p:nvPr/>
        </p:nvSpPr>
        <p:spPr bwMode="auto">
          <a:xfrm>
            <a:off x="6930017" y="1265452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拟方案</a:t>
            </a:r>
          </a:p>
        </p:txBody>
      </p:sp>
      <p:sp>
        <p:nvSpPr>
          <p:cNvPr id="6" name="Rounded Rectangle 113">
            <a:extLst>
              <a:ext uri="{FF2B5EF4-FFF2-40B4-BE49-F238E27FC236}">
                <a16:creationId xmlns:a16="http://schemas.microsoft.com/office/drawing/2014/main" id="{F0ECAB07-9345-9BD1-F2AD-7F91FA30C062}"/>
              </a:ext>
            </a:extLst>
          </p:cNvPr>
          <p:cNvSpPr/>
          <p:nvPr/>
        </p:nvSpPr>
        <p:spPr bwMode="auto">
          <a:xfrm>
            <a:off x="10095340" y="1265452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方案审核</a:t>
            </a:r>
          </a:p>
        </p:txBody>
      </p:sp>
      <p:sp>
        <p:nvSpPr>
          <p:cNvPr id="7" name="Rounded Rectangle 113">
            <a:extLst>
              <a:ext uri="{FF2B5EF4-FFF2-40B4-BE49-F238E27FC236}">
                <a16:creationId xmlns:a16="http://schemas.microsoft.com/office/drawing/2014/main" id="{4C672871-7425-69C9-55B9-7D70B7B7F5A0}"/>
              </a:ext>
            </a:extLst>
          </p:cNvPr>
          <p:cNvSpPr/>
          <p:nvPr/>
        </p:nvSpPr>
        <p:spPr bwMode="auto">
          <a:xfrm>
            <a:off x="10095340" y="3016391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项目实施通知</a:t>
            </a:r>
          </a:p>
        </p:txBody>
      </p:sp>
      <p:sp>
        <p:nvSpPr>
          <p:cNvPr id="8" name="Rounded Rectangle 113">
            <a:extLst>
              <a:ext uri="{FF2B5EF4-FFF2-40B4-BE49-F238E27FC236}">
                <a16:creationId xmlns:a16="http://schemas.microsoft.com/office/drawing/2014/main" id="{50C2B5F0-7180-942D-1D93-89D91B3BBD7F}"/>
              </a:ext>
            </a:extLst>
          </p:cNvPr>
          <p:cNvSpPr/>
          <p:nvPr/>
        </p:nvSpPr>
        <p:spPr bwMode="auto">
          <a:xfrm>
            <a:off x="6930017" y="3016391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计划部署</a:t>
            </a:r>
          </a:p>
        </p:txBody>
      </p:sp>
      <p:sp>
        <p:nvSpPr>
          <p:cNvPr id="9" name="Rounded Rectangle 113">
            <a:extLst>
              <a:ext uri="{FF2B5EF4-FFF2-40B4-BE49-F238E27FC236}">
                <a16:creationId xmlns:a16="http://schemas.microsoft.com/office/drawing/2014/main" id="{95C5E8B2-FCC3-5322-FCEE-6A7C1D5EF2C0}"/>
              </a:ext>
            </a:extLst>
          </p:cNvPr>
          <p:cNvSpPr/>
          <p:nvPr/>
        </p:nvSpPr>
        <p:spPr bwMode="auto">
          <a:xfrm>
            <a:off x="3764693" y="3016391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部署中</a:t>
            </a:r>
          </a:p>
        </p:txBody>
      </p:sp>
      <p:sp>
        <p:nvSpPr>
          <p:cNvPr id="10" name="Rounded Rectangle 113">
            <a:extLst>
              <a:ext uri="{FF2B5EF4-FFF2-40B4-BE49-F238E27FC236}">
                <a16:creationId xmlns:a16="http://schemas.microsoft.com/office/drawing/2014/main" id="{B4C9E6C6-B4CD-A838-0592-F1FA98CACC33}"/>
              </a:ext>
            </a:extLst>
          </p:cNvPr>
          <p:cNvSpPr/>
          <p:nvPr/>
        </p:nvSpPr>
        <p:spPr bwMode="auto">
          <a:xfrm>
            <a:off x="599369" y="3016391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已部署未控制</a:t>
            </a:r>
          </a:p>
        </p:txBody>
      </p:sp>
      <p:sp>
        <p:nvSpPr>
          <p:cNvPr id="11" name="Rounded Rectangle 113">
            <a:extLst>
              <a:ext uri="{FF2B5EF4-FFF2-40B4-BE49-F238E27FC236}">
                <a16:creationId xmlns:a16="http://schemas.microsoft.com/office/drawing/2014/main" id="{7F550BE6-E682-1AED-66DC-ACC03548080A}"/>
              </a:ext>
            </a:extLst>
          </p:cNvPr>
          <p:cNvSpPr/>
          <p:nvPr/>
        </p:nvSpPr>
        <p:spPr bwMode="auto">
          <a:xfrm>
            <a:off x="599369" y="4767330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已控制</a:t>
            </a:r>
          </a:p>
        </p:txBody>
      </p:sp>
      <p:sp>
        <p:nvSpPr>
          <p:cNvPr id="12" name="Rounded Rectangle 113">
            <a:extLst>
              <a:ext uri="{FF2B5EF4-FFF2-40B4-BE49-F238E27FC236}">
                <a16:creationId xmlns:a16="http://schemas.microsoft.com/office/drawing/2014/main" id="{1E900A83-78AD-5C55-B378-6A7971FAE0E3}"/>
              </a:ext>
            </a:extLst>
          </p:cNvPr>
          <p:cNvSpPr/>
          <p:nvPr/>
        </p:nvSpPr>
        <p:spPr bwMode="auto">
          <a:xfrm>
            <a:off x="3764693" y="5905268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已停用</a:t>
            </a:r>
          </a:p>
        </p:txBody>
      </p:sp>
      <p:sp>
        <p:nvSpPr>
          <p:cNvPr id="13" name="Rounded Rectangle 113">
            <a:extLst>
              <a:ext uri="{FF2B5EF4-FFF2-40B4-BE49-F238E27FC236}">
                <a16:creationId xmlns:a16="http://schemas.microsoft.com/office/drawing/2014/main" id="{65E999DD-C0C4-2752-C9C5-62521CC69025}"/>
              </a:ext>
            </a:extLst>
          </p:cNvPr>
          <p:cNvSpPr/>
          <p:nvPr/>
        </p:nvSpPr>
        <p:spPr bwMode="auto">
          <a:xfrm>
            <a:off x="3764693" y="4767330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已过期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455C85EA-D059-3F4D-4996-73FCA172D85B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2001187" y="1477383"/>
            <a:ext cx="1763506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13D4232B-78FE-3D71-1B63-4E1AC54EAD3A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5166511" y="1477383"/>
            <a:ext cx="1763506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566886BD-E15B-6273-99DE-486A8B172ECF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8331835" y="1477383"/>
            <a:ext cx="1763505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CF63386-2A62-0534-8BF8-2E3C4B2F7D3B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10796249" y="1689314"/>
            <a:ext cx="0" cy="1327077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9BEC1B92-018B-486D-58F6-29EE57243AF8}"/>
              </a:ext>
            </a:extLst>
          </p:cNvPr>
          <p:cNvCxnSpPr>
            <a:stCxn id="7" idx="1"/>
            <a:endCxn id="8" idx="3"/>
          </p:cNvCxnSpPr>
          <p:nvPr/>
        </p:nvCxnSpPr>
        <p:spPr>
          <a:xfrm flipH="1">
            <a:off x="8331835" y="3228322"/>
            <a:ext cx="1763505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0A761939-0607-AAD9-E48A-7EE84CF399F5}"/>
              </a:ext>
            </a:extLst>
          </p:cNvPr>
          <p:cNvCxnSpPr>
            <a:stCxn id="8" idx="1"/>
            <a:endCxn id="9" idx="3"/>
          </p:cNvCxnSpPr>
          <p:nvPr/>
        </p:nvCxnSpPr>
        <p:spPr>
          <a:xfrm flipH="1">
            <a:off x="5166511" y="3228322"/>
            <a:ext cx="1763506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E38F9DAE-49D9-7D0B-B951-92464D83FA2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2001187" y="3228322"/>
            <a:ext cx="1763506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5FFDBFA4-1155-18CD-0D0A-F1A6C5D4CDB6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1300278" y="3440253"/>
            <a:ext cx="0" cy="1327077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连接符: 肘形 32">
            <a:extLst>
              <a:ext uri="{FF2B5EF4-FFF2-40B4-BE49-F238E27FC236}">
                <a16:creationId xmlns:a16="http://schemas.microsoft.com/office/drawing/2014/main" id="{60B20A52-BEF2-9E22-8655-3E5602330631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2001187" y="4979261"/>
            <a:ext cx="1763506" cy="1137938"/>
          </a:xfrm>
          <a:prstGeom prst="bentConnector3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113">
            <a:extLst>
              <a:ext uri="{FF2B5EF4-FFF2-40B4-BE49-F238E27FC236}">
                <a16:creationId xmlns:a16="http://schemas.microsoft.com/office/drawing/2014/main" id="{B97EF0A9-D565-E1A2-5313-AD84AED802C6}"/>
              </a:ext>
            </a:extLst>
          </p:cNvPr>
          <p:cNvSpPr/>
          <p:nvPr/>
        </p:nvSpPr>
        <p:spPr bwMode="auto">
          <a:xfrm>
            <a:off x="6038449" y="4767330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已续费</a:t>
            </a: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F7B3E4E1-4FFE-072A-76D6-D5A06ABE16DE}"/>
              </a:ext>
            </a:extLst>
          </p:cNvPr>
          <p:cNvCxnSpPr>
            <a:cxnSpLocks/>
            <a:stCxn id="13" idx="3"/>
            <a:endCxn id="34" idx="1"/>
          </p:cNvCxnSpPr>
          <p:nvPr/>
        </p:nvCxnSpPr>
        <p:spPr>
          <a:xfrm>
            <a:off x="5166511" y="4979261"/>
            <a:ext cx="871938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113">
            <a:extLst>
              <a:ext uri="{FF2B5EF4-FFF2-40B4-BE49-F238E27FC236}">
                <a16:creationId xmlns:a16="http://schemas.microsoft.com/office/drawing/2014/main" id="{5FEE3B50-EA3E-2408-F3BE-0E4D743F98DB}"/>
              </a:ext>
            </a:extLst>
          </p:cNvPr>
          <p:cNvSpPr/>
          <p:nvPr/>
        </p:nvSpPr>
        <p:spPr bwMode="auto">
          <a:xfrm>
            <a:off x="6038449" y="5905268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启用</a:t>
            </a: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C465EEF5-9DE2-9419-C4EE-8B2CCCFE67AD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>
            <a:off x="2001187" y="4979261"/>
            <a:ext cx="1763506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6A8CBFF0-516E-74B6-0AB3-897FFE41E8AB}"/>
              </a:ext>
            </a:extLst>
          </p:cNvPr>
          <p:cNvCxnSpPr>
            <a:cxnSpLocks/>
            <a:stCxn id="12" idx="3"/>
            <a:endCxn id="37" idx="1"/>
          </p:cNvCxnSpPr>
          <p:nvPr/>
        </p:nvCxnSpPr>
        <p:spPr>
          <a:xfrm>
            <a:off x="5166511" y="6117199"/>
            <a:ext cx="871938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44FF032F-B3A4-F957-4462-EFD36865C3D8}"/>
              </a:ext>
            </a:extLst>
          </p:cNvPr>
          <p:cNvSpPr txBox="1"/>
          <p:nvPr/>
        </p:nvSpPr>
        <p:spPr>
          <a:xfrm>
            <a:off x="704419" y="915022"/>
            <a:ext cx="11917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客户运营中心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EAB2504-CE4F-DCB8-EC35-F1ABBA996855}"/>
              </a:ext>
            </a:extLst>
          </p:cNvPr>
          <p:cNvSpPr txBox="1"/>
          <p:nvPr/>
        </p:nvSpPr>
        <p:spPr>
          <a:xfrm>
            <a:off x="3817159" y="915021"/>
            <a:ext cx="15566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客户</a:t>
            </a:r>
            <a:r>
              <a:rPr lang="en-US" altLang="zh-CN" sz="1200" dirty="0"/>
              <a:t>/</a:t>
            </a:r>
            <a:r>
              <a:rPr lang="zh-CN" altLang="en-US" sz="1200" dirty="0"/>
              <a:t>产品运营中心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387DDEB-E681-5CF1-7729-5052131041C0}"/>
              </a:ext>
            </a:extLst>
          </p:cNvPr>
          <p:cNvSpPr txBox="1"/>
          <p:nvPr/>
        </p:nvSpPr>
        <p:spPr>
          <a:xfrm>
            <a:off x="7069935" y="915021"/>
            <a:ext cx="15566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产品运营中心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37A9EC63-8142-17F1-D370-55092C812ADA}"/>
              </a:ext>
            </a:extLst>
          </p:cNvPr>
          <p:cNvSpPr txBox="1"/>
          <p:nvPr/>
        </p:nvSpPr>
        <p:spPr>
          <a:xfrm>
            <a:off x="9853276" y="917162"/>
            <a:ext cx="18859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钱总、皮总、崔总、陈总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FAC53DC7-35F0-1BDD-2BA5-3CA81F9C6E96}"/>
              </a:ext>
            </a:extLst>
          </p:cNvPr>
          <p:cNvSpPr txBox="1"/>
          <p:nvPr/>
        </p:nvSpPr>
        <p:spPr>
          <a:xfrm>
            <a:off x="9948749" y="3624241"/>
            <a:ext cx="1885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项目实施通知，合同模块暂不上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6C2ED009-AE79-ED90-75B8-9DBA19845058}"/>
              </a:ext>
            </a:extLst>
          </p:cNvPr>
          <p:cNvSpPr txBox="1"/>
          <p:nvPr/>
        </p:nvSpPr>
        <p:spPr>
          <a:xfrm>
            <a:off x="4026168" y="5600525"/>
            <a:ext cx="18859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客户原因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11C4A6EA-F611-83AC-D2DF-68D9DD81F3C8}"/>
              </a:ext>
            </a:extLst>
          </p:cNvPr>
          <p:cNvSpPr txBox="1"/>
          <p:nvPr/>
        </p:nvSpPr>
        <p:spPr>
          <a:xfrm>
            <a:off x="7069935" y="2655179"/>
            <a:ext cx="15566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产品运营中心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A860294E-819B-17FA-1AE7-B04FF4929DD8}"/>
              </a:ext>
            </a:extLst>
          </p:cNvPr>
          <p:cNvSpPr txBox="1"/>
          <p:nvPr/>
        </p:nvSpPr>
        <p:spPr>
          <a:xfrm>
            <a:off x="3872034" y="2655179"/>
            <a:ext cx="15566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产品运营中心</a:t>
            </a:r>
          </a:p>
        </p:txBody>
      </p:sp>
      <p:cxnSp>
        <p:nvCxnSpPr>
          <p:cNvPr id="56" name="连接符: 肘形 55">
            <a:extLst>
              <a:ext uri="{FF2B5EF4-FFF2-40B4-BE49-F238E27FC236}">
                <a16:creationId xmlns:a16="http://schemas.microsoft.com/office/drawing/2014/main" id="{5F5D5C90-D4B4-FCA6-4427-CA945FAF4BE8}"/>
              </a:ext>
            </a:extLst>
          </p:cNvPr>
          <p:cNvCxnSpPr>
            <a:cxnSpLocks/>
            <a:stCxn id="34" idx="0"/>
            <a:endCxn id="11" idx="0"/>
          </p:cNvCxnSpPr>
          <p:nvPr/>
        </p:nvCxnSpPr>
        <p:spPr>
          <a:xfrm rot="16200000" flipV="1">
            <a:off x="4019818" y="2047790"/>
            <a:ext cx="12700" cy="5439080"/>
          </a:xfrm>
          <a:prstGeom prst="bentConnector3">
            <a:avLst>
              <a:gd name="adj1" fmla="val 5577047"/>
            </a:avLst>
          </a:prstGeom>
          <a:ln w="158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连接符: 肘形 58">
            <a:extLst>
              <a:ext uri="{FF2B5EF4-FFF2-40B4-BE49-F238E27FC236}">
                <a16:creationId xmlns:a16="http://schemas.microsoft.com/office/drawing/2014/main" id="{CD1DEB13-AC8A-70A5-45E5-EC9179308FE8}"/>
              </a:ext>
            </a:extLst>
          </p:cNvPr>
          <p:cNvCxnSpPr>
            <a:cxnSpLocks/>
            <a:stCxn id="37" idx="2"/>
            <a:endCxn id="11" idx="2"/>
          </p:cNvCxnSpPr>
          <p:nvPr/>
        </p:nvCxnSpPr>
        <p:spPr>
          <a:xfrm rot="5400000" flipH="1">
            <a:off x="3450849" y="3040621"/>
            <a:ext cx="1137938" cy="5439080"/>
          </a:xfrm>
          <a:prstGeom prst="bentConnector3">
            <a:avLst>
              <a:gd name="adj1" fmla="val -20089"/>
            </a:avLst>
          </a:prstGeom>
          <a:ln w="158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3EF5685C-8F25-B160-080C-8259654728FD}"/>
              </a:ext>
            </a:extLst>
          </p:cNvPr>
          <p:cNvSpPr txBox="1"/>
          <p:nvPr/>
        </p:nvSpPr>
        <p:spPr>
          <a:xfrm>
            <a:off x="6739358" y="4471185"/>
            <a:ext cx="18859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续费合同</a:t>
            </a:r>
          </a:p>
        </p:txBody>
      </p:sp>
      <p:sp>
        <p:nvSpPr>
          <p:cNvPr id="68" name="箭头: 下弧形 67">
            <a:extLst>
              <a:ext uri="{FF2B5EF4-FFF2-40B4-BE49-F238E27FC236}">
                <a16:creationId xmlns:a16="http://schemas.microsoft.com/office/drawing/2014/main" id="{0078FE14-2F9E-0B2F-1344-0711BD97F3E8}"/>
              </a:ext>
            </a:extLst>
          </p:cNvPr>
          <p:cNvSpPr/>
          <p:nvPr/>
        </p:nvSpPr>
        <p:spPr>
          <a:xfrm>
            <a:off x="2885607" y="1596452"/>
            <a:ext cx="3343502" cy="614832"/>
          </a:xfrm>
          <a:prstGeom prst="curvedUpArrow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323CDD21-C4C3-B55E-CAA3-702CFF03A255}"/>
              </a:ext>
            </a:extLst>
          </p:cNvPr>
          <p:cNvSpPr txBox="1"/>
          <p:nvPr/>
        </p:nvSpPr>
        <p:spPr>
          <a:xfrm>
            <a:off x="4124749" y="1899525"/>
            <a:ext cx="15566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调研问卷</a:t>
            </a:r>
          </a:p>
        </p:txBody>
      </p:sp>
    </p:spTree>
    <p:extLst>
      <p:ext uri="{BB962C8B-B14F-4D97-AF65-F5344CB8AC3E}">
        <p14:creationId xmlns:p14="http://schemas.microsoft.com/office/powerpoint/2010/main" val="1170527441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A615F2-5F5F-1C50-AE42-F3F58259A57B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400" dirty="0">
                <a:latin typeface="微软雅黑" panose="020B0503020204020204" pitchFamily="34" charset="-122"/>
              </a:rPr>
              <a:t>项目管理未来业务流</a:t>
            </a:r>
          </a:p>
        </p:txBody>
      </p:sp>
      <p:sp>
        <p:nvSpPr>
          <p:cNvPr id="3" name="Rounded Rectangle 113">
            <a:extLst>
              <a:ext uri="{FF2B5EF4-FFF2-40B4-BE49-F238E27FC236}">
                <a16:creationId xmlns:a16="http://schemas.microsoft.com/office/drawing/2014/main" id="{9358A14A-960C-6A41-5BF7-FD7A7BA4086A}"/>
              </a:ext>
            </a:extLst>
          </p:cNvPr>
          <p:cNvSpPr/>
          <p:nvPr/>
        </p:nvSpPr>
        <p:spPr bwMode="auto">
          <a:xfrm>
            <a:off x="599369" y="1265452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项目需求</a:t>
            </a:r>
          </a:p>
        </p:txBody>
      </p:sp>
      <p:sp>
        <p:nvSpPr>
          <p:cNvPr id="4" name="Rounded Rectangle 113">
            <a:extLst>
              <a:ext uri="{FF2B5EF4-FFF2-40B4-BE49-F238E27FC236}">
                <a16:creationId xmlns:a16="http://schemas.microsoft.com/office/drawing/2014/main" id="{77BDA535-472A-DBA8-FEDB-68934C4D0DC1}"/>
              </a:ext>
            </a:extLst>
          </p:cNvPr>
          <p:cNvSpPr/>
          <p:nvPr/>
        </p:nvSpPr>
        <p:spPr bwMode="auto">
          <a:xfrm>
            <a:off x="3764693" y="1265452"/>
            <a:ext cx="1401818" cy="423862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客户交流</a:t>
            </a:r>
          </a:p>
        </p:txBody>
      </p:sp>
      <p:sp>
        <p:nvSpPr>
          <p:cNvPr id="5" name="Rounded Rectangle 113">
            <a:extLst>
              <a:ext uri="{FF2B5EF4-FFF2-40B4-BE49-F238E27FC236}">
                <a16:creationId xmlns:a16="http://schemas.microsoft.com/office/drawing/2014/main" id="{C1E6AE11-9EF9-F76A-360B-9BC472FBF7A6}"/>
              </a:ext>
            </a:extLst>
          </p:cNvPr>
          <p:cNvSpPr/>
          <p:nvPr/>
        </p:nvSpPr>
        <p:spPr bwMode="auto">
          <a:xfrm>
            <a:off x="6930017" y="1265452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调研问卷</a:t>
            </a:r>
          </a:p>
        </p:txBody>
      </p:sp>
      <p:sp>
        <p:nvSpPr>
          <p:cNvPr id="6" name="Rounded Rectangle 113">
            <a:extLst>
              <a:ext uri="{FF2B5EF4-FFF2-40B4-BE49-F238E27FC236}">
                <a16:creationId xmlns:a16="http://schemas.microsoft.com/office/drawing/2014/main" id="{F0ECAB07-9345-9BD1-F2AD-7F91FA30C062}"/>
              </a:ext>
            </a:extLst>
          </p:cNvPr>
          <p:cNvSpPr/>
          <p:nvPr/>
        </p:nvSpPr>
        <p:spPr bwMode="auto">
          <a:xfrm>
            <a:off x="10095340" y="1265452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项目方案</a:t>
            </a:r>
          </a:p>
        </p:txBody>
      </p:sp>
      <p:sp>
        <p:nvSpPr>
          <p:cNvPr id="7" name="Rounded Rectangle 113">
            <a:extLst>
              <a:ext uri="{FF2B5EF4-FFF2-40B4-BE49-F238E27FC236}">
                <a16:creationId xmlns:a16="http://schemas.microsoft.com/office/drawing/2014/main" id="{4C672871-7425-69C9-55B9-7D70B7B7F5A0}"/>
              </a:ext>
            </a:extLst>
          </p:cNvPr>
          <p:cNvSpPr/>
          <p:nvPr/>
        </p:nvSpPr>
        <p:spPr bwMode="auto">
          <a:xfrm>
            <a:off x="10095340" y="3016391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项目实施通知</a:t>
            </a:r>
          </a:p>
        </p:txBody>
      </p:sp>
      <p:sp>
        <p:nvSpPr>
          <p:cNvPr id="8" name="Rounded Rectangle 113">
            <a:extLst>
              <a:ext uri="{FF2B5EF4-FFF2-40B4-BE49-F238E27FC236}">
                <a16:creationId xmlns:a16="http://schemas.microsoft.com/office/drawing/2014/main" id="{50C2B5F0-7180-942D-1D93-89D91B3BBD7F}"/>
              </a:ext>
            </a:extLst>
          </p:cNvPr>
          <p:cNvSpPr/>
          <p:nvPr/>
        </p:nvSpPr>
        <p:spPr bwMode="auto">
          <a:xfrm>
            <a:off x="6930017" y="3016391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项目立项</a:t>
            </a:r>
          </a:p>
        </p:txBody>
      </p:sp>
      <p:sp>
        <p:nvSpPr>
          <p:cNvPr id="9" name="Rounded Rectangle 113">
            <a:extLst>
              <a:ext uri="{FF2B5EF4-FFF2-40B4-BE49-F238E27FC236}">
                <a16:creationId xmlns:a16="http://schemas.microsoft.com/office/drawing/2014/main" id="{95C5E8B2-FCC3-5322-FCEE-6A7C1D5EF2C0}"/>
              </a:ext>
            </a:extLst>
          </p:cNvPr>
          <p:cNvSpPr/>
          <p:nvPr/>
        </p:nvSpPr>
        <p:spPr bwMode="auto">
          <a:xfrm>
            <a:off x="3764693" y="3016391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项目计划</a:t>
            </a:r>
          </a:p>
        </p:txBody>
      </p:sp>
      <p:sp>
        <p:nvSpPr>
          <p:cNvPr id="10" name="Rounded Rectangle 113">
            <a:extLst>
              <a:ext uri="{FF2B5EF4-FFF2-40B4-BE49-F238E27FC236}">
                <a16:creationId xmlns:a16="http://schemas.microsoft.com/office/drawing/2014/main" id="{B4C9E6C6-B4CD-A838-0592-F1FA98CACC33}"/>
              </a:ext>
            </a:extLst>
          </p:cNvPr>
          <p:cNvSpPr/>
          <p:nvPr/>
        </p:nvSpPr>
        <p:spPr bwMode="auto">
          <a:xfrm>
            <a:off x="599369" y="3016391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项目执行</a:t>
            </a:r>
          </a:p>
        </p:txBody>
      </p:sp>
      <p:sp>
        <p:nvSpPr>
          <p:cNvPr id="11" name="Rounded Rectangle 113">
            <a:extLst>
              <a:ext uri="{FF2B5EF4-FFF2-40B4-BE49-F238E27FC236}">
                <a16:creationId xmlns:a16="http://schemas.microsoft.com/office/drawing/2014/main" id="{7F550BE6-E682-1AED-66DC-ACC03548080A}"/>
              </a:ext>
            </a:extLst>
          </p:cNvPr>
          <p:cNvSpPr/>
          <p:nvPr/>
        </p:nvSpPr>
        <p:spPr bwMode="auto">
          <a:xfrm>
            <a:off x="599369" y="4767330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项目进度汇报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455C85EA-D059-3F4D-4996-73FCA172D85B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2001187" y="1477383"/>
            <a:ext cx="1763506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13D4232B-78FE-3D71-1B63-4E1AC54EAD3A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5166511" y="1477383"/>
            <a:ext cx="1763506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566886BD-E15B-6273-99DE-486A8B172ECF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8331835" y="1477383"/>
            <a:ext cx="1763505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CF63386-2A62-0534-8BF8-2E3C4B2F7D3B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10796249" y="1689314"/>
            <a:ext cx="0" cy="1327077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9BEC1B92-018B-486D-58F6-29EE57243AF8}"/>
              </a:ext>
            </a:extLst>
          </p:cNvPr>
          <p:cNvCxnSpPr>
            <a:stCxn id="7" idx="1"/>
            <a:endCxn id="8" idx="3"/>
          </p:cNvCxnSpPr>
          <p:nvPr/>
        </p:nvCxnSpPr>
        <p:spPr>
          <a:xfrm flipH="1">
            <a:off x="8331835" y="3228322"/>
            <a:ext cx="1763505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0A761939-0607-AAD9-E48A-7EE84CF399F5}"/>
              </a:ext>
            </a:extLst>
          </p:cNvPr>
          <p:cNvCxnSpPr>
            <a:stCxn id="8" idx="1"/>
            <a:endCxn id="9" idx="3"/>
          </p:cNvCxnSpPr>
          <p:nvPr/>
        </p:nvCxnSpPr>
        <p:spPr>
          <a:xfrm flipH="1">
            <a:off x="5166511" y="3228322"/>
            <a:ext cx="1763506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E38F9DAE-49D9-7D0B-B951-92464D83FA2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2001187" y="3228322"/>
            <a:ext cx="1763506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5FFDBFA4-1155-18CD-0D0A-F1A6C5D4CDB6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1300278" y="3440253"/>
            <a:ext cx="0" cy="1327077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113">
            <a:extLst>
              <a:ext uri="{FF2B5EF4-FFF2-40B4-BE49-F238E27FC236}">
                <a16:creationId xmlns:a16="http://schemas.microsoft.com/office/drawing/2014/main" id="{3BFB0110-6966-C626-6875-76E86AF20EB2}"/>
              </a:ext>
            </a:extLst>
          </p:cNvPr>
          <p:cNvSpPr/>
          <p:nvPr/>
        </p:nvSpPr>
        <p:spPr bwMode="auto">
          <a:xfrm>
            <a:off x="3002383" y="4767329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项目完成</a:t>
            </a:r>
          </a:p>
        </p:txBody>
      </p:sp>
      <p:sp>
        <p:nvSpPr>
          <p:cNvPr id="24" name="Rounded Rectangle 113">
            <a:extLst>
              <a:ext uri="{FF2B5EF4-FFF2-40B4-BE49-F238E27FC236}">
                <a16:creationId xmlns:a16="http://schemas.microsoft.com/office/drawing/2014/main" id="{9C4B3071-B9ED-1E5D-F1F4-8162D41BF810}"/>
              </a:ext>
            </a:extLst>
          </p:cNvPr>
          <p:cNvSpPr/>
          <p:nvPr/>
        </p:nvSpPr>
        <p:spPr bwMode="auto">
          <a:xfrm>
            <a:off x="5105108" y="4767329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正式控制</a:t>
            </a:r>
          </a:p>
        </p:txBody>
      </p:sp>
      <p:sp>
        <p:nvSpPr>
          <p:cNvPr id="26" name="Rounded Rectangle 113">
            <a:extLst>
              <a:ext uri="{FF2B5EF4-FFF2-40B4-BE49-F238E27FC236}">
                <a16:creationId xmlns:a16="http://schemas.microsoft.com/office/drawing/2014/main" id="{BB699FEC-E5CD-8EF6-697A-FD1496F8541B}"/>
              </a:ext>
            </a:extLst>
          </p:cNvPr>
          <p:cNvSpPr/>
          <p:nvPr/>
        </p:nvSpPr>
        <p:spPr bwMode="auto">
          <a:xfrm>
            <a:off x="8270432" y="5905268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已停用</a:t>
            </a:r>
          </a:p>
        </p:txBody>
      </p:sp>
      <p:sp>
        <p:nvSpPr>
          <p:cNvPr id="28" name="Rounded Rectangle 113">
            <a:extLst>
              <a:ext uri="{FF2B5EF4-FFF2-40B4-BE49-F238E27FC236}">
                <a16:creationId xmlns:a16="http://schemas.microsoft.com/office/drawing/2014/main" id="{C14DE378-31CF-3527-FFC4-E319F0A6D72F}"/>
              </a:ext>
            </a:extLst>
          </p:cNvPr>
          <p:cNvSpPr/>
          <p:nvPr/>
        </p:nvSpPr>
        <p:spPr bwMode="auto">
          <a:xfrm>
            <a:off x="8270432" y="4767330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已过期</a:t>
            </a:r>
          </a:p>
        </p:txBody>
      </p:sp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12ACE58F-581F-6397-03DE-75A442C91949}"/>
              </a:ext>
            </a:extLst>
          </p:cNvPr>
          <p:cNvCxnSpPr>
            <a:endCxn id="26" idx="1"/>
          </p:cNvCxnSpPr>
          <p:nvPr/>
        </p:nvCxnSpPr>
        <p:spPr>
          <a:xfrm>
            <a:off x="6506926" y="4979261"/>
            <a:ext cx="1763506" cy="1137938"/>
          </a:xfrm>
          <a:prstGeom prst="bentConnector3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113">
            <a:extLst>
              <a:ext uri="{FF2B5EF4-FFF2-40B4-BE49-F238E27FC236}">
                <a16:creationId xmlns:a16="http://schemas.microsoft.com/office/drawing/2014/main" id="{62B2F2B4-9F31-70AE-A3BF-7B1AF530224E}"/>
              </a:ext>
            </a:extLst>
          </p:cNvPr>
          <p:cNvSpPr/>
          <p:nvPr/>
        </p:nvSpPr>
        <p:spPr bwMode="auto">
          <a:xfrm>
            <a:off x="10544188" y="4767330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已续费</a:t>
            </a: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81C0B032-7316-FE6D-9D1A-E9D4C5BA9562}"/>
              </a:ext>
            </a:extLst>
          </p:cNvPr>
          <p:cNvCxnSpPr>
            <a:cxnSpLocks/>
            <a:stCxn id="28" idx="3"/>
            <a:endCxn id="31" idx="1"/>
          </p:cNvCxnSpPr>
          <p:nvPr/>
        </p:nvCxnSpPr>
        <p:spPr>
          <a:xfrm>
            <a:off x="9672250" y="4979261"/>
            <a:ext cx="871938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113">
            <a:extLst>
              <a:ext uri="{FF2B5EF4-FFF2-40B4-BE49-F238E27FC236}">
                <a16:creationId xmlns:a16="http://schemas.microsoft.com/office/drawing/2014/main" id="{584D80DC-5AF6-0B07-07C5-DF3E2870DED5}"/>
              </a:ext>
            </a:extLst>
          </p:cNvPr>
          <p:cNvSpPr/>
          <p:nvPr/>
        </p:nvSpPr>
        <p:spPr bwMode="auto">
          <a:xfrm>
            <a:off x="10544188" y="5905268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启用</a:t>
            </a: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176AC08F-0720-4F57-77F4-3F14BEE92D2F}"/>
              </a:ext>
            </a:extLst>
          </p:cNvPr>
          <p:cNvCxnSpPr>
            <a:endCxn id="28" idx="1"/>
          </p:cNvCxnSpPr>
          <p:nvPr/>
        </p:nvCxnSpPr>
        <p:spPr>
          <a:xfrm>
            <a:off x="6506926" y="4979261"/>
            <a:ext cx="1763506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25EFAC72-2CC4-3104-DB82-E823C4D5E6B1}"/>
              </a:ext>
            </a:extLst>
          </p:cNvPr>
          <p:cNvCxnSpPr>
            <a:cxnSpLocks/>
            <a:stCxn id="26" idx="3"/>
            <a:endCxn id="35" idx="1"/>
          </p:cNvCxnSpPr>
          <p:nvPr/>
        </p:nvCxnSpPr>
        <p:spPr>
          <a:xfrm>
            <a:off x="9672250" y="6117199"/>
            <a:ext cx="871938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51B8F8C5-9B92-2B89-5362-277E50F90554}"/>
              </a:ext>
            </a:extLst>
          </p:cNvPr>
          <p:cNvSpPr txBox="1"/>
          <p:nvPr/>
        </p:nvSpPr>
        <p:spPr>
          <a:xfrm>
            <a:off x="8531907" y="5600525"/>
            <a:ext cx="18859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客户原因</a:t>
            </a:r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4C0A85AA-D17B-68C2-A01C-E9E8CD3DC78C}"/>
              </a:ext>
            </a:extLst>
          </p:cNvPr>
          <p:cNvCxnSpPr>
            <a:cxnSpLocks/>
            <a:stCxn id="11" idx="3"/>
            <a:endCxn id="22" idx="1"/>
          </p:cNvCxnSpPr>
          <p:nvPr/>
        </p:nvCxnSpPr>
        <p:spPr>
          <a:xfrm flipV="1">
            <a:off x="2001187" y="4979260"/>
            <a:ext cx="1001196" cy="1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11413F97-5F96-E66D-1818-05154BC081A5}"/>
              </a:ext>
            </a:extLst>
          </p:cNvPr>
          <p:cNvCxnSpPr>
            <a:cxnSpLocks/>
            <a:stCxn id="22" idx="3"/>
            <a:endCxn id="24" idx="1"/>
          </p:cNvCxnSpPr>
          <p:nvPr/>
        </p:nvCxnSpPr>
        <p:spPr>
          <a:xfrm>
            <a:off x="4404201" y="4979260"/>
            <a:ext cx="700907" cy="0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连接符: 肘形 59">
            <a:extLst>
              <a:ext uri="{FF2B5EF4-FFF2-40B4-BE49-F238E27FC236}">
                <a16:creationId xmlns:a16="http://schemas.microsoft.com/office/drawing/2014/main" id="{3378D5BF-17A1-ED72-D512-360622CE684E}"/>
              </a:ext>
            </a:extLst>
          </p:cNvPr>
          <p:cNvCxnSpPr>
            <a:cxnSpLocks/>
          </p:cNvCxnSpPr>
          <p:nvPr/>
        </p:nvCxnSpPr>
        <p:spPr>
          <a:xfrm rot="16200000" flipV="1">
            <a:off x="8544315" y="2033917"/>
            <a:ext cx="12700" cy="5439080"/>
          </a:xfrm>
          <a:prstGeom prst="bentConnector3">
            <a:avLst>
              <a:gd name="adj1" fmla="val 5577047"/>
            </a:avLst>
          </a:prstGeom>
          <a:ln w="158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连接符: 肘形 60">
            <a:extLst>
              <a:ext uri="{FF2B5EF4-FFF2-40B4-BE49-F238E27FC236}">
                <a16:creationId xmlns:a16="http://schemas.microsoft.com/office/drawing/2014/main" id="{4A4827B4-E79E-10B8-6FB1-BCFD33B98F21}"/>
              </a:ext>
            </a:extLst>
          </p:cNvPr>
          <p:cNvCxnSpPr>
            <a:cxnSpLocks/>
          </p:cNvCxnSpPr>
          <p:nvPr/>
        </p:nvCxnSpPr>
        <p:spPr>
          <a:xfrm rot="5400000" flipH="1">
            <a:off x="7981696" y="3111912"/>
            <a:ext cx="1137938" cy="5439080"/>
          </a:xfrm>
          <a:prstGeom prst="bentConnector3">
            <a:avLst>
              <a:gd name="adj1" fmla="val -20089"/>
            </a:avLst>
          </a:prstGeom>
          <a:ln w="158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1BD64200-839B-4388-E9AE-35F53045F5B4}"/>
              </a:ext>
            </a:extLst>
          </p:cNvPr>
          <p:cNvSpPr txBox="1"/>
          <p:nvPr/>
        </p:nvSpPr>
        <p:spPr>
          <a:xfrm>
            <a:off x="10492783" y="4489947"/>
            <a:ext cx="18859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续费合同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D6200CAE-EFE2-65BA-35F7-A9E6C848F1C6}"/>
              </a:ext>
            </a:extLst>
          </p:cNvPr>
          <p:cNvSpPr/>
          <p:nvPr/>
        </p:nvSpPr>
        <p:spPr>
          <a:xfrm>
            <a:off x="633237" y="999066"/>
            <a:ext cx="763764" cy="26638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审批流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D65DB3D6-B873-C62B-05A8-C287E40505BF}"/>
              </a:ext>
            </a:extLst>
          </p:cNvPr>
          <p:cNvSpPr/>
          <p:nvPr/>
        </p:nvSpPr>
        <p:spPr>
          <a:xfrm>
            <a:off x="10110901" y="999066"/>
            <a:ext cx="763764" cy="26638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审批流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F1F130BB-6A2E-BDB5-1444-BC5E31728279}"/>
              </a:ext>
            </a:extLst>
          </p:cNvPr>
          <p:cNvSpPr/>
          <p:nvPr/>
        </p:nvSpPr>
        <p:spPr>
          <a:xfrm>
            <a:off x="10982968" y="2732363"/>
            <a:ext cx="763764" cy="26638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审批流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B046586D-52BD-4E93-262C-2E8BC34CD71A}"/>
              </a:ext>
            </a:extLst>
          </p:cNvPr>
          <p:cNvSpPr/>
          <p:nvPr/>
        </p:nvSpPr>
        <p:spPr>
          <a:xfrm>
            <a:off x="7547500" y="3467153"/>
            <a:ext cx="763764" cy="26638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审批流</a:t>
            </a:r>
          </a:p>
        </p:txBody>
      </p:sp>
      <p:sp>
        <p:nvSpPr>
          <p:cNvPr id="12" name="Rounded Rectangle 113">
            <a:extLst>
              <a:ext uri="{FF2B5EF4-FFF2-40B4-BE49-F238E27FC236}">
                <a16:creationId xmlns:a16="http://schemas.microsoft.com/office/drawing/2014/main" id="{B144BFCF-A1AC-12B4-33B3-BD665E769A74}"/>
              </a:ext>
            </a:extLst>
          </p:cNvPr>
          <p:cNvSpPr/>
          <p:nvPr/>
        </p:nvSpPr>
        <p:spPr bwMode="auto">
          <a:xfrm>
            <a:off x="6930017" y="2041507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类型定义</a:t>
            </a:r>
          </a:p>
        </p:txBody>
      </p:sp>
      <p:sp>
        <p:nvSpPr>
          <p:cNvPr id="13" name="Rounded Rectangle 113">
            <a:extLst>
              <a:ext uri="{FF2B5EF4-FFF2-40B4-BE49-F238E27FC236}">
                <a16:creationId xmlns:a16="http://schemas.microsoft.com/office/drawing/2014/main" id="{3DBA78D9-804E-E29B-7B75-EAAFFFD06FE6}"/>
              </a:ext>
            </a:extLst>
          </p:cNvPr>
          <p:cNvSpPr/>
          <p:nvPr/>
        </p:nvSpPr>
        <p:spPr bwMode="auto">
          <a:xfrm>
            <a:off x="3775927" y="2054503"/>
            <a:ext cx="1401818" cy="423862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defTabSz="814388" eaLnBrk="0" hangingPunct="0">
              <a:defRPr/>
            </a:pPr>
            <a:r>
              <a:rPr lang="zh-CN" altLang="en-US" sz="16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计划模板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53C96539-EAA9-DC3A-71F7-5D7FBCD88F6D}"/>
              </a:ext>
            </a:extLst>
          </p:cNvPr>
          <p:cNvCxnSpPr>
            <a:cxnSpLocks/>
            <a:stCxn id="12" idx="2"/>
            <a:endCxn id="8" idx="0"/>
          </p:cNvCxnSpPr>
          <p:nvPr/>
        </p:nvCxnSpPr>
        <p:spPr>
          <a:xfrm>
            <a:off x="7630926" y="2465369"/>
            <a:ext cx="0" cy="551022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427B8164-40F8-5B90-CBA6-6DB29F27986C}"/>
              </a:ext>
            </a:extLst>
          </p:cNvPr>
          <p:cNvCxnSpPr>
            <a:cxnSpLocks/>
            <a:stCxn id="13" idx="2"/>
            <a:endCxn id="9" idx="0"/>
          </p:cNvCxnSpPr>
          <p:nvPr/>
        </p:nvCxnSpPr>
        <p:spPr>
          <a:xfrm flipH="1">
            <a:off x="4465602" y="2478365"/>
            <a:ext cx="11234" cy="538026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0379544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7">
            <a:extLst>
              <a:ext uri="{FF2B5EF4-FFF2-40B4-BE49-F238E27FC236}">
                <a16:creationId xmlns:a16="http://schemas.microsoft.com/office/drawing/2014/main" id="{906F0FE4-8E51-0A24-06ED-D2574AB8408B}"/>
              </a:ext>
            </a:extLst>
          </p:cNvPr>
          <p:cNvSpPr txBox="1"/>
          <p:nvPr/>
        </p:nvSpPr>
        <p:spPr>
          <a:xfrm>
            <a:off x="3768532" y="1780098"/>
            <a:ext cx="4634865" cy="1258570"/>
          </a:xfrm>
          <a:prstGeom prst="rect">
            <a:avLst/>
          </a:prstGeom>
          <a:noFill/>
        </p:spPr>
        <p:txBody>
          <a:bodyPr wrap="square" lIns="28925" tIns="14462" rIns="28925" bIns="14462" rtlCol="0">
            <a:spAutoFit/>
          </a:bodyPr>
          <a:lstStyle>
            <a:defPPr>
              <a:defRPr lang="zh-CN"/>
            </a:defPPr>
            <a:lvl1pPr>
              <a:defRPr sz="5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dist"/>
            <a:r>
              <a:rPr lang="zh-CN" altLang="en-US" sz="8000" spc="169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感谢观看</a:t>
            </a:r>
          </a:p>
        </p:txBody>
      </p:sp>
      <p:sp>
        <p:nvSpPr>
          <p:cNvPr id="4" name="TextBox 48">
            <a:extLst>
              <a:ext uri="{FF2B5EF4-FFF2-40B4-BE49-F238E27FC236}">
                <a16:creationId xmlns:a16="http://schemas.microsoft.com/office/drawing/2014/main" id="{9F475AC9-AE9B-6C51-0828-DBD1CD4710B2}"/>
              </a:ext>
            </a:extLst>
          </p:cNvPr>
          <p:cNvSpPr txBox="1"/>
          <p:nvPr/>
        </p:nvSpPr>
        <p:spPr>
          <a:xfrm>
            <a:off x="4457567" y="3609063"/>
            <a:ext cx="3944937" cy="659765"/>
          </a:xfrm>
          <a:prstGeom prst="rect">
            <a:avLst/>
          </a:prstGeom>
          <a:noFill/>
        </p:spPr>
        <p:txBody>
          <a:bodyPr wrap="square" lIns="68571" tIns="34285" rIns="68571" bIns="34285" rtlCol="0">
            <a:sp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地址：湖南省长沙市岳麓区咸嘉湖街道王府井写字楼1306</a:t>
            </a:r>
            <a:endParaRPr lang="en-US" sz="11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0" algn="l">
              <a:lnSpc>
                <a:spcPct val="117000"/>
              </a:lnSpc>
            </a:pP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电话：</a:t>
            </a: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0731-82441008</a:t>
            </a:r>
            <a:endParaRPr lang="en-US" altLang="zh-CN" sz="1100" b="0" i="0" u="none" strike="noStrike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网址：</a:t>
            </a: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https://www.hunmingai.com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</a:t>
            </a:r>
            <a:endParaRPr lang="en-US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pic>
        <p:nvPicPr>
          <p:cNvPr id="5" name="图片 4" descr="C:/Users/HUAWEI/Desktop/扫码_搜索联合传播样式-白色版.png扫码_搜索联合传播样式-白色版">
            <a:extLst>
              <a:ext uri="{FF2B5EF4-FFF2-40B4-BE49-F238E27FC236}">
                <a16:creationId xmlns:a16="http://schemas.microsoft.com/office/drawing/2014/main" id="{BDA1770F-817C-566F-E027-69D4BE3808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" b="21"/>
          <a:stretch>
            <a:fillRect/>
          </a:stretch>
        </p:blipFill>
        <p:spPr>
          <a:xfrm>
            <a:off x="3414577" y="3263390"/>
            <a:ext cx="1006894" cy="1006894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AEB0A00-A713-5771-BA4E-34DA85C0C3C2}"/>
              </a:ext>
            </a:extLst>
          </p:cNvPr>
          <p:cNvSpPr/>
          <p:nvPr/>
        </p:nvSpPr>
        <p:spPr>
          <a:xfrm>
            <a:off x="4457507" y="3271078"/>
            <a:ext cx="474916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昕彤赋能（长沙）人工智能行业应用系统有限公司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B03AC9-A463-C527-9DA1-C2212DFE0994}"/>
              </a:ext>
            </a:extLst>
          </p:cNvPr>
          <p:cNvSpPr/>
          <p:nvPr/>
        </p:nvSpPr>
        <p:spPr>
          <a:xfrm>
            <a:off x="3330794" y="1849243"/>
            <a:ext cx="4954526" cy="7920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500"/>
              </a:lnSpc>
            </a:pP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汉仪书宋二简" panose="0201060000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73394994-c40b-46c8-80ca-5c36dbb6afdc"/>
  <p:tag name="COMMONDATA" val="eyJoZGlkIjoiMjI1ZmQyMTYzOTAwNjg5YzAwODM1NGYzNWEzODcyYj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C000"/>
        </a:solidFill>
      </a:spPr>
      <a:bodyPr rtlCol="0" anchor="ctr"/>
      <a:lstStyle>
        <a:defPPr algn="ctr">
          <a:defRPr sz="1200" b="1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35525</TotalTime>
  <Words>841</Words>
  <Application>Microsoft Office PowerPoint</Application>
  <PresentationFormat>宽屏</PresentationFormat>
  <Paragraphs>239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微软雅黑</vt:lpstr>
      <vt:lpstr>Arial</vt:lpstr>
      <vt:lpstr>Calibri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Administrator</dc:creator>
  <cp:lastModifiedBy>贵 张</cp:lastModifiedBy>
  <cp:revision>1745</cp:revision>
  <cp:lastPrinted>2021-06-16T06:29:00Z</cp:lastPrinted>
  <dcterms:created xsi:type="dcterms:W3CDTF">2019-06-19T02:08:00Z</dcterms:created>
  <dcterms:modified xsi:type="dcterms:W3CDTF">2026-04-09T01:54:55Z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2052-11.1.0.13703</vt:lpwstr>
  </property>
  <property fmtid="{D5CDD505-2E9C-101B-9397-08002B2CF9AE}" pid="3" name="ICV">
    <vt:lpwstr>702A9507C5A14EB0BECAC24DB445FB33</vt:lpwstr>
  </property>
</Properties>
</file>