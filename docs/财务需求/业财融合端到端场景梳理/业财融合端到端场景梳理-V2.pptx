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743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业财融合端到端场景梳理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01D6C"/>
                </a:solidFill>
                <a:latin typeface="Microsoft YaHei"/>
              </a:rPr>
              <a:t>业财融合</a:t>
            </a:r>
          </a:p>
          <a:p>
            <a:pPr algn="l"/>
            <a:r>
              <a:rPr sz="4400" b="1" i="0">
                <a:solidFill>
                  <a:srgbClr val="001D6C"/>
                </a:solidFill>
                <a:latin typeface="Microsoft YaHei"/>
              </a:rPr>
              <a:t>端到端流程再造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62FE"/>
                </a:solidFill>
                <a:latin typeface="Microsoft YaHei"/>
              </a:rPr>
              <a:t>从内部易用、逐步推广到产品化上市</a:t>
            </a:r>
          </a:p>
        </p:txBody>
      </p:sp>
      <p:sp>
        <p:nvSpPr>
          <p:cNvPr id="6" name="Oval 5"/>
          <p:cNvSpPr/>
          <p:nvPr/>
        </p:nvSpPr>
        <p:spPr>
          <a:xfrm>
            <a:off x="7680960" y="1280160"/>
            <a:ext cx="640080" cy="6400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0" y="1965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2B4D"/>
                </a:solidFill>
                <a:latin typeface="Microsoft YaHei"/>
              </a:rPr>
              <a:t>客户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39328" y="1527048"/>
            <a:ext cx="502920" cy="146304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9" name="Oval 8"/>
          <p:cNvSpPr/>
          <p:nvPr/>
        </p:nvSpPr>
        <p:spPr>
          <a:xfrm>
            <a:off x="9052560" y="1280160"/>
            <a:ext cx="640080" cy="6400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965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2B4D"/>
                </a:solidFill>
                <a:latin typeface="Microsoft YaHei"/>
              </a:rPr>
              <a:t>合同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10928" y="1527048"/>
            <a:ext cx="502920" cy="146304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2" name="Oval 11"/>
          <p:cNvSpPr/>
          <p:nvPr/>
        </p:nvSpPr>
        <p:spPr>
          <a:xfrm>
            <a:off x="10424160" y="1280160"/>
            <a:ext cx="640080" cy="6400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965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2B4D"/>
                </a:solidFill>
                <a:latin typeface="Microsoft YaHei"/>
              </a:rPr>
              <a:t>项目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44200" y="1920240"/>
            <a:ext cx="0" cy="320040"/>
          </a:xfrm>
          <a:prstGeom prst="line">
            <a:avLst/>
          </a:prstGeom>
          <a:ln w="1905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10671048" y="2194560"/>
            <a:ext cx="146304" cy="41148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6" name="Oval 15"/>
          <p:cNvSpPr/>
          <p:nvPr/>
        </p:nvSpPr>
        <p:spPr>
          <a:xfrm>
            <a:off x="7680960" y="2651760"/>
            <a:ext cx="640080" cy="6400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3375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2B4D"/>
                </a:solidFill>
                <a:latin typeface="Microsoft YaHei"/>
              </a:rPr>
              <a:t>资金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39328" y="2898648"/>
            <a:ext cx="502920" cy="146304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9052560" y="2651760"/>
            <a:ext cx="640080" cy="6400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375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2B4D"/>
                </a:solidFill>
                <a:latin typeface="Microsoft YaHei"/>
              </a:rPr>
              <a:t>凭证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10928" y="2898648"/>
            <a:ext cx="502920" cy="146304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2" name="Oval 21"/>
          <p:cNvSpPr/>
          <p:nvPr/>
        </p:nvSpPr>
        <p:spPr>
          <a:xfrm>
            <a:off x="10424160" y="2651760"/>
            <a:ext cx="640080" cy="6400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3375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72B4D"/>
                </a:solidFill>
                <a:latin typeface="Microsoft YaHei"/>
              </a:rPr>
              <a:t>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先让员工愿意用，再让流程跑得通，最后形成可复制产品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现状诊断｜流程完整 vs 流程可用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当前最重要的不是流程完整，而是流程可用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初创阶段职责交叉，复杂审批直接降低使用率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194310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业务事项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0116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71800" y="1943100"/>
            <a:ext cx="411480" cy="411480"/>
          </a:xfrm>
          <a:prstGeom prst="ellipse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828800"/>
            <a:ext cx="731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584448" y="2075688"/>
            <a:ext cx="0" cy="146304"/>
          </a:xfrm>
          <a:prstGeom prst="rightArrow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3575304" y="2148840"/>
            <a:ext cx="0" cy="22860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749040" y="1943100"/>
            <a:ext cx="411480" cy="411480"/>
          </a:xfrm>
          <a:prstGeom prst="ellipse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828800"/>
            <a:ext cx="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828800"/>
            <a:ext cx="731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361688" y="2075688"/>
            <a:ext cx="0" cy="146304"/>
          </a:xfrm>
          <a:prstGeom prst="rightArrow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4352544" y="2148840"/>
            <a:ext cx="0" cy="22860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526280" y="1943100"/>
            <a:ext cx="411480" cy="411480"/>
          </a:xfrm>
          <a:prstGeom prst="ellipse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28800"/>
            <a:ext cx="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828800"/>
            <a:ext cx="731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138928" y="2075688"/>
            <a:ext cx="0" cy="146304"/>
          </a:xfrm>
          <a:prstGeom prst="rightArrow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5129784" y="2148840"/>
            <a:ext cx="0" cy="22860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303520" y="1943100"/>
            <a:ext cx="411480" cy="411480"/>
          </a:xfrm>
          <a:prstGeom prst="ellipse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1828800"/>
            <a:ext cx="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1828800"/>
            <a:ext cx="731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916168" y="2075688"/>
            <a:ext cx="0" cy="146304"/>
          </a:xfrm>
          <a:prstGeom prst="rightArrow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5907024" y="2148840"/>
            <a:ext cx="0" cy="228600"/>
          </a:xfrm>
          <a:prstGeom prst="line">
            <a:avLst/>
          </a:prstGeom>
          <a:ln w="127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080760" y="1943100"/>
            <a:ext cx="411480" cy="411480"/>
          </a:xfrm>
          <a:prstGeom prst="ellipse">
            <a:avLst/>
          </a:prstGeom>
          <a:solidFill>
            <a:srgbClr val="5E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828800"/>
            <a:ext cx="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828800"/>
            <a:ext cx="7315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3108960"/>
            <a:ext cx="5029200" cy="457200"/>
          </a:xfrm>
          <a:prstGeom prst="roundRect">
            <a:avLst/>
          </a:prstGeom>
          <a:solidFill>
            <a:srgbClr val="DEE9FE"/>
          </a:solidFill>
          <a:ln w="1905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108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93756"/>
                </a:solidFill>
                <a:latin typeface="Microsoft YaHei"/>
              </a:rPr>
              <a:t>✗ 弃用率高 · 数据断链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852160" y="2286000"/>
            <a:ext cx="731520" cy="45720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5" name="Oval 34"/>
          <p:cNvSpPr/>
          <p:nvPr/>
        </p:nvSpPr>
        <p:spPr>
          <a:xfrm>
            <a:off x="6903720" y="194310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8288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轻流程底座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182880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49640" y="194310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18288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可配置规则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182880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195560" y="194310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18288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分阶段启用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182880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8339327" y="2075688"/>
            <a:ext cx="91440" cy="146304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5" name="Right Arrow 44"/>
          <p:cNvSpPr/>
          <p:nvPr/>
        </p:nvSpPr>
        <p:spPr>
          <a:xfrm>
            <a:off x="9985248" y="2075688"/>
            <a:ext cx="91440" cy="146304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6766560" y="3108960"/>
            <a:ext cx="4846320" cy="457200"/>
          </a:xfrm>
          <a:prstGeom prst="roundRect">
            <a:avLst/>
          </a:prstGeom>
          <a:solidFill>
            <a:srgbClr val="DEE9FE"/>
          </a:solidFill>
          <a:ln w="19050">
            <a:solidFill>
              <a:srgbClr val="16A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3108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6A36A"/>
                </a:solidFill>
                <a:latin typeface="Microsoft YaHei"/>
              </a:rPr>
              <a:t>✓ 数据连续 · 形成闭环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023360"/>
            <a:ext cx="10972800" cy="1554480"/>
          </a:xfrm>
          <a:prstGeom prst="rect">
            <a:avLst/>
          </a:prstGeom>
          <a:solidFill>
            <a:srgbClr val="F4F4F4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1D6C"/>
                </a:solidFill>
                <a:latin typeface="Microsoft YaHei"/>
              </a:rPr>
              <a:t>建议：轻流程底座  +  可配置规则  +  分阶段启用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内部试点的首要目标是减少操作负担，形成真实、连续的数据；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产品化上市需要标准能力，但不代表前期一次性启用全部控制。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完整 ≠ 可用 · 先形成使用习惯，再形成管理规范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全景图｜经营主链 + 三条支撑链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企业经营整体端到端流程图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主链与三条支撑链贯通项目、合同、预算、发票、资金、凭证与经营指标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91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经营主链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1D6C"/>
                </a:solidFill>
                <a:latin typeface="Microsoft YaHei"/>
              </a:rPr>
              <a:t>采购支撑链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1D6C"/>
                </a:solidFill>
                <a:latin typeface="Microsoft YaHei"/>
              </a:rPr>
              <a:t>费用支撑链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1D6C"/>
                </a:solidFill>
                <a:latin typeface="Microsoft YaHei"/>
              </a:rPr>
              <a:t>资产研发支撑链</a:t>
            </a:r>
          </a:p>
        </p:txBody>
      </p:sp>
      <p:sp>
        <p:nvSpPr>
          <p:cNvPr id="10" name="Oval 9"/>
          <p:cNvSpPr/>
          <p:nvPr/>
        </p:nvSpPr>
        <p:spPr>
          <a:xfrm>
            <a:off x="1965960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客户需求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687480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4" name="Oval 13"/>
          <p:cNvSpPr/>
          <p:nvPr/>
        </p:nvSpPr>
        <p:spPr>
          <a:xfrm>
            <a:off x="2884932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7852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合同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7772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3606452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8" name="Oval 17"/>
          <p:cNvSpPr/>
          <p:nvPr/>
        </p:nvSpPr>
        <p:spPr>
          <a:xfrm>
            <a:off x="3803904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项目立项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6744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525424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2" name="Oval 21"/>
          <p:cNvSpPr/>
          <p:nvPr/>
        </p:nvSpPr>
        <p:spPr>
          <a:xfrm>
            <a:off x="4722876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5796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预算计划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85716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5444396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6" name="Oval 25"/>
          <p:cNvSpPr/>
          <p:nvPr/>
        </p:nvSpPr>
        <p:spPr>
          <a:xfrm>
            <a:off x="5641848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资源投入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4688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363368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0" name="Oval 29"/>
          <p:cNvSpPr/>
          <p:nvPr/>
        </p:nvSpPr>
        <p:spPr>
          <a:xfrm>
            <a:off x="6560820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3740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履约交付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3660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282340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4" name="Oval 33"/>
          <p:cNvSpPr/>
          <p:nvPr/>
        </p:nvSpPr>
        <p:spPr>
          <a:xfrm>
            <a:off x="7479792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客户验收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42632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201312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8" name="Oval 37"/>
          <p:cNvSpPr/>
          <p:nvPr/>
        </p:nvSpPr>
        <p:spPr>
          <a:xfrm>
            <a:off x="8398764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01684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结算开票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1604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9120284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2" name="Oval 41"/>
          <p:cNvSpPr/>
          <p:nvPr/>
        </p:nvSpPr>
        <p:spPr>
          <a:xfrm>
            <a:off x="9317736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0656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回款核销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0576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10039256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6" name="Oval 45"/>
          <p:cNvSpPr/>
          <p:nvPr/>
        </p:nvSpPr>
        <p:spPr>
          <a:xfrm>
            <a:off x="10236708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39628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财务关账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99548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10958228" y="1847088"/>
            <a:ext cx="70292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50" name="Oval 49"/>
          <p:cNvSpPr/>
          <p:nvPr/>
        </p:nvSpPr>
        <p:spPr>
          <a:xfrm>
            <a:off x="11155680" y="171450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58600" y="1645920"/>
            <a:ext cx="137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经营分析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18520" y="1645920"/>
            <a:ext cx="8686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965960" y="2377440"/>
            <a:ext cx="411480" cy="411480"/>
          </a:xfrm>
          <a:prstGeom prst="ellipse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23317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采购需求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28800" y="23317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6" name="Right Arrow 55"/>
          <p:cNvSpPr/>
          <p:nvPr/>
        </p:nvSpPr>
        <p:spPr>
          <a:xfrm>
            <a:off x="2735200" y="2514600"/>
            <a:ext cx="2149600" cy="137160"/>
          </a:xfrm>
          <a:prstGeom prst="rightArrow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57" name="Oval 56"/>
          <p:cNvSpPr/>
          <p:nvPr/>
        </p:nvSpPr>
        <p:spPr>
          <a:xfrm>
            <a:off x="5013960" y="2377440"/>
            <a:ext cx="411480" cy="411480"/>
          </a:xfrm>
          <a:prstGeom prst="ellipse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6880" y="23317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采购执行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76800" y="23317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0" name="Right Arrow 59"/>
          <p:cNvSpPr/>
          <p:nvPr/>
        </p:nvSpPr>
        <p:spPr>
          <a:xfrm>
            <a:off x="5783200" y="2514600"/>
            <a:ext cx="2149600" cy="137160"/>
          </a:xfrm>
          <a:prstGeom prst="rightArrow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61" name="Oval 60"/>
          <p:cNvSpPr/>
          <p:nvPr/>
        </p:nvSpPr>
        <p:spPr>
          <a:xfrm>
            <a:off x="8061960" y="2377440"/>
            <a:ext cx="411480" cy="411480"/>
          </a:xfrm>
          <a:prstGeom prst="ellipse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4880" y="23317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验收/进票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24800" y="23317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4" name="Right Arrow 63"/>
          <p:cNvSpPr/>
          <p:nvPr/>
        </p:nvSpPr>
        <p:spPr>
          <a:xfrm>
            <a:off x="8831200" y="2514600"/>
            <a:ext cx="2149600" cy="137160"/>
          </a:xfrm>
          <a:prstGeom prst="rightArrow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65" name="Oval 64"/>
          <p:cNvSpPr/>
          <p:nvPr/>
        </p:nvSpPr>
        <p:spPr>
          <a:xfrm>
            <a:off x="11109960" y="2377440"/>
            <a:ext cx="411480" cy="411480"/>
          </a:xfrm>
          <a:prstGeom prst="ellipse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12880" y="23317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付款/资产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972800" y="23317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4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965960" y="329184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32461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事前申请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28800" y="32461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1" name="Right Arrow 70"/>
          <p:cNvSpPr/>
          <p:nvPr/>
        </p:nvSpPr>
        <p:spPr>
          <a:xfrm>
            <a:off x="2735200" y="3429000"/>
            <a:ext cx="214960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72" name="Oval 71"/>
          <p:cNvSpPr/>
          <p:nvPr/>
        </p:nvSpPr>
        <p:spPr>
          <a:xfrm>
            <a:off x="5013960" y="329184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16880" y="32461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票据验真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876800" y="32461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5" name="Right Arrow 74"/>
          <p:cNvSpPr/>
          <p:nvPr/>
        </p:nvSpPr>
        <p:spPr>
          <a:xfrm>
            <a:off x="5783200" y="3429000"/>
            <a:ext cx="214960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76" name="Oval 75"/>
          <p:cNvSpPr/>
          <p:nvPr/>
        </p:nvSpPr>
        <p:spPr>
          <a:xfrm>
            <a:off x="8061960" y="329184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64880" y="32461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报销付款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24800" y="32461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9" name="Right Arrow 78"/>
          <p:cNvSpPr/>
          <p:nvPr/>
        </p:nvSpPr>
        <p:spPr>
          <a:xfrm>
            <a:off x="8831200" y="3429000"/>
            <a:ext cx="214960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80" name="Oval 79"/>
          <p:cNvSpPr/>
          <p:nvPr/>
        </p:nvSpPr>
        <p:spPr>
          <a:xfrm>
            <a:off x="11109960" y="329184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612880" y="32461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费用入账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972800" y="32461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965960" y="4206240"/>
            <a:ext cx="411480" cy="411480"/>
          </a:xfrm>
          <a:prstGeom prst="ellipse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68880" y="41605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到货入库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28800" y="41605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5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6" name="Right Arrow 85"/>
          <p:cNvSpPr/>
          <p:nvPr/>
        </p:nvSpPr>
        <p:spPr>
          <a:xfrm>
            <a:off x="2735200" y="4343400"/>
            <a:ext cx="2149600" cy="137160"/>
          </a:xfrm>
          <a:prstGeom prst="rightArrow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87" name="Oval 86"/>
          <p:cNvSpPr/>
          <p:nvPr/>
        </p:nvSpPr>
        <p:spPr>
          <a:xfrm>
            <a:off x="5013960" y="4206240"/>
            <a:ext cx="411480" cy="411480"/>
          </a:xfrm>
          <a:prstGeom prst="ellipse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16880" y="41605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资产卡片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876800" y="41605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5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90" name="Right Arrow 89"/>
          <p:cNvSpPr/>
          <p:nvPr/>
        </p:nvSpPr>
        <p:spPr>
          <a:xfrm>
            <a:off x="5783200" y="4343400"/>
            <a:ext cx="2149600" cy="137160"/>
          </a:xfrm>
          <a:prstGeom prst="rightArrow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91" name="Oval 90"/>
          <p:cNvSpPr/>
          <p:nvPr/>
        </p:nvSpPr>
        <p:spPr>
          <a:xfrm>
            <a:off x="8061960" y="4206240"/>
            <a:ext cx="411480" cy="411480"/>
          </a:xfrm>
          <a:prstGeom prst="ellipse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64880" y="41605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折旧分摊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924800" y="41605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5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94" name="Right Arrow 93"/>
          <p:cNvSpPr/>
          <p:nvPr/>
        </p:nvSpPr>
        <p:spPr>
          <a:xfrm>
            <a:off x="8831200" y="4343400"/>
            <a:ext cx="2149600" cy="137160"/>
          </a:xfrm>
          <a:prstGeom prst="rightArrow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95" name="Oval 94"/>
          <p:cNvSpPr/>
          <p:nvPr/>
        </p:nvSpPr>
        <p:spPr>
          <a:xfrm>
            <a:off x="11109960" y="4206240"/>
            <a:ext cx="411480" cy="411480"/>
          </a:xfrm>
          <a:prstGeom prst="ellipse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2880" y="4160520"/>
            <a:ext cx="182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项目成本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972800" y="4160520"/>
            <a:ext cx="9144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5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2286000" y="2194560"/>
            <a:ext cx="0" cy="54864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297680" y="2194560"/>
            <a:ext cx="0" cy="54864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675120" y="2194560"/>
            <a:ext cx="0" cy="54864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961120" y="2194560"/>
            <a:ext cx="0" cy="54864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502920" y="4937760"/>
            <a:ext cx="11183112" cy="45720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493776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数据主线：客户 · 项目 · 合同 · 预算 · 发票 · 资金 · 凭证 · 指标（双向穿透）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40080" y="5532120"/>
            <a:ext cx="320040" cy="0"/>
          </a:xfrm>
          <a:prstGeom prst="line">
            <a:avLst/>
          </a:prstGeom>
          <a:ln w="3175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51560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业务流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3429000" y="5532120"/>
            <a:ext cx="320040" cy="0"/>
          </a:xfrm>
          <a:prstGeom prst="line">
            <a:avLst/>
          </a:prstGeom>
          <a:ln w="317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3840480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实物流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217920" y="5532120"/>
            <a:ext cx="32004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29400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票据流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006839" y="5532120"/>
            <a:ext cx="320040" cy="0"/>
          </a:xfrm>
          <a:prstGeom prst="line">
            <a:avLst/>
          </a:prstGeom>
          <a:ln w="31750">
            <a:solidFill>
              <a:srgbClr val="16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418319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资金流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主链创造价值 · 支撑链投入资源 · 数据主线贯通业财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流程优化总原则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默认最短路径，风险触发加严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80% 标准业务直达 · 20% 风险业务加严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业务事项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1554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2011680"/>
            <a:ext cx="1691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90672" y="1874519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317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D6C"/>
                </a:solidFill>
                <a:latin typeface="Microsoft YaHei"/>
              </a:rPr>
              <a:t>必须保留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合同、资金、税务、</a:t>
            </a:r>
          </a:p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收入确认、资产处置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011680"/>
            <a:ext cx="1691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46904" y="1874519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3317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D6C"/>
                </a:solidFill>
                <a:latin typeface="Microsoft YaHei"/>
              </a:rPr>
              <a:t>合并处理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7432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同一事项只录入一次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2011680"/>
            <a:ext cx="1691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03136" y="1874519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3317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D6C"/>
                </a:solidFill>
                <a:latin typeface="Microsoft YaHei"/>
              </a:rPr>
              <a:t>条件触发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7432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按金额、预算与风险启用</a:t>
            </a:r>
          </a:p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会审及多级审批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2011680"/>
            <a:ext cx="1691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59368" y="1874519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23317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D6C"/>
                </a:solidFill>
                <a:latin typeface="Microsoft YaHei"/>
              </a:rPr>
              <a:t>系统自动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27432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主数据、项目编码、预算余额、</a:t>
            </a:r>
          </a:p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上下游字段自动继承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02368" y="2011680"/>
            <a:ext cx="1691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1874519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3317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01D6C"/>
                </a:solidFill>
                <a:latin typeface="Microsoft YaHei"/>
              </a:rPr>
              <a:t>异常闭环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743200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仅超预算、无票、逾期、差异</a:t>
            </a:r>
          </a:p>
          <a:p>
            <a:pPr algn="ctr"/>
            <a:r>
              <a:rPr sz="1000" b="0" i="0">
                <a:solidFill>
                  <a:srgbClr val="172B4D"/>
                </a:solidFill>
                <a:latin typeface="Microsoft YaHei"/>
              </a:rPr>
              <a:t>进入专项流程</a:t>
            </a:r>
          </a:p>
        </p:txBody>
      </p:sp>
      <p:sp>
        <p:nvSpPr>
          <p:cNvPr id="29" name="Oval 28"/>
          <p:cNvSpPr/>
          <p:nvPr/>
        </p:nvSpPr>
        <p:spPr>
          <a:xfrm>
            <a:off x="9646920" y="2011680"/>
            <a:ext cx="2103120" cy="96012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80%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标准业务｜短路径直达</a:t>
            </a:r>
          </a:p>
        </p:txBody>
      </p:sp>
      <p:sp>
        <p:nvSpPr>
          <p:cNvPr id="30" name="Oval 29"/>
          <p:cNvSpPr/>
          <p:nvPr/>
        </p:nvSpPr>
        <p:spPr>
          <a:xfrm>
            <a:off x="9646920" y="3291840"/>
            <a:ext cx="2103120" cy="96012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20%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Microsoft YaHei"/>
              </a:rPr>
              <a:t>风险业务｜规则加严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40280" y="3749039.0"/>
            <a:ext cx="137160" cy="0.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40280" y="3749038.95"/>
            <a:ext cx="137160" cy="0.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40280" y="3749038.9"/>
            <a:ext cx="137160" cy="0.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40280" y="3749038.85"/>
            <a:ext cx="137160" cy="0.0"/>
          </a:xfrm>
          <a:prstGeom prst="line">
            <a:avLst/>
          </a:prstGeom>
          <a:ln w="127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ight Arrow 34"/>
          <p:cNvSpPr/>
          <p:nvPr/>
        </p:nvSpPr>
        <p:spPr>
          <a:xfrm>
            <a:off x="2240280" y="3520440"/>
            <a:ext cx="2286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让控制发生在风险点，而不是增加所有人的操作负担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能力演进路线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一套能力，三种启用深度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同一能力底座 · 通过配置开关分阶段启用 · 不是三套系统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02920" y="2103120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148840"/>
            <a:ext cx="91440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2148840"/>
            <a:ext cx="91440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易用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1D6C"/>
                </a:solidFill>
                <a:latin typeface="Microsoft YaHei"/>
              </a:rPr>
              <a:t>内部试用版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能力范围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合同、收付款、报销、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项目、基础核算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管理目标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审批尽量单级；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目标是有人用、数据不断链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-501674312880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-501674267160"/>
            <a:ext cx="91440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7560" y="-501674267160"/>
            <a:ext cx="91440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规范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-501674038560"/>
            <a:ext cx="3566160" cy="2743200"/>
          </a:xfrm>
          <a:prstGeom prst="rect">
            <a:avLst/>
          </a:prstGeom>
          <a:solidFill>
            <a:srgbClr val="E8F1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-501673992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1D6C"/>
                </a:solidFill>
                <a:latin typeface="Microsoft YaHei"/>
              </a:rPr>
              <a:t>标准推广版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-501673489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能力范围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-5016732613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预算、采购比价、验收、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库存、应收应付、自动凭证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-501672346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管理目标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-5016721183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业财一致；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减少线下表格</a:t>
            </a:r>
          </a:p>
        </p:txBody>
      </p:sp>
      <p:sp>
        <p:nvSpPr>
          <p:cNvPr id="24" name="Oval 23"/>
          <p:cNvSpPr/>
          <p:nvPr/>
        </p:nvSpPr>
        <p:spPr>
          <a:xfrm>
            <a:off x="1234440" y="-1003350728880"/>
            <a:ext cx="548640" cy="5486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-1003350683160"/>
            <a:ext cx="91440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03320" y="-1003350683160"/>
            <a:ext cx="914400" cy="457200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可审计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-1003350454560"/>
            <a:ext cx="3566160" cy="2743200"/>
          </a:xfrm>
          <a:prstGeom prst="rect">
            <a:avLst/>
          </a:prstGeom>
          <a:solidFill>
            <a:srgbClr val="DEE9FE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-1003350408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1D6C"/>
                </a:solidFill>
                <a:latin typeface="Microsoft YaHei"/>
              </a:rPr>
              <a:t>产品上市版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-1003349905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能力范围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-10033496773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多组织、规则配置、权限隔离、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审计、经营分析、行业模板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-1003348762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管理目标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-10033485343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可配置、可审计、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可规模化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能力一次建设，通过配置开关在不同阶段启用不同深度，而不是建设三套系统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主场景｜Lead-to-Cash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客户需求到项目回款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项目编码贯穿客户、销售、项目、财务四角色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客户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148840"/>
            <a:ext cx="11183112" cy="0"/>
          </a:xfrm>
          <a:prstGeom prst="line">
            <a:avLst/>
          </a:prstGeom>
          <a:ln w="6350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销售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2788920"/>
            <a:ext cx="11183112" cy="0"/>
          </a:xfrm>
          <a:prstGeom prst="line">
            <a:avLst/>
          </a:prstGeom>
          <a:ln w="6350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2920" y="2971800"/>
            <a:ext cx="457200" cy="45720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项目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3429000"/>
            <a:ext cx="11183112" cy="0"/>
          </a:xfrm>
          <a:prstGeom prst="line">
            <a:avLst/>
          </a:prstGeom>
          <a:ln w="6350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2920" y="3611879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11879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财务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4069079"/>
            <a:ext cx="11183112" cy="0"/>
          </a:xfrm>
          <a:prstGeom prst="line">
            <a:avLst/>
          </a:prstGeom>
          <a:ln w="6350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468880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客户需求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3283840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2" name="Oval 21"/>
          <p:cNvSpPr/>
          <p:nvPr/>
        </p:nvSpPr>
        <p:spPr>
          <a:xfrm>
            <a:off x="3491865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4785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合同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4705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4306825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6" name="Oval 25"/>
          <p:cNvSpPr/>
          <p:nvPr/>
        </p:nvSpPr>
        <p:spPr>
          <a:xfrm>
            <a:off x="4514850" y="29260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7770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项目立项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7690" y="2880360"/>
            <a:ext cx="960120" cy="502920"/>
          </a:xfrm>
          <a:prstGeom prst="roundRect">
            <a:avLst/>
          </a:prstGeom>
          <a:solidFill>
            <a:srgbClr val="0F62FE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5329810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0" name="Oval 29"/>
          <p:cNvSpPr/>
          <p:nvPr/>
        </p:nvSpPr>
        <p:spPr>
          <a:xfrm>
            <a:off x="5537835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0755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计划预算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675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352795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4" name="Oval 33"/>
          <p:cNvSpPr/>
          <p:nvPr/>
        </p:nvSpPr>
        <p:spPr>
          <a:xfrm>
            <a:off x="6560820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3740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履约交付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3660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7375780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8" name="Oval 37"/>
          <p:cNvSpPr/>
          <p:nvPr/>
        </p:nvSpPr>
        <p:spPr>
          <a:xfrm>
            <a:off x="7583805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6725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客户验收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645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8398765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2" name="Oval 41"/>
          <p:cNvSpPr/>
          <p:nvPr/>
        </p:nvSpPr>
        <p:spPr>
          <a:xfrm>
            <a:off x="8606790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09710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结算开票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69630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9421750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6" name="Oval 45"/>
          <p:cNvSpPr/>
          <p:nvPr/>
        </p:nvSpPr>
        <p:spPr>
          <a:xfrm>
            <a:off x="9629775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32695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应收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92615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10444735" y="3072384"/>
            <a:ext cx="78865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50" name="Oval 49"/>
          <p:cNvSpPr/>
          <p:nvPr/>
        </p:nvSpPr>
        <p:spPr>
          <a:xfrm>
            <a:off x="10652760" y="2926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2880360"/>
            <a:ext cx="228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172B4D"/>
                </a:solidFill>
                <a:latin typeface="Microsoft YaHei"/>
              </a:rPr>
              <a:t>回款核销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0" y="2880360"/>
            <a:ext cx="960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352044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520440"/>
            <a:ext cx="111831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项目编码  同一项目编码贯穿客户、销售、项目、财务；确保数据一致、可分析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206240"/>
            <a:ext cx="5532120" cy="1463040"/>
          </a:xfrm>
          <a:prstGeom prst="roundRect">
            <a:avLst/>
          </a:prstGeom>
          <a:solidFill>
            <a:srgbClr val="E8F1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251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简化条件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5720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合同/订单/项目同源一次录入；标准小项目允许合同即立项；交付里程碑触发验收、结算、开票与应收建议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4206240"/>
            <a:ext cx="5532120" cy="1463040"/>
          </a:xfrm>
          <a:prstGeom prst="roundRect">
            <a:avLst/>
          </a:prstGeom>
          <a:solidFill>
            <a:srgbClr val="DEE9FE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4251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Microsoft YaHei"/>
              </a:rPr>
              <a:t>加严条件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457200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非标条款 · 超信用额度 · 重大变更 · 质保金 · 跨期履约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项目编码作为唯一主线，贯通客户、销售、项目、财务四角色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主场景｜Procure-to-Pay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采购到付款及资源投入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标准短路径直达 · 金额阈值触发加严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91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默认最短路径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9D9A"/>
                </a:solidFill>
                <a:latin typeface="Microsoft YaHei"/>
              </a:rPr>
              <a:t>风险触发加严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采购需求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140840" y="2395728"/>
            <a:ext cx="922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2" name="Oval 11"/>
          <p:cNvSpPr/>
          <p:nvPr/>
        </p:nvSpPr>
        <p:spPr>
          <a:xfrm>
            <a:off x="23622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51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预算校验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250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588640" y="2395728"/>
            <a:ext cx="922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6" name="Oval 15"/>
          <p:cNvSpPr/>
          <p:nvPr/>
        </p:nvSpPr>
        <p:spPr>
          <a:xfrm>
            <a:off x="38100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29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采购执行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28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036440" y="2395728"/>
            <a:ext cx="922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0" name="Oval 19"/>
          <p:cNvSpPr/>
          <p:nvPr/>
        </p:nvSpPr>
        <p:spPr>
          <a:xfrm>
            <a:off x="52578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验收/完工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484240" y="2395728"/>
            <a:ext cx="922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4" name="Oval 23"/>
          <p:cNvSpPr/>
          <p:nvPr/>
        </p:nvSpPr>
        <p:spPr>
          <a:xfrm>
            <a:off x="67056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85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发票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684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932040" y="2395728"/>
            <a:ext cx="922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8" name="Oval 27"/>
          <p:cNvSpPr/>
          <p:nvPr/>
        </p:nvSpPr>
        <p:spPr>
          <a:xfrm>
            <a:off x="81534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63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付款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62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379840" y="2395728"/>
            <a:ext cx="9220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2" name="Oval 31"/>
          <p:cNvSpPr/>
          <p:nvPr/>
        </p:nvSpPr>
        <p:spPr>
          <a:xfrm>
            <a:off x="9601200" y="22402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057400"/>
            <a:ext cx="640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成本/资产归集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2057400"/>
            <a:ext cx="13716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358640.0" y="2880360"/>
            <a:ext cx="0.0" cy="73152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54240.0" y="2880360"/>
            <a:ext cx="0.0" cy="73152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965960" y="38404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6576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金额 ≥ 阈值：</a:t>
            </a:r>
          </a:p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多家比价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36576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92040" y="38404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6576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非标合同：</a:t>
            </a:r>
          </a:p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法务会审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36576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18120" y="38404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657600"/>
            <a:ext cx="1097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大额/异常：</a:t>
            </a:r>
          </a:p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多级审批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3657600"/>
            <a:ext cx="18288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692640.0" y="4434840"/>
            <a:ext cx="457200.0" cy="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149840.0" y="2880360"/>
            <a:ext cx="0.0" cy="155448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Arrow 47"/>
          <p:cNvSpPr/>
          <p:nvPr/>
        </p:nvSpPr>
        <p:spPr>
          <a:xfrm>
            <a:off x="10058400" y="2788920"/>
            <a:ext cx="182880" cy="9144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02920" y="4754880"/>
            <a:ext cx="6400800" cy="1097280"/>
          </a:xfrm>
          <a:prstGeom prst="rect">
            <a:avLst/>
          </a:prstGeom>
          <a:solidFill>
            <a:srgbClr val="F4F4F4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8006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低金额采购：合并请购、订单和报销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120640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服务采购：以完工确认替代入库；项目、预算、供应商、税率、付款信息自动继承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4754880"/>
            <a:ext cx="4617720" cy="1097280"/>
          </a:xfrm>
          <a:prstGeom prst="rect">
            <a:avLst/>
          </a:prstGeom>
          <a:solidFill>
            <a:srgbClr val="E8F1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48006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只在风险点加严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12064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默认让员工走最短路径，控制只在金额阈值与风险条件下自动加严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短路径与加严路径由规则分流，不由人员重复判断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高频轻流程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员工费用与借款报销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员工少填 · 系统多做 · 异常才升级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91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员工旅程（移动端三步）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1D6C"/>
                </a:solidFill>
                <a:latin typeface="Microsoft YaHei"/>
              </a:rPr>
              <a:t>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费用发生 /</a:t>
            </a:r>
          </a:p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必要申请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2520" y="2606040"/>
            <a:ext cx="19888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2194560"/>
            <a:ext cx="365760" cy="36576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1D6C"/>
                </a:solidFill>
                <a:latin typeface="Microsoft YaHei"/>
              </a:rPr>
              <a:t>拍票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拍照识票 /</a:t>
            </a:r>
          </a:p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发票验真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93000" y="2606040"/>
            <a:ext cx="19888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83880" y="205740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2194560"/>
            <a:ext cx="365760" cy="36576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148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1D6C"/>
                </a:solidFill>
                <a:latin typeface="Microsoft YaHei"/>
              </a:rPr>
              <a:t>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060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事项审批 /</a:t>
            </a:r>
          </a:p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付款冲借款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系统自动处理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86200"/>
            <a:ext cx="1508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验真 → 发票验真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2240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735200" y="4206240"/>
            <a:ext cx="15316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6" name="Oval 25"/>
          <p:cNvSpPr/>
          <p:nvPr/>
        </p:nvSpPr>
        <p:spPr>
          <a:xfrm>
            <a:off x="3017520" y="4069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886200"/>
            <a:ext cx="1508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科目建议 → 费用归集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886200"/>
            <a:ext cx="2240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5112640" y="4206240"/>
            <a:ext cx="153160" cy="1371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0" name="Oval 29"/>
          <p:cNvSpPr/>
          <p:nvPr/>
        </p:nvSpPr>
        <p:spPr>
          <a:xfrm>
            <a:off x="5394960" y="406908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886200"/>
            <a:ext cx="1508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项目归集 → 自动入账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800" y="3886200"/>
            <a:ext cx="22402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80960" y="1691640"/>
            <a:ext cx="4023360" cy="365760"/>
          </a:xfrm>
          <a:prstGeom prst="roundRect">
            <a:avLst/>
          </a:prstGeom>
          <a:solidFill>
            <a:srgbClr val="C93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1691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异常触发加严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148840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2148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超标准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2514600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25146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超预算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880360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8803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无票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3246120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32461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大额现金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611880"/>
            <a:ext cx="4023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36118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长期未核销借款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1D6C"/>
                </a:solidFill>
                <a:latin typeface="Microsoft YaHei"/>
              </a:rPr>
              <a:t>费用发生 → 必要事前申请 → 票据采集 → 预算标准校验 → 单级审批 → 付款/冲借款 → 自动入账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E6C84"/>
                </a:solidFill>
                <a:latin typeface="Microsoft YaHei"/>
              </a:rPr>
              <a:t>低额日常费用不要求事前申请；差旅和招待保留必要前置控制；借款与报销共享事项信息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员工少填 · 系统多做 · 异常才升级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支撑场景｜库存 · 资产 · 研发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库存、资产与研发投入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管理深度由业务实质和会计标准决定 · 统一汇入项目成本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737360"/>
            <a:ext cx="2651760" cy="2286000"/>
          </a:xfrm>
          <a:prstGeom prst="rect">
            <a:avLst/>
          </a:prstGeom>
          <a:solidFill>
            <a:srgbClr val="E8F1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74519"/>
            <a:ext cx="502920" cy="50292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1D6C"/>
                </a:solidFill>
                <a:latin typeface="Microsoft YaHei"/>
              </a:rPr>
              <a:t>库存投入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只有确有实物管理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需求的物料启用完整流程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C84"/>
                </a:solidFill>
                <a:latin typeface="Microsoft YaHei"/>
              </a:rPr>
              <a:t>低频办公耗材可简化领用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37360"/>
            <a:ext cx="2651760" cy="2286000"/>
          </a:xfrm>
          <a:prstGeom prst="rect">
            <a:avLst/>
          </a:prstGeom>
          <a:solidFill>
            <a:srgbClr val="DEE9FE"/>
          </a:solidFill>
          <a:ln w="19050">
            <a:solidFill>
              <a:srgbClr val="004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874519"/>
            <a:ext cx="502920" cy="502920"/>
          </a:xfrm>
          <a:prstGeom prst="ellipse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874519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1D6C"/>
                </a:solidFill>
                <a:latin typeface="Microsoft YaHei"/>
              </a:rPr>
              <a:t>资产投入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达到资本化标准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才建资产卡片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383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C84"/>
                </a:solidFill>
                <a:latin typeface="Microsoft YaHei"/>
              </a:rPr>
              <a:t>低值易耗品不走固定资产全流程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737360"/>
            <a:ext cx="26517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157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874519"/>
            <a:ext cx="502920" cy="502920"/>
          </a:xfrm>
          <a:prstGeom prst="ellipse">
            <a:avLst/>
          </a:prstGeom>
          <a:solidFill>
            <a:srgbClr val="715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874519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001D6C"/>
                </a:solidFill>
                <a:latin typeface="Microsoft YaHei"/>
              </a:rPr>
              <a:t>研发投入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保留项目、人员、</a:t>
            </a:r>
          </a:p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工时和费用来源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C84"/>
                </a:solidFill>
                <a:latin typeface="Microsoft YaHei"/>
              </a:rPr>
              <a:t>共享投入统一分摊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1920240"/>
            <a:ext cx="2103120" cy="20116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0574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E8F1FF"/>
                </a:solidFill>
                <a:latin typeface="Microsoft YaHei"/>
              </a:rPr>
              <a:t>项目编码统一归集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统一项目成本池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175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8F1FF"/>
                </a:solidFill>
                <a:latin typeface="Microsoft YaHei"/>
              </a:rPr>
              <a:t>来源可追溯</a:t>
            </a:r>
          </a:p>
          <a:p>
            <a:pPr algn="ctr"/>
            <a:r>
              <a:rPr sz="1000" b="0" i="0">
                <a:solidFill>
                  <a:srgbClr val="E8F1FF"/>
                </a:solidFill>
                <a:latin typeface="Microsoft YaHei"/>
              </a:rPr>
              <a:t>共享可分摊</a:t>
            </a:r>
          </a:p>
          <a:p>
            <a:pPr algn="ctr"/>
            <a:r>
              <a:rPr sz="1000" b="0" i="0">
                <a:solidFill>
                  <a:srgbClr val="E8F1FF"/>
                </a:solidFill>
                <a:latin typeface="Microsoft YaHei"/>
              </a:rPr>
              <a:t>数据可穿透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54680" y="2651760"/>
            <a:ext cx="6217920" cy="182880"/>
          </a:xfrm>
          <a:prstGeom prst="line">
            <a:avLst/>
          </a:prstGeom>
          <a:ln w="1905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2651760"/>
            <a:ext cx="3291840" cy="182880"/>
          </a:xfrm>
          <a:prstGeom prst="line">
            <a:avLst/>
          </a:prstGeom>
          <a:ln w="1905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06840" y="2651760"/>
            <a:ext cx="365760" cy="182880"/>
          </a:xfrm>
          <a:prstGeom prst="line">
            <a:avLst/>
          </a:prstGeom>
          <a:ln w="1905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2062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财务落点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5720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72B4D"/>
                </a:solidFill>
                <a:latin typeface="Microsoft YaHei"/>
              </a:rPr>
              <a:t>库存成本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572000"/>
            <a:ext cx="2651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828800.0" y="4023360"/>
            <a:ext cx="0.0" cy="54864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566160" y="47548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5720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72B4D"/>
                </a:solidFill>
                <a:latin typeface="Microsoft YaHei"/>
              </a:rPr>
              <a:t>折旧摊销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4572000"/>
            <a:ext cx="2651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754880.0" y="4023360"/>
            <a:ext cx="0.0" cy="54864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92240" y="47548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5720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72B4D"/>
                </a:solidFill>
                <a:latin typeface="Microsoft YaHei"/>
              </a:rPr>
              <a:t>研发费用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572000"/>
            <a:ext cx="2651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680960.0" y="4023360"/>
            <a:ext cx="0.0" cy="54864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418320" y="475488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572000"/>
            <a:ext cx="1920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72B4D"/>
                </a:solidFill>
                <a:latin typeface="Microsoft YaHei"/>
              </a:rPr>
              <a:t>项目成本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4572000"/>
            <a:ext cx="26517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0607040.0" y="4023360"/>
            <a:ext cx="0.0" cy="54864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管理深度由业务实质和会计标准决定 · 让三类投入统一为可追溯的项目成本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财务闭环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从业务单据到关账和经营分析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财务由录入中心 → 异常与经营分析中心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91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9D9A"/>
                </a:solidFill>
                <a:latin typeface="Microsoft YaHei"/>
              </a:rPr>
              <a:t>规则满足｜自动通过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业务单据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4173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1912240" y="2331720"/>
            <a:ext cx="14173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2183130" y="219456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605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凭证建议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5970" y="2057400"/>
            <a:ext cx="14173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3455290" y="2331720"/>
            <a:ext cx="14173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3726180" y="219456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910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自动对账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9020" y="2057400"/>
            <a:ext cx="14173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998340" y="2331720"/>
            <a:ext cx="14173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9" name="Oval 18"/>
          <p:cNvSpPr/>
          <p:nvPr/>
        </p:nvSpPr>
        <p:spPr>
          <a:xfrm>
            <a:off x="5269230" y="219456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215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关账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2070" y="2057400"/>
            <a:ext cx="14173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541390" y="2331720"/>
            <a:ext cx="141730" cy="1371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3" name="Oval 22"/>
          <p:cNvSpPr/>
          <p:nvPr/>
        </p:nvSpPr>
        <p:spPr>
          <a:xfrm>
            <a:off x="6812280" y="2194560"/>
            <a:ext cx="411480" cy="411480"/>
          </a:xfrm>
          <a:prstGeom prst="ellipse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0574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72B4D"/>
                </a:solidFill>
                <a:latin typeface="Microsoft YaHei"/>
              </a:rPr>
              <a:t>经营分析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057400"/>
            <a:ext cx="14173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7383780.0" y="1783080"/>
            <a:ext cx="0.0" cy="22860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211580.0" y="1783080"/>
            <a:ext cx="6172200.0" cy="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11580.0" y="1783080"/>
            <a:ext cx="0.0" cy="228600"/>
          </a:xfrm>
          <a:prstGeom prst="line">
            <a:avLst/>
          </a:prstGeom>
          <a:ln w="19050">
            <a:solidFill>
              <a:srgbClr val="009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ight Arrow 28"/>
          <p:cNvSpPr/>
          <p:nvPr/>
        </p:nvSpPr>
        <p:spPr>
          <a:xfrm>
            <a:off x="1120140" y="1965960"/>
            <a:ext cx="182880" cy="9144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200400" y="1691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09D9A"/>
                </a:solidFill>
                <a:latin typeface="Microsoft YaHei"/>
              </a:rPr>
              <a:t>↺ 闭环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1691640"/>
            <a:ext cx="3200400" cy="365760"/>
          </a:xfrm>
          <a:prstGeom prst="roundRect">
            <a:avLst/>
          </a:prstGeom>
          <a:solidFill>
            <a:srgbClr val="C93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异常工作台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148840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21488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未开票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441448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4414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未收付款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73405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27340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未验收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026664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302666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未报销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319272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3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31927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93756"/>
                </a:solidFill>
                <a:latin typeface="Microsoft YaHei"/>
              </a:rPr>
              <a:t>差异事项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703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E6C84"/>
                </a:solidFill>
                <a:latin typeface="Microsoft YaHei"/>
              </a:rPr>
              <a:t>异常闭环处理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291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1D6C"/>
                </a:solidFill>
                <a:latin typeface="Microsoft YaHei"/>
              </a:rPr>
              <a:t>财务工作重点：从重复录入 → 异常审核</a:t>
            </a:r>
          </a:p>
        </p:txBody>
      </p:sp>
      <p:sp>
        <p:nvSpPr>
          <p:cNvPr id="45" name="Oval 44"/>
          <p:cNvSpPr/>
          <p:nvPr/>
        </p:nvSpPr>
        <p:spPr>
          <a:xfrm>
            <a:off x="502920" y="3703320"/>
            <a:ext cx="228600" cy="22860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3703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业务单据满足规则后生成凭证建议</a:t>
            </a:r>
          </a:p>
        </p:txBody>
      </p:sp>
      <p:sp>
        <p:nvSpPr>
          <p:cNvPr id="47" name="Oval 46"/>
          <p:cNvSpPr/>
          <p:nvPr/>
        </p:nvSpPr>
        <p:spPr>
          <a:xfrm>
            <a:off x="502920" y="4069080"/>
            <a:ext cx="228600" cy="22860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069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合同、交付、发票、收付款与凭证日常自动对账</a:t>
            </a:r>
          </a:p>
        </p:txBody>
      </p:sp>
      <p:sp>
        <p:nvSpPr>
          <p:cNvPr id="49" name="Oval 48"/>
          <p:cNvSpPr/>
          <p:nvPr/>
        </p:nvSpPr>
        <p:spPr>
          <a:xfrm>
            <a:off x="502920" y="4434840"/>
            <a:ext cx="228600" cy="22860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434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72B4D"/>
                </a:solidFill>
                <a:latin typeface="Microsoft YaHei"/>
              </a:rPr>
              <a:t>月末聚焦未开票、未收付款、未验收、未报销与差异事项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经营指标输出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" y="541782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3035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项目毛利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30352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880360" y="541782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53035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应收账龄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530352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120640" y="541782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53035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现金预测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83480" y="530352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60920" y="541782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53035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预算执行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23760" y="530352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601200" y="5417820"/>
            <a:ext cx="411480" cy="41148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20" y="53035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72B4D"/>
                </a:solidFill>
                <a:latin typeface="Microsoft YaHei"/>
              </a:rPr>
              <a:t>研发投入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64040" y="5303520"/>
            <a:ext cx="21945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财务由录入中心 → 异常与经营分析中心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流程优化｜事项驱动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从表单驱动转为事项驱动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围绕同一业务事项合并信息：一次录入 · 多处复用 · 规则触发 · 自动成账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691640"/>
            <a:ext cx="2286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1D6C"/>
                </a:solidFill>
                <a:latin typeface="Microsoft YaHei"/>
              </a:rPr>
              <a:t>事项  \  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691640"/>
            <a:ext cx="1783080" cy="502920"/>
          </a:xfrm>
          <a:prstGeom prst="rect">
            <a:avLst/>
          </a:prstGeom>
          <a:solidFill>
            <a:srgbClr val="0F62FE"/>
          </a:solidFill>
          <a:ln w="19050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916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保留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91640"/>
            <a:ext cx="1783080" cy="502920"/>
          </a:xfrm>
          <a:prstGeom prst="rect">
            <a:avLst/>
          </a:prstGeom>
          <a:solidFill>
            <a:srgbClr val="0043CE"/>
          </a:solidFill>
          <a:ln w="19050">
            <a:solidFill>
              <a:srgbClr val="004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合并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1783080" cy="502920"/>
          </a:xfrm>
          <a:prstGeom prst="rect">
            <a:avLst/>
          </a:prstGeom>
          <a:solidFill>
            <a:srgbClr val="5E6C84"/>
          </a:solidFill>
          <a:ln w="19050">
            <a:solidFill>
              <a:srgbClr val="5E6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省略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1783080" cy="502920"/>
          </a:xfrm>
          <a:prstGeom prst="rect">
            <a:avLst/>
          </a:prstGeom>
          <a:solidFill>
            <a:srgbClr val="009D9A"/>
          </a:solidFill>
          <a:ln w="19050">
            <a:solidFill>
              <a:srgbClr val="009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条件触发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1691640"/>
            <a:ext cx="1783080" cy="502920"/>
          </a:xfrm>
          <a:prstGeom prst="rect">
            <a:avLst/>
          </a:prstGeom>
          <a:solidFill>
            <a:srgbClr val="001D6C"/>
          </a:solidFill>
          <a:ln w="19050">
            <a:solidFill>
              <a:srgbClr val="001D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6916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系统自动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945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945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合同/项目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19456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1945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19456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1945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19456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945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19456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1945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219456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1945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69748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6974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采购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269748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26974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69748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6974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9748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6974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69748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6974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269748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26974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2004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2004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费用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320040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32004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320040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32004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20040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2004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20040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2004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320040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32004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70332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37033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入库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88920" y="370332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8920" y="3703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370332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0" y="3703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370332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703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70332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3703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370332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21240" y="37033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2062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2062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审批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420624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88920" y="42062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420624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0" y="42062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420624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2062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420624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42062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21240" y="420624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21240" y="42062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7091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7091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1D6C"/>
                </a:solidFill>
                <a:latin typeface="Microsoft YaHei"/>
              </a:rPr>
              <a:t>台账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88920" y="470916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88920" y="47091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0" y="470916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0" y="47091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470916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47091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4709160"/>
            <a:ext cx="1783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47091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Microsoft YaHe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21240" y="4709160"/>
            <a:ext cx="1783080" cy="502920"/>
          </a:xfrm>
          <a:prstGeom prst="rect">
            <a:avLst/>
          </a:prstGeom>
          <a:solidFill>
            <a:srgbClr val="E8F1FF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21240" y="47091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F62FE"/>
                </a:solidFill>
                <a:latin typeface="Microsoft YaHei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关键规则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" y="55321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72B4D"/>
                </a:solidFill>
                <a:latin typeface="Microsoft YaHei"/>
              </a:rPr>
              <a:t>合同、订单、项目立项同源一次录入，按场景自动生成后续对象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72200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5321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72B4D"/>
                </a:solidFill>
                <a:latin typeface="Microsoft YaHei"/>
              </a:rPr>
              <a:t>请购、比价、采购订单按金额合并或触发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57607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760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72B4D"/>
                </a:solidFill>
                <a:latin typeface="Microsoft YaHei"/>
              </a:rPr>
              <a:t>差旅/招待申请与报销：上游信息自动带入，避免重复填写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72200" y="57607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5760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72B4D"/>
                </a:solidFill>
                <a:latin typeface="Microsoft YaHei"/>
              </a:rPr>
              <a:t>入库：服务采购与纯费用采购不走实物入库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59893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72B4D"/>
                </a:solidFill>
                <a:latin typeface="Microsoft YaHei"/>
              </a:rPr>
              <a:t>审批：默认单级责任人审批，超过金额/预算/信用阈值再升级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59893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Microsoft YaHei"/>
              </a:rPr>
              <a:t>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00800" y="5989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72B4D"/>
                </a:solidFill>
                <a:latin typeface="Microsoft YaHei"/>
              </a:rPr>
              <a:t>台账：由业务单据自动生成，不再要求独立 Excel 台账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让表单服务于事项，而不是让事项服务于表单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62FE"/>
                </a:solidFill>
                <a:latin typeface="Microsoft YaHei"/>
              </a:rPr>
              <a:t>落地路线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1D6C"/>
                </a:solidFill>
                <a:latin typeface="Microsoft YaHei"/>
              </a:rPr>
              <a:t>先形成使用习惯，再形成管理规范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C84"/>
                </a:solidFill>
                <a:latin typeface="Microsoft YaHei"/>
              </a:rPr>
              <a:t>四阶段路线图，每阶段明确启用范围、用户价值与验收指标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17320"/>
            <a:ext cx="11183112" cy="0"/>
          </a:xfrm>
          <a:prstGeom prst="line">
            <a:avLst/>
          </a:prstGeom>
          <a:ln w="25400">
            <a:solidFill>
              <a:srgbClr val="0F6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691640"/>
            <a:ext cx="2651760" cy="86868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01  内部试点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启用范围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项目、合同、报销、收付款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用户价值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有人用、数据不断链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Microsoft YaHei"/>
              </a:rPr>
              <a:t>验收指标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199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活跃率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74680" y="2148840"/>
            <a:ext cx="152024" cy="18288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46704" y="-125417412360"/>
            <a:ext cx="2651760" cy="868680"/>
          </a:xfrm>
          <a:prstGeom prst="rect">
            <a:avLst/>
          </a:prstGeom>
          <a:solidFill>
            <a:srgbClr val="004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02  内部推广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-125416406519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4" y="-1254163150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启用范围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-12541608647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采购、验收、库存、预算、自动凭证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-12541544639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用户价值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-1254152177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业财一致、减少线下表格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-12541476059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Microsoft YaHei"/>
              </a:rPr>
              <a:t>验收指标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-125414532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处理时长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18464" y="-125416955160"/>
            <a:ext cx="152024" cy="18288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90488" y="-250836516360"/>
            <a:ext cx="2651760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03  标准化复制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0488" y="-25083551052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-250835419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启用范围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-2508351904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角色、规则、表单、指标模板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-250834550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用户价值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-250834321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能够快速复制到新组织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-250833864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Microsoft YaHei"/>
              </a:rPr>
              <a:t>验收指标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-250833636001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退回率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62248" y="-250836059160"/>
            <a:ext cx="152024" cy="18288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34272" y="-376254705960"/>
            <a:ext cx="2651760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04  产品化上市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34272" y="-376253700120"/>
            <a:ext cx="2651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1432" y="-376253608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启用范围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-37625338008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行业模板、配置中心、权限审计、多组织、实施工具包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-376252740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E6C84"/>
                </a:solidFill>
                <a:latin typeface="Microsoft YaHei"/>
              </a:rPr>
              <a:t>用户价值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-376252511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2B4D"/>
                </a:solidFill>
                <a:latin typeface="Microsoft YaHei"/>
              </a:rPr>
              <a:t>可配置、可审计、可规模化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-3762520542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F62FE"/>
                </a:solidFill>
                <a:latin typeface="Microsoft YaHei"/>
              </a:rPr>
              <a:t>验收指标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-376251825601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62FE"/>
                </a:solidFill>
                <a:latin typeface="Microsoft YaHei"/>
              </a:rPr>
              <a:t>数据完整率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029200"/>
            <a:ext cx="11183112" cy="548640"/>
          </a:xfrm>
          <a:prstGeom prst="rect">
            <a:avLst/>
          </a:prstGeom>
          <a:solidFill>
            <a:srgbClr val="001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029200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统一指标：活跃率 · 处理时长 · 退回率 · 线下表格减少率 · 数据完整率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66928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1D6C"/>
                </a:solidFill>
                <a:latin typeface="Microsoft YaHei"/>
              </a:rPr>
              <a:t>先形成使用习惯  →  再形成管理规范  →  最后形成可复制产品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9525">
            <a:solidFill>
              <a:srgbClr val="E0E6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C84"/>
                </a:solidFill>
                <a:latin typeface="Microsoft YaHei"/>
              </a:rPr>
              <a:t>源自《业财融合之业务流程再造 &amp; 财务系统》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51052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0F62FE"/>
                </a:solidFill>
                <a:latin typeface="Microsoft YaHei"/>
              </a:rPr>
              <a:t>PMS 业财一体化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