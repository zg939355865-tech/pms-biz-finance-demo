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0d9c92584b415a" /><Relationship Type="http://schemas.openxmlformats.org/officeDocument/2006/relationships/extended-properties" Target="/docProps/app.xml" Id="R00cd5c28c98b492f" /><Relationship Type="http://schemas.openxmlformats.org/officeDocument/2006/relationships/officeDocument" Target="/ppt/presentation.xml" Id="R31e85fe7688d4b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94e78e0e3b4e41"/>
  </p:sldMasterIdLst>
  <p:notesMasterIdLst>
    <p:notesMasterId xmlns:r="http://schemas.openxmlformats.org/officeDocument/2006/relationships" r:id="Rd653a9d8cf96469c"/>
  </p:notesMasterIdLst>
  <p:sldIdLst>
    <p:sldId xmlns:r="http://schemas.openxmlformats.org/officeDocument/2006/relationships" id="256" r:id="R2f23b3c9efff45fa"/>
    <p:sldId xmlns:r="http://schemas.openxmlformats.org/officeDocument/2006/relationships" id="257" r:id="R3c46c543bbfd4246"/>
    <p:sldId xmlns:r="http://schemas.openxmlformats.org/officeDocument/2006/relationships" id="258" r:id="R2c5f47072ee34e24"/>
    <p:sldId xmlns:r="http://schemas.openxmlformats.org/officeDocument/2006/relationships" id="259" r:id="Rdbf44ac696a049e7"/>
    <p:sldId xmlns:r="http://schemas.openxmlformats.org/officeDocument/2006/relationships" id="260" r:id="R08e725ab04b4409a"/>
    <p:sldId xmlns:r="http://schemas.openxmlformats.org/officeDocument/2006/relationships" id="261" r:id="R087c93425e9247b0"/>
    <p:sldId xmlns:r="http://schemas.openxmlformats.org/officeDocument/2006/relationships" id="262" r:id="R4e2297185c42428a"/>
    <p:sldId xmlns:r="http://schemas.openxmlformats.org/officeDocument/2006/relationships" id="263" r:id="R5a0314e167ef48f1"/>
    <p:sldId xmlns:r="http://schemas.openxmlformats.org/officeDocument/2006/relationships" id="264" r:id="R2e15c341c97642e8"/>
    <p:sldId xmlns:r="http://schemas.openxmlformats.org/officeDocument/2006/relationships" id="265" r:id="Rb29b310ce7de4749"/>
    <p:sldId xmlns:r="http://schemas.openxmlformats.org/officeDocument/2006/relationships" id="266" r:id="R3c0861e1e11041a7"/>
    <p:sldId xmlns:r="http://schemas.openxmlformats.org/officeDocument/2006/relationships" id="267" r:id="Rceeec2056ba742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e398b540c64447" /><Relationship Type="http://schemas.openxmlformats.org/officeDocument/2006/relationships/slideMaster" Target="/ppt/slideMasters/slideMaster1.xml" Id="R6694e78e0e3b4e41" /><Relationship Type="http://schemas.openxmlformats.org/officeDocument/2006/relationships/notesMaster" Target="/ppt/notesMasters/notesMaster1.xml" Id="Rd653a9d8cf96469c" /><Relationship Type="http://schemas.openxmlformats.org/officeDocument/2006/relationships/presProps" Target="/ppt/presProps.xml" Id="Rc59b8d3937e549e4" /><Relationship Type="http://schemas.openxmlformats.org/officeDocument/2006/relationships/tableStyles" Target="/ppt/tableStyles.xml" Id="R7c48926dd30741ea" /><Relationship Type="http://schemas.openxmlformats.org/officeDocument/2006/relationships/slide" Target="/ppt/slides/slide1.xml" Id="R2f23b3c9efff45fa" /><Relationship Type="http://schemas.openxmlformats.org/officeDocument/2006/relationships/slide" Target="/ppt/slides/slide2.xml" Id="R3c46c543bbfd4246" /><Relationship Type="http://schemas.openxmlformats.org/officeDocument/2006/relationships/slide" Target="/ppt/slides/slide3.xml" Id="R2c5f47072ee34e24" /><Relationship Type="http://schemas.openxmlformats.org/officeDocument/2006/relationships/slide" Target="/ppt/slides/slide4.xml" Id="Rdbf44ac696a049e7" /><Relationship Type="http://schemas.openxmlformats.org/officeDocument/2006/relationships/slide" Target="/ppt/slides/slide5.xml" Id="R08e725ab04b4409a" /><Relationship Type="http://schemas.openxmlformats.org/officeDocument/2006/relationships/slide" Target="/ppt/slides/slide6.xml" Id="R087c93425e9247b0" /><Relationship Type="http://schemas.openxmlformats.org/officeDocument/2006/relationships/slide" Target="/ppt/slides/slide7.xml" Id="R4e2297185c42428a" /><Relationship Type="http://schemas.openxmlformats.org/officeDocument/2006/relationships/slide" Target="/ppt/slides/slide8.xml" Id="R5a0314e167ef48f1" /><Relationship Type="http://schemas.openxmlformats.org/officeDocument/2006/relationships/slide" Target="/ppt/slides/slide9.xml" Id="R2e15c341c97642e8" /><Relationship Type="http://schemas.openxmlformats.org/officeDocument/2006/relationships/slide" Target="/ppt/slides/slide10.xml" Id="Rb29b310ce7de4749" /><Relationship Type="http://schemas.openxmlformats.org/officeDocument/2006/relationships/slide" Target="/ppt/slides/slide11.xml" Id="R3c0861e1e11041a7" /><Relationship Type="http://schemas.openxmlformats.org/officeDocument/2006/relationships/slide" Target="/ppt/slides/slide12.xml" Id="Rceeec2056ba742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957616541645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e78792183a48da" /><Relationship Type="http://schemas.openxmlformats.org/officeDocument/2006/relationships/notesMaster" Target="/ppt/notesMasters/notesMaster1.xml" Id="R398844f1194d45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f6c99925204314" /><Relationship Type="http://schemas.openxmlformats.org/officeDocument/2006/relationships/notesMaster" Target="/ppt/notesMasters/notesMaster1.xml" Id="Rbe981e23a9dc47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3a4c24e2614cf9" /><Relationship Type="http://schemas.openxmlformats.org/officeDocument/2006/relationships/notesMaster" Target="/ppt/notesMasters/notesMaster1.xml" Id="R13a3054337cd41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780a57cd12487c" /><Relationship Type="http://schemas.openxmlformats.org/officeDocument/2006/relationships/notesMaster" Target="/ppt/notesMasters/notesMaster1.xml" Id="Rc4519a37e8024a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ff618402d149b2" /><Relationship Type="http://schemas.openxmlformats.org/officeDocument/2006/relationships/notesMaster" Target="/ppt/notesMasters/notesMaster1.xml" Id="R6677a2ce462841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812dceccfa4d18" /><Relationship Type="http://schemas.openxmlformats.org/officeDocument/2006/relationships/notesMaster" Target="/ppt/notesMasters/notesMaster1.xml" Id="R6f8bbf3c8ed04d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1ad830a04d4473" /><Relationship Type="http://schemas.openxmlformats.org/officeDocument/2006/relationships/notesMaster" Target="/ppt/notesMasters/notesMaster1.xml" Id="R2b19db919d224a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fbc123295344b3" /><Relationship Type="http://schemas.openxmlformats.org/officeDocument/2006/relationships/notesMaster" Target="/ppt/notesMasters/notesMaster1.xml" Id="Rb8be71f3b95c4d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53f66fc9ab41ef" /><Relationship Type="http://schemas.openxmlformats.org/officeDocument/2006/relationships/notesMaster" Target="/ppt/notesMasters/notesMaster1.xml" Id="R12342fcbfb3442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5ed188625245ad" /><Relationship Type="http://schemas.openxmlformats.org/officeDocument/2006/relationships/notesMaster" Target="/ppt/notesMasters/notesMaster1.xml" Id="R3726b758ae474d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7df3c4aa8344b7" /><Relationship Type="http://schemas.openxmlformats.org/officeDocument/2006/relationships/notesMaster" Target="/ppt/notesMasters/notesMaster1.xml" Id="Rb9e11af4fe1943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d02968b350447b" /><Relationship Type="http://schemas.openxmlformats.org/officeDocument/2006/relationships/notesMaster" Target="/ppt/notesMasters/notesMaster1.xml" Id="R75b487cf075a41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这份材料不再按单据逐张罗列，而是按七个端到端业务场景说明执行流程、控制要求和财务落点。重点是把业务动作与财务结果连接起来。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建设目标不是把纸表搬到线上，而是让业务发生时就形成可核算、可控制、可分析的数据。验收时要看三件事：金额一致、链路可追、异常闭环。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全景图用于先建立共同语言。七个场景虽然业务对象不同，但都要经过业务发生、审批控制、票据或实物确认、资金结算、凭证核算和经营分析六个阶段。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本页按实际执行顺序讲解场景一｜采购到付款（P2P）。先明确参与角色与前置条件，再逐步说明业务单据如何流转、在哪些节点执行控制、最终形成哪些财务数据。</a:t>
            </a:r>
          </a:p>
          <a:p xmlns:a="http://schemas.openxmlformats.org/drawingml/2006/main">
            <a:r>
              <a:t>讲解流程时要强调：每一步都要由上游单据驱动，核心字段继承，任何例外都必须进入专项审批并保留审计记录。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本页按实际执行顺序讲解场景二｜库存与固定资产全生命周期。先明确参与角色与前置条件，再逐步说明业务单据如何流转、在哪些节点执行控制、最终形成哪些财务数据。</a:t>
            </a:r>
          </a:p>
          <a:p xmlns:a="http://schemas.openxmlformats.org/drawingml/2006/main">
            <a:r>
              <a:t>讲解流程时要强调：每一步都要由上游单据驱动，核心字段继承，任何例外都必须进入专项审批并保留审计记录。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本页按实际执行顺序讲解场景三｜产品销售到回款（O2C）。先明确参与角色与前置条件，再逐步说明业务单据如何流转、在哪些节点执行控制、最终形成哪些财务数据。</a:t>
            </a:r>
          </a:p>
          <a:p xmlns:a="http://schemas.openxmlformats.org/drawingml/2006/main">
            <a:r>
              <a:t>讲解流程时要强调：每一步都要由上游单据驱动，核心字段继承，任何例外都必须进入专项审批并保留审计记录。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本页按实际执行顺序讲解场景四｜项目履约、验收、结算与收款。先明确参与角色与前置条件，再逐步说明业务单据如何流转、在哪些节点执行控制、最终形成哪些财务数据。</a:t>
            </a:r>
          </a:p>
          <a:p xmlns:a="http://schemas.openxmlformats.org/drawingml/2006/main">
            <a:r>
              <a:t>讲解流程时要强调：每一步都要由上游单据驱动，核心字段继承，任何例外都必须进入专项审批并保留审计记录。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本页按实际执行顺序讲解场景五｜员工借款与费用报销。先明确参与角色与前置条件，再逐步说明业务单据如何流转、在哪些节点执行控制、最终形成哪些财务数据。</a:t>
            </a:r>
          </a:p>
          <a:p xmlns:a="http://schemas.openxmlformats.org/drawingml/2006/main">
            <a:r>
              <a:t>讲解流程时要强调：每一步都要由上游单据驱动，核心字段继承，任何例外都必须进入专项审批并保留审计记录。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本页按实际执行顺序讲解场景六｜研发项目投入与费用归集。先明确参与角色与前置条件，再逐步说明业务单据如何流转、在哪些节点执行控制、最终形成哪些财务数据。</a:t>
            </a:r>
          </a:p>
          <a:p xmlns:a="http://schemas.openxmlformats.org/drawingml/2006/main">
            <a:r>
              <a:t>讲解流程时要强调：每一步都要由上游单据驱动，核心字段继承，任何例外都必须进入专项审批并保留审计记录。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本页按实际执行顺序讲解场景七｜经营分析、预算执行与资金计划。先明确参与角色与前置条件，再逐步说明业务单据如何流转、在哪些节点执行控制、最终形成哪些财务数据。</a:t>
            </a:r>
          </a:p>
          <a:p xmlns:a="http://schemas.openxmlformats.org/drawingml/2006/main">
            <a:r>
              <a:t>讲解流程时要强调：每一步都要由上游单据驱动，核心字段继承，任何例外都必须进入专项审批并保留审计记录。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七个场景不能各自建立一套规则。主数据、预算、单据继承、多流匹配、职责分离和异常闭环必须成为平台级能力，否则业财一致性无法长期维持。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落地时不要一开始追求所有报表。先把单据链和规则统一，再贯通核算和对账，最后建设经营分析。每一阶段都要用金额一致、链路可追和异常闭环进行验收。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02084d2cd47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5558cec96942ff" /><Relationship Type="http://schemas.openxmlformats.org/officeDocument/2006/relationships/slideLayout" Target="/ppt/slideLayouts/slideLayout1.xml" Id="Rbad59dbe35274d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d59dbe35274d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a538b664f4a5a" /><Relationship Type="http://schemas.openxmlformats.org/officeDocument/2006/relationships/notesSlide" Target="/ppt/notesSlides/notesSlide1.xml" Id="Raa1d33345ec548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b3854017d4091" /><Relationship Type="http://schemas.openxmlformats.org/officeDocument/2006/relationships/notesSlide" Target="/ppt/notesSlides/notesSlide2.xml" Id="Rf465fd41c19240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c79cfcc4140da" /><Relationship Type="http://schemas.openxmlformats.org/officeDocument/2006/relationships/notesSlide" Target="/ppt/notesSlides/notesSlide3.xml" Id="R0f638952187047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d182acd4e4c8c" /><Relationship Type="http://schemas.openxmlformats.org/officeDocument/2006/relationships/notesSlide" Target="/ppt/notesSlides/notesSlide4.xml" Id="Red2b65e841164a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89c0d7e6b4f16" /><Relationship Type="http://schemas.openxmlformats.org/officeDocument/2006/relationships/notesSlide" Target="/ppt/notesSlides/notesSlide5.xml" Id="Ref6e77edf8ae44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1fc89d3ba488c" /><Relationship Type="http://schemas.openxmlformats.org/officeDocument/2006/relationships/notesSlide" Target="/ppt/notesSlides/notesSlide6.xml" Id="Rf37ab4f886734e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3b700641a4b35" /><Relationship Type="http://schemas.openxmlformats.org/officeDocument/2006/relationships/notesSlide" Target="/ppt/notesSlides/notesSlide7.xml" Id="R6a25257091924e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315acc65742d9" /><Relationship Type="http://schemas.openxmlformats.org/officeDocument/2006/relationships/notesSlide" Target="/ppt/notesSlides/notesSlide8.xml" Id="Ra750078fad2442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99244f9a44f84" /><Relationship Type="http://schemas.openxmlformats.org/officeDocument/2006/relationships/notesSlide" Target="/ppt/notesSlides/notesSlide9.xml" Id="R3b39c0e69da74b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7750c96b84ffa" /><Relationship Type="http://schemas.openxmlformats.org/officeDocument/2006/relationships/notesSlide" Target="/ppt/notesSlides/notesSlide10.xml" Id="R5d057c5684e945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8fcc254cc489b" /><Relationship Type="http://schemas.openxmlformats.org/officeDocument/2006/relationships/notesSlide" Target="/ppt/notesSlides/notesSlide11.xml" Id="Rbeb0b969593440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429fb0b4c4d31" /><Relationship Type="http://schemas.openxmlformats.org/officeDocument/2006/relationships/notesSlide" Target="/ppt/notesSlides/notesSlide12.xml" Id="Ref928cd76ef14a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FEC28610-6490-448C-A403-50AF369B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6B8AE41-374B-4398-90D2-EE90096B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81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业财融合端到端业务场景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与管控规范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A0B44F0-7B83-407D-8F7C-AC3DB0E0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D7FF"/>
                </a:solidFill>
              </a:defRPr>
            </a:pPr>
            <a:r>
              <a:rPr sz="1650" b="0">
                <a:solidFill>
                  <a:srgbClr val="B8D7FF"/>
                </a:solidFill>
              </a:rPr>
              <a:t>从业务发生、过程控制到核算分析的闭环重构</a:t>
            </a:r>
          </a:p>
        </p:txBody>
      </p:sp>
      <p:sp>
        <p:nvSpPr>
          <p:cNvPr id="4" name="cover-scenes">
            <a:extLst xmlns:a="http://schemas.openxmlformats.org/drawingml/2006/main">
              <a:ext uri="{FF2B5EF4-FFF2-40B4-BE49-F238E27FC236}">
                <a16:creationId xmlns:a16="http://schemas.microsoft.com/office/drawing/2014/main" id="{DC97A67A-6C5C-445F-A079-22C44040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采购｜资产｜销售｜项目｜费用｜研发｜经营分析</a:t>
            </a:r>
          </a:p>
        </p:txBody>
      </p:sp>
      <p:sp>
        <p:nvSpPr>
          <p:cNvPr id="5" name="cover-step-0">
            <a:extLst xmlns:a="http://schemas.openxmlformats.org/drawingml/2006/main">
              <a:ext uri="{FF2B5EF4-FFF2-40B4-BE49-F238E27FC236}">
                <a16:creationId xmlns:a16="http://schemas.microsoft.com/office/drawing/2014/main" id="{3FF43E51-B420-438D-A7AF-7A05E344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47800"/>
            <a:ext cx="238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45A"/>
          </a:solidFill>
          <a:ln xmlns:a="http://schemas.openxmlformats.org/drawingml/2006/main" w="9525">
            <a:solidFill>
              <a:srgbClr val="2D5A8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业务单据</a:t>
            </a:r>
          </a:p>
        </p:txBody>
      </p:sp>
      <p:sp>
        <p:nvSpPr>
          <p:cNvPr id="6" name="cover-step-1">
            <a:extLst xmlns:a="http://schemas.openxmlformats.org/drawingml/2006/main">
              <a:ext uri="{FF2B5EF4-FFF2-40B4-BE49-F238E27FC236}">
                <a16:creationId xmlns:a16="http://schemas.microsoft.com/office/drawing/2014/main" id="{98622B0A-805E-462B-BD86-057D55C4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28850"/>
            <a:ext cx="238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45A"/>
          </a:solidFill>
          <a:ln xmlns:a="http://schemas.openxmlformats.org/drawingml/2006/main" w="9525">
            <a:solidFill>
              <a:srgbClr val="2D5A8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预算控制</a:t>
            </a:r>
          </a:p>
        </p:txBody>
      </p:sp>
      <p:sp>
        <p:nvSpPr>
          <p:cNvPr id="7" name="cover-step-2">
            <a:extLst xmlns:a="http://schemas.openxmlformats.org/drawingml/2006/main">
              <a:ext uri="{FF2B5EF4-FFF2-40B4-BE49-F238E27FC236}">
                <a16:creationId xmlns:a16="http://schemas.microsoft.com/office/drawing/2014/main" id="{390E4C3C-DAB3-41FD-AB55-D0FEBDF4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38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45A"/>
          </a:solidFill>
          <a:ln xmlns:a="http://schemas.openxmlformats.org/drawingml/2006/main" w="9525">
            <a:solidFill>
              <a:srgbClr val="2D5A8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票据资金</a:t>
            </a:r>
          </a:p>
        </p:txBody>
      </p:sp>
      <p:sp>
        <p:nvSpPr>
          <p:cNvPr id="8" name="cover-step-3">
            <a:extLst xmlns:a="http://schemas.openxmlformats.org/drawingml/2006/main">
              <a:ext uri="{FF2B5EF4-FFF2-40B4-BE49-F238E27FC236}">
                <a16:creationId xmlns:a16="http://schemas.microsoft.com/office/drawing/2014/main" id="{6D1951F1-0E87-455D-B8D8-71D17284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238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45A"/>
          </a:solidFill>
          <a:ln xmlns:a="http://schemas.openxmlformats.org/drawingml/2006/main" w="9525">
            <a:solidFill>
              <a:srgbClr val="2D5A8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会计凭证</a:t>
            </a:r>
          </a:p>
        </p:txBody>
      </p:sp>
      <p:sp>
        <p:nvSpPr>
          <p:cNvPr id="9" name="cover-step-4">
            <a:extLst xmlns:a="http://schemas.openxmlformats.org/drawingml/2006/main">
              <a:ext uri="{FF2B5EF4-FFF2-40B4-BE49-F238E27FC236}">
                <a16:creationId xmlns:a16="http://schemas.microsoft.com/office/drawing/2014/main" id="{42DDED03-452B-46A8-A31B-210393BB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38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经营分析</a:t>
            </a:r>
          </a:p>
        </p:txBody>
      </p:sp>
      <p:sp>
        <p:nvSpPr>
          <p:cNvPr id="10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A5E682A2-ECDF-4941-8E41-237B2229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B8E8"/>
                </a:solidFill>
              </a:defRPr>
            </a:pPr>
            <a:r>
              <a:rPr sz="1050" b="1">
                <a:solidFill>
                  <a:srgbClr val="8FB8E8"/>
                </a:solidFill>
              </a:rPr>
              <a:t>PMS 业财一体化系统</a:t>
            </a:r>
          </a:p>
        </p:txBody>
      </p:sp>
    </p:spTree>
    <p:extLst>
      <p:ext uri="{BB962C8B-B14F-4D97-AF65-F5344CB8AC3E}">
        <p14:creationId xmlns:p14="http://schemas.microsoft.com/office/powerpoint/2010/main" val="12878611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o">
            <a:extLst xmlns:a="http://schemas.openxmlformats.org/drawingml/2006/main">
              <a:ext uri="{FF2B5EF4-FFF2-40B4-BE49-F238E27FC236}">
                <a16:creationId xmlns:a16="http://schemas.microsoft.com/office/drawing/2014/main" id="{09B23548-0026-4826-93CF-445E0D8B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18A30A-9EFD-4AB1-A7C8-4A984FE4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建设目标｜从分散表格转向业财闭环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ADDC76-37CC-463B-9B15-22A324D1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统一入口、统一规则、统一数据、统一追溯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D6E4C-65C5-4247-88A8-140FC788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" name="goal-0">
            <a:extLst xmlns:a="http://schemas.openxmlformats.org/drawingml/2006/main">
              <a:ext uri="{FF2B5EF4-FFF2-40B4-BE49-F238E27FC236}">
                <a16:creationId xmlns:a16="http://schemas.microsoft.com/office/drawing/2014/main" id="{AA99C174-33E5-435E-8756-74B0F0AA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59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4DAAF4-3FB8-4ED6-A6DD-9A19A528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5EEF"/>
                </a:solidFill>
              </a:defRPr>
            </a:pPr>
            <a:r>
              <a:rPr sz="2100" b="1">
                <a:solidFill>
                  <a:srgbClr val="155EEF"/>
                </a:solidFill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4BC9EA-0CE8-400E-8544-3071E9A9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62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业务驱动财务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FBF6366-4E13-4080-B5B5-2F0D840E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7642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C84"/>
                </a:solidFill>
              </a:defRPr>
            </a:pPr>
            <a:r>
              <a:rPr sz="1275" b="0">
                <a:solidFill>
                  <a:srgbClr val="5E6C84"/>
                </a:solidFill>
              </a:rPr>
              <a:t>业务单据作为核算源头，减少重复录入和口径偏差</a:t>
            </a:r>
          </a:p>
        </p:txBody>
      </p:sp>
      <p:sp>
        <p:nvSpPr>
          <p:cNvPr id="9" name="goal-1">
            <a:extLst xmlns:a="http://schemas.openxmlformats.org/drawingml/2006/main">
              <a:ext uri="{FF2B5EF4-FFF2-40B4-BE49-F238E27FC236}">
                <a16:creationId xmlns:a16="http://schemas.microsoft.com/office/drawing/2014/main" id="{3D906C77-D81A-460D-AE01-A56C25F4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059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93B811-D8BF-4C5F-A5D8-E1471CAB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B6D4"/>
                </a:solidFill>
              </a:defRPr>
            </a:pPr>
            <a:r>
              <a:rPr sz="2100" b="1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487DAE2-35BF-4A63-A77C-611608C0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67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控制前置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BDFBBC9-8076-4108-A41F-4B38DBC5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8132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C84"/>
                </a:solidFill>
              </a:defRPr>
            </a:pPr>
            <a:r>
              <a:rPr sz="1275" b="0">
                <a:solidFill>
                  <a:srgbClr val="5E6C84"/>
                </a:solidFill>
              </a:rPr>
              <a:t>预算、合同、信用、发票与资金校验嵌入业务环节</a:t>
            </a:r>
          </a:p>
        </p:txBody>
      </p:sp>
      <p:sp>
        <p:nvSpPr>
          <p:cNvPr id="13" name="goal-2">
            <a:extLst xmlns:a="http://schemas.openxmlformats.org/drawingml/2006/main">
              <a:ext uri="{FF2B5EF4-FFF2-40B4-BE49-F238E27FC236}">
                <a16:creationId xmlns:a16="http://schemas.microsoft.com/office/drawing/2014/main" id="{6E8282F7-3C7F-4FEA-BB15-17235B57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059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CABACA6-20C3-4B3A-AD7D-E970B3DA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157D9"/>
                </a:solidFill>
              </a:defRPr>
            </a:pPr>
            <a:r>
              <a:rPr sz="2100" b="1">
                <a:solidFill>
                  <a:srgbClr val="7157D9"/>
                </a:solidFill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22A3307-D0E1-4CCC-9766-ECE89DB2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71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项目贯穿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F1B32E-2A12-4DC0-AE75-CDD79C71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8622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C84"/>
                </a:solidFill>
              </a:defRPr>
            </a:pPr>
            <a:r>
              <a:rPr sz="1275" b="0">
                <a:solidFill>
                  <a:srgbClr val="5E6C84"/>
                </a:solidFill>
              </a:rPr>
              <a:t>项目承载收入、成本、费用、应收和回款的共同核算</a:t>
            </a:r>
          </a:p>
        </p:txBody>
      </p:sp>
      <p:sp>
        <p:nvSpPr>
          <p:cNvPr id="17" name="goal-3">
            <a:extLst xmlns:a="http://schemas.openxmlformats.org/drawingml/2006/main">
              <a:ext uri="{FF2B5EF4-FFF2-40B4-BE49-F238E27FC236}">
                <a16:creationId xmlns:a16="http://schemas.microsoft.com/office/drawing/2014/main" id="{3A796CD7-2F2C-4A44-89ED-B8B17A6B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059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321A6B1-4762-4356-AE43-378147C5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6A"/>
                </a:solidFill>
              </a:defRPr>
            </a:pPr>
            <a:r>
              <a:rPr sz="2100" b="1">
                <a:solidFill>
                  <a:srgbClr val="16A36A"/>
                </a:solidFill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6E2064B-4E92-4883-9A3B-2BF1B805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76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数据穿透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207E514-A5D6-4F40-BD1F-7FB7B939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9112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C84"/>
                </a:solidFill>
              </a:defRPr>
            </a:pPr>
            <a:r>
              <a:rPr sz="1275" b="0">
                <a:solidFill>
                  <a:srgbClr val="5E6C84"/>
                </a:solidFill>
              </a:rPr>
              <a:t>管理指标可追溯到业务单据、审批记录和会计凭证</a:t>
            </a:r>
          </a:p>
        </p:txBody>
      </p:sp>
      <p:sp>
        <p:nvSpPr>
          <p:cNvPr id="21" name="goal-note">
            <a:extLst xmlns:a="http://schemas.openxmlformats.org/drawingml/2006/main">
              <a:ext uri="{FF2B5EF4-FFF2-40B4-BE49-F238E27FC236}">
                <a16:creationId xmlns:a16="http://schemas.microsoft.com/office/drawing/2014/main" id="{27F86EF1-4936-45B2-AEC5-CAAB4485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10591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8DAF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961CE15-4C68-4DFA-9740-7B9EFD87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10275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核心验收：业务金额 = 财务凭证金额；关键单据可正向追踪、反向穿透；异常有责任人、有时限、有关闭依据。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89A1C3F4-826C-4546-9CE3-21D0269C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69A"/>
                </a:solidFill>
              </a:defRPr>
            </a:pPr>
            <a:r>
              <a:rPr sz="825" b="0">
                <a:solidFill>
                  <a:srgbClr val="7A869A"/>
                </a:solidFill>
              </a:rPr>
              <a:t>源自《业财融合之业务流程再造&amp;财务系统》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15486E0B-4510-41A7-842A-9DB0ECCB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69A"/>
                </a:solidFill>
              </a:defRPr>
            </a:pPr>
            <a:r>
              <a:rPr sz="825" b="1">
                <a:solidFill>
                  <a:srgbClr val="7A869A"/>
                </a:solidFill>
              </a:rPr>
              <a:t>PMS 业财一体化</a:t>
            </a:r>
          </a:p>
        </p:txBody>
      </p:sp>
    </p:spTree>
    <p:extLst>
      <p:ext uri="{BB962C8B-B14F-4D97-AF65-F5344CB8AC3E}">
        <p14:creationId xmlns:p14="http://schemas.microsoft.com/office/powerpoint/2010/main" val="225766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o">
            <a:extLst xmlns:a="http://schemas.openxmlformats.org/drawingml/2006/main">
              <a:ext uri="{FF2B5EF4-FFF2-40B4-BE49-F238E27FC236}">
                <a16:creationId xmlns:a16="http://schemas.microsoft.com/office/drawing/2014/main" id="{BE796F04-C627-45FE-94B4-F47F15D3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9DE704-364D-42C0-B8D4-00CC7FFF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七大端到端场景全景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B31D5C-4BBB-4CD8-AB03-AE2AA0A5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统一遵循“业务发生 → 审批控制 → 票据资金 → 会计凭证 → 经营分析”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DE842-A474-4F17-9136-A31F9A38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" name="stage-0">
            <a:extLst xmlns:a="http://schemas.openxmlformats.org/drawingml/2006/main">
              <a:ext uri="{FF2B5EF4-FFF2-40B4-BE49-F238E27FC236}">
                <a16:creationId xmlns:a16="http://schemas.microsoft.com/office/drawing/2014/main" id="{1E4B5D5D-9B24-46F0-91E3-D4CD6187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14668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业务发生</a:t>
            </a:r>
          </a:p>
        </p:txBody>
      </p:sp>
      <p:sp>
        <p:nvSpPr>
          <p:cNvPr id="6" name="stage-1">
            <a:extLst xmlns:a="http://schemas.openxmlformats.org/drawingml/2006/main">
              <a:ext uri="{FF2B5EF4-FFF2-40B4-BE49-F238E27FC236}">
                <a16:creationId xmlns:a16="http://schemas.microsoft.com/office/drawing/2014/main" id="{EAF022BB-BEFA-48A1-8F95-A08D37FE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295400"/>
            <a:ext cx="14668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审批控制</a:t>
            </a:r>
          </a:p>
        </p:txBody>
      </p:sp>
      <p:sp>
        <p:nvSpPr>
          <p:cNvPr id="7" name="stage-2">
            <a:extLst xmlns:a="http://schemas.openxmlformats.org/drawingml/2006/main">
              <a:ext uri="{FF2B5EF4-FFF2-40B4-BE49-F238E27FC236}">
                <a16:creationId xmlns:a16="http://schemas.microsoft.com/office/drawing/2014/main" id="{630FF06A-ACB1-4363-884B-2D538FB6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4668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票据/实物</a:t>
            </a:r>
          </a:p>
        </p:txBody>
      </p:sp>
      <p:sp>
        <p:nvSpPr>
          <p:cNvPr id="8" name="stage-3">
            <a:extLst xmlns:a="http://schemas.openxmlformats.org/drawingml/2006/main">
              <a:ext uri="{FF2B5EF4-FFF2-40B4-BE49-F238E27FC236}">
                <a16:creationId xmlns:a16="http://schemas.microsoft.com/office/drawing/2014/main" id="{337D4E61-648A-46E9-915C-D2511737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95400"/>
            <a:ext cx="14668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资金结算</a:t>
            </a:r>
          </a:p>
        </p:txBody>
      </p:sp>
      <p:sp>
        <p:nvSpPr>
          <p:cNvPr id="9" name="stage-4">
            <a:extLst xmlns:a="http://schemas.openxmlformats.org/drawingml/2006/main">
              <a:ext uri="{FF2B5EF4-FFF2-40B4-BE49-F238E27FC236}">
                <a16:creationId xmlns:a16="http://schemas.microsoft.com/office/drawing/2014/main" id="{B5D9D4C2-24EA-4422-9FEB-DAFD356C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95400"/>
            <a:ext cx="14668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凭证核算</a:t>
            </a:r>
          </a:p>
        </p:txBody>
      </p:sp>
      <p:sp>
        <p:nvSpPr>
          <p:cNvPr id="10" name="stage-5">
            <a:extLst xmlns:a="http://schemas.openxmlformats.org/drawingml/2006/main">
              <a:ext uri="{FF2B5EF4-FFF2-40B4-BE49-F238E27FC236}">
                <a16:creationId xmlns:a16="http://schemas.microsoft.com/office/drawing/2014/main" id="{D5920387-7365-40DA-AE65-01FC60A1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95400"/>
            <a:ext cx="14668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经营分析</a:t>
            </a:r>
          </a:p>
        </p:txBody>
      </p:sp>
      <p:sp>
        <p:nvSpPr>
          <p:cNvPr id="11" name="lane-0">
            <a:extLst xmlns:a="http://schemas.openxmlformats.org/drawingml/2006/main">
              <a:ext uri="{FF2B5EF4-FFF2-40B4-BE49-F238E27FC236}">
                <a16:creationId xmlns:a16="http://schemas.microsoft.com/office/drawing/2014/main" id="{10E260B1-6E34-4DA3-904E-92C006C1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采购到付款</a:t>
            </a:r>
          </a:p>
        </p:txBody>
      </p:sp>
      <p:sp>
        <p:nvSpPr>
          <p:cNvPr id="12" name="lane-0-1">
            <a:extLst xmlns:a="http://schemas.openxmlformats.org/drawingml/2006/main">
              <a:ext uri="{FF2B5EF4-FFF2-40B4-BE49-F238E27FC236}">
                <a16:creationId xmlns:a16="http://schemas.microsoft.com/office/drawing/2014/main" id="{0375B140-DAC5-4E51-B5AE-43CE957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240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请购/订单</a:t>
            </a:r>
          </a:p>
        </p:txBody>
      </p:sp>
      <p:sp>
        <p:nvSpPr>
          <p:cNvPr id="13" name="lane-0-2">
            <a:extLst xmlns:a="http://schemas.openxmlformats.org/drawingml/2006/main">
              <a:ext uri="{FF2B5EF4-FFF2-40B4-BE49-F238E27FC236}">
                <a16:creationId xmlns:a16="http://schemas.microsoft.com/office/drawing/2014/main" id="{6B543869-FED1-466A-A2B2-94EF540B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240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合同审批</a:t>
            </a:r>
          </a:p>
        </p:txBody>
      </p:sp>
      <p:sp>
        <p:nvSpPr>
          <p:cNvPr id="14" name="lane-0-3">
            <a:extLst xmlns:a="http://schemas.openxmlformats.org/drawingml/2006/main">
              <a:ext uri="{FF2B5EF4-FFF2-40B4-BE49-F238E27FC236}">
                <a16:creationId xmlns:a16="http://schemas.microsoft.com/office/drawing/2014/main" id="{18419612-E3A1-486F-9DD0-2744F279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验收/进票</a:t>
            </a:r>
          </a:p>
        </p:txBody>
      </p:sp>
      <p:sp>
        <p:nvSpPr>
          <p:cNvPr id="15" name="lane-0-4">
            <a:extLst xmlns:a="http://schemas.openxmlformats.org/drawingml/2006/main">
              <a:ext uri="{FF2B5EF4-FFF2-40B4-BE49-F238E27FC236}">
                <a16:creationId xmlns:a16="http://schemas.microsoft.com/office/drawing/2014/main" id="{E6883172-92C8-409C-9767-4E7F4872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240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付款</a:t>
            </a:r>
          </a:p>
        </p:txBody>
      </p:sp>
      <p:sp>
        <p:nvSpPr>
          <p:cNvPr id="16" name="lane-0-5">
            <a:extLst xmlns:a="http://schemas.openxmlformats.org/drawingml/2006/main">
              <a:ext uri="{FF2B5EF4-FFF2-40B4-BE49-F238E27FC236}">
                <a16:creationId xmlns:a16="http://schemas.microsoft.com/office/drawing/2014/main" id="{6E60E922-B046-474F-88B4-AAE83049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应付/资产</a:t>
            </a:r>
          </a:p>
        </p:txBody>
      </p:sp>
      <p:sp>
        <p:nvSpPr>
          <p:cNvPr id="17" name="lane-0-6">
            <a:extLst xmlns:a="http://schemas.openxmlformats.org/drawingml/2006/main">
              <a:ext uri="{FF2B5EF4-FFF2-40B4-BE49-F238E27FC236}">
                <a16:creationId xmlns:a16="http://schemas.microsoft.com/office/drawing/2014/main" id="{9EB3C390-4A81-4DE3-84FF-E667E8CC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240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账龄分析</a:t>
            </a:r>
          </a:p>
        </p:txBody>
      </p:sp>
      <p:sp>
        <p:nvSpPr>
          <p:cNvPr id="18" name="lane-1">
            <a:extLst xmlns:a="http://schemas.openxmlformats.org/drawingml/2006/main">
              <a:ext uri="{FF2B5EF4-FFF2-40B4-BE49-F238E27FC236}">
                <a16:creationId xmlns:a16="http://schemas.microsoft.com/office/drawing/2014/main" id="{924EF573-BA05-429E-8F84-27524415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库存与资产</a:t>
            </a:r>
          </a:p>
        </p:txBody>
      </p:sp>
      <p:sp>
        <p:nvSpPr>
          <p:cNvPr id="19" name="lane-1-1">
            <a:extLst xmlns:a="http://schemas.openxmlformats.org/drawingml/2006/main">
              <a:ext uri="{FF2B5EF4-FFF2-40B4-BE49-F238E27FC236}">
                <a16:creationId xmlns:a16="http://schemas.microsoft.com/office/drawing/2014/main" id="{479B4EB8-D1A6-4BB8-AF36-C4985F30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146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到货</a:t>
            </a:r>
          </a:p>
        </p:txBody>
      </p:sp>
      <p:sp>
        <p:nvSpPr>
          <p:cNvPr id="20" name="lane-1-2">
            <a:extLst xmlns:a="http://schemas.openxmlformats.org/drawingml/2006/main">
              <a:ext uri="{FF2B5EF4-FFF2-40B4-BE49-F238E27FC236}">
                <a16:creationId xmlns:a16="http://schemas.microsoft.com/office/drawing/2014/main" id="{551F566A-DA20-4545-99B4-A92655F0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146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入库审批</a:t>
            </a:r>
          </a:p>
        </p:txBody>
      </p:sp>
      <p:sp>
        <p:nvSpPr>
          <p:cNvPr id="21" name="lane-1-3">
            <a:extLst xmlns:a="http://schemas.openxmlformats.org/drawingml/2006/main">
              <a:ext uri="{FF2B5EF4-FFF2-40B4-BE49-F238E27FC236}">
                <a16:creationId xmlns:a16="http://schemas.microsoft.com/office/drawing/2014/main" id="{228B89E9-78A6-4B30-9070-DEF0A85F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146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领用/盘点</a:t>
            </a:r>
          </a:p>
        </p:txBody>
      </p:sp>
      <p:sp>
        <p:nvSpPr>
          <p:cNvPr id="22" name="lane-1-4">
            <a:extLst xmlns:a="http://schemas.openxmlformats.org/drawingml/2006/main">
              <a:ext uri="{FF2B5EF4-FFF2-40B4-BE49-F238E27FC236}">
                <a16:creationId xmlns:a16="http://schemas.microsoft.com/office/drawing/2014/main" id="{6ADC97D8-2F4B-4161-AFD7-5EF7236E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146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处置结算</a:t>
            </a:r>
          </a:p>
        </p:txBody>
      </p:sp>
      <p:sp>
        <p:nvSpPr>
          <p:cNvPr id="23" name="lane-1-5">
            <a:extLst xmlns:a="http://schemas.openxmlformats.org/drawingml/2006/main">
              <a:ext uri="{FF2B5EF4-FFF2-40B4-BE49-F238E27FC236}">
                <a16:creationId xmlns:a16="http://schemas.microsoft.com/office/drawing/2014/main" id="{9A677A95-5398-4839-AC8B-C9FAEEAC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库存/折旧</a:t>
            </a:r>
          </a:p>
        </p:txBody>
      </p:sp>
      <p:sp>
        <p:nvSpPr>
          <p:cNvPr id="24" name="lane-1-6">
            <a:extLst xmlns:a="http://schemas.openxmlformats.org/drawingml/2006/main">
              <a:ext uri="{FF2B5EF4-FFF2-40B4-BE49-F238E27FC236}">
                <a16:creationId xmlns:a16="http://schemas.microsoft.com/office/drawing/2014/main" id="{B9B21ADB-A05C-4F2E-BF76-638E8AB8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146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库龄分析</a:t>
            </a:r>
          </a:p>
        </p:txBody>
      </p:sp>
      <p:sp>
        <p:nvSpPr>
          <p:cNvPr id="25" name="lane-2">
            <a:extLst xmlns:a="http://schemas.openxmlformats.org/drawingml/2006/main">
              <a:ext uri="{FF2B5EF4-FFF2-40B4-BE49-F238E27FC236}">
                <a16:creationId xmlns:a16="http://schemas.microsoft.com/office/drawing/2014/main" id="{3D5E8207-9F76-4234-9462-4AA7DA86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产品销售</a:t>
            </a:r>
          </a:p>
        </p:txBody>
      </p:sp>
      <p:sp>
        <p:nvSpPr>
          <p:cNvPr id="26" name="lane-2-1">
            <a:extLst xmlns:a="http://schemas.openxmlformats.org/drawingml/2006/main">
              <a:ext uri="{FF2B5EF4-FFF2-40B4-BE49-F238E27FC236}">
                <a16:creationId xmlns:a16="http://schemas.microsoft.com/office/drawing/2014/main" id="{D5D67887-0BBE-4436-A546-D884FBCC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051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合同/订单</a:t>
            </a:r>
          </a:p>
        </p:txBody>
      </p:sp>
      <p:sp>
        <p:nvSpPr>
          <p:cNvPr id="27" name="lane-2-2">
            <a:extLst xmlns:a="http://schemas.openxmlformats.org/drawingml/2006/main">
              <a:ext uri="{FF2B5EF4-FFF2-40B4-BE49-F238E27FC236}">
                <a16:creationId xmlns:a16="http://schemas.microsoft.com/office/drawing/2014/main" id="{3D9A6BD3-60F5-43FC-8FA0-F4E58D1A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信用审核</a:t>
            </a:r>
          </a:p>
        </p:txBody>
      </p:sp>
      <p:sp>
        <p:nvSpPr>
          <p:cNvPr id="28" name="lane-2-3">
            <a:extLst xmlns:a="http://schemas.openxmlformats.org/drawingml/2006/main">
              <a:ext uri="{FF2B5EF4-FFF2-40B4-BE49-F238E27FC236}">
                <a16:creationId xmlns:a16="http://schemas.microsoft.com/office/drawing/2014/main" id="{5FEEBA84-92AE-4D09-A3AD-8EEF234F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051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出库/开票</a:t>
            </a:r>
          </a:p>
        </p:txBody>
      </p:sp>
      <p:sp>
        <p:nvSpPr>
          <p:cNvPr id="29" name="lane-2-4">
            <a:extLst xmlns:a="http://schemas.openxmlformats.org/drawingml/2006/main">
              <a:ext uri="{FF2B5EF4-FFF2-40B4-BE49-F238E27FC236}">
                <a16:creationId xmlns:a16="http://schemas.microsoft.com/office/drawing/2014/main" id="{30BE9F88-DABF-4B69-8E71-E56FA4C4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回款核销</a:t>
            </a:r>
          </a:p>
        </p:txBody>
      </p:sp>
      <p:sp>
        <p:nvSpPr>
          <p:cNvPr id="30" name="lane-2-5">
            <a:extLst xmlns:a="http://schemas.openxmlformats.org/drawingml/2006/main">
              <a:ext uri="{FF2B5EF4-FFF2-40B4-BE49-F238E27FC236}">
                <a16:creationId xmlns:a16="http://schemas.microsoft.com/office/drawing/2014/main" id="{EC96A37B-8D50-4AC5-8251-912008A0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收入/成本</a:t>
            </a:r>
          </a:p>
        </p:txBody>
      </p:sp>
      <p:sp>
        <p:nvSpPr>
          <p:cNvPr id="31" name="lane-2-6">
            <a:extLst xmlns:a="http://schemas.openxmlformats.org/drawingml/2006/main">
              <a:ext uri="{FF2B5EF4-FFF2-40B4-BE49-F238E27FC236}">
                <a16:creationId xmlns:a16="http://schemas.microsoft.com/office/drawing/2014/main" id="{2EA4FFEE-7C45-4822-8A36-67E0E81C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051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应收分析</a:t>
            </a:r>
          </a:p>
        </p:txBody>
      </p:sp>
      <p:sp>
        <p:nvSpPr>
          <p:cNvPr id="32" name="lane-3">
            <a:extLst xmlns:a="http://schemas.openxmlformats.org/drawingml/2006/main">
              <a:ext uri="{FF2B5EF4-FFF2-40B4-BE49-F238E27FC236}">
                <a16:creationId xmlns:a16="http://schemas.microsoft.com/office/drawing/2014/main" id="{D6951B43-C77D-4956-9E4E-DDBE742C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项目履约</a:t>
            </a:r>
          </a:p>
        </p:txBody>
      </p:sp>
      <p:sp>
        <p:nvSpPr>
          <p:cNvPr id="33" name="lane-3-1">
            <a:extLst xmlns:a="http://schemas.openxmlformats.org/drawingml/2006/main">
              <a:ext uri="{FF2B5EF4-FFF2-40B4-BE49-F238E27FC236}">
                <a16:creationId xmlns:a16="http://schemas.microsoft.com/office/drawing/2014/main" id="{B6B2DC59-79F9-4432-A381-731BE0F5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957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立项/计划</a:t>
            </a:r>
          </a:p>
        </p:txBody>
      </p:sp>
      <p:sp>
        <p:nvSpPr>
          <p:cNvPr id="34" name="lane-3-2">
            <a:extLst xmlns:a="http://schemas.openxmlformats.org/drawingml/2006/main">
              <a:ext uri="{FF2B5EF4-FFF2-40B4-BE49-F238E27FC236}">
                <a16:creationId xmlns:a16="http://schemas.microsoft.com/office/drawing/2014/main" id="{8174F4E0-FC06-4691-9B13-0AB81CA3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957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预算/变更</a:t>
            </a:r>
          </a:p>
        </p:txBody>
      </p:sp>
      <p:sp>
        <p:nvSpPr>
          <p:cNvPr id="35" name="lane-3-3">
            <a:extLst xmlns:a="http://schemas.openxmlformats.org/drawingml/2006/main">
              <a:ext uri="{FF2B5EF4-FFF2-40B4-BE49-F238E27FC236}">
                <a16:creationId xmlns:a16="http://schemas.microsoft.com/office/drawing/2014/main" id="{FC98C050-FA14-40FA-BFE6-368B3697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957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交付/验收</a:t>
            </a:r>
          </a:p>
        </p:txBody>
      </p:sp>
      <p:sp>
        <p:nvSpPr>
          <p:cNvPr id="36" name="lane-3-4">
            <a:extLst xmlns:a="http://schemas.openxmlformats.org/drawingml/2006/main">
              <a:ext uri="{FF2B5EF4-FFF2-40B4-BE49-F238E27FC236}">
                <a16:creationId xmlns:a16="http://schemas.microsoft.com/office/drawing/2014/main" id="{A74695CC-90CA-492C-A167-F2FECE2D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结算回款</a:t>
            </a:r>
          </a:p>
        </p:txBody>
      </p:sp>
      <p:sp>
        <p:nvSpPr>
          <p:cNvPr id="37" name="lane-3-5">
            <a:extLst xmlns:a="http://schemas.openxmlformats.org/drawingml/2006/main">
              <a:ext uri="{FF2B5EF4-FFF2-40B4-BE49-F238E27FC236}">
                <a16:creationId xmlns:a16="http://schemas.microsoft.com/office/drawing/2014/main" id="{A237764E-950E-4F65-804A-22C17CDF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项目损益</a:t>
            </a:r>
          </a:p>
        </p:txBody>
      </p:sp>
      <p:sp>
        <p:nvSpPr>
          <p:cNvPr id="38" name="lane-3-6">
            <a:extLst xmlns:a="http://schemas.openxmlformats.org/drawingml/2006/main">
              <a:ext uri="{FF2B5EF4-FFF2-40B4-BE49-F238E27FC236}">
                <a16:creationId xmlns:a16="http://schemas.microsoft.com/office/drawing/2014/main" id="{40E125E4-FBA8-4ED8-B180-C0D70AA7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毛利分析</a:t>
            </a:r>
          </a:p>
        </p:txBody>
      </p:sp>
      <p:sp>
        <p:nvSpPr>
          <p:cNvPr id="39" name="lane-4">
            <a:extLst xmlns:a="http://schemas.openxmlformats.org/drawingml/2006/main">
              <a:ext uri="{FF2B5EF4-FFF2-40B4-BE49-F238E27FC236}">
                <a16:creationId xmlns:a16="http://schemas.microsoft.com/office/drawing/2014/main" id="{5FD13E6D-B2A1-494E-8D31-6751068A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员工费用</a:t>
            </a:r>
          </a:p>
        </p:txBody>
      </p:sp>
      <p:sp>
        <p:nvSpPr>
          <p:cNvPr id="40" name="lane-4-1">
            <a:extLst xmlns:a="http://schemas.openxmlformats.org/drawingml/2006/main">
              <a:ext uri="{FF2B5EF4-FFF2-40B4-BE49-F238E27FC236}">
                <a16:creationId xmlns:a16="http://schemas.microsoft.com/office/drawing/2014/main" id="{D32E0975-D1C0-4894-AF15-AD350A59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事前申请</a:t>
            </a:r>
          </a:p>
        </p:txBody>
      </p:sp>
      <p:sp>
        <p:nvSpPr>
          <p:cNvPr id="41" name="lane-4-2">
            <a:extLst xmlns:a="http://schemas.openxmlformats.org/drawingml/2006/main">
              <a:ext uri="{FF2B5EF4-FFF2-40B4-BE49-F238E27FC236}">
                <a16:creationId xmlns:a16="http://schemas.microsoft.com/office/drawing/2014/main" id="{4D40E596-DCBB-4A15-964C-D77FD7BF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862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标准审核</a:t>
            </a:r>
          </a:p>
        </p:txBody>
      </p:sp>
      <p:sp>
        <p:nvSpPr>
          <p:cNvPr id="42" name="lane-4-3">
            <a:extLst xmlns:a="http://schemas.openxmlformats.org/drawingml/2006/main">
              <a:ext uri="{FF2B5EF4-FFF2-40B4-BE49-F238E27FC236}">
                <a16:creationId xmlns:a16="http://schemas.microsoft.com/office/drawing/2014/main" id="{F8700F31-FE4C-4E41-9B07-2799EC39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862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票据验真</a:t>
            </a:r>
          </a:p>
        </p:txBody>
      </p:sp>
      <p:sp>
        <p:nvSpPr>
          <p:cNvPr id="43" name="lane-4-4">
            <a:extLst xmlns:a="http://schemas.openxmlformats.org/drawingml/2006/main">
              <a:ext uri="{FF2B5EF4-FFF2-40B4-BE49-F238E27FC236}">
                <a16:creationId xmlns:a16="http://schemas.microsoft.com/office/drawing/2014/main" id="{10DE2230-8B1E-436D-9602-57B02091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862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报销付款</a:t>
            </a:r>
          </a:p>
        </p:txBody>
      </p:sp>
      <p:sp>
        <p:nvSpPr>
          <p:cNvPr id="44" name="lane-4-5">
            <a:extLst xmlns:a="http://schemas.openxmlformats.org/drawingml/2006/main">
              <a:ext uri="{FF2B5EF4-FFF2-40B4-BE49-F238E27FC236}">
                <a16:creationId xmlns:a16="http://schemas.microsoft.com/office/drawing/2014/main" id="{AF078542-3C7C-414D-94E9-E62F77E4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862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费用/往来</a:t>
            </a:r>
          </a:p>
        </p:txBody>
      </p:sp>
      <p:sp>
        <p:nvSpPr>
          <p:cNvPr id="45" name="lane-4-6">
            <a:extLst xmlns:a="http://schemas.openxmlformats.org/drawingml/2006/main">
              <a:ext uri="{FF2B5EF4-FFF2-40B4-BE49-F238E27FC236}">
                <a16:creationId xmlns:a16="http://schemas.microsoft.com/office/drawing/2014/main" id="{D714116B-6BBC-4C97-8E73-8BB441AA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862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异常清单</a:t>
            </a:r>
          </a:p>
        </p:txBody>
      </p:sp>
      <p:sp>
        <p:nvSpPr>
          <p:cNvPr id="46" name="lane-5">
            <a:extLst xmlns:a="http://schemas.openxmlformats.org/drawingml/2006/main">
              <a:ext uri="{FF2B5EF4-FFF2-40B4-BE49-F238E27FC236}">
                <a16:creationId xmlns:a16="http://schemas.microsoft.com/office/drawing/2014/main" id="{52CA98E0-7204-4BF3-97AB-0A396E85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研发投入</a:t>
            </a:r>
          </a:p>
        </p:txBody>
      </p:sp>
      <p:sp>
        <p:nvSpPr>
          <p:cNvPr id="47" name="lane-5-1">
            <a:extLst xmlns:a="http://schemas.openxmlformats.org/drawingml/2006/main">
              <a:ext uri="{FF2B5EF4-FFF2-40B4-BE49-F238E27FC236}">
                <a16:creationId xmlns:a16="http://schemas.microsoft.com/office/drawing/2014/main" id="{3872D4B4-2C39-455C-B760-228D2141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768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研发立项</a:t>
            </a:r>
          </a:p>
        </p:txBody>
      </p:sp>
      <p:sp>
        <p:nvSpPr>
          <p:cNvPr id="48" name="lane-5-2">
            <a:extLst xmlns:a="http://schemas.openxmlformats.org/drawingml/2006/main">
              <a:ext uri="{FF2B5EF4-FFF2-40B4-BE49-F238E27FC236}">
                <a16:creationId xmlns:a16="http://schemas.microsoft.com/office/drawing/2014/main" id="{4C90377F-3FDA-41EE-B910-DAB9DCB5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768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预算审核</a:t>
            </a:r>
          </a:p>
        </p:txBody>
      </p:sp>
      <p:sp>
        <p:nvSpPr>
          <p:cNvPr id="49" name="lane-5-3">
            <a:extLst xmlns:a="http://schemas.openxmlformats.org/drawingml/2006/main">
              <a:ext uri="{FF2B5EF4-FFF2-40B4-BE49-F238E27FC236}">
                <a16:creationId xmlns:a16="http://schemas.microsoft.com/office/drawing/2014/main" id="{A9BAECC0-EE91-4B80-AA7A-7B7DF605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768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工时/费用</a:t>
            </a:r>
          </a:p>
        </p:txBody>
      </p:sp>
      <p:sp>
        <p:nvSpPr>
          <p:cNvPr id="50" name="lane-5-4">
            <a:extLst xmlns:a="http://schemas.openxmlformats.org/drawingml/2006/main">
              <a:ext uri="{FF2B5EF4-FFF2-40B4-BE49-F238E27FC236}">
                <a16:creationId xmlns:a16="http://schemas.microsoft.com/office/drawing/2014/main" id="{A24FFB60-D1B0-4EF2-8C63-70210082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768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月度结转</a:t>
            </a:r>
          </a:p>
        </p:txBody>
      </p:sp>
      <p:sp>
        <p:nvSpPr>
          <p:cNvPr id="51" name="lane-5-5">
            <a:extLst xmlns:a="http://schemas.openxmlformats.org/drawingml/2006/main">
              <a:ext uri="{FF2B5EF4-FFF2-40B4-BE49-F238E27FC236}">
                <a16:creationId xmlns:a16="http://schemas.microsoft.com/office/drawing/2014/main" id="{0C33285D-B86E-4459-B1F2-347E405A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768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研发费用</a:t>
            </a:r>
          </a:p>
        </p:txBody>
      </p:sp>
      <p:sp>
        <p:nvSpPr>
          <p:cNvPr id="52" name="lane-5-6">
            <a:extLst xmlns:a="http://schemas.openxmlformats.org/drawingml/2006/main">
              <a:ext uri="{FF2B5EF4-FFF2-40B4-BE49-F238E27FC236}">
                <a16:creationId xmlns:a16="http://schemas.microsoft.com/office/drawing/2014/main" id="{88FE21B4-08E6-4E50-9D79-82DB7B6A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7680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投入分析</a:t>
            </a:r>
          </a:p>
        </p:txBody>
      </p:sp>
      <p:sp>
        <p:nvSpPr>
          <p:cNvPr id="53" name="lane-6">
            <a:extLst xmlns:a="http://schemas.openxmlformats.org/drawingml/2006/main">
              <a:ext uri="{FF2B5EF4-FFF2-40B4-BE49-F238E27FC236}">
                <a16:creationId xmlns:a16="http://schemas.microsoft.com/office/drawing/2014/main" id="{D35C335F-3CB7-4240-9BD6-7351B142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经营分析</a:t>
            </a:r>
          </a:p>
        </p:txBody>
      </p:sp>
      <p:sp>
        <p:nvSpPr>
          <p:cNvPr id="54" name="lane-6-1">
            <a:extLst xmlns:a="http://schemas.openxmlformats.org/drawingml/2006/main">
              <a:ext uri="{FF2B5EF4-FFF2-40B4-BE49-F238E27FC236}">
                <a16:creationId xmlns:a16="http://schemas.microsoft.com/office/drawing/2014/main" id="{39B96F2D-39A5-4835-9696-C3CFBD53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数据归集</a:t>
            </a:r>
          </a:p>
        </p:txBody>
      </p:sp>
      <p:sp>
        <p:nvSpPr>
          <p:cNvPr id="55" name="lane-6-2">
            <a:extLst xmlns:a="http://schemas.openxmlformats.org/drawingml/2006/main">
              <a:ext uri="{FF2B5EF4-FFF2-40B4-BE49-F238E27FC236}">
                <a16:creationId xmlns:a16="http://schemas.microsoft.com/office/drawing/2014/main" id="{7695E3D1-F9BB-4E7B-B191-45162056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673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关账对账</a:t>
            </a:r>
          </a:p>
        </p:txBody>
      </p:sp>
      <p:sp>
        <p:nvSpPr>
          <p:cNvPr id="56" name="lane-6-3">
            <a:extLst xmlns:a="http://schemas.openxmlformats.org/drawingml/2006/main">
              <a:ext uri="{FF2B5EF4-FFF2-40B4-BE49-F238E27FC236}">
                <a16:creationId xmlns:a16="http://schemas.microsoft.com/office/drawing/2014/main" id="{2AA62522-288B-4570-B6DA-3C3C64E1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673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指标计算</a:t>
            </a:r>
          </a:p>
        </p:txBody>
      </p:sp>
      <p:sp>
        <p:nvSpPr>
          <p:cNvPr id="57" name="lane-6-4">
            <a:extLst xmlns:a="http://schemas.openxmlformats.org/drawingml/2006/main">
              <a:ext uri="{FF2B5EF4-FFF2-40B4-BE49-F238E27FC236}">
                <a16:creationId xmlns:a16="http://schemas.microsoft.com/office/drawing/2014/main" id="{6D4CC7F5-4DFD-4BF8-88EB-A86E6525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673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资金预测</a:t>
            </a:r>
          </a:p>
        </p:txBody>
      </p:sp>
      <p:sp>
        <p:nvSpPr>
          <p:cNvPr id="58" name="lane-6-5">
            <a:extLst xmlns:a="http://schemas.openxmlformats.org/drawingml/2006/main">
              <a:ext uri="{FF2B5EF4-FFF2-40B4-BE49-F238E27FC236}">
                <a16:creationId xmlns:a16="http://schemas.microsoft.com/office/drawing/2014/main" id="{BDF5CBEF-FC04-4ED3-AAB1-6783D83B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673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B4D"/>
                </a:solidFill>
              </a:defRPr>
            </a:pPr>
            <a:r>
              <a:rPr sz="1050" b="0">
                <a:solidFill>
                  <a:srgbClr val="172B4D"/>
                </a:solidFill>
              </a:rPr>
              <a:t>报表生成</a:t>
            </a:r>
          </a:p>
        </p:txBody>
      </p:sp>
      <p:sp>
        <p:nvSpPr>
          <p:cNvPr id="59" name="lane-6-6">
            <a:extLst xmlns:a="http://schemas.openxmlformats.org/drawingml/2006/main">
              <a:ext uri="{FF2B5EF4-FFF2-40B4-BE49-F238E27FC236}">
                <a16:creationId xmlns:a16="http://schemas.microsoft.com/office/drawing/2014/main" id="{C74458FE-882E-4CEC-BEEE-740EB330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67350"/>
            <a:ext cx="14287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复盘改进</a:t>
            </a:r>
          </a:p>
        </p:txBody>
      </p:sp>
      <p:sp>
        <p:nvSpPr>
          <p:cNvPr id="60" name="source">
            <a:extLst xmlns:a="http://schemas.openxmlformats.org/drawingml/2006/main">
              <a:ext uri="{FF2B5EF4-FFF2-40B4-BE49-F238E27FC236}">
                <a16:creationId xmlns:a16="http://schemas.microsoft.com/office/drawing/2014/main" id="{C4750971-E71F-4411-9D38-B013D2C8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69A"/>
                </a:solidFill>
              </a:defRPr>
            </a:pPr>
            <a:r>
              <a:rPr sz="825" b="0">
                <a:solidFill>
                  <a:srgbClr val="7A869A"/>
                </a:solidFill>
              </a:rPr>
              <a:t>源自《业财融合之业务流程再造&amp;财务系统》</a:t>
            </a:r>
          </a:p>
        </p:txBody>
      </p:sp>
      <p:sp>
        <p:nvSpPr>
          <p:cNvPr id="61" name="footer">
            <a:extLst xmlns:a="http://schemas.openxmlformats.org/drawingml/2006/main">
              <a:ext uri="{FF2B5EF4-FFF2-40B4-BE49-F238E27FC236}">
                <a16:creationId xmlns:a16="http://schemas.microsoft.com/office/drawing/2014/main" id="{8A181286-86A4-4830-B167-1C371780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69A"/>
                </a:solidFill>
              </a:defRPr>
            </a:pPr>
            <a:r>
              <a:rPr sz="825" b="1">
                <a:solidFill>
                  <a:srgbClr val="7A869A"/>
                </a:solidFill>
              </a:rPr>
              <a:t>PMS 业财一体化</a:t>
            </a:r>
          </a:p>
        </p:txBody>
      </p:sp>
    </p:spTree>
    <p:extLst>
      <p:ext uri="{BB962C8B-B14F-4D97-AF65-F5344CB8AC3E}">
        <p14:creationId xmlns:p14="http://schemas.microsoft.com/office/powerpoint/2010/main" val="1552019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o">
            <a:extLst xmlns:a="http://schemas.openxmlformats.org/drawingml/2006/main">
              <a:ext uri="{FF2B5EF4-FFF2-40B4-BE49-F238E27FC236}">
                <a16:creationId xmlns:a16="http://schemas.microsoft.com/office/drawing/2014/main" id="{374518F7-21AD-442D-96BA-4A89B754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04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DFF416-F039-49B1-9F56-D448F06F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场景一｜采购到付款（P2P）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953B93-D637-46CC-BCFA-E9DBA992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从采购需求到资金支付与应付分析的完整闭环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73D1A-0494-4A96-9E80-BC75851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A73D7CD0-B40C-4240-8E27-BB22532C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场景说明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532E6A91-88A7-4BAB-BACE-8F236CF5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71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适用于固定资产、物料、商品及服务采购，确保需求真实、采购合规、验收有效、付款有据。</a:t>
            </a:r>
          </a:p>
        </p:txBody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40B58B29-D477-4423-B526-272991C6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参与角色</a:t>
            </a:r>
          </a:p>
        </p:txBody>
      </p:sp>
      <p:sp>
        <p:nvSpPr>
          <p:cNvPr id="8" name="roles">
            <a:extLst xmlns:a="http://schemas.openxmlformats.org/drawingml/2006/main">
              <a:ext uri="{FF2B5EF4-FFF2-40B4-BE49-F238E27FC236}">
                <a16:creationId xmlns:a16="http://schemas.microsoft.com/office/drawing/2014/main" id="{C1BB3DE8-D814-4989-AB36-00E985C3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52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需求部门、采购、供应商、验收人、财务、资金岗、审批人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9B6790F9-833B-4A66-9684-F0696EAE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57D9"/>
          </a:solidFill>
          <a:ln xmlns:a="http://schemas.openxmlformats.org/drawingml/2006/main" w="9525">
            <a:solidFill>
              <a:srgbClr val="7157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前置条件</a:t>
            </a:r>
          </a:p>
        </p:txBody>
      </p:sp>
      <p:sp>
        <p:nvSpPr>
          <p:cNvPr id="10" name="prereq">
            <a:extLst xmlns:a="http://schemas.openxmlformats.org/drawingml/2006/main">
              <a:ext uri="{FF2B5EF4-FFF2-40B4-BE49-F238E27FC236}">
                <a16:creationId xmlns:a16="http://schemas.microsoft.com/office/drawing/2014/main" id="{8B2D0EB3-0729-4F1D-B374-9642F545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33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已建立供应商、物料/服务、预算科目、组织与项目主数据；采购权限和金额阈值已配置。</a:t>
            </a:r>
          </a:p>
        </p:txBody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A702FF92-A98A-458C-883F-8E07A519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1  请购申请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09FBCD40-B81C-4FDD-833B-FF081763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2  预算校验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2C37AED0-95B5-46A6-914E-A0C16DBA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3  采购比价</a:t>
            </a:r>
          </a:p>
        </p:txBody>
      </p:sp>
      <p:sp>
        <p:nvSpPr>
          <p:cNvPr id="14" name="step-4">
            <a:extLst xmlns:a="http://schemas.openxmlformats.org/drawingml/2006/main">
              <a:ext uri="{FF2B5EF4-FFF2-40B4-BE49-F238E27FC236}">
                <a16:creationId xmlns:a16="http://schemas.microsoft.com/office/drawing/2014/main" id="{2325757E-7828-46AB-8686-141F0821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4  采购订单</a:t>
            </a:r>
          </a:p>
        </p:txBody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BD2A7CF0-1040-4178-B462-46CF9C51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5  合同会审</a:t>
            </a:r>
          </a:p>
        </p:txBody>
      </p:sp>
      <p:sp>
        <p:nvSpPr>
          <p:cNvPr id="16" name="step-6">
            <a:extLst xmlns:a="http://schemas.openxmlformats.org/drawingml/2006/main">
              <a:ext uri="{FF2B5EF4-FFF2-40B4-BE49-F238E27FC236}">
                <a16:creationId xmlns:a16="http://schemas.microsoft.com/office/drawing/2014/main" id="{AECF14B9-195A-4571-B587-852C8E10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6  收货/验收</a:t>
            </a:r>
          </a:p>
        </p:txBody>
      </p:sp>
      <p:sp>
        <p:nvSpPr>
          <p:cNvPr id="17" name="step-7">
            <a:extLst xmlns:a="http://schemas.openxmlformats.org/drawingml/2006/main">
              <a:ext uri="{FF2B5EF4-FFF2-40B4-BE49-F238E27FC236}">
                <a16:creationId xmlns:a16="http://schemas.microsoft.com/office/drawing/2014/main" id="{1140CEF2-27BC-47AA-9962-0DED4486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7  进项发票</a:t>
            </a:r>
          </a:p>
        </p:txBody>
      </p:sp>
      <p:sp>
        <p:nvSpPr>
          <p:cNvPr id="18" name="step-8">
            <a:extLst xmlns:a="http://schemas.openxmlformats.org/drawingml/2006/main">
              <a:ext uri="{FF2B5EF4-FFF2-40B4-BE49-F238E27FC236}">
                <a16:creationId xmlns:a16="http://schemas.microsoft.com/office/drawing/2014/main" id="{600F9515-F1FE-4638-8720-ED227912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8  付款审批</a:t>
            </a:r>
          </a:p>
        </p:txBody>
      </p:sp>
      <p:sp>
        <p:nvSpPr>
          <p:cNvPr id="19" name="step-9">
            <a:extLst xmlns:a="http://schemas.openxmlformats.org/drawingml/2006/main">
              <a:ext uri="{FF2B5EF4-FFF2-40B4-BE49-F238E27FC236}">
                <a16:creationId xmlns:a16="http://schemas.microsoft.com/office/drawing/2014/main" id="{F1DF7B8E-838A-4C5D-8063-A929D70F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9  支付与账龄</a:t>
            </a:r>
          </a:p>
        </p:txBody>
      </p: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1272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3014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4756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36498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661160" y="3162300"/>
            <a:ext cx="8869680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1272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93014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14756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sp>
        <p:nvSpPr>
          <p:cNvPr id="28" name="关键控制">
            <a:extLst xmlns:a="http://schemas.openxmlformats.org/drawingml/2006/main">
              <a:ext uri="{FF2B5EF4-FFF2-40B4-BE49-F238E27FC236}">
                <a16:creationId xmlns:a16="http://schemas.microsoft.com/office/drawing/2014/main" id="{CE0FB40D-71B8-4A7F-96F5-54E816A9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9" name="关键控制-title">
            <a:extLst xmlns:a="http://schemas.openxmlformats.org/drawingml/2006/main">
              <a:ext uri="{FF2B5EF4-FFF2-40B4-BE49-F238E27FC236}">
                <a16:creationId xmlns:a16="http://schemas.microsoft.com/office/drawing/2014/main" id="{98494D23-1594-4A55-BCF5-10F9F6F4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</a:defRPr>
            </a:pPr>
            <a:r>
              <a:rPr sz="1500" b="1">
                <a:solidFill>
                  <a:srgbClr val="155EEF"/>
                </a:solidFill>
              </a:rPr>
              <a:t>关键控制</a:t>
            </a:r>
          </a:p>
        </p:txBody>
      </p:sp>
      <p:sp>
        <p:nvSpPr>
          <p:cNvPr id="30" name="关键控制-body">
            <a:extLst xmlns:a="http://schemas.openxmlformats.org/drawingml/2006/main">
              <a:ext uri="{FF2B5EF4-FFF2-40B4-BE49-F238E27FC236}">
                <a16:creationId xmlns:a16="http://schemas.microsoft.com/office/drawing/2014/main" id="{D369E7A7-6E9B-483F-8175-E5B89C18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金额≥1000元先请购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供应商选择保留比价依据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合同/订单/验收/发票/付款匹配</a:t>
            </a:r>
          </a:p>
        </p:txBody>
      </p:sp>
      <p:sp>
        <p:nvSpPr>
          <p:cNvPr id="31" name="财务与数据落点">
            <a:extLst xmlns:a="http://schemas.openxmlformats.org/drawingml/2006/main">
              <a:ext uri="{FF2B5EF4-FFF2-40B4-BE49-F238E27FC236}">
                <a16:creationId xmlns:a16="http://schemas.microsoft.com/office/drawing/2014/main" id="{D872B1C8-ECB6-463D-8E86-7AE06454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2" name="财务与数据落点-title">
            <a:extLst xmlns:a="http://schemas.openxmlformats.org/drawingml/2006/main">
              <a:ext uri="{FF2B5EF4-FFF2-40B4-BE49-F238E27FC236}">
                <a16:creationId xmlns:a16="http://schemas.microsoft.com/office/drawing/2014/main" id="{3E932C53-3454-430D-A13E-2A82ED46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6A"/>
                </a:solidFill>
              </a:defRPr>
            </a:pPr>
            <a:r>
              <a:rPr sz="1500" b="1">
                <a:solidFill>
                  <a:srgbClr val="16A36A"/>
                </a:solidFill>
              </a:rPr>
              <a:t>财务与数据落点</a:t>
            </a:r>
          </a:p>
        </p:txBody>
      </p:sp>
      <p:sp>
        <p:nvSpPr>
          <p:cNvPr id="33" name="财务与数据落点-body">
            <a:extLst xmlns:a="http://schemas.openxmlformats.org/drawingml/2006/main">
              <a:ext uri="{FF2B5EF4-FFF2-40B4-BE49-F238E27FC236}">
                <a16:creationId xmlns:a16="http://schemas.microsoft.com/office/drawing/2014/main" id="{1896A9AD-7E58-4B7F-B8A8-347B7A03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确认存货、资产或费用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确认应付账款与进项税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付款自动生成资金凭证并核销应付</a:t>
            </a:r>
          </a:p>
        </p:txBody>
      </p:sp>
      <p:sp>
        <p:nvSpPr>
          <p:cNvPr id="34" name="异常与边界">
            <a:extLst xmlns:a="http://schemas.openxmlformats.org/drawingml/2006/main">
              <a:ext uri="{FF2B5EF4-FFF2-40B4-BE49-F238E27FC236}">
                <a16:creationId xmlns:a16="http://schemas.microsoft.com/office/drawing/2014/main" id="{6CC5285B-7266-4F8F-BFA4-50C4307A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5" name="异常与边界-title">
            <a:extLst xmlns:a="http://schemas.openxmlformats.org/drawingml/2006/main">
              <a:ext uri="{FF2B5EF4-FFF2-40B4-BE49-F238E27FC236}">
                <a16:creationId xmlns:a16="http://schemas.microsoft.com/office/drawing/2014/main" id="{C0A9F9A8-FC3F-43A4-A2EE-22F09EB8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异常与边界</a:t>
            </a:r>
          </a:p>
        </p:txBody>
      </p:sp>
      <p:sp>
        <p:nvSpPr>
          <p:cNvPr id="36" name="异常与边界-body">
            <a:extLst xmlns:a="http://schemas.openxmlformats.org/drawingml/2006/main">
              <a:ext uri="{FF2B5EF4-FFF2-40B4-BE49-F238E27FC236}">
                <a16:creationId xmlns:a16="http://schemas.microsoft.com/office/drawing/2014/main" id="{EA4B2144-54C7-4172-A4EF-2FFEEB01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预付款与分期付款专项审批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无票付款说明原因并限期补票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超预算采购升级审批</a:t>
            </a:r>
          </a:p>
        </p:txBody>
      </p:sp>
      <p:sp>
        <p:nvSpPr>
          <p:cNvPr id="37" name="source">
            <a:extLst xmlns:a="http://schemas.openxmlformats.org/drawingml/2006/main">
              <a:ext uri="{FF2B5EF4-FFF2-40B4-BE49-F238E27FC236}">
                <a16:creationId xmlns:a16="http://schemas.microsoft.com/office/drawing/2014/main" id="{3E0323F0-7729-49F3-95F0-DCE696BA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69A"/>
                </a:solidFill>
              </a:defRPr>
            </a:pPr>
            <a:r>
              <a:rPr sz="825" b="0">
                <a:solidFill>
                  <a:srgbClr val="7A869A"/>
                </a:solidFill>
              </a:rPr>
              <a:t>来源：原稿第2—10页</a:t>
            </a:r>
          </a:p>
        </p:txBody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7B8742F6-6B88-4AA2-89EE-C186A285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69A"/>
                </a:solidFill>
              </a:defRPr>
            </a:pPr>
            <a:r>
              <a:rPr sz="825" b="1">
                <a:solidFill>
                  <a:srgbClr val="7A869A"/>
                </a:solidFill>
              </a:rPr>
              <a:t>PMS 业财一体化</a:t>
            </a:r>
          </a:p>
        </p:txBody>
      </p:sp>
    </p:spTree>
    <p:extLst>
      <p:ext uri="{BB962C8B-B14F-4D97-AF65-F5344CB8AC3E}">
        <p14:creationId xmlns:p14="http://schemas.microsoft.com/office/powerpoint/2010/main" val="105193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o">
            <a:extLst xmlns:a="http://schemas.openxmlformats.org/drawingml/2006/main">
              <a:ext uri="{FF2B5EF4-FFF2-40B4-BE49-F238E27FC236}">
                <a16:creationId xmlns:a16="http://schemas.microsoft.com/office/drawing/2014/main" id="{5E48E03B-CA5F-4BC7-B774-CD1AED69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05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A2EB5E-1CF9-497A-884E-5DF89744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场景二｜库存与固定资产全生命周期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BE62B5-548A-4C33-955F-16A5AC5D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实物、业务台账与财务账的一致性管理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311F6-2C95-42FB-8313-F0146E08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81786310-ACAA-418E-9156-90C320DE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场景说明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2B37BB48-8084-42D8-B31A-1C1E49B8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71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覆盖商品、原材料、固定资产及租赁资产的验收、保管、领用、盘点、折旧和报废。</a:t>
            </a:r>
          </a:p>
        </p:txBody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855188B7-142B-45FD-802D-8AEEE4ED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参与角色</a:t>
            </a:r>
          </a:p>
        </p:txBody>
      </p:sp>
      <p:sp>
        <p:nvSpPr>
          <p:cNvPr id="8" name="roles">
            <a:extLst xmlns:a="http://schemas.openxmlformats.org/drawingml/2006/main">
              <a:ext uri="{FF2B5EF4-FFF2-40B4-BE49-F238E27FC236}">
                <a16:creationId xmlns:a16="http://schemas.microsoft.com/office/drawing/2014/main" id="{0A48D809-8399-4F3E-8B4C-B5D37168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52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仓库、资产管理员、使用部门、采购、财务、盘点人员、审批人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AAEC5F88-F804-4722-9B20-6BA8E105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57D9"/>
          </a:solidFill>
          <a:ln xmlns:a="http://schemas.openxmlformats.org/drawingml/2006/main" w="9525">
            <a:solidFill>
              <a:srgbClr val="7157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前置条件</a:t>
            </a:r>
          </a:p>
        </p:txBody>
      </p:sp>
      <p:sp>
        <p:nvSpPr>
          <p:cNvPr id="10" name="prereq">
            <a:extLst xmlns:a="http://schemas.openxmlformats.org/drawingml/2006/main">
              <a:ext uri="{FF2B5EF4-FFF2-40B4-BE49-F238E27FC236}">
                <a16:creationId xmlns:a16="http://schemas.microsoft.com/office/drawing/2014/main" id="{25F1F87A-A6E2-47F4-A4C8-CB216FEF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33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采购订单或调拨依据有效；仓库、库位、物料、资产类别、折旧规则和责任人已维护。</a:t>
            </a:r>
          </a:p>
        </p:txBody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5EBE7BF7-E04D-410C-BB7C-D39AD430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1  到货验收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D4942694-D04E-42B5-A911-4B2EFC80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2  入库建账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7C1CD2C0-637D-443B-97F0-AC40BA66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3  资产卡片</a:t>
            </a:r>
          </a:p>
        </p:txBody>
      </p:sp>
      <p:sp>
        <p:nvSpPr>
          <p:cNvPr id="14" name="step-4">
            <a:extLst xmlns:a="http://schemas.openxmlformats.org/drawingml/2006/main">
              <a:ext uri="{FF2B5EF4-FFF2-40B4-BE49-F238E27FC236}">
                <a16:creationId xmlns:a16="http://schemas.microsoft.com/office/drawing/2014/main" id="{4F4ACD71-132B-4C01-811F-17EBB6CA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4  保管/领用</a:t>
            </a:r>
          </a:p>
        </p:txBody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B5296EB3-BB6A-4A31-8A02-26F22A50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5  调拨/归还</a:t>
            </a:r>
          </a:p>
        </p:txBody>
      </p:sp>
      <p:sp>
        <p:nvSpPr>
          <p:cNvPr id="16" name="step-6">
            <a:extLst xmlns:a="http://schemas.openxmlformats.org/drawingml/2006/main">
              <a:ext uri="{FF2B5EF4-FFF2-40B4-BE49-F238E27FC236}">
                <a16:creationId xmlns:a16="http://schemas.microsoft.com/office/drawing/2014/main" id="{412EB63C-B652-4EA6-B30C-075759CB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6  定期盘点</a:t>
            </a:r>
          </a:p>
        </p:txBody>
      </p:sp>
      <p:sp>
        <p:nvSpPr>
          <p:cNvPr id="17" name="step-7">
            <a:extLst xmlns:a="http://schemas.openxmlformats.org/drawingml/2006/main">
              <a:ext uri="{FF2B5EF4-FFF2-40B4-BE49-F238E27FC236}">
                <a16:creationId xmlns:a16="http://schemas.microsoft.com/office/drawing/2014/main" id="{EAE0C766-46EB-4045-B8C7-7FB92814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7  库龄分析</a:t>
            </a:r>
          </a:p>
        </p:txBody>
      </p:sp>
      <p:sp>
        <p:nvSpPr>
          <p:cNvPr id="18" name="step-8">
            <a:extLst xmlns:a="http://schemas.openxmlformats.org/drawingml/2006/main">
              <a:ext uri="{FF2B5EF4-FFF2-40B4-BE49-F238E27FC236}">
                <a16:creationId xmlns:a16="http://schemas.microsoft.com/office/drawing/2014/main" id="{DE158538-0D28-4180-AD85-37673510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8  折旧摊销</a:t>
            </a:r>
          </a:p>
        </p:txBody>
      </p:sp>
      <p:sp>
        <p:nvSpPr>
          <p:cNvPr id="19" name="step-9">
            <a:extLst xmlns:a="http://schemas.openxmlformats.org/drawingml/2006/main">
              <a:ext uri="{FF2B5EF4-FFF2-40B4-BE49-F238E27FC236}">
                <a16:creationId xmlns:a16="http://schemas.microsoft.com/office/drawing/2014/main" id="{DB82FD93-8AD7-42FF-AC20-83E26305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9  报废处置</a:t>
            </a:r>
          </a:p>
        </p:txBody>
      </p: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1272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3014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4756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36498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661160" y="3162300"/>
            <a:ext cx="8869680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1272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93014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14756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sp>
        <p:nvSpPr>
          <p:cNvPr id="28" name="关键控制">
            <a:extLst xmlns:a="http://schemas.openxmlformats.org/drawingml/2006/main">
              <a:ext uri="{FF2B5EF4-FFF2-40B4-BE49-F238E27FC236}">
                <a16:creationId xmlns:a16="http://schemas.microsoft.com/office/drawing/2014/main" id="{AE13BB04-74FE-46BC-AD5D-3DADF6E4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9" name="关键控制-title">
            <a:extLst xmlns:a="http://schemas.openxmlformats.org/drawingml/2006/main">
              <a:ext uri="{FF2B5EF4-FFF2-40B4-BE49-F238E27FC236}">
                <a16:creationId xmlns:a16="http://schemas.microsoft.com/office/drawing/2014/main" id="{01D93A2E-683A-4768-9B32-0E79E558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</a:defRPr>
            </a:pPr>
            <a:r>
              <a:rPr sz="1500" b="1">
                <a:solidFill>
                  <a:srgbClr val="155EEF"/>
                </a:solidFill>
              </a:rPr>
              <a:t>关键控制</a:t>
            </a:r>
          </a:p>
        </p:txBody>
      </p:sp>
      <p:sp>
        <p:nvSpPr>
          <p:cNvPr id="30" name="关键控制-body">
            <a:extLst xmlns:a="http://schemas.openxmlformats.org/drawingml/2006/main">
              <a:ext uri="{FF2B5EF4-FFF2-40B4-BE49-F238E27FC236}">
                <a16:creationId xmlns:a16="http://schemas.microsoft.com/office/drawing/2014/main" id="{1D6B6BB8-749A-4C2E-A277-EF2F5E4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入库必须关联订单和验收资料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一物一码，责任到部门和人员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盘盈盘亏、报废必须审批</a:t>
            </a:r>
          </a:p>
        </p:txBody>
      </p:sp>
      <p:sp>
        <p:nvSpPr>
          <p:cNvPr id="31" name="财务与数据落点">
            <a:extLst xmlns:a="http://schemas.openxmlformats.org/drawingml/2006/main">
              <a:ext uri="{FF2B5EF4-FFF2-40B4-BE49-F238E27FC236}">
                <a16:creationId xmlns:a16="http://schemas.microsoft.com/office/drawing/2014/main" id="{C56B50A4-753F-4375-A0A2-73A556DA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2" name="财务与数据落点-title">
            <a:extLst xmlns:a="http://schemas.openxmlformats.org/drawingml/2006/main">
              <a:ext uri="{FF2B5EF4-FFF2-40B4-BE49-F238E27FC236}">
                <a16:creationId xmlns:a16="http://schemas.microsoft.com/office/drawing/2014/main" id="{0EAE93A1-9F55-406B-8039-4B3A1473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6A"/>
                </a:solidFill>
              </a:defRPr>
            </a:pPr>
            <a:r>
              <a:rPr sz="1500" b="1">
                <a:solidFill>
                  <a:srgbClr val="16A36A"/>
                </a:solidFill>
              </a:rPr>
              <a:t>财务与数据落点</a:t>
            </a:r>
          </a:p>
        </p:txBody>
      </p:sp>
      <p:sp>
        <p:nvSpPr>
          <p:cNvPr id="33" name="财务与数据落点-body">
            <a:extLst xmlns:a="http://schemas.openxmlformats.org/drawingml/2006/main">
              <a:ext uri="{FF2B5EF4-FFF2-40B4-BE49-F238E27FC236}">
                <a16:creationId xmlns:a16="http://schemas.microsoft.com/office/drawing/2014/main" id="{FCC4DD8A-4980-44E5-A284-9D52046D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库存数量金额同步更新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资产卡片驱动折旧摊销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处置形成资产清理与损益</a:t>
            </a:r>
          </a:p>
        </p:txBody>
      </p:sp>
      <p:sp>
        <p:nvSpPr>
          <p:cNvPr id="34" name="异常与边界">
            <a:extLst xmlns:a="http://schemas.openxmlformats.org/drawingml/2006/main">
              <a:ext uri="{FF2B5EF4-FFF2-40B4-BE49-F238E27FC236}">
                <a16:creationId xmlns:a16="http://schemas.microsoft.com/office/drawing/2014/main" id="{24E8AE1E-1137-42CB-BF27-1F4BD809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5" name="异常与边界-title">
            <a:extLst xmlns:a="http://schemas.openxmlformats.org/drawingml/2006/main">
              <a:ext uri="{FF2B5EF4-FFF2-40B4-BE49-F238E27FC236}">
                <a16:creationId xmlns:a16="http://schemas.microsoft.com/office/drawing/2014/main" id="{FE028DEC-648B-40A4-B335-995190B6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异常与边界</a:t>
            </a:r>
          </a:p>
        </p:txBody>
      </p:sp>
      <p:sp>
        <p:nvSpPr>
          <p:cNvPr id="36" name="异常与边界-body">
            <a:extLst xmlns:a="http://schemas.openxmlformats.org/drawingml/2006/main">
              <a:ext uri="{FF2B5EF4-FFF2-40B4-BE49-F238E27FC236}">
                <a16:creationId xmlns:a16="http://schemas.microsoft.com/office/drawing/2014/main" id="{43B4A69A-D520-416A-9091-0FF04228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服务采购以完工确认替代入库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呆滞、毁损进入专项处理清单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租赁资产与自有资产分账管理</a:t>
            </a:r>
          </a:p>
        </p:txBody>
      </p:sp>
      <p:sp>
        <p:nvSpPr>
          <p:cNvPr id="37" name="source">
            <a:extLst xmlns:a="http://schemas.openxmlformats.org/drawingml/2006/main">
              <a:ext uri="{FF2B5EF4-FFF2-40B4-BE49-F238E27FC236}">
                <a16:creationId xmlns:a16="http://schemas.microsoft.com/office/drawing/2014/main" id="{7DCED0B2-88EE-42A6-8EBA-49F5010C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69A"/>
                </a:solidFill>
              </a:defRPr>
            </a:pPr>
            <a:r>
              <a:rPr sz="825" b="0">
                <a:solidFill>
                  <a:srgbClr val="7A869A"/>
                </a:solidFill>
              </a:rPr>
              <a:t>来源：原稿第11—21页</a:t>
            </a:r>
          </a:p>
        </p:txBody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3BE46461-ADA7-4520-800B-9486D01B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69A"/>
                </a:solidFill>
              </a:defRPr>
            </a:pPr>
            <a:r>
              <a:rPr sz="825" b="1">
                <a:solidFill>
                  <a:srgbClr val="7A869A"/>
                </a:solidFill>
              </a:rPr>
              <a:t>PMS 业财一体化</a:t>
            </a:r>
          </a:p>
        </p:txBody>
      </p:sp>
    </p:spTree>
    <p:extLst>
      <p:ext uri="{BB962C8B-B14F-4D97-AF65-F5344CB8AC3E}">
        <p14:creationId xmlns:p14="http://schemas.microsoft.com/office/powerpoint/2010/main" val="465096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o">
            <a:extLst xmlns:a="http://schemas.openxmlformats.org/drawingml/2006/main">
              <a:ext uri="{FF2B5EF4-FFF2-40B4-BE49-F238E27FC236}">
                <a16:creationId xmlns:a16="http://schemas.microsoft.com/office/drawing/2014/main" id="{D393CFF0-B264-4F53-AA91-1B5CE481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06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2B4014-04FE-41D3-B541-3FA1B454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场景三｜产品销售到回款（O2C）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735357-A3AB-4147-8D3F-2CA413A4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订单、物流、发票、资金与收入确认四流合一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568ED-485C-4216-8759-8BCE2E66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551778B3-577F-43E7-BE4E-41892EE9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场景说明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3F880F2-564F-4A04-B502-545E5A2D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71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适用于设备、商品和材料销售，覆盖合同、订单、出库、开票、收款和应收风险管理。</a:t>
            </a:r>
          </a:p>
        </p:txBody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EAF37095-D0FC-4309-A96B-CB8FFDB2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参与角色</a:t>
            </a:r>
          </a:p>
        </p:txBody>
      </p:sp>
      <p:sp>
        <p:nvSpPr>
          <p:cNvPr id="8" name="roles">
            <a:extLst xmlns:a="http://schemas.openxmlformats.org/drawingml/2006/main">
              <a:ext uri="{FF2B5EF4-FFF2-40B4-BE49-F238E27FC236}">
                <a16:creationId xmlns:a16="http://schemas.microsoft.com/office/drawing/2014/main" id="{3DD17F38-056D-4B2E-8DBA-92F3CE11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52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销售、客户、商务、仓库、财务、资金岗、催收责任人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603D4E0C-9E5D-41C2-98FB-E4922D58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57D9"/>
          </a:solidFill>
          <a:ln xmlns:a="http://schemas.openxmlformats.org/drawingml/2006/main" w="9525">
            <a:solidFill>
              <a:srgbClr val="7157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前置条件</a:t>
            </a:r>
          </a:p>
        </p:txBody>
      </p:sp>
      <p:sp>
        <p:nvSpPr>
          <p:cNvPr id="10" name="prereq">
            <a:extLst xmlns:a="http://schemas.openxmlformats.org/drawingml/2006/main">
              <a:ext uri="{FF2B5EF4-FFF2-40B4-BE49-F238E27FC236}">
                <a16:creationId xmlns:a16="http://schemas.microsoft.com/office/drawing/2014/main" id="{1FE656E7-35D9-4D22-828D-2347B20B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33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客户、产品、价目、信用额度、税率和收款账户有效；销售合同已审批。</a:t>
            </a:r>
          </a:p>
        </p:txBody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4148F971-AD89-4B56-A8F7-F4BAA35F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1  销售合同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8D164F03-8697-4D08-962D-35B5AACD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2  销售订单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777D5467-E6AB-44AB-B20A-62026114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3  信用/价格审核</a:t>
            </a:r>
          </a:p>
        </p:txBody>
      </p:sp>
      <p:sp>
        <p:nvSpPr>
          <p:cNvPr id="14" name="step-4">
            <a:extLst xmlns:a="http://schemas.openxmlformats.org/drawingml/2006/main">
              <a:ext uri="{FF2B5EF4-FFF2-40B4-BE49-F238E27FC236}">
                <a16:creationId xmlns:a16="http://schemas.microsoft.com/office/drawing/2014/main" id="{87B5EF02-EF63-4175-AE1B-1991D3D8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4  备货出库</a:t>
            </a:r>
          </a:p>
        </p:txBody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5E427E3C-5A32-4F68-837A-A41E30C7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5  开票申请</a:t>
            </a:r>
          </a:p>
        </p:txBody>
      </p:sp>
      <p:sp>
        <p:nvSpPr>
          <p:cNvPr id="16" name="step-6">
            <a:extLst xmlns:a="http://schemas.openxmlformats.org/drawingml/2006/main">
              <a:ext uri="{FF2B5EF4-FFF2-40B4-BE49-F238E27FC236}">
                <a16:creationId xmlns:a16="http://schemas.microsoft.com/office/drawing/2014/main" id="{757D5341-D14C-4494-AAFA-3F16C3B8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6  销项发票</a:t>
            </a:r>
          </a:p>
        </p:txBody>
      </p:sp>
      <p:sp>
        <p:nvSpPr>
          <p:cNvPr id="17" name="step-7">
            <a:extLst xmlns:a="http://schemas.openxmlformats.org/drawingml/2006/main">
              <a:ext uri="{FF2B5EF4-FFF2-40B4-BE49-F238E27FC236}">
                <a16:creationId xmlns:a16="http://schemas.microsoft.com/office/drawing/2014/main" id="{5E871605-5E7C-471A-A82D-17839E9F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7  应收确认</a:t>
            </a:r>
          </a:p>
        </p:txBody>
      </p:sp>
      <p:sp>
        <p:nvSpPr>
          <p:cNvPr id="18" name="step-8">
            <a:extLst xmlns:a="http://schemas.openxmlformats.org/drawingml/2006/main">
              <a:ext uri="{FF2B5EF4-FFF2-40B4-BE49-F238E27FC236}">
                <a16:creationId xmlns:a16="http://schemas.microsoft.com/office/drawing/2014/main" id="{5C847CF5-8AF1-479D-AE77-9A8B122E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8  客户回款</a:t>
            </a:r>
          </a:p>
        </p:txBody>
      </p:sp>
      <p:sp>
        <p:nvSpPr>
          <p:cNvPr id="19" name="step-9">
            <a:extLst xmlns:a="http://schemas.openxmlformats.org/drawingml/2006/main">
              <a:ext uri="{FF2B5EF4-FFF2-40B4-BE49-F238E27FC236}">
                <a16:creationId xmlns:a16="http://schemas.microsoft.com/office/drawing/2014/main" id="{BCAC301F-B251-40DC-8897-2461EC93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9  核销与催收</a:t>
            </a:r>
          </a:p>
        </p:txBody>
      </p: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1272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3014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4756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36498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661160" y="3162300"/>
            <a:ext cx="8869680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1272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93014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14756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sp>
        <p:nvSpPr>
          <p:cNvPr id="28" name="关键控制">
            <a:extLst xmlns:a="http://schemas.openxmlformats.org/drawingml/2006/main">
              <a:ext uri="{FF2B5EF4-FFF2-40B4-BE49-F238E27FC236}">
                <a16:creationId xmlns:a16="http://schemas.microsoft.com/office/drawing/2014/main" id="{EFF5A685-7969-43F6-B2FF-558C34BD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9" name="关键控制-title">
            <a:extLst xmlns:a="http://schemas.openxmlformats.org/drawingml/2006/main">
              <a:ext uri="{FF2B5EF4-FFF2-40B4-BE49-F238E27FC236}">
                <a16:creationId xmlns:a16="http://schemas.microsoft.com/office/drawing/2014/main" id="{1062BAE4-2634-4D6A-BEF0-2996D500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</a:defRPr>
            </a:pPr>
            <a:r>
              <a:rPr sz="1500" b="1">
                <a:solidFill>
                  <a:srgbClr val="155EEF"/>
                </a:solidFill>
              </a:rPr>
              <a:t>关键控制</a:t>
            </a:r>
          </a:p>
        </p:txBody>
      </p:sp>
      <p:sp>
        <p:nvSpPr>
          <p:cNvPr id="30" name="关键控制-body">
            <a:extLst xmlns:a="http://schemas.openxmlformats.org/drawingml/2006/main">
              <a:ext uri="{FF2B5EF4-FFF2-40B4-BE49-F238E27FC236}">
                <a16:creationId xmlns:a16="http://schemas.microsoft.com/office/drawing/2014/main" id="{3688B192-159C-460B-84A4-E723D68C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订单引用有效合同且不突破额度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出库数量不得超过订单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开票依据合同、出库及结算条件</a:t>
            </a:r>
          </a:p>
        </p:txBody>
      </p:sp>
      <p:sp>
        <p:nvSpPr>
          <p:cNvPr id="31" name="财务与数据落点">
            <a:extLst xmlns:a="http://schemas.openxmlformats.org/drawingml/2006/main">
              <a:ext uri="{FF2B5EF4-FFF2-40B4-BE49-F238E27FC236}">
                <a16:creationId xmlns:a16="http://schemas.microsoft.com/office/drawing/2014/main" id="{E91B20A7-8541-43AB-AB4D-1F187A37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2" name="财务与数据落点-title">
            <a:extLst xmlns:a="http://schemas.openxmlformats.org/drawingml/2006/main">
              <a:ext uri="{FF2B5EF4-FFF2-40B4-BE49-F238E27FC236}">
                <a16:creationId xmlns:a16="http://schemas.microsoft.com/office/drawing/2014/main" id="{D59418BF-C6DC-4FB8-AE07-3F124E21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6A"/>
                </a:solidFill>
              </a:defRPr>
            </a:pPr>
            <a:r>
              <a:rPr sz="1500" b="1">
                <a:solidFill>
                  <a:srgbClr val="16A36A"/>
                </a:solidFill>
              </a:rPr>
              <a:t>财务与数据落点</a:t>
            </a:r>
          </a:p>
        </p:txBody>
      </p:sp>
      <p:sp>
        <p:nvSpPr>
          <p:cNvPr id="33" name="财务与数据落点-body">
            <a:extLst xmlns:a="http://schemas.openxmlformats.org/drawingml/2006/main">
              <a:ext uri="{FF2B5EF4-FFF2-40B4-BE49-F238E27FC236}">
                <a16:creationId xmlns:a16="http://schemas.microsoft.com/office/drawing/2014/main" id="{D3B7FA2A-15C6-48C3-8BF5-CB61A53A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确认收入、销项税和应收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出库同步结转销售成本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回款按合同/订单/发票核销</a:t>
            </a:r>
          </a:p>
        </p:txBody>
      </p:sp>
      <p:sp>
        <p:nvSpPr>
          <p:cNvPr id="34" name="异常与边界">
            <a:extLst xmlns:a="http://schemas.openxmlformats.org/drawingml/2006/main">
              <a:ext uri="{FF2B5EF4-FFF2-40B4-BE49-F238E27FC236}">
                <a16:creationId xmlns:a16="http://schemas.microsoft.com/office/drawing/2014/main" id="{9EC781DF-7950-495C-928A-6B7D96CD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5" name="异常与边界-title">
            <a:extLst xmlns:a="http://schemas.openxmlformats.org/drawingml/2006/main">
              <a:ext uri="{FF2B5EF4-FFF2-40B4-BE49-F238E27FC236}">
                <a16:creationId xmlns:a16="http://schemas.microsoft.com/office/drawing/2014/main" id="{CB1BFEA8-9FC0-4F4F-A9A9-FEEFF866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异常与边界</a:t>
            </a:r>
          </a:p>
        </p:txBody>
      </p:sp>
      <p:sp>
        <p:nvSpPr>
          <p:cNvPr id="36" name="异常与边界-body">
            <a:extLst xmlns:a="http://schemas.openxmlformats.org/drawingml/2006/main">
              <a:ext uri="{FF2B5EF4-FFF2-40B4-BE49-F238E27FC236}">
                <a16:creationId xmlns:a16="http://schemas.microsoft.com/office/drawing/2014/main" id="{66C17B5E-4096-4EA3-9759-A7AFF519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预收款先挂合同再转应收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退货、折让和红字发票闭环处理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逾期应收分级催收并计提风险</a:t>
            </a:r>
          </a:p>
        </p:txBody>
      </p:sp>
      <p:sp>
        <p:nvSpPr>
          <p:cNvPr id="37" name="source">
            <a:extLst xmlns:a="http://schemas.openxmlformats.org/drawingml/2006/main">
              <a:ext uri="{FF2B5EF4-FFF2-40B4-BE49-F238E27FC236}">
                <a16:creationId xmlns:a16="http://schemas.microsoft.com/office/drawing/2014/main" id="{8821EEE9-D23C-4B93-8CBA-98331259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69A"/>
                </a:solidFill>
              </a:defRPr>
            </a:pPr>
            <a:r>
              <a:rPr sz="825" b="0">
                <a:solidFill>
                  <a:srgbClr val="7A869A"/>
                </a:solidFill>
              </a:rPr>
              <a:t>来源：原稿第22—33页</a:t>
            </a:r>
          </a:p>
        </p:txBody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887FEE63-1C50-4E75-BF04-1950F2E4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69A"/>
                </a:solidFill>
              </a:defRPr>
            </a:pPr>
            <a:r>
              <a:rPr sz="825" b="1">
                <a:solidFill>
                  <a:srgbClr val="7A869A"/>
                </a:solidFill>
              </a:rPr>
              <a:t>PMS 业财一体化</a:t>
            </a:r>
          </a:p>
        </p:txBody>
      </p:sp>
    </p:spTree>
    <p:extLst>
      <p:ext uri="{BB962C8B-B14F-4D97-AF65-F5344CB8AC3E}">
        <p14:creationId xmlns:p14="http://schemas.microsoft.com/office/powerpoint/2010/main" val="17586444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o">
            <a:extLst xmlns:a="http://schemas.openxmlformats.org/drawingml/2006/main">
              <a:ext uri="{FF2B5EF4-FFF2-40B4-BE49-F238E27FC236}">
                <a16:creationId xmlns:a16="http://schemas.microsoft.com/office/drawing/2014/main" id="{6860C6E8-3FC4-4BE0-8812-76098751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07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5C7BF2-6B1E-464D-8914-BCB3CBBC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场景四｜项目履约、验收、结算与收款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E7D359-24EA-47DF-86C7-E81BB99E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以项目编码贯穿合同、预算、交付、结算和收益分析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68DC2-434D-43AD-9297-1AF3F8E0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5C6FC2D0-6343-452A-8FDD-15779995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场景说明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F0488104-20B4-411B-BAA9-C36DC388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71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适用于技术服务、软件集成等项目型业务，按里程碑管理履约投入、收入确认与现金回收。</a:t>
            </a:r>
          </a:p>
        </p:txBody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F8CE8B91-A3F8-407F-8873-58626F9D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参与角色</a:t>
            </a:r>
          </a:p>
        </p:txBody>
      </p:sp>
      <p:sp>
        <p:nvSpPr>
          <p:cNvPr id="8" name="roles">
            <a:extLst xmlns:a="http://schemas.openxmlformats.org/drawingml/2006/main">
              <a:ext uri="{FF2B5EF4-FFF2-40B4-BE49-F238E27FC236}">
                <a16:creationId xmlns:a16="http://schemas.microsoft.com/office/drawing/2014/main" id="{A700890F-49FC-458A-99AA-F4D64AD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52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项目经理、项目成员、客户、销售、交付/验收人、财务、审批人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AE3D6515-6DB6-4094-A233-E447724D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57D9"/>
          </a:solidFill>
          <a:ln xmlns:a="http://schemas.openxmlformats.org/drawingml/2006/main" w="9525">
            <a:solidFill>
              <a:srgbClr val="7157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前置条件</a:t>
            </a:r>
          </a:p>
        </p:txBody>
      </p:sp>
      <p:sp>
        <p:nvSpPr>
          <p:cNvPr id="10" name="prereq">
            <a:extLst xmlns:a="http://schemas.openxmlformats.org/drawingml/2006/main">
              <a:ext uri="{FF2B5EF4-FFF2-40B4-BE49-F238E27FC236}">
                <a16:creationId xmlns:a16="http://schemas.microsoft.com/office/drawing/2014/main" id="{6819C8E6-430C-4D67-84FB-8F43C239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33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项目已立项；合同、预算、WBS、里程碑、结算条款和项目核算维度已配置。</a:t>
            </a:r>
          </a:p>
        </p:txBody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340902EE-77DB-4B74-B933-BE8C2DA2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1  项目立项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1121BA7F-2606-4C5C-B0A3-116CB1BB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2  合同/预算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8C5A07CA-8559-480B-A771-E6310C16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3  任务执行</a:t>
            </a:r>
          </a:p>
        </p:txBody>
      </p:sp>
      <p:sp>
        <p:nvSpPr>
          <p:cNvPr id="14" name="step-4">
            <a:extLst xmlns:a="http://schemas.openxmlformats.org/drawingml/2006/main">
              <a:ext uri="{FF2B5EF4-FFF2-40B4-BE49-F238E27FC236}">
                <a16:creationId xmlns:a16="http://schemas.microsoft.com/office/drawing/2014/main" id="{9F5AB943-D9B9-4004-872D-43D88C4D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4  投入归集</a:t>
            </a:r>
          </a:p>
        </p:txBody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177157A3-B212-4749-BA95-742C9CA2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5  阶段交付</a:t>
            </a:r>
          </a:p>
        </p:txBody>
      </p:sp>
      <p:sp>
        <p:nvSpPr>
          <p:cNvPr id="16" name="step-6">
            <a:extLst xmlns:a="http://schemas.openxmlformats.org/drawingml/2006/main">
              <a:ext uri="{FF2B5EF4-FFF2-40B4-BE49-F238E27FC236}">
                <a16:creationId xmlns:a16="http://schemas.microsoft.com/office/drawing/2014/main" id="{C5730820-5B38-4FF5-87BD-798B28CD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6  客户验收</a:t>
            </a:r>
          </a:p>
        </p:txBody>
      </p:sp>
      <p:sp>
        <p:nvSpPr>
          <p:cNvPr id="17" name="step-7">
            <a:extLst xmlns:a="http://schemas.openxmlformats.org/drawingml/2006/main">
              <a:ext uri="{FF2B5EF4-FFF2-40B4-BE49-F238E27FC236}">
                <a16:creationId xmlns:a16="http://schemas.microsoft.com/office/drawing/2014/main" id="{3FABB3E0-ABE7-45A6-8F8B-0F5913F4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7  结算确认</a:t>
            </a:r>
          </a:p>
        </p:txBody>
      </p:sp>
      <p:sp>
        <p:nvSpPr>
          <p:cNvPr id="18" name="step-8">
            <a:extLst xmlns:a="http://schemas.openxmlformats.org/drawingml/2006/main">
              <a:ext uri="{FF2B5EF4-FFF2-40B4-BE49-F238E27FC236}">
                <a16:creationId xmlns:a16="http://schemas.microsoft.com/office/drawing/2014/main" id="{90D951AB-84BB-4BAF-B9A7-37556E83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8  开票/应收</a:t>
            </a:r>
          </a:p>
        </p:txBody>
      </p:sp>
      <p:sp>
        <p:nvSpPr>
          <p:cNvPr id="19" name="step-9">
            <a:extLst xmlns:a="http://schemas.openxmlformats.org/drawingml/2006/main">
              <a:ext uri="{FF2B5EF4-FFF2-40B4-BE49-F238E27FC236}">
                <a16:creationId xmlns:a16="http://schemas.microsoft.com/office/drawing/2014/main" id="{07A61762-ED98-414C-8D27-A99756F2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9  回款与收益</a:t>
            </a:r>
          </a:p>
        </p:txBody>
      </p: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1272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3014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4756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36498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661160" y="3162300"/>
            <a:ext cx="8869680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1272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93014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14756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sp>
        <p:nvSpPr>
          <p:cNvPr id="28" name="关键控制">
            <a:extLst xmlns:a="http://schemas.openxmlformats.org/drawingml/2006/main">
              <a:ext uri="{FF2B5EF4-FFF2-40B4-BE49-F238E27FC236}">
                <a16:creationId xmlns:a16="http://schemas.microsoft.com/office/drawing/2014/main" id="{9579AC68-3D00-462A-8E4D-BD9E5597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9" name="关键控制-title">
            <a:extLst xmlns:a="http://schemas.openxmlformats.org/drawingml/2006/main">
              <a:ext uri="{FF2B5EF4-FFF2-40B4-BE49-F238E27FC236}">
                <a16:creationId xmlns:a16="http://schemas.microsoft.com/office/drawing/2014/main" id="{6F94EB7F-B338-4D6C-845F-2D2FEB90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</a:defRPr>
            </a:pPr>
            <a:r>
              <a:rPr sz="1500" b="1">
                <a:solidFill>
                  <a:srgbClr val="155EEF"/>
                </a:solidFill>
              </a:rPr>
              <a:t>关键控制</a:t>
            </a:r>
          </a:p>
        </p:txBody>
      </p:sp>
      <p:sp>
        <p:nvSpPr>
          <p:cNvPr id="30" name="关键控制-body">
            <a:extLst xmlns:a="http://schemas.openxmlformats.org/drawingml/2006/main">
              <a:ext uri="{FF2B5EF4-FFF2-40B4-BE49-F238E27FC236}">
                <a16:creationId xmlns:a16="http://schemas.microsoft.com/office/drawing/2014/main" id="{15DA87FD-F043-4B67-8225-07E33F09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立项、合同、预算使用同一项目编码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无交付物和验收证据不得结算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变更必须先审批后执行</a:t>
            </a:r>
          </a:p>
        </p:txBody>
      </p:sp>
      <p:sp>
        <p:nvSpPr>
          <p:cNvPr id="31" name="财务与数据落点">
            <a:extLst xmlns:a="http://schemas.openxmlformats.org/drawingml/2006/main">
              <a:ext uri="{FF2B5EF4-FFF2-40B4-BE49-F238E27FC236}">
                <a16:creationId xmlns:a16="http://schemas.microsoft.com/office/drawing/2014/main" id="{7F40F217-CB49-4B91-8601-6C100D51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2" name="财务与数据落点-title">
            <a:extLst xmlns:a="http://schemas.openxmlformats.org/drawingml/2006/main">
              <a:ext uri="{FF2B5EF4-FFF2-40B4-BE49-F238E27FC236}">
                <a16:creationId xmlns:a16="http://schemas.microsoft.com/office/drawing/2014/main" id="{BBE11C86-7E2C-4B54-93A8-61B1B7A9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6A"/>
                </a:solidFill>
              </a:defRPr>
            </a:pPr>
            <a:r>
              <a:rPr sz="1500" b="1">
                <a:solidFill>
                  <a:srgbClr val="16A36A"/>
                </a:solidFill>
              </a:rPr>
              <a:t>财务与数据落点</a:t>
            </a:r>
          </a:p>
        </p:txBody>
      </p:sp>
      <p:sp>
        <p:nvSpPr>
          <p:cNvPr id="33" name="财务与数据落点-body">
            <a:extLst xmlns:a="http://schemas.openxmlformats.org/drawingml/2006/main">
              <a:ext uri="{FF2B5EF4-FFF2-40B4-BE49-F238E27FC236}">
                <a16:creationId xmlns:a16="http://schemas.microsoft.com/office/drawing/2014/main" id="{BF4DE817-187B-4C3A-91D5-FF6AFD4F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项目维度归集收入、成本和费用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结算驱动开票与应收确认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输出项目毛利、现金流和回款率</a:t>
            </a:r>
          </a:p>
        </p:txBody>
      </p:sp>
      <p:sp>
        <p:nvSpPr>
          <p:cNvPr id="34" name="异常与边界">
            <a:extLst xmlns:a="http://schemas.openxmlformats.org/drawingml/2006/main">
              <a:ext uri="{FF2B5EF4-FFF2-40B4-BE49-F238E27FC236}">
                <a16:creationId xmlns:a16="http://schemas.microsoft.com/office/drawing/2014/main" id="{E0A765DA-05B1-492E-A682-2970052A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5" name="异常与边界-title">
            <a:extLst xmlns:a="http://schemas.openxmlformats.org/drawingml/2006/main">
              <a:ext uri="{FF2B5EF4-FFF2-40B4-BE49-F238E27FC236}">
                <a16:creationId xmlns:a16="http://schemas.microsoft.com/office/drawing/2014/main" id="{2263F25B-017D-4A14-831C-1712E1F8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异常与边界</a:t>
            </a:r>
          </a:p>
        </p:txBody>
      </p:sp>
      <p:sp>
        <p:nvSpPr>
          <p:cNvPr id="36" name="异常与边界-body">
            <a:extLst xmlns:a="http://schemas.openxmlformats.org/drawingml/2006/main">
              <a:ext uri="{FF2B5EF4-FFF2-40B4-BE49-F238E27FC236}">
                <a16:creationId xmlns:a16="http://schemas.microsoft.com/office/drawing/2014/main" id="{2B719BE7-0375-49D4-B554-D948B009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延期、变更签证单独留痕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质保金与预收款单独管理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跨期履约按会计政策确认收入成本</a:t>
            </a:r>
          </a:p>
        </p:txBody>
      </p:sp>
      <p:sp>
        <p:nvSpPr>
          <p:cNvPr id="37" name="source">
            <a:extLst xmlns:a="http://schemas.openxmlformats.org/drawingml/2006/main">
              <a:ext uri="{FF2B5EF4-FFF2-40B4-BE49-F238E27FC236}">
                <a16:creationId xmlns:a16="http://schemas.microsoft.com/office/drawing/2014/main" id="{2CAEE0E5-A676-4C00-8509-54317F48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69A"/>
                </a:solidFill>
              </a:defRPr>
            </a:pPr>
            <a:r>
              <a:rPr sz="825" b="0">
                <a:solidFill>
                  <a:srgbClr val="7A869A"/>
                </a:solidFill>
              </a:rPr>
              <a:t>来源：原稿第22—33页项目专用单据</a:t>
            </a:r>
          </a:p>
        </p:txBody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C0DB5A7B-C2AC-401E-863E-2AE01828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69A"/>
                </a:solidFill>
              </a:defRPr>
            </a:pPr>
            <a:r>
              <a:rPr sz="825" b="1">
                <a:solidFill>
                  <a:srgbClr val="7A869A"/>
                </a:solidFill>
              </a:rPr>
              <a:t>PMS 业财一体化</a:t>
            </a:r>
          </a:p>
        </p:txBody>
      </p:sp>
    </p:spTree>
    <p:extLst>
      <p:ext uri="{BB962C8B-B14F-4D97-AF65-F5344CB8AC3E}">
        <p14:creationId xmlns:p14="http://schemas.microsoft.com/office/powerpoint/2010/main" val="5037547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o">
            <a:extLst xmlns:a="http://schemas.openxmlformats.org/drawingml/2006/main">
              <a:ext uri="{FF2B5EF4-FFF2-40B4-BE49-F238E27FC236}">
                <a16:creationId xmlns:a16="http://schemas.microsoft.com/office/drawing/2014/main" id="{BD5398A5-A301-467A-A0FB-A389957B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08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9A4905-B77E-4C1F-8158-41FBF241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场景五｜员工借款与费用报销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8D9CEB5-B686-41C5-874D-27ABD231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事前申请、标准控制、票据核验、借款核销与费用入账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1F3AC-ED91-4649-A410-620FD443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EB59CB51-E44D-4F95-A837-1A6F9E5A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场景说明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7620A4CA-CCE8-44B7-B8D3-7AB5B869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71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覆盖备用金、差旅、业务招待、日常商品采购及软件/服务等非实物费用。</a:t>
            </a:r>
          </a:p>
        </p:txBody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20863C74-0940-4658-A7F5-6C4547C5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参与角色</a:t>
            </a:r>
          </a:p>
        </p:txBody>
      </p:sp>
      <p:sp>
        <p:nvSpPr>
          <p:cNvPr id="8" name="roles">
            <a:extLst xmlns:a="http://schemas.openxmlformats.org/drawingml/2006/main">
              <a:ext uri="{FF2B5EF4-FFF2-40B4-BE49-F238E27FC236}">
                <a16:creationId xmlns:a16="http://schemas.microsoft.com/office/drawing/2014/main" id="{3B4F7B0E-F370-4A87-8077-88A85037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52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申请人、部门负责人、项目经理、行政、财务审核、出纳、审批人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07E868E6-16FA-46D6-A42A-C3FB52FD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57D9"/>
          </a:solidFill>
          <a:ln xmlns:a="http://schemas.openxmlformats.org/drawingml/2006/main" w="9525">
            <a:solidFill>
              <a:srgbClr val="7157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前置条件</a:t>
            </a:r>
          </a:p>
        </p:txBody>
      </p:sp>
      <p:sp>
        <p:nvSpPr>
          <p:cNvPr id="10" name="prereq">
            <a:extLst xmlns:a="http://schemas.openxmlformats.org/drawingml/2006/main">
              <a:ext uri="{FF2B5EF4-FFF2-40B4-BE49-F238E27FC236}">
                <a16:creationId xmlns:a16="http://schemas.microsoft.com/office/drawing/2014/main" id="{2816F411-C0B1-4F1E-AF6E-96E388B0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33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费用标准、预算、审批矩阵、员工账户、项目和费用科目已维护。</a:t>
            </a:r>
          </a:p>
        </p:txBody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E8E3BD8D-D7E6-4DE3-B2F6-679DEA6B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1  事前申请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152E7672-F828-4E63-B7C9-92E2AAB4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2  预算校验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B1986E1C-D83A-46C3-B95A-9DC582B8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3  审批</a:t>
            </a:r>
          </a:p>
        </p:txBody>
      </p:sp>
      <p:sp>
        <p:nvSpPr>
          <p:cNvPr id="14" name="step-4">
            <a:extLst xmlns:a="http://schemas.openxmlformats.org/drawingml/2006/main">
              <a:ext uri="{FF2B5EF4-FFF2-40B4-BE49-F238E27FC236}">
                <a16:creationId xmlns:a16="http://schemas.microsoft.com/office/drawing/2014/main" id="{11934F96-D44D-4D30-BE4A-D144A34B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4  借款/备用金</a:t>
            </a:r>
          </a:p>
        </p:txBody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BB720895-5FC8-4A38-96D9-AF297D48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5  业务发生</a:t>
            </a:r>
          </a:p>
        </p:txBody>
      </p:sp>
      <p:sp>
        <p:nvSpPr>
          <p:cNvPr id="16" name="step-6">
            <a:extLst xmlns:a="http://schemas.openxmlformats.org/drawingml/2006/main">
              <a:ext uri="{FF2B5EF4-FFF2-40B4-BE49-F238E27FC236}">
                <a16:creationId xmlns:a16="http://schemas.microsoft.com/office/drawing/2014/main" id="{32ABBC2C-5AD6-4D5E-8D94-8DBB8880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6  票据采集验真</a:t>
            </a:r>
          </a:p>
        </p:txBody>
      </p:sp>
      <p:sp>
        <p:nvSpPr>
          <p:cNvPr id="17" name="step-7">
            <a:extLst xmlns:a="http://schemas.openxmlformats.org/drawingml/2006/main">
              <a:ext uri="{FF2B5EF4-FFF2-40B4-BE49-F238E27FC236}">
                <a16:creationId xmlns:a16="http://schemas.microsoft.com/office/drawing/2014/main" id="{6C82AF4D-06D1-4432-A18E-ED13C66F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7  报销审核</a:t>
            </a:r>
          </a:p>
        </p:txBody>
      </p:sp>
      <p:sp>
        <p:nvSpPr>
          <p:cNvPr id="18" name="step-8">
            <a:extLst xmlns:a="http://schemas.openxmlformats.org/drawingml/2006/main">
              <a:ext uri="{FF2B5EF4-FFF2-40B4-BE49-F238E27FC236}">
                <a16:creationId xmlns:a16="http://schemas.microsoft.com/office/drawing/2014/main" id="{92930DA2-77F3-4A7C-A96E-32EBE9B4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8  冲借款/付款</a:t>
            </a:r>
          </a:p>
        </p:txBody>
      </p:sp>
      <p:sp>
        <p:nvSpPr>
          <p:cNvPr id="19" name="step-9">
            <a:extLst xmlns:a="http://schemas.openxmlformats.org/drawingml/2006/main">
              <a:ext uri="{FF2B5EF4-FFF2-40B4-BE49-F238E27FC236}">
                <a16:creationId xmlns:a16="http://schemas.microsoft.com/office/drawing/2014/main" id="{51834131-3539-48CB-AD28-7239743C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9  费用入账</a:t>
            </a:r>
          </a:p>
        </p:txBody>
      </p: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1272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3014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4756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36498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661160" y="3162300"/>
            <a:ext cx="8869680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1272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93014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14756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sp>
        <p:nvSpPr>
          <p:cNvPr id="28" name="关键控制">
            <a:extLst xmlns:a="http://schemas.openxmlformats.org/drawingml/2006/main">
              <a:ext uri="{FF2B5EF4-FFF2-40B4-BE49-F238E27FC236}">
                <a16:creationId xmlns:a16="http://schemas.microsoft.com/office/drawing/2014/main" id="{0C238375-E3A2-44EF-AAC8-FD35A6C7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9" name="关键控制-title">
            <a:extLst xmlns:a="http://schemas.openxmlformats.org/drawingml/2006/main">
              <a:ext uri="{FF2B5EF4-FFF2-40B4-BE49-F238E27FC236}">
                <a16:creationId xmlns:a16="http://schemas.microsoft.com/office/drawing/2014/main" id="{1FD859B8-2B4B-4DCC-A0A9-9A9632B4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</a:defRPr>
            </a:pPr>
            <a:r>
              <a:rPr sz="1500" b="1">
                <a:solidFill>
                  <a:srgbClr val="155EEF"/>
                </a:solidFill>
              </a:rPr>
              <a:t>关键控制</a:t>
            </a:r>
          </a:p>
        </p:txBody>
      </p:sp>
      <p:sp>
        <p:nvSpPr>
          <p:cNvPr id="30" name="关键控制-body">
            <a:extLst xmlns:a="http://schemas.openxmlformats.org/drawingml/2006/main">
              <a:ext uri="{FF2B5EF4-FFF2-40B4-BE49-F238E27FC236}">
                <a16:creationId xmlns:a16="http://schemas.microsoft.com/office/drawing/2014/main" id="{17A8BB01-A408-45AE-8DC1-6C58B1CB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差旅和招待原则上事前申请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报销与申请的事项、人员、日期、金额一致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借款必须在规定期限内核销</a:t>
            </a:r>
          </a:p>
        </p:txBody>
      </p:sp>
      <p:sp>
        <p:nvSpPr>
          <p:cNvPr id="31" name="财务与数据落点">
            <a:extLst xmlns:a="http://schemas.openxmlformats.org/drawingml/2006/main">
              <a:ext uri="{FF2B5EF4-FFF2-40B4-BE49-F238E27FC236}">
                <a16:creationId xmlns:a16="http://schemas.microsoft.com/office/drawing/2014/main" id="{C867EAEF-604B-4750-AED0-31184FB5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2" name="财务与数据落点-title">
            <a:extLst xmlns:a="http://schemas.openxmlformats.org/drawingml/2006/main">
              <a:ext uri="{FF2B5EF4-FFF2-40B4-BE49-F238E27FC236}">
                <a16:creationId xmlns:a16="http://schemas.microsoft.com/office/drawing/2014/main" id="{961853CE-64DC-49E4-BDA0-F805E3FE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6A"/>
                </a:solidFill>
              </a:defRPr>
            </a:pPr>
            <a:r>
              <a:rPr sz="1500" b="1">
                <a:solidFill>
                  <a:srgbClr val="16A36A"/>
                </a:solidFill>
              </a:rPr>
              <a:t>财务与数据落点</a:t>
            </a:r>
          </a:p>
        </p:txBody>
      </p:sp>
      <p:sp>
        <p:nvSpPr>
          <p:cNvPr id="33" name="财务与数据落点-body">
            <a:extLst xmlns:a="http://schemas.openxmlformats.org/drawingml/2006/main">
              <a:ext uri="{FF2B5EF4-FFF2-40B4-BE49-F238E27FC236}">
                <a16:creationId xmlns:a16="http://schemas.microsoft.com/office/drawing/2014/main" id="{0E43E43C-E473-4578-97A6-C9C9A20E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按部门/项目/科目归集费用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确认员工往来与进项税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审核通过后生成付款与费用凭证</a:t>
            </a:r>
          </a:p>
        </p:txBody>
      </p:sp>
      <p:sp>
        <p:nvSpPr>
          <p:cNvPr id="34" name="异常与边界">
            <a:extLst xmlns:a="http://schemas.openxmlformats.org/drawingml/2006/main">
              <a:ext uri="{FF2B5EF4-FFF2-40B4-BE49-F238E27FC236}">
                <a16:creationId xmlns:a16="http://schemas.microsoft.com/office/drawing/2014/main" id="{75FCD31A-11B3-4F0C-B8C0-A0CEDF89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5" name="异常与边界-title">
            <a:extLst xmlns:a="http://schemas.openxmlformats.org/drawingml/2006/main">
              <a:ext uri="{FF2B5EF4-FFF2-40B4-BE49-F238E27FC236}">
                <a16:creationId xmlns:a16="http://schemas.microsoft.com/office/drawing/2014/main" id="{8EA0F82C-D85E-439F-924C-8A86088B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异常与边界</a:t>
            </a:r>
          </a:p>
        </p:txBody>
      </p:sp>
      <p:sp>
        <p:nvSpPr>
          <p:cNvPr id="36" name="异常与边界-body">
            <a:extLst xmlns:a="http://schemas.openxmlformats.org/drawingml/2006/main">
              <a:ext uri="{FF2B5EF4-FFF2-40B4-BE49-F238E27FC236}">
                <a16:creationId xmlns:a16="http://schemas.microsoft.com/office/drawing/2014/main" id="{A0736024-4E4C-4059-8E38-174CC07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无票、超标、超预算升级审批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跨期报销说明原因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长期未核销借款进入异常清单</a:t>
            </a:r>
          </a:p>
        </p:txBody>
      </p:sp>
      <p:sp>
        <p:nvSpPr>
          <p:cNvPr id="37" name="source">
            <a:extLst xmlns:a="http://schemas.openxmlformats.org/drawingml/2006/main">
              <a:ext uri="{FF2B5EF4-FFF2-40B4-BE49-F238E27FC236}">
                <a16:creationId xmlns:a16="http://schemas.microsoft.com/office/drawing/2014/main" id="{6991C873-BD68-409D-8E66-7E70CCA7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69A"/>
                </a:solidFill>
              </a:defRPr>
            </a:pPr>
            <a:r>
              <a:rPr sz="825" b="0">
                <a:solidFill>
                  <a:srgbClr val="7A869A"/>
                </a:solidFill>
              </a:rPr>
              <a:t>来源：原稿第34—41页</a:t>
            </a:r>
          </a:p>
        </p:txBody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091198C2-5C93-46A1-A497-B6AAA6E0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69A"/>
                </a:solidFill>
              </a:defRPr>
            </a:pPr>
            <a:r>
              <a:rPr sz="825" b="1">
                <a:solidFill>
                  <a:srgbClr val="7A869A"/>
                </a:solidFill>
              </a:rPr>
              <a:t>PMS 业财一体化</a:t>
            </a:r>
          </a:p>
        </p:txBody>
      </p:sp>
    </p:spTree>
    <p:extLst>
      <p:ext uri="{BB962C8B-B14F-4D97-AF65-F5344CB8AC3E}">
        <p14:creationId xmlns:p14="http://schemas.microsoft.com/office/powerpoint/2010/main" val="7102071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o">
            <a:extLst xmlns:a="http://schemas.openxmlformats.org/drawingml/2006/main">
              <a:ext uri="{FF2B5EF4-FFF2-40B4-BE49-F238E27FC236}">
                <a16:creationId xmlns:a16="http://schemas.microsoft.com/office/drawing/2014/main" id="{D1F260FC-6972-47F7-A09D-E509E337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09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78420E-6736-44F4-8534-920BA73E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场景六｜研发项目投入与费用归集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F0E083A-4C7E-426B-BF56-65087FB4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从研发立项到项目明细、辅助台账与多项目汇总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2D3BA-69B1-4B4E-84DC-919D4F54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5B37CC42-A5D8-45D8-B997-E9993BD0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场景说明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A402C0CE-C4D5-4CA1-A434-771708B4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71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按研发项目归集人员、直接投入、折旧摊销、委外及试制费用，支撑研发核算和分析。</a:t>
            </a:r>
          </a:p>
        </p:txBody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DA079CAF-362C-4BC9-8AEB-E6A18C25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参与角色</a:t>
            </a:r>
          </a:p>
        </p:txBody>
      </p:sp>
      <p:sp>
        <p:nvSpPr>
          <p:cNvPr id="8" name="roles">
            <a:extLst xmlns:a="http://schemas.openxmlformats.org/drawingml/2006/main">
              <a:ext uri="{FF2B5EF4-FFF2-40B4-BE49-F238E27FC236}">
                <a16:creationId xmlns:a16="http://schemas.microsoft.com/office/drawing/2014/main" id="{14ED00DE-6D86-456F-8B3A-3CFC005A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52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研发负责人、项目成员、人力、资产管理员、采购、财务、审批人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18509EC0-5069-4E19-9593-B0FD120F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57D9"/>
          </a:solidFill>
          <a:ln xmlns:a="http://schemas.openxmlformats.org/drawingml/2006/main" w="9525">
            <a:solidFill>
              <a:srgbClr val="7157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前置条件</a:t>
            </a:r>
          </a:p>
        </p:txBody>
      </p:sp>
      <p:sp>
        <p:nvSpPr>
          <p:cNvPr id="10" name="prereq">
            <a:extLst xmlns:a="http://schemas.openxmlformats.org/drawingml/2006/main">
              <a:ext uri="{FF2B5EF4-FFF2-40B4-BE49-F238E27FC236}">
                <a16:creationId xmlns:a16="http://schemas.microsoft.com/office/drawing/2014/main" id="{88B5B65A-31E0-473E-A56A-F0B18745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33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研发项目、团队、预算、工时规则、费用范围和分摊方法已审批。</a:t>
            </a:r>
          </a:p>
        </p:txBody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E5F04F5C-6905-46F9-9704-88EF7284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1  研发立项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7290BA96-D552-46CF-AA69-232EA45E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2  预算/团队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29F9672C-E135-4D9D-8B10-11F0F553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3  工时填报</a:t>
            </a:r>
          </a:p>
        </p:txBody>
      </p:sp>
      <p:sp>
        <p:nvSpPr>
          <p:cNvPr id="14" name="step-4">
            <a:extLst xmlns:a="http://schemas.openxmlformats.org/drawingml/2006/main">
              <a:ext uri="{FF2B5EF4-FFF2-40B4-BE49-F238E27FC236}">
                <a16:creationId xmlns:a16="http://schemas.microsoft.com/office/drawing/2014/main" id="{32E9E48E-4EF3-47F6-930F-E6360E81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4  直接投入</a:t>
            </a:r>
          </a:p>
        </p:txBody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72991B6C-811D-474A-A3E6-949EB85E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5  委外/试制</a:t>
            </a:r>
          </a:p>
        </p:txBody>
      </p:sp>
      <p:sp>
        <p:nvSpPr>
          <p:cNvPr id="16" name="step-6">
            <a:extLst xmlns:a="http://schemas.openxmlformats.org/drawingml/2006/main">
              <a:ext uri="{FF2B5EF4-FFF2-40B4-BE49-F238E27FC236}">
                <a16:creationId xmlns:a16="http://schemas.microsoft.com/office/drawing/2014/main" id="{CD042B3A-E26A-43BC-BE55-A0E271DA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6  折旧摊销</a:t>
            </a:r>
          </a:p>
        </p:txBody>
      </p:sp>
      <p:sp>
        <p:nvSpPr>
          <p:cNvPr id="17" name="step-7">
            <a:extLst xmlns:a="http://schemas.openxmlformats.org/drawingml/2006/main">
              <a:ext uri="{FF2B5EF4-FFF2-40B4-BE49-F238E27FC236}">
                <a16:creationId xmlns:a16="http://schemas.microsoft.com/office/drawing/2014/main" id="{5BF16396-2532-4965-97E9-11A1A20A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7  月度归集</a:t>
            </a:r>
          </a:p>
        </p:txBody>
      </p:sp>
      <p:sp>
        <p:nvSpPr>
          <p:cNvPr id="18" name="step-8">
            <a:extLst xmlns:a="http://schemas.openxmlformats.org/drawingml/2006/main">
              <a:ext uri="{FF2B5EF4-FFF2-40B4-BE49-F238E27FC236}">
                <a16:creationId xmlns:a16="http://schemas.microsoft.com/office/drawing/2014/main" id="{F047D3E7-2B1A-4256-81C3-60AF2A01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8  项目明细</a:t>
            </a:r>
          </a:p>
        </p:txBody>
      </p:sp>
      <p:sp>
        <p:nvSpPr>
          <p:cNvPr id="19" name="step-9">
            <a:extLst xmlns:a="http://schemas.openxmlformats.org/drawingml/2006/main">
              <a:ext uri="{FF2B5EF4-FFF2-40B4-BE49-F238E27FC236}">
                <a16:creationId xmlns:a16="http://schemas.microsoft.com/office/drawing/2014/main" id="{0B748BB4-1E9B-4381-A57E-ECD2B674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9  多项目汇总</a:t>
            </a:r>
          </a:p>
        </p:txBody>
      </p: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1272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3014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4756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36498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661160" y="3162300"/>
            <a:ext cx="8869680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1272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93014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14756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sp>
        <p:nvSpPr>
          <p:cNvPr id="28" name="关键控制">
            <a:extLst xmlns:a="http://schemas.openxmlformats.org/drawingml/2006/main">
              <a:ext uri="{FF2B5EF4-FFF2-40B4-BE49-F238E27FC236}">
                <a16:creationId xmlns:a16="http://schemas.microsoft.com/office/drawing/2014/main" id="{A4DE6B0B-661E-4DB2-926D-21F22648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9" name="关键控制-title">
            <a:extLst xmlns:a="http://schemas.openxmlformats.org/drawingml/2006/main">
              <a:ext uri="{FF2B5EF4-FFF2-40B4-BE49-F238E27FC236}">
                <a16:creationId xmlns:a16="http://schemas.microsoft.com/office/drawing/2014/main" id="{214B9D75-5757-4B7C-A967-34B42365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</a:defRPr>
            </a:pPr>
            <a:r>
              <a:rPr sz="1500" b="1">
                <a:solidFill>
                  <a:srgbClr val="155EEF"/>
                </a:solidFill>
              </a:rPr>
              <a:t>关键控制</a:t>
            </a:r>
          </a:p>
        </p:txBody>
      </p:sp>
      <p:sp>
        <p:nvSpPr>
          <p:cNvPr id="30" name="关键控制-body">
            <a:extLst xmlns:a="http://schemas.openxmlformats.org/drawingml/2006/main">
              <a:ext uri="{FF2B5EF4-FFF2-40B4-BE49-F238E27FC236}">
                <a16:creationId xmlns:a16="http://schemas.microsoft.com/office/drawing/2014/main" id="{E7842CC4-DBC4-4DDA-B915-53D0D498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人员、工时、费用来源可追溯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研发与非研发活动边界清晰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分摊规则统一且不得重复归集</a:t>
            </a:r>
          </a:p>
        </p:txBody>
      </p:sp>
      <p:sp>
        <p:nvSpPr>
          <p:cNvPr id="31" name="财务与数据落点">
            <a:extLst xmlns:a="http://schemas.openxmlformats.org/drawingml/2006/main">
              <a:ext uri="{FF2B5EF4-FFF2-40B4-BE49-F238E27FC236}">
                <a16:creationId xmlns:a16="http://schemas.microsoft.com/office/drawing/2014/main" id="{39F225D0-FB9F-4315-B7FF-DE811A09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2" name="财务与数据落点-title">
            <a:extLst xmlns:a="http://schemas.openxmlformats.org/drawingml/2006/main">
              <a:ext uri="{FF2B5EF4-FFF2-40B4-BE49-F238E27FC236}">
                <a16:creationId xmlns:a16="http://schemas.microsoft.com/office/drawing/2014/main" id="{B87E128B-466D-430A-9CF4-938304BD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6A"/>
                </a:solidFill>
              </a:defRPr>
            </a:pPr>
            <a:r>
              <a:rPr sz="1500" b="1">
                <a:solidFill>
                  <a:srgbClr val="16A36A"/>
                </a:solidFill>
              </a:rPr>
              <a:t>财务与数据落点</a:t>
            </a:r>
          </a:p>
        </p:txBody>
      </p:sp>
      <p:sp>
        <p:nvSpPr>
          <p:cNvPr id="33" name="财务与数据落点-body">
            <a:extLst xmlns:a="http://schemas.openxmlformats.org/drawingml/2006/main">
              <a:ext uri="{FF2B5EF4-FFF2-40B4-BE49-F238E27FC236}">
                <a16:creationId xmlns:a16="http://schemas.microsoft.com/office/drawing/2014/main" id="{129C983B-0095-4A42-B81C-3F3365F3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人工、直接投入、折旧等分类核算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形成单项目月度投入明细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形成研发费用台账与多项目汇总</a:t>
            </a:r>
          </a:p>
        </p:txBody>
      </p:sp>
      <p:sp>
        <p:nvSpPr>
          <p:cNvPr id="34" name="异常与边界">
            <a:extLst xmlns:a="http://schemas.openxmlformats.org/drawingml/2006/main">
              <a:ext uri="{FF2B5EF4-FFF2-40B4-BE49-F238E27FC236}">
                <a16:creationId xmlns:a16="http://schemas.microsoft.com/office/drawing/2014/main" id="{9BDDC4AC-5DE9-44D0-91C1-4FD77DEF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5" name="异常与边界-title">
            <a:extLst xmlns:a="http://schemas.openxmlformats.org/drawingml/2006/main">
              <a:ext uri="{FF2B5EF4-FFF2-40B4-BE49-F238E27FC236}">
                <a16:creationId xmlns:a16="http://schemas.microsoft.com/office/drawing/2014/main" id="{5A6E51E3-6814-473E-B8AF-78BBF9CE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异常与边界</a:t>
            </a:r>
          </a:p>
        </p:txBody>
      </p:sp>
      <p:sp>
        <p:nvSpPr>
          <p:cNvPr id="36" name="异常与边界-body">
            <a:extLst xmlns:a="http://schemas.openxmlformats.org/drawingml/2006/main">
              <a:ext uri="{FF2B5EF4-FFF2-40B4-BE49-F238E27FC236}">
                <a16:creationId xmlns:a16="http://schemas.microsoft.com/office/drawing/2014/main" id="{97812D95-77BA-44C3-978B-90176616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跨项目人员按有效工时分摊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共享资产按使用规则分配折旧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资本化判断按政策单独审批</a:t>
            </a:r>
          </a:p>
        </p:txBody>
      </p:sp>
      <p:sp>
        <p:nvSpPr>
          <p:cNvPr id="37" name="source">
            <a:extLst xmlns:a="http://schemas.openxmlformats.org/drawingml/2006/main">
              <a:ext uri="{FF2B5EF4-FFF2-40B4-BE49-F238E27FC236}">
                <a16:creationId xmlns:a16="http://schemas.microsoft.com/office/drawing/2014/main" id="{E9D7CA0D-3A7E-466B-A12C-93A339E5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69A"/>
                </a:solidFill>
              </a:defRPr>
            </a:pPr>
            <a:r>
              <a:rPr sz="825" b="0">
                <a:solidFill>
                  <a:srgbClr val="7A869A"/>
                </a:solidFill>
              </a:rPr>
              <a:t>来源：原稿第42—47页</a:t>
            </a:r>
          </a:p>
        </p:txBody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FB271F1B-893C-4DA1-AC0D-C9BAE61F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69A"/>
                </a:solidFill>
              </a:defRPr>
            </a:pPr>
            <a:r>
              <a:rPr sz="825" b="1">
                <a:solidFill>
                  <a:srgbClr val="7A869A"/>
                </a:solidFill>
              </a:rPr>
              <a:t>PMS 业财一体化</a:t>
            </a:r>
          </a:p>
        </p:txBody>
      </p:sp>
    </p:spTree>
    <p:extLst>
      <p:ext uri="{BB962C8B-B14F-4D97-AF65-F5344CB8AC3E}">
        <p14:creationId xmlns:p14="http://schemas.microsoft.com/office/powerpoint/2010/main" val="3257168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o">
            <a:extLst xmlns:a="http://schemas.openxmlformats.org/drawingml/2006/main">
              <a:ext uri="{FF2B5EF4-FFF2-40B4-BE49-F238E27FC236}">
                <a16:creationId xmlns:a16="http://schemas.microsoft.com/office/drawing/2014/main" id="{4B5EE3FF-2804-4F8B-AA10-FFAAF851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E95A8F-2750-49DC-806A-987A91CC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场景七｜经营分析、预算执行与资金计划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114CAD-1915-4957-A53B-1864E1B2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从业务数据和会计结果到经营决策与改进闭环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5DBEA-5464-434C-AE95-22B5420F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35D6A597-EB65-411C-BB85-CC2FF322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场景说明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139EA3A-3779-401F-915C-73E48ED7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71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</a:defRPr>
            </a:pPr>
            <a:r>
              <a:rPr sz="1200" b="0">
                <a:solidFill>
                  <a:srgbClr val="172B4D"/>
                </a:solidFill>
              </a:rPr>
              <a:t>以已核对的业务与财务数据生成管理报表，识别预算、税负、结构、资金和回报风险。</a:t>
            </a:r>
          </a:p>
        </p:txBody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64376CCA-AA7C-440C-AFE7-0A78391C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参与角色</a:t>
            </a:r>
          </a:p>
        </p:txBody>
      </p:sp>
      <p:sp>
        <p:nvSpPr>
          <p:cNvPr id="8" name="roles">
            <a:extLst xmlns:a="http://schemas.openxmlformats.org/drawingml/2006/main">
              <a:ext uri="{FF2B5EF4-FFF2-40B4-BE49-F238E27FC236}">
                <a16:creationId xmlns:a16="http://schemas.microsoft.com/office/drawing/2014/main" id="{ACCBE280-AD03-40A4-BDBB-E0D0E6A7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52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业务负责人、财务、预算管理员、资金岗、管理层、数据管理员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21E3DAD4-DD76-42F9-A6C8-FC38BE10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57D9"/>
          </a:solidFill>
          <a:ln xmlns:a="http://schemas.openxmlformats.org/drawingml/2006/main" w="9525">
            <a:solidFill>
              <a:srgbClr val="7157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前置条件</a:t>
            </a:r>
          </a:p>
        </p:txBody>
      </p:sp>
      <p:sp>
        <p:nvSpPr>
          <p:cNvPr id="10" name="prereq">
            <a:extLst xmlns:a="http://schemas.openxmlformats.org/drawingml/2006/main">
              <a:ext uri="{FF2B5EF4-FFF2-40B4-BE49-F238E27FC236}">
                <a16:creationId xmlns:a16="http://schemas.microsoft.com/office/drawing/2014/main" id="{2E19B243-C4D7-4C25-9CD7-FC2FC379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33575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期间关账完成；业务单据与凭证对账通过；指标口径、责任人和数据源已统一。</a:t>
            </a:r>
          </a:p>
        </p:txBody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14420065-EE73-471A-906C-96518893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1  数据归集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2C991875-6EA6-4402-BC11-35EADEED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2  业务财务对账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73735E14-146F-49F9-8683-EDF3AE29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3  期间关账</a:t>
            </a:r>
          </a:p>
        </p:txBody>
      </p:sp>
      <p:sp>
        <p:nvSpPr>
          <p:cNvPr id="14" name="step-4">
            <a:extLst xmlns:a="http://schemas.openxmlformats.org/drawingml/2006/main">
              <a:ext uri="{FF2B5EF4-FFF2-40B4-BE49-F238E27FC236}">
                <a16:creationId xmlns:a16="http://schemas.microsoft.com/office/drawing/2014/main" id="{468753B0-7D09-48DA-B017-70DBD248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4  指标计算</a:t>
            </a:r>
          </a:p>
        </p:txBody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E2D9CD3C-6272-4E7D-804A-BE94272E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717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5  预实对比</a:t>
            </a:r>
          </a:p>
        </p:txBody>
      </p:sp>
      <p:sp>
        <p:nvSpPr>
          <p:cNvPr id="16" name="step-6">
            <a:extLst xmlns:a="http://schemas.openxmlformats.org/drawingml/2006/main">
              <a:ext uri="{FF2B5EF4-FFF2-40B4-BE49-F238E27FC236}">
                <a16:creationId xmlns:a16="http://schemas.microsoft.com/office/drawing/2014/main" id="{86862363-6365-4747-B36E-A4E9188C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6  结构/税负分析</a:t>
            </a:r>
          </a:p>
        </p:txBody>
      </p:sp>
      <p:sp>
        <p:nvSpPr>
          <p:cNvPr id="17" name="step-7">
            <a:extLst xmlns:a="http://schemas.openxmlformats.org/drawingml/2006/main">
              <a:ext uri="{FF2B5EF4-FFF2-40B4-BE49-F238E27FC236}">
                <a16:creationId xmlns:a16="http://schemas.microsoft.com/office/drawing/2014/main" id="{08C4891F-9C6E-4AF3-9585-18BCDCAC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7  资金预测</a:t>
            </a:r>
          </a:p>
        </p:txBody>
      </p:sp>
      <p:sp>
        <p:nvSpPr>
          <p:cNvPr id="18" name="step-8">
            <a:extLst xmlns:a="http://schemas.openxmlformats.org/drawingml/2006/main">
              <a:ext uri="{FF2B5EF4-FFF2-40B4-BE49-F238E27FC236}">
                <a16:creationId xmlns:a16="http://schemas.microsoft.com/office/drawing/2014/main" id="{138D1DC8-B987-4D8B-9821-4251FF1B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8  经营复盘</a:t>
            </a:r>
          </a:p>
        </p:txBody>
      </p:sp>
      <p:sp>
        <p:nvSpPr>
          <p:cNvPr id="19" name="step-9">
            <a:extLst xmlns:a="http://schemas.openxmlformats.org/drawingml/2006/main">
              <a:ext uri="{FF2B5EF4-FFF2-40B4-BE49-F238E27FC236}">
                <a16:creationId xmlns:a16="http://schemas.microsoft.com/office/drawing/2014/main" id="{6231E4D1-6647-452D-B47A-04DC10A7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3448050"/>
            <a:ext cx="210312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9  计划调整</a:t>
            </a:r>
          </a:p>
        </p:txBody>
      </p: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1272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3014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4756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36498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661160" y="3162300"/>
            <a:ext cx="8869680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1272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93014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147560" y="3743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B6D4"/>
            </a:solidFill>
            <a:prstDash val="solid"/>
            <a:tailEnd type="triangle" w="sm" len="sm"/>
          </a:ln>
        </p:spPr>
      </p:cxnSp>
      <p:sp>
        <p:nvSpPr>
          <p:cNvPr id="28" name="关键控制">
            <a:extLst xmlns:a="http://schemas.openxmlformats.org/drawingml/2006/main">
              <a:ext uri="{FF2B5EF4-FFF2-40B4-BE49-F238E27FC236}">
                <a16:creationId xmlns:a16="http://schemas.microsoft.com/office/drawing/2014/main" id="{1B00B2C8-587E-49C0-9BAB-E683F8E6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9" name="关键控制-title">
            <a:extLst xmlns:a="http://schemas.openxmlformats.org/drawingml/2006/main">
              <a:ext uri="{FF2B5EF4-FFF2-40B4-BE49-F238E27FC236}">
                <a16:creationId xmlns:a16="http://schemas.microsoft.com/office/drawing/2014/main" id="{D23A1B41-9A84-41B8-A3A2-094D48B4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</a:defRPr>
            </a:pPr>
            <a:r>
              <a:rPr sz="1500" b="1">
                <a:solidFill>
                  <a:srgbClr val="155EEF"/>
                </a:solidFill>
              </a:rPr>
              <a:t>关键控制</a:t>
            </a:r>
          </a:p>
        </p:txBody>
      </p:sp>
      <p:sp>
        <p:nvSpPr>
          <p:cNvPr id="30" name="关键控制-body">
            <a:extLst xmlns:a="http://schemas.openxmlformats.org/drawingml/2006/main">
              <a:ext uri="{FF2B5EF4-FFF2-40B4-BE49-F238E27FC236}">
                <a16:creationId xmlns:a16="http://schemas.microsoft.com/office/drawing/2014/main" id="{62562E76-8C58-4CD0-BC76-F5BB5597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报表口径、周期、来源和责任人统一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所有指标可穿透到单据和凭证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预算偏差必须形成原因与整改责任</a:t>
            </a:r>
          </a:p>
        </p:txBody>
      </p:sp>
      <p:sp>
        <p:nvSpPr>
          <p:cNvPr id="31" name="财务与数据落点">
            <a:extLst xmlns:a="http://schemas.openxmlformats.org/drawingml/2006/main">
              <a:ext uri="{FF2B5EF4-FFF2-40B4-BE49-F238E27FC236}">
                <a16:creationId xmlns:a16="http://schemas.microsoft.com/office/drawing/2014/main" id="{C76DD2EE-C872-4C3E-89FE-403A0C5A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2" name="财务与数据落点-title">
            <a:extLst xmlns:a="http://schemas.openxmlformats.org/drawingml/2006/main">
              <a:ext uri="{FF2B5EF4-FFF2-40B4-BE49-F238E27FC236}">
                <a16:creationId xmlns:a16="http://schemas.microsoft.com/office/drawing/2014/main" id="{BAF350B2-5022-42CE-9605-209F8B98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6A"/>
                </a:solidFill>
              </a:defRPr>
            </a:pPr>
            <a:r>
              <a:rPr sz="1500" b="1">
                <a:solidFill>
                  <a:srgbClr val="16A36A"/>
                </a:solidFill>
              </a:rPr>
              <a:t>财务与数据落点</a:t>
            </a:r>
          </a:p>
        </p:txBody>
      </p:sp>
      <p:sp>
        <p:nvSpPr>
          <p:cNvPr id="33" name="财务与数据落点-body">
            <a:extLst xmlns:a="http://schemas.openxmlformats.org/drawingml/2006/main">
              <a:ext uri="{FF2B5EF4-FFF2-40B4-BE49-F238E27FC236}">
                <a16:creationId xmlns:a16="http://schemas.microsoft.com/office/drawing/2014/main" id="{7EF3A0BD-7ED0-4369-AE9F-06FFA261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输出税负、费用和收入结构分析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输出预算执行和资金计划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输出财务回报率与经营建议</a:t>
            </a:r>
          </a:p>
        </p:txBody>
      </p:sp>
      <p:sp>
        <p:nvSpPr>
          <p:cNvPr id="34" name="异常与边界">
            <a:extLst xmlns:a="http://schemas.openxmlformats.org/drawingml/2006/main">
              <a:ext uri="{FF2B5EF4-FFF2-40B4-BE49-F238E27FC236}">
                <a16:creationId xmlns:a16="http://schemas.microsoft.com/office/drawing/2014/main" id="{A4EAAF91-CE4C-482A-98AB-0D9D3575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5" name="异常与边界-title">
            <a:extLst xmlns:a="http://schemas.openxmlformats.org/drawingml/2006/main">
              <a:ext uri="{FF2B5EF4-FFF2-40B4-BE49-F238E27FC236}">
                <a16:creationId xmlns:a16="http://schemas.microsoft.com/office/drawing/2014/main" id="{C270CAD6-AEBE-41E5-9533-F3F5044C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482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异常与边界</a:t>
            </a:r>
          </a:p>
        </p:txBody>
      </p:sp>
      <p:sp>
        <p:nvSpPr>
          <p:cNvPr id="36" name="异常与边界-body">
            <a:extLst xmlns:a="http://schemas.openxmlformats.org/drawingml/2006/main">
              <a:ext uri="{FF2B5EF4-FFF2-40B4-BE49-F238E27FC236}">
                <a16:creationId xmlns:a16="http://schemas.microsoft.com/office/drawing/2014/main" id="{39BF3D4E-581F-4678-9134-C27C0422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3162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跨主体交易先抵销再汇总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未达账项和手工调整单独披露</a:t>
            </a:r>
          </a:p>
          <a:p xmlns:a="http://schemas.openxmlformats.org/drawingml/2006/main">
            <a:pPr algn="l">
              <a:defRPr sz="1125" b="0">
                <a:solidFill>
                  <a:srgbClr val="172B4D"/>
                </a:solidFill>
              </a:defRPr>
            </a:pPr>
            <a:r>
              <a:rPr sz="1125" b="0">
                <a:solidFill>
                  <a:srgbClr val="172B4D"/>
                </a:solidFill>
              </a:rPr>
              <a:t>• 预测假设变化需保留版本</a:t>
            </a:r>
          </a:p>
        </p:txBody>
      </p:sp>
      <p:sp>
        <p:nvSpPr>
          <p:cNvPr id="37" name="source">
            <a:extLst xmlns:a="http://schemas.openxmlformats.org/drawingml/2006/main">
              <a:ext uri="{FF2B5EF4-FFF2-40B4-BE49-F238E27FC236}">
                <a16:creationId xmlns:a16="http://schemas.microsoft.com/office/drawing/2014/main" id="{7951D266-11D6-49F1-8379-E8C7ACC7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69A"/>
                </a:solidFill>
              </a:defRPr>
            </a:pPr>
            <a:r>
              <a:rPr sz="825" b="0">
                <a:solidFill>
                  <a:srgbClr val="7A869A"/>
                </a:solidFill>
              </a:rPr>
              <a:t>来源：原稿第48—54页</a:t>
            </a:r>
          </a:p>
        </p:txBody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48585A43-97C5-4EA9-9007-B12D7CBF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69A"/>
                </a:solidFill>
              </a:defRPr>
            </a:pPr>
            <a:r>
              <a:rPr sz="825" b="1">
                <a:solidFill>
                  <a:srgbClr val="7A869A"/>
                </a:solidFill>
              </a:rPr>
              <a:t>PMS 业财一体化</a:t>
            </a:r>
          </a:p>
        </p:txBody>
      </p:sp>
    </p:spTree>
    <p:extLst>
      <p:ext uri="{BB962C8B-B14F-4D97-AF65-F5344CB8AC3E}">
        <p14:creationId xmlns:p14="http://schemas.microsoft.com/office/powerpoint/2010/main" val="14229693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o">
            <a:extLst xmlns:a="http://schemas.openxmlformats.org/drawingml/2006/main">
              <a:ext uri="{FF2B5EF4-FFF2-40B4-BE49-F238E27FC236}">
                <a16:creationId xmlns:a16="http://schemas.microsoft.com/office/drawing/2014/main" id="{181F83A5-4D20-4667-A101-34416B19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11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4B8C5-7FEB-4280-9E53-A5C363F7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跨场景统一规范｜六类系统控制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8877AA-DFAA-40E6-9B1D-5D0912B5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让七个业务场景使用同一套数据、规则和审计语言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B648F-893E-490D-91E2-AFF291E0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" name="control-0">
            <a:extLst xmlns:a="http://schemas.openxmlformats.org/drawingml/2006/main">
              <a:ext uri="{FF2B5EF4-FFF2-40B4-BE49-F238E27FC236}">
                <a16:creationId xmlns:a16="http://schemas.microsoft.com/office/drawing/2014/main" id="{68FBCBF9-A7F1-4E51-88FB-7878514F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181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0B48CE4-1B15-4FED-9C70-5A0273AD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EEF"/>
                </a:solidFill>
              </a:defRPr>
            </a:pPr>
            <a:r>
              <a:rPr sz="1800" b="1">
                <a:solidFill>
                  <a:srgbClr val="155EEF"/>
                </a:solidFill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EE2686-98F5-4CF6-8BE5-A9C990BD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62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主数据统一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49B3EE-CCD3-447A-8E48-DDC5D0CB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项目、客户、供应商、物料、资产、组织、人员、科目唯一编码</a:t>
            </a:r>
          </a:p>
        </p:txBody>
      </p:sp>
      <p:sp>
        <p:nvSpPr>
          <p:cNvPr id="9" name="control-1">
            <a:extLst xmlns:a="http://schemas.openxmlformats.org/drawingml/2006/main">
              <a:ext uri="{FF2B5EF4-FFF2-40B4-BE49-F238E27FC236}">
                <a16:creationId xmlns:a16="http://schemas.microsoft.com/office/drawing/2014/main" id="{06D3356C-AA1D-42BB-A63B-D9388AE0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90650"/>
            <a:ext cx="5181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80B0A55-8711-47D3-A732-BFB9FE12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192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B6D4"/>
                </a:solidFill>
              </a:defRPr>
            </a:pPr>
            <a:r>
              <a:rPr sz="1800" b="1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BFF894A-008C-49F3-80D2-F717F576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62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预算前置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DC174AA-EDF8-4D6F-B05C-9157B063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431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请购、订单、合同、费用、付款实时校验预算余额</a:t>
            </a:r>
          </a:p>
        </p:txBody>
      </p:sp>
      <p:sp>
        <p:nvSpPr>
          <p:cNvPr id="13" name="control-2">
            <a:extLst xmlns:a="http://schemas.openxmlformats.org/drawingml/2006/main">
              <a:ext uri="{FF2B5EF4-FFF2-40B4-BE49-F238E27FC236}">
                <a16:creationId xmlns:a16="http://schemas.microsoft.com/office/drawing/2014/main" id="{55DC870D-397C-4CA1-A71F-0CD1A1F4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181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6AE79D1-6321-4553-8637-19FCDEEE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157D9"/>
                </a:solidFill>
              </a:defRPr>
            </a:pPr>
            <a:r>
              <a:rPr sz="1800" b="1">
                <a:solidFill>
                  <a:srgbClr val="7157D9"/>
                </a:solidFill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9D168AF-97C7-495D-ADFD-0AB31DFF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单据继承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B365303-554B-458E-BFEE-02C4BA8C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242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下游继承上游核心字段，禁止脱链重复录入</a:t>
            </a:r>
          </a:p>
        </p:txBody>
      </p:sp>
      <p:sp>
        <p:nvSpPr>
          <p:cNvPr id="17" name="control-3">
            <a:extLst xmlns:a="http://schemas.openxmlformats.org/drawingml/2006/main">
              <a:ext uri="{FF2B5EF4-FFF2-40B4-BE49-F238E27FC236}">
                <a16:creationId xmlns:a16="http://schemas.microsoft.com/office/drawing/2014/main" id="{DFF37B25-5630-4C94-B827-9F0102F2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5181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8BECA7E-4CEF-4FE3-8E31-34A913DF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36A"/>
                </a:solidFill>
              </a:defRPr>
            </a:pPr>
            <a:r>
              <a:rPr sz="1800" b="1">
                <a:solidFill>
                  <a:srgbClr val="16A36A"/>
                </a:solidFill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E0D1C67-61FA-4B95-8855-67346425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多流匹配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8D2CCC5-BAA6-47CA-8E80-19A66400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合同/订单、实物或服务、发票、资金、凭证相互校验</a:t>
            </a:r>
          </a:p>
        </p:txBody>
      </p:sp>
      <p:sp>
        <p:nvSpPr>
          <p:cNvPr id="21" name="control-4">
            <a:extLst xmlns:a="http://schemas.openxmlformats.org/drawingml/2006/main">
              <a:ext uri="{FF2B5EF4-FFF2-40B4-BE49-F238E27FC236}">
                <a16:creationId xmlns:a16="http://schemas.microsoft.com/office/drawing/2014/main" id="{8D2CC7A7-6946-4497-B726-ADD41BC5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181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4F9922D-2276-4E5B-ACF3-C3223F83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05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DE7B78D-63F2-4162-848E-F8FAC331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244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职责分离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CA53650-577A-45A1-90B6-CA449B13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054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申请、审批、验收、付款、记账、对账角色分离</a:t>
            </a:r>
          </a:p>
        </p:txBody>
      </p:sp>
      <p:sp>
        <p:nvSpPr>
          <p:cNvPr id="25" name="control-5">
            <a:extLst xmlns:a="http://schemas.openxmlformats.org/drawingml/2006/main">
              <a:ext uri="{FF2B5EF4-FFF2-40B4-BE49-F238E27FC236}">
                <a16:creationId xmlns:a16="http://schemas.microsoft.com/office/drawing/2014/main" id="{B9E3776B-1E70-424A-87CE-6C81A38B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5181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23D6643-6D56-43CA-92B9-6447AB3B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815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3756"/>
                </a:solidFill>
              </a:defRPr>
            </a:pPr>
            <a:r>
              <a:rPr sz="1800" b="1">
                <a:solidFill>
                  <a:srgbClr val="C93756"/>
                </a:solidFill>
              </a:rPr>
              <a:t>06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2C4590E-EFF9-4C55-A48D-F0975B20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244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异常闭环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A8AE2C7-8FD4-4CD1-A861-6173836F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054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超预算、无合同、无票、差异、逾期、冲销统一入异常台账</a:t>
            </a:r>
          </a:p>
        </p:txBody>
      </p:sp>
      <p:sp>
        <p:nvSpPr>
          <p:cNvPr id="29" name="control-note">
            <a:extLst xmlns:a="http://schemas.openxmlformats.org/drawingml/2006/main">
              <a:ext uri="{FF2B5EF4-FFF2-40B4-BE49-F238E27FC236}">
                <a16:creationId xmlns:a16="http://schemas.microsoft.com/office/drawing/2014/main" id="{3C32DC8E-F33D-44A1-97CE-A44A149C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8DAFF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6E096E7-2785-42EE-9F7D-F47834FE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00775"/>
            <a:ext cx="1024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系统原则：规则可配置、过程可留痕、数据可穿透、异常可关闭。</a:t>
            </a:r>
          </a:p>
        </p:txBody>
      </p:sp>
      <p:sp>
        <p:nvSpPr>
          <p:cNvPr id="31" name="source">
            <a:extLst xmlns:a="http://schemas.openxmlformats.org/drawingml/2006/main">
              <a:ext uri="{FF2B5EF4-FFF2-40B4-BE49-F238E27FC236}">
                <a16:creationId xmlns:a16="http://schemas.microsoft.com/office/drawing/2014/main" id="{FCC3FD10-2918-4AB2-AC64-5CE58A85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69A"/>
                </a:solidFill>
              </a:defRPr>
            </a:pPr>
            <a:r>
              <a:rPr sz="825" b="0">
                <a:solidFill>
                  <a:srgbClr val="7A869A"/>
                </a:solidFill>
              </a:rPr>
              <a:t>源自《业财融合之业务流程再造&amp;财务系统》</a:t>
            </a:r>
          </a:p>
        </p:txBody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6B1C285D-FBBF-40A4-8D64-15A9094E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69A"/>
                </a:solidFill>
              </a:defRPr>
            </a:pPr>
            <a:r>
              <a:rPr sz="825" b="1">
                <a:solidFill>
                  <a:srgbClr val="7A869A"/>
                </a:solidFill>
              </a:rPr>
              <a:t>PMS 业财一体化</a:t>
            </a:r>
          </a:p>
        </p:txBody>
      </p:sp>
    </p:spTree>
    <p:extLst>
      <p:ext uri="{BB962C8B-B14F-4D97-AF65-F5344CB8AC3E}">
        <p14:creationId xmlns:p14="http://schemas.microsoft.com/office/powerpoint/2010/main" val="360009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no">
            <a:extLst xmlns:a="http://schemas.openxmlformats.org/drawingml/2006/main">
              <a:ext uri="{FF2B5EF4-FFF2-40B4-BE49-F238E27FC236}">
                <a16:creationId xmlns:a16="http://schemas.microsoft.com/office/drawing/2014/main" id="{ECA21DD2-710B-4594-87A2-CAB8080A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12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BCC112-AAB7-48AC-BEEB-4E2F1394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落地路径｜先统一单据，再贯通核算，最后形成经营闭环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D021D1-268B-48EE-8891-4152D9BC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C84"/>
                </a:solidFill>
              </a:defRPr>
            </a:pPr>
            <a:r>
              <a:rPr sz="1200" b="0">
                <a:solidFill>
                  <a:srgbClr val="5E6C84"/>
                </a:solidFill>
              </a:rPr>
              <a:t>三阶段推进，逐步降低实施复杂度和数据风险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CA7F7-92B7-4270-B6D7-162B6BBC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" name="phase-0">
            <a:extLst xmlns:a="http://schemas.openxmlformats.org/drawingml/2006/main">
              <a:ext uri="{FF2B5EF4-FFF2-40B4-BE49-F238E27FC236}">
                <a16:creationId xmlns:a16="http://schemas.microsoft.com/office/drawing/2014/main" id="{A512DF3D-4F64-4A6F-A87C-F6E3C0D2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3429000" cy="2838450"/>
          </a:xfrm>
          <a:prstGeom xmlns:a="http://schemas.openxmlformats.org/drawingml/2006/main" prst="roundRect">
            <a:avLst>
              <a:gd name="adj" fmla="val 3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6" name="label">
            <a:extLst xmlns:a="http://schemas.openxmlformats.org/drawingml/2006/main">
              <a:ext uri="{FF2B5EF4-FFF2-40B4-BE49-F238E27FC236}">
                <a16:creationId xmlns:a16="http://schemas.microsoft.com/office/drawing/2014/main" id="{752A2559-BC9D-42FA-BC9D-243C4D00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阶段一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A7AAC6-373A-4200-836A-44EE2672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业务单据链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E891BFF-5BFD-4E35-A542-E2C24D73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统一主数据、表单字段、编码和审批规则</a:t>
            </a:r>
          </a:p>
        </p:txBody>
      </p:sp>
      <p:sp>
        <p:nvSpPr>
          <p:cNvPr id="9" name="phase-output-0">
            <a:extLst xmlns:a="http://schemas.openxmlformats.org/drawingml/2006/main">
              <a:ext uri="{FF2B5EF4-FFF2-40B4-BE49-F238E27FC236}">
                <a16:creationId xmlns:a16="http://schemas.microsoft.com/office/drawing/2014/main" id="{F5137884-F6CA-4B72-911F-5BA1127D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30099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FF5FF"/>
          </a:solidFill>
          <a:ln xmlns:a="http://schemas.openxmlformats.org/drawingml/2006/main" w="9525">
            <a:solidFill>
              <a:srgbClr val="D6E4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4195921-5840-4171-B648-C6AC8BC2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形成可追溯业务事实</a:t>
            </a:r>
          </a:p>
        </p:txBody>
      </p:sp>
      <p:sp>
        <p:nvSpPr>
          <p:cNvPr id="11" name="phase-1">
            <a:extLst xmlns:a="http://schemas.openxmlformats.org/drawingml/2006/main">
              <a:ext uri="{FF2B5EF4-FFF2-40B4-BE49-F238E27FC236}">
                <a16:creationId xmlns:a16="http://schemas.microsoft.com/office/drawing/2014/main" id="{EBBE1605-60B9-4F99-8128-AF2A002D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81150"/>
            <a:ext cx="3429000" cy="2838450"/>
          </a:xfrm>
          <a:prstGeom xmlns:a="http://schemas.openxmlformats.org/drawingml/2006/main" prst="roundRect">
            <a:avLst>
              <a:gd name="adj" fmla="val 3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2" name="label">
            <a:extLst xmlns:a="http://schemas.openxmlformats.org/drawingml/2006/main">
              <a:ext uri="{FF2B5EF4-FFF2-40B4-BE49-F238E27FC236}">
                <a16:creationId xmlns:a16="http://schemas.microsoft.com/office/drawing/2014/main" id="{DC2299D6-8A03-4E9E-8707-02310B61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57D9"/>
          </a:solidFill>
          <a:ln xmlns:a="http://schemas.openxmlformats.org/drawingml/2006/main" w="9525">
            <a:solidFill>
              <a:srgbClr val="7157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阶段二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57FA828-045D-4F5E-A1BF-EE532088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自动核算链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AF80517-7CF9-4DA3-BE3A-58F996C1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贯通合同、预算、发票、资金、资产和凭证</a:t>
            </a:r>
          </a:p>
        </p:txBody>
      </p:sp>
      <p:sp>
        <p:nvSpPr>
          <p:cNvPr id="15" name="phase-output-1">
            <a:extLst xmlns:a="http://schemas.openxmlformats.org/drawingml/2006/main">
              <a:ext uri="{FF2B5EF4-FFF2-40B4-BE49-F238E27FC236}">
                <a16:creationId xmlns:a16="http://schemas.microsoft.com/office/drawing/2014/main" id="{9643D29F-6C5B-4CD9-AE9A-FCF58A0C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0950"/>
            <a:ext cx="30099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FF5FF"/>
          </a:solidFill>
          <a:ln xmlns:a="http://schemas.openxmlformats.org/drawingml/2006/main" w="9525">
            <a:solidFill>
              <a:srgbClr val="D6E4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2A1EFE0-19AD-4EDB-8529-0BD5D94D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481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57D9"/>
                </a:solidFill>
              </a:defRPr>
            </a:pPr>
            <a:r>
              <a:rPr sz="1200" b="1">
                <a:solidFill>
                  <a:srgbClr val="7157D9"/>
                </a:solidFill>
              </a:rPr>
              <a:t>实现自动核算与对账</a:t>
            </a:r>
          </a:p>
        </p:txBody>
      </p:sp>
      <p:sp>
        <p:nvSpPr>
          <p:cNvPr id="17" name="phase-2">
            <a:extLst xmlns:a="http://schemas.openxmlformats.org/drawingml/2006/main">
              <a:ext uri="{FF2B5EF4-FFF2-40B4-BE49-F238E27FC236}">
                <a16:creationId xmlns:a16="http://schemas.microsoft.com/office/drawing/2014/main" id="{3C607F92-7C63-44C4-9792-77C611B4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81150"/>
            <a:ext cx="3429000" cy="2838450"/>
          </a:xfrm>
          <a:prstGeom xmlns:a="http://schemas.openxmlformats.org/drawingml/2006/main" prst="roundRect">
            <a:avLst>
              <a:gd name="adj" fmla="val 3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8" name="label">
            <a:extLst xmlns:a="http://schemas.openxmlformats.org/drawingml/2006/main">
              <a:ext uri="{FF2B5EF4-FFF2-40B4-BE49-F238E27FC236}">
                <a16:creationId xmlns:a16="http://schemas.microsoft.com/office/drawing/2014/main" id="{AFF4B083-A4D9-45CA-8197-BF926D85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907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6A"/>
          </a:solidFill>
          <a:ln xmlns:a="http://schemas.openxmlformats.org/drawingml/2006/main" w="9525">
            <a:solidFill>
              <a:srgbClr val="16A36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阶段三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C62A0E7-6B45-4476-8BF3-A36C578B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经营分析链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8175C26-9057-4185-9172-879A2477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建设项目、账龄、库存、研发、预算和资金分析</a:t>
            </a:r>
          </a:p>
        </p:txBody>
      </p:sp>
      <p:sp>
        <p:nvSpPr>
          <p:cNvPr id="21" name="phase-output-2">
            <a:extLst xmlns:a="http://schemas.openxmlformats.org/drawingml/2006/main">
              <a:ext uri="{FF2B5EF4-FFF2-40B4-BE49-F238E27FC236}">
                <a16:creationId xmlns:a16="http://schemas.microsoft.com/office/drawing/2014/main" id="{CBD2EA37-E0E5-4C36-8FA1-ACD793F0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30099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FF5FF"/>
          </a:solidFill>
          <a:ln xmlns:a="http://schemas.openxmlformats.org/drawingml/2006/main" w="9525">
            <a:solidFill>
              <a:srgbClr val="D6E4F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49424B7-9299-4937-BEE9-32E45BAD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481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6A"/>
                </a:solidFill>
              </a:defRPr>
            </a:pPr>
            <a:r>
              <a:rPr sz="1200" b="1">
                <a:solidFill>
                  <a:srgbClr val="16A36A"/>
                </a:solidFill>
              </a:rPr>
              <a:t>形成经营复盘闭环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4F9C4-D2A2-4775-BBB9-EF42D825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4DC646-A819-4C79-8312-7748D64A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00350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25" name="acceptance">
            <a:extLst xmlns:a="http://schemas.openxmlformats.org/drawingml/2006/main">
              <a:ext uri="{FF2B5EF4-FFF2-40B4-BE49-F238E27FC236}">
                <a16:creationId xmlns:a16="http://schemas.microsoft.com/office/drawing/2014/main" id="{3A147928-F1D8-4B5C-A4EA-3CC19AD1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9347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76CA3FD-AC17-4F0A-B9CF-3C691A49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B6D4"/>
                </a:solidFill>
              </a:defRPr>
            </a:pPr>
            <a:r>
              <a:rPr sz="1650" b="1">
                <a:solidFill>
                  <a:srgbClr val="06B6D4"/>
                </a:solidFill>
              </a:rPr>
              <a:t>最终验收标准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7DB9803-8023-4122-9E25-C230BB2D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业务金额 = 财务凭证金额  ｜  关键单据可正向追踪、反向穿透  ｜  异常有责任人、有时限、有关闭依据</a:t>
            </a:r>
          </a:p>
        </p:txBody>
      </p:sp>
      <p:sp>
        <p:nvSpPr>
          <p:cNvPr id="28" name="source">
            <a:extLst xmlns:a="http://schemas.openxmlformats.org/drawingml/2006/main">
              <a:ext uri="{FF2B5EF4-FFF2-40B4-BE49-F238E27FC236}">
                <a16:creationId xmlns:a16="http://schemas.microsoft.com/office/drawing/2014/main" id="{8CE26F20-2F8E-46B9-8C20-E103385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69A"/>
                </a:solidFill>
              </a:defRPr>
            </a:pPr>
            <a:r>
              <a:rPr sz="825" b="0">
                <a:solidFill>
                  <a:srgbClr val="7A869A"/>
                </a:solidFill>
              </a:rPr>
              <a:t>源自《业财融合之业务流程再造&amp;财务系统》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ACDEFE10-B403-40A5-A02A-A41B2CB4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69A"/>
                </a:solidFill>
              </a:defRPr>
            </a:pPr>
            <a:r>
              <a:rPr sz="825" b="1">
                <a:solidFill>
                  <a:srgbClr val="7A869A"/>
                </a:solidFill>
              </a:rPr>
              <a:t>PMS 业财一体化</a:t>
            </a:r>
          </a:p>
        </p:txBody>
      </p:sp>
    </p:spTree>
    <p:extLst>
      <p:ext uri="{BB962C8B-B14F-4D97-AF65-F5344CB8AC3E}">
        <p14:creationId xmlns:p14="http://schemas.microsoft.com/office/powerpoint/2010/main" val="1896084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2026-06-23T06:38:04.6740000Z</dcterms:created>
  <dcterms:modified xsi:type="dcterms:W3CDTF">2026-06-23T06:38:04.6740000Z</dcterms:modified>
</coreProperties>
</file>