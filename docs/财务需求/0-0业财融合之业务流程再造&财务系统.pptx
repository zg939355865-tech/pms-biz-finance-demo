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7" r:id="rId2"/>
    <p:sldId id="282" r:id="rId3"/>
    <p:sldId id="326" r:id="rId4"/>
    <p:sldId id="327" r:id="rId5"/>
    <p:sldId id="342" r:id="rId6"/>
    <p:sldId id="344" r:id="rId7"/>
    <p:sldId id="332" r:id="rId8"/>
    <p:sldId id="352" r:id="rId9"/>
    <p:sldId id="284" r:id="rId10"/>
    <p:sldId id="339" r:id="rId11"/>
    <p:sldId id="287" r:id="rId12"/>
    <p:sldId id="336" r:id="rId13"/>
    <p:sldId id="337" r:id="rId14"/>
    <p:sldId id="347" r:id="rId15"/>
    <p:sldId id="340" r:id="rId16"/>
    <p:sldId id="341" r:id="rId17"/>
    <p:sldId id="338" r:id="rId18"/>
    <p:sldId id="348" r:id="rId19"/>
    <p:sldId id="349" r:id="rId20"/>
    <p:sldId id="350" r:id="rId21"/>
    <p:sldId id="351" r:id="rId22"/>
    <p:sldId id="297" r:id="rId23"/>
    <p:sldId id="353" r:id="rId24"/>
    <p:sldId id="355" r:id="rId25"/>
    <p:sldId id="356" r:id="rId26"/>
    <p:sldId id="354" r:id="rId27"/>
    <p:sldId id="364" r:id="rId28"/>
    <p:sldId id="357" r:id="rId29"/>
    <p:sldId id="358" r:id="rId30"/>
    <p:sldId id="359" r:id="rId31"/>
    <p:sldId id="360" r:id="rId32"/>
    <p:sldId id="361" r:id="rId33"/>
    <p:sldId id="363" r:id="rId34"/>
    <p:sldId id="302" r:id="rId35"/>
    <p:sldId id="367" r:id="rId36"/>
    <p:sldId id="368" r:id="rId37"/>
    <p:sldId id="369" r:id="rId38"/>
    <p:sldId id="371" r:id="rId39"/>
    <p:sldId id="372" r:id="rId40"/>
    <p:sldId id="380" r:id="rId41"/>
    <p:sldId id="381" r:id="rId42"/>
    <p:sldId id="366" r:id="rId43"/>
    <p:sldId id="373" r:id="rId44"/>
    <p:sldId id="382" r:id="rId45"/>
    <p:sldId id="384" r:id="rId46"/>
    <p:sldId id="383" r:id="rId47"/>
    <p:sldId id="385" r:id="rId48"/>
    <p:sldId id="306" r:id="rId49"/>
    <p:sldId id="376" r:id="rId50"/>
    <p:sldId id="377" r:id="rId51"/>
    <p:sldId id="378" r:id="rId52"/>
    <p:sldId id="379" r:id="rId53"/>
    <p:sldId id="386" r:id="rId54"/>
    <p:sldId id="387" r:id="rId55"/>
  </p:sldIdLst>
  <p:sldSz cx="12192000" cy="6858000"/>
  <p:notesSz cx="12192000" cy="6858000"/>
  <p:embeddedFontLst>
    <p:embeddedFont>
      <p:font typeface="Arial Unicode MS" panose="020B0604020202020204" pitchFamily="34" charset="-122"/>
      <p:regular r:id="rId56"/>
    </p:embeddedFont>
    <p:embeddedFont>
      <p:font typeface="等线" panose="02010600030101010101" pitchFamily="2" charset="-122"/>
      <p:regular r:id="rId57"/>
      <p:bold r:id="rId58"/>
    </p:embeddedFont>
    <p:embeddedFont>
      <p:font typeface="微软雅黑" panose="020B0503020204020204" pitchFamily="34" charset="-122"/>
      <p:regular r:id="rId59"/>
      <p:bold r:id="rId60"/>
    </p:embeddedFont>
    <p:embeddedFont>
      <p:font typeface="Berlin Sans FB Demi" panose="020E0802020502020306" pitchFamily="34" charset="0"/>
      <p:bold r:id="rId61"/>
    </p:embeddedFont>
    <p:embeddedFont>
      <p:font typeface="Calibri" panose="020F0502020204030204" pitchFamily="34" charset="0"/>
      <p:regular r:id="rId62"/>
      <p:bold r:id="rId63"/>
      <p:italic r:id="rId64"/>
      <p:boldItalic r:id="rId65"/>
    </p:embeddedFont>
    <p:embeddedFont>
      <p:font typeface="OAKHCI+MicrosoftYaHei-Bold" panose="02010600030101010101"/>
      <p:regular r:id="rId66"/>
    </p:embeddedFont>
    <p:embeddedFont>
      <p:font typeface="PKMLHR+MicrosoftYaHei" panose="02010600030101010101"/>
      <p:regular r:id="rId6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8" y="165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image" Target="../media/image3.png"/><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6/17/2026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6/17/2026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1.xml"/><Relationship Id="rId1" Type="http://schemas.openxmlformats.org/officeDocument/2006/relationships/vmlDrawing" Target="../drawings/vmlDrawing1.v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9A10E4D9-63AB-42E0-BB65-5F7DCC9E6483}"/>
              </a:ext>
            </a:extLst>
          </p:cNvPr>
          <p:cNvSpPr/>
          <p:nvPr/>
        </p:nvSpPr>
        <p:spPr>
          <a:xfrm>
            <a:off x="983432" y="960548"/>
            <a:ext cx="10225136" cy="2664296"/>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bject 3"/>
          <p:cNvSpPr txBox="1"/>
          <p:nvPr/>
        </p:nvSpPr>
        <p:spPr>
          <a:xfrm>
            <a:off x="1487488" y="1340768"/>
            <a:ext cx="9217024" cy="1547411"/>
          </a:xfrm>
          <a:prstGeom prst="rect">
            <a:avLst/>
          </a:prstGeom>
        </p:spPr>
        <p:txBody>
          <a:bodyPr vert="horz" wrap="square" lIns="0" tIns="0" rIns="0" bIns="0" rtlCol="0">
            <a:spAutoFit/>
          </a:bodyPr>
          <a:lstStyle/>
          <a:p>
            <a:pPr marL="0" marR="0">
              <a:lnSpc>
                <a:spcPts val="6251"/>
              </a:lnSpc>
              <a:spcBef>
                <a:spcPts val="0"/>
              </a:spcBef>
              <a:spcAft>
                <a:spcPts val="0"/>
              </a:spcAft>
            </a:pPr>
            <a:r>
              <a:rPr lang="en-US" altLang="zh-CN" sz="5400" b="1" dirty="0">
                <a:solidFill>
                  <a:srgbClr val="FF0000"/>
                </a:solidFill>
                <a:latin typeface="+mn-ea"/>
              </a:rPr>
              <a:t>PMS</a:t>
            </a:r>
            <a:r>
              <a:rPr lang="zh-CN" altLang="en-US" sz="5400" b="1" dirty="0">
                <a:solidFill>
                  <a:srgbClr val="FF0000"/>
                </a:solidFill>
                <a:latin typeface="+mn-ea"/>
              </a:rPr>
              <a:t>业财一体化</a:t>
            </a:r>
            <a:r>
              <a:rPr lang="en-US" altLang="zh-CN" sz="5400" b="1" dirty="0">
                <a:solidFill>
                  <a:srgbClr val="FF0000"/>
                </a:solidFill>
                <a:latin typeface="+mn-ea"/>
              </a:rPr>
              <a:t>*</a:t>
            </a:r>
            <a:r>
              <a:rPr lang="zh-CN" altLang="en-US" sz="5400" b="1" dirty="0">
                <a:solidFill>
                  <a:srgbClr val="FF0000"/>
                </a:solidFill>
                <a:latin typeface="+mn-ea"/>
              </a:rPr>
              <a:t>业务流程再造</a:t>
            </a:r>
            <a:r>
              <a:rPr lang="en-US" altLang="zh-CN" sz="5400" b="1" dirty="0">
                <a:solidFill>
                  <a:srgbClr val="FF0000"/>
                </a:solidFill>
                <a:latin typeface="+mn-ea"/>
              </a:rPr>
              <a:t>  </a:t>
            </a:r>
            <a:r>
              <a:rPr lang="en-US" altLang="zh-CN" sz="6000" b="1" dirty="0">
                <a:solidFill>
                  <a:srgbClr val="FF0000"/>
                </a:solidFill>
                <a:highlight>
                  <a:srgbClr val="FFFF00"/>
                </a:highlight>
                <a:latin typeface="+mn-ea"/>
              </a:rPr>
              <a:t>  </a:t>
            </a:r>
          </a:p>
          <a:p>
            <a:pPr marL="0" marR="0">
              <a:lnSpc>
                <a:spcPts val="6251"/>
              </a:lnSpc>
              <a:spcBef>
                <a:spcPts val="0"/>
              </a:spcBef>
              <a:spcAft>
                <a:spcPts val="0"/>
              </a:spcAft>
            </a:pPr>
            <a:r>
              <a:rPr lang="en-US" altLang="zh-CN" sz="4800" b="1" dirty="0">
                <a:solidFill>
                  <a:srgbClr val="FF0000"/>
                </a:solidFill>
                <a:latin typeface="+mn-ea"/>
              </a:rPr>
              <a:t>        </a:t>
            </a:r>
            <a:r>
              <a:rPr lang="en-US" altLang="zh-CN" sz="4800" b="1" dirty="0">
                <a:solidFill>
                  <a:srgbClr val="FF0000"/>
                </a:solidFill>
                <a:highlight>
                  <a:srgbClr val="FFFF00"/>
                </a:highlight>
                <a:latin typeface="+mn-ea"/>
              </a:rPr>
              <a:t>——</a:t>
            </a:r>
            <a:r>
              <a:rPr lang="zh-CN" altLang="en-US" sz="4800" b="1" dirty="0">
                <a:solidFill>
                  <a:srgbClr val="FF0000"/>
                </a:solidFill>
                <a:highlight>
                  <a:srgbClr val="FFFF00"/>
                </a:highlight>
                <a:latin typeface="+mn-ea"/>
              </a:rPr>
              <a:t>表格工具篇         </a:t>
            </a:r>
            <a:endParaRPr sz="6000" b="1" dirty="0">
              <a:solidFill>
                <a:srgbClr val="FF0000"/>
              </a:solidFill>
              <a:highlight>
                <a:srgbClr val="FFFF00"/>
              </a:highlight>
              <a:latin typeface="+mn-ea"/>
              <a:cs typeface="OAKHCI+MicrosoftYaHe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E26A3A2C-554C-4C3C-8B3D-2184197756D3}"/>
              </a:ext>
            </a:extLst>
          </p:cNvPr>
          <p:cNvSpPr/>
          <p:nvPr/>
        </p:nvSpPr>
        <p:spPr>
          <a:xfrm>
            <a:off x="2540897" y="5018993"/>
            <a:ext cx="9364561" cy="1434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a:extLst>
              <a:ext uri="{FF2B5EF4-FFF2-40B4-BE49-F238E27FC236}">
                <a16:creationId xmlns:a16="http://schemas.microsoft.com/office/drawing/2014/main" id="{E812D1AB-4DCD-4547-92F1-27ED52378412}"/>
              </a:ext>
            </a:extLst>
          </p:cNvPr>
          <p:cNvSpPr/>
          <p:nvPr/>
        </p:nvSpPr>
        <p:spPr>
          <a:xfrm>
            <a:off x="2298962" y="1868702"/>
            <a:ext cx="9505056" cy="18578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F6389E56-8400-42CD-8773-D772112B21AA}"/>
              </a:ext>
            </a:extLst>
          </p:cNvPr>
          <p:cNvSpPr/>
          <p:nvPr/>
        </p:nvSpPr>
        <p:spPr>
          <a:xfrm>
            <a:off x="2332931" y="3873973"/>
            <a:ext cx="9500517" cy="8411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591221BB-A3BA-48BC-9EEC-D525E62B9DF0}"/>
              </a:ext>
            </a:extLst>
          </p:cNvPr>
          <p:cNvSpPr/>
          <p:nvPr/>
        </p:nvSpPr>
        <p:spPr>
          <a:xfrm>
            <a:off x="6882794" y="941598"/>
            <a:ext cx="2016224" cy="72008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D76FA1E-F569-4B20-A4A2-22993419C94E}"/>
              </a:ext>
            </a:extLst>
          </p:cNvPr>
          <p:cNvSpPr/>
          <p:nvPr/>
        </p:nvSpPr>
        <p:spPr>
          <a:xfrm>
            <a:off x="527853" y="880053"/>
            <a:ext cx="3197176" cy="72008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object 3"/>
          <p:cNvSpPr txBox="1"/>
          <p:nvPr/>
        </p:nvSpPr>
        <p:spPr>
          <a:xfrm>
            <a:off x="145076" y="262810"/>
            <a:ext cx="3358635" cy="1256754"/>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FF0000"/>
                </a:solidFill>
                <a:latin typeface="OAKHCI+MicrosoftYaHei-Bold"/>
                <a:cs typeface="OAKHCI+MicrosoftYaHei-Bold"/>
              </a:rPr>
              <a:t>财务管控体系</a:t>
            </a:r>
          </a:p>
          <a:p>
            <a:pPr marL="544195" marR="0">
              <a:lnSpc>
                <a:spcPts val="3339"/>
              </a:lnSpc>
              <a:spcBef>
                <a:spcPts val="3172"/>
              </a:spcBef>
              <a:spcAft>
                <a:spcPts val="0"/>
              </a:spcAft>
            </a:pPr>
            <a:r>
              <a:rPr lang="zh-CN" altLang="en-US" sz="3200" dirty="0">
                <a:solidFill>
                  <a:srgbClr val="000099"/>
                </a:solidFill>
                <a:latin typeface="OAKHCI+MicrosoftYaHei-Bold"/>
                <a:cs typeface="OAKHCI+MicrosoftYaHei-Bold"/>
              </a:rPr>
              <a:t>一、</a:t>
            </a:r>
            <a:r>
              <a:rPr sz="3200" dirty="0" err="1">
                <a:solidFill>
                  <a:srgbClr val="000099"/>
                </a:solidFill>
                <a:latin typeface="OAKHCI+MicrosoftYaHei-Bold"/>
                <a:cs typeface="OAKHCI+MicrosoftYaHei-Bold"/>
              </a:rPr>
              <a:t>采购环节</a:t>
            </a:r>
            <a:endParaRPr sz="3200" dirty="0">
              <a:solidFill>
                <a:srgbClr val="000099"/>
              </a:solidFill>
              <a:latin typeface="OAKHCI+MicrosoftYaHei-Bold"/>
              <a:cs typeface="OAKHCI+MicrosoftYaHei-Bold"/>
            </a:endParaRPr>
          </a:p>
        </p:txBody>
      </p:sp>
      <p:sp>
        <p:nvSpPr>
          <p:cNvPr id="4" name="object 4"/>
          <p:cNvSpPr txBox="1"/>
          <p:nvPr/>
        </p:nvSpPr>
        <p:spPr>
          <a:xfrm>
            <a:off x="7104112" y="1122581"/>
            <a:ext cx="2016224" cy="423193"/>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000099"/>
                </a:solidFill>
                <a:latin typeface="OAKHCI+MicrosoftYaHei-Bold"/>
                <a:cs typeface="OAKHCI+MicrosoftYaHei-Bold"/>
              </a:rPr>
              <a:t>流程设计</a:t>
            </a:r>
          </a:p>
        </p:txBody>
      </p:sp>
      <p:sp>
        <p:nvSpPr>
          <p:cNvPr id="5" name="object 5"/>
          <p:cNvSpPr txBox="1"/>
          <p:nvPr/>
        </p:nvSpPr>
        <p:spPr>
          <a:xfrm>
            <a:off x="218057" y="2461164"/>
            <a:ext cx="1730375" cy="423193"/>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000099"/>
                </a:solidFill>
                <a:highlight>
                  <a:srgbClr val="FFFF00"/>
                </a:highlight>
                <a:latin typeface="PKMLHR+MicrosoftYaHei"/>
                <a:cs typeface="PKMLHR+MicrosoftYaHei"/>
              </a:rPr>
              <a:t>1 </a:t>
            </a:r>
            <a:r>
              <a:rPr lang="zh-CN" altLang="en-US" sz="3200" dirty="0">
                <a:solidFill>
                  <a:srgbClr val="000099"/>
                </a:solidFill>
                <a:highlight>
                  <a:srgbClr val="FFFF00"/>
                </a:highlight>
                <a:latin typeface="PKMLHR+MicrosoftYaHei"/>
                <a:cs typeface="PKMLHR+MicrosoftYaHei"/>
              </a:rPr>
              <a:t>请</a:t>
            </a:r>
            <a:r>
              <a:rPr sz="3200" dirty="0" err="1">
                <a:solidFill>
                  <a:srgbClr val="000099"/>
                </a:solidFill>
                <a:highlight>
                  <a:srgbClr val="FFFF00"/>
                </a:highlight>
                <a:latin typeface="PKMLHR+MicrosoftYaHei"/>
                <a:cs typeface="PKMLHR+MicrosoftYaHei"/>
              </a:rPr>
              <a:t>购单</a:t>
            </a:r>
            <a:endParaRPr sz="3200" dirty="0">
              <a:solidFill>
                <a:srgbClr val="000099"/>
              </a:solidFill>
              <a:highlight>
                <a:srgbClr val="FFFF00"/>
              </a:highlight>
              <a:latin typeface="PKMLHR+MicrosoftYaHei"/>
              <a:cs typeface="PKMLHR+MicrosoftYaHei"/>
            </a:endParaRPr>
          </a:p>
        </p:txBody>
      </p:sp>
      <p:sp>
        <p:nvSpPr>
          <p:cNvPr id="6" name="object 6"/>
          <p:cNvSpPr txBox="1"/>
          <p:nvPr/>
        </p:nvSpPr>
        <p:spPr>
          <a:xfrm>
            <a:off x="2468887" y="2114823"/>
            <a:ext cx="9505056" cy="1603003"/>
          </a:xfrm>
          <a:prstGeom prst="rect">
            <a:avLst/>
          </a:prstGeom>
        </p:spPr>
        <p:txBody>
          <a:bodyPr vert="horz" wrap="square" lIns="0" tIns="0" rIns="0" bIns="0" rtlCol="0">
            <a:spAutoFit/>
          </a:bodyPr>
          <a:lstStyle/>
          <a:p>
            <a:pPr>
              <a:lnSpc>
                <a:spcPts val="2500"/>
              </a:lnSpc>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请购单：固定资产</a:t>
            </a: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物料</a:t>
            </a: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服务，一次支出金额≥</a:t>
            </a:r>
            <a:r>
              <a:rPr lang="en-US" altLang="zh-CN" sz="2400" b="1" dirty="0">
                <a:solidFill>
                  <a:srgbClr val="FF0000"/>
                </a:solidFill>
                <a:highlight>
                  <a:srgbClr val="FFFF00"/>
                </a:highlight>
                <a:latin typeface="PKMLHR+MicrosoftYaHei"/>
              </a:rPr>
              <a:t>1000</a:t>
            </a:r>
            <a:r>
              <a:rPr lang="zh-CN" altLang="en-US" sz="2400" b="1" dirty="0">
                <a:solidFill>
                  <a:srgbClr val="FF0000"/>
                </a:solidFill>
                <a:highlight>
                  <a:srgbClr val="FFFF00"/>
                </a:highlight>
                <a:latin typeface="PKMLHR+MicrosoftYaHei"/>
              </a:rPr>
              <a:t>元，需求明细</a:t>
            </a:r>
            <a:endParaRPr lang="en-US" altLang="zh-CN" sz="2400" b="1" dirty="0">
              <a:solidFill>
                <a:srgbClr val="FF0000"/>
              </a:solidFill>
              <a:highlight>
                <a:srgbClr val="FFFF00"/>
              </a:highlight>
              <a:latin typeface="PKMLHR+MicrosoftYaHei"/>
            </a:endParaRPr>
          </a:p>
          <a:p>
            <a:pPr>
              <a:lnSpc>
                <a:spcPts val="2500"/>
              </a:lnSpc>
            </a:pPr>
            <a:endParaRPr lang="en-US" altLang="zh-CN" sz="2400" b="1" dirty="0">
              <a:solidFill>
                <a:srgbClr val="FF0000"/>
              </a:solidFill>
              <a:highlight>
                <a:srgbClr val="FFFF00"/>
              </a:highlight>
              <a:latin typeface="PKMLHR+MicrosoftYaHei"/>
            </a:endParaRPr>
          </a:p>
          <a:p>
            <a:pPr>
              <a:lnSpc>
                <a:spcPts val="2500"/>
              </a:lnSpc>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采购比价单：采购明细、供应商</a:t>
            </a:r>
            <a:r>
              <a:rPr kumimoji="0" lang="zh-CN" altLang="en-US" sz="2400" b="1" i="0" u="none" strike="noStrike" kern="1200" cap="none" spc="0" normalizeH="0" baseline="0" noProof="0" dirty="0">
                <a:ln>
                  <a:noFill/>
                </a:ln>
                <a:solidFill>
                  <a:srgbClr val="FF0000"/>
                </a:solidFill>
                <a:effectLst/>
                <a:highlight>
                  <a:srgbClr val="FFFF00"/>
                </a:highlight>
                <a:uLnTx/>
                <a:uFillTx/>
                <a:latin typeface="PKMLHR+MicrosoftYaHei"/>
                <a:ea typeface="+mn-ea"/>
                <a:cs typeface="PKMLHR+MicrosoftYaHei"/>
              </a:rPr>
              <a:t>品质、价格、税收、信用、额度</a:t>
            </a:r>
            <a:endParaRPr kumimoji="0" lang="en-US" altLang="zh-CN" sz="2400" b="1" i="0" u="none" strike="noStrike" kern="1200" cap="none" spc="0" normalizeH="0" baseline="0" noProof="0" dirty="0">
              <a:ln>
                <a:noFill/>
              </a:ln>
              <a:solidFill>
                <a:srgbClr val="FF0000"/>
              </a:solidFill>
              <a:effectLst/>
              <a:highlight>
                <a:srgbClr val="FFFF00"/>
              </a:highlight>
              <a:uLnTx/>
              <a:uFillTx/>
              <a:latin typeface="PKMLHR+MicrosoftYaHei"/>
              <a:ea typeface="+mn-ea"/>
              <a:cs typeface="PKMLHR+MicrosoftYaHei"/>
            </a:endParaRPr>
          </a:p>
          <a:p>
            <a:pPr>
              <a:lnSpc>
                <a:spcPts val="2500"/>
              </a:lnSpc>
            </a:pPr>
            <a:endParaRPr kumimoji="0" lang="en-US" altLang="zh-CN" sz="2400" b="1" i="0" u="none" strike="noStrike" kern="1200" cap="none" spc="0" normalizeH="0" baseline="0" noProof="0" dirty="0">
              <a:ln>
                <a:noFill/>
              </a:ln>
              <a:solidFill>
                <a:srgbClr val="FF0000"/>
              </a:solidFill>
              <a:effectLst/>
              <a:highlight>
                <a:srgbClr val="FFFF00"/>
              </a:highlight>
              <a:uLnTx/>
              <a:uFillTx/>
              <a:latin typeface="PKMLHR+MicrosoftYaHei"/>
              <a:ea typeface="+mn-ea"/>
              <a:cs typeface="PKMLHR+MicrosoftYaHei"/>
            </a:endParaRPr>
          </a:p>
          <a:p>
            <a:pPr>
              <a:lnSpc>
                <a:spcPts val="2500"/>
              </a:lnSpc>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采购订单：确认供应商及采购明细</a:t>
            </a:r>
          </a:p>
        </p:txBody>
      </p:sp>
      <p:sp>
        <p:nvSpPr>
          <p:cNvPr id="7" name="object 7"/>
          <p:cNvSpPr txBox="1"/>
          <p:nvPr/>
        </p:nvSpPr>
        <p:spPr>
          <a:xfrm>
            <a:off x="225405" y="4100008"/>
            <a:ext cx="1730375" cy="423193"/>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000099"/>
                </a:solidFill>
                <a:highlight>
                  <a:srgbClr val="FFFF00"/>
                </a:highlight>
                <a:latin typeface="PKMLHR+MicrosoftYaHei"/>
                <a:cs typeface="PKMLHR+MicrosoftYaHei"/>
              </a:rPr>
              <a:t>2 </a:t>
            </a:r>
            <a:r>
              <a:rPr sz="3200" dirty="0" err="1">
                <a:solidFill>
                  <a:srgbClr val="000099"/>
                </a:solidFill>
                <a:highlight>
                  <a:srgbClr val="FFFF00"/>
                </a:highlight>
                <a:latin typeface="PKMLHR+MicrosoftYaHei"/>
                <a:cs typeface="PKMLHR+MicrosoftYaHei"/>
              </a:rPr>
              <a:t>合同书</a:t>
            </a:r>
            <a:endParaRPr sz="3200" dirty="0">
              <a:solidFill>
                <a:srgbClr val="000099"/>
              </a:solidFill>
              <a:highlight>
                <a:srgbClr val="FFFF00"/>
              </a:highlight>
              <a:latin typeface="PKMLHR+MicrosoftYaHei"/>
              <a:cs typeface="PKMLHR+MicrosoftYaHei"/>
            </a:endParaRPr>
          </a:p>
        </p:txBody>
      </p:sp>
      <p:sp>
        <p:nvSpPr>
          <p:cNvPr id="8" name="object 8"/>
          <p:cNvSpPr txBox="1"/>
          <p:nvPr/>
        </p:nvSpPr>
        <p:spPr>
          <a:xfrm>
            <a:off x="2395520" y="4183273"/>
            <a:ext cx="9364561" cy="320601"/>
          </a:xfrm>
          <a:prstGeom prst="rect">
            <a:avLst/>
          </a:prstGeom>
        </p:spPr>
        <p:txBody>
          <a:bodyPr vert="horz" wrap="square" lIns="0" tIns="0" rIns="0" bIns="0" rtlCol="0">
            <a:spAutoFit/>
          </a:bodyPr>
          <a:lstStyle/>
          <a:p>
            <a:pPr marL="0" marR="0">
              <a:lnSpc>
                <a:spcPts val="2500"/>
              </a:lnSpc>
              <a:spcBef>
                <a:spcPts val="0"/>
              </a:spcBef>
              <a:spcAft>
                <a:spcPts val="0"/>
              </a:spcAft>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mn-ea"/>
                <a:cs typeface="PKMLHR+MicrosoftYaHei"/>
              </a:rPr>
              <a:t>合同会审单：审发票条款、金额内容、付款方式，</a:t>
            </a:r>
            <a:r>
              <a:rPr lang="zh-CN" altLang="en-US" sz="2400" b="1" dirty="0">
                <a:solidFill>
                  <a:srgbClr val="FF0000"/>
                </a:solidFill>
                <a:highlight>
                  <a:srgbClr val="FFFF00"/>
                </a:highlight>
                <a:latin typeface="PKMLHR+MicrosoftYaHei"/>
                <a:cs typeface="PKMLHR+MicrosoftYaHei"/>
              </a:rPr>
              <a:t>确认合同、</a:t>
            </a:r>
            <a:r>
              <a:rPr lang="zh-CN" altLang="en-US" sz="2400" b="1" dirty="0">
                <a:solidFill>
                  <a:srgbClr val="FF0000"/>
                </a:solidFill>
                <a:highlight>
                  <a:srgbClr val="FFFF00"/>
                </a:highlight>
                <a:latin typeface="+mn-ea"/>
                <a:cs typeface="PKMLHR+MicrosoftYaHei"/>
              </a:rPr>
              <a:t>盖章</a:t>
            </a:r>
            <a:endParaRPr lang="en-US" altLang="zh-CN" sz="2400" b="1" dirty="0">
              <a:solidFill>
                <a:srgbClr val="FF0000"/>
              </a:solidFill>
              <a:highlight>
                <a:srgbClr val="FFFF00"/>
              </a:highlight>
              <a:latin typeface="+mn-ea"/>
              <a:cs typeface="PKMLHR+MicrosoftYaHei"/>
            </a:endParaRPr>
          </a:p>
        </p:txBody>
      </p:sp>
      <p:sp>
        <p:nvSpPr>
          <p:cNvPr id="18" name="object 7">
            <a:extLst>
              <a:ext uri="{FF2B5EF4-FFF2-40B4-BE49-F238E27FC236}">
                <a16:creationId xmlns:a16="http://schemas.microsoft.com/office/drawing/2014/main" id="{C3B278D6-4578-41B9-80EE-19CF1DFD4B6D}"/>
              </a:ext>
            </a:extLst>
          </p:cNvPr>
          <p:cNvSpPr txBox="1"/>
          <p:nvPr/>
        </p:nvSpPr>
        <p:spPr>
          <a:xfrm>
            <a:off x="218057" y="5612771"/>
            <a:ext cx="2429043" cy="423193"/>
          </a:xfrm>
          <a:prstGeom prst="rect">
            <a:avLst/>
          </a:prstGeom>
        </p:spPr>
        <p:txBody>
          <a:bodyPr vert="horz" wrap="square" lIns="0" tIns="0" rIns="0" bIns="0" rtlCol="0">
            <a:spAutoFit/>
          </a:bodyPr>
          <a:lstStyle/>
          <a:p>
            <a:pPr marL="0" marR="0">
              <a:lnSpc>
                <a:spcPts val="3339"/>
              </a:lnSpc>
              <a:spcBef>
                <a:spcPts val="0"/>
              </a:spcBef>
              <a:spcAft>
                <a:spcPts val="0"/>
              </a:spcAft>
            </a:pPr>
            <a:r>
              <a:rPr lang="en-US" sz="3200" b="1" dirty="0">
                <a:solidFill>
                  <a:srgbClr val="000099"/>
                </a:solidFill>
                <a:highlight>
                  <a:srgbClr val="FFFF00"/>
                </a:highlight>
                <a:latin typeface="PKMLHR+MicrosoftYaHei"/>
                <a:cs typeface="PKMLHR+MicrosoftYaHei"/>
              </a:rPr>
              <a:t>3</a:t>
            </a:r>
            <a:r>
              <a:rPr sz="3200" b="1" dirty="0">
                <a:solidFill>
                  <a:srgbClr val="000099"/>
                </a:solidFill>
                <a:highlight>
                  <a:srgbClr val="FFFF00"/>
                </a:highlight>
                <a:latin typeface="PKMLHR+MicrosoftYaHei"/>
                <a:cs typeface="PKMLHR+MicrosoftYaHei"/>
              </a:rPr>
              <a:t> </a:t>
            </a:r>
            <a:r>
              <a:rPr lang="zh-CN" altLang="en-US" sz="3200" b="1" dirty="0">
                <a:solidFill>
                  <a:srgbClr val="000099"/>
                </a:solidFill>
                <a:highlight>
                  <a:srgbClr val="FFFF00"/>
                </a:highlight>
                <a:latin typeface="PKMLHR+MicrosoftYaHei"/>
                <a:cs typeface="PKMLHR+MicrosoftYaHei"/>
              </a:rPr>
              <a:t>对公付款</a:t>
            </a:r>
            <a:endParaRPr sz="3200" b="1" dirty="0">
              <a:solidFill>
                <a:srgbClr val="000099"/>
              </a:solidFill>
              <a:highlight>
                <a:srgbClr val="FFFF00"/>
              </a:highlight>
              <a:latin typeface="PKMLHR+MicrosoftYaHei"/>
              <a:cs typeface="PKMLHR+MicrosoftYaHei"/>
            </a:endParaRPr>
          </a:p>
        </p:txBody>
      </p:sp>
      <p:sp>
        <p:nvSpPr>
          <p:cNvPr id="19" name="object 8">
            <a:extLst>
              <a:ext uri="{FF2B5EF4-FFF2-40B4-BE49-F238E27FC236}">
                <a16:creationId xmlns:a16="http://schemas.microsoft.com/office/drawing/2014/main" id="{B364F963-7B52-4296-8A79-F9993363A933}"/>
              </a:ext>
            </a:extLst>
          </p:cNvPr>
          <p:cNvSpPr txBox="1"/>
          <p:nvPr/>
        </p:nvSpPr>
        <p:spPr>
          <a:xfrm>
            <a:off x="2571385" y="5254518"/>
            <a:ext cx="9364561" cy="961802"/>
          </a:xfrm>
          <a:prstGeom prst="rect">
            <a:avLst/>
          </a:prstGeom>
        </p:spPr>
        <p:txBody>
          <a:bodyPr vert="horz" wrap="square" lIns="0" tIns="0" rIns="0" bIns="0" rtlCol="0">
            <a:spAutoFit/>
          </a:bodyPr>
          <a:lstStyle/>
          <a:p>
            <a:pPr marL="0" marR="0">
              <a:lnSpc>
                <a:spcPts val="2500"/>
              </a:lnSpc>
              <a:spcBef>
                <a:spcPts val="0"/>
              </a:spcBef>
              <a:spcAft>
                <a:spcPts val="0"/>
              </a:spcAft>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mn-ea"/>
                <a:cs typeface="PKMLHR+MicrosoftYaHei"/>
              </a:rPr>
              <a:t>付款申请：原则上，先收发票、再发起付款申请</a:t>
            </a:r>
            <a:endParaRPr lang="en-US" altLang="zh-CN" sz="2400" b="1" dirty="0">
              <a:solidFill>
                <a:srgbClr val="FF0000"/>
              </a:solidFill>
              <a:highlight>
                <a:srgbClr val="FFFF00"/>
              </a:highlight>
              <a:latin typeface="+mn-ea"/>
              <a:cs typeface="PKMLHR+MicrosoftYaHei"/>
            </a:endParaRPr>
          </a:p>
          <a:p>
            <a:pPr marL="0" marR="0">
              <a:lnSpc>
                <a:spcPts val="2500"/>
              </a:lnSpc>
              <a:spcBef>
                <a:spcPts val="0"/>
              </a:spcBef>
              <a:spcAft>
                <a:spcPts val="0"/>
              </a:spcAft>
            </a:pPr>
            <a:endParaRPr lang="en-US" altLang="zh-CN" sz="2400" b="1" dirty="0">
              <a:solidFill>
                <a:srgbClr val="FF0000"/>
              </a:solidFill>
              <a:highlight>
                <a:srgbClr val="FFFF00"/>
              </a:highlight>
              <a:latin typeface="+mn-ea"/>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应付账龄分析表：月度</a:t>
            </a:r>
            <a:r>
              <a:rPr lang="en-US" altLang="zh-CN" sz="2400" b="1" dirty="0">
                <a:solidFill>
                  <a:srgbClr val="FF0000"/>
                </a:solidFill>
                <a:highlight>
                  <a:srgbClr val="FFFF00"/>
                </a:highlight>
                <a:latin typeface="PKMLHR+MicrosoftYaHei"/>
              </a:rPr>
              <a:t>/</a:t>
            </a:r>
            <a:r>
              <a:rPr lang="zh-CN" altLang="en-US" sz="2400" b="1" dirty="0">
                <a:solidFill>
                  <a:srgbClr val="FF0000"/>
                </a:solidFill>
                <a:highlight>
                  <a:srgbClr val="FFFF00"/>
                </a:highlight>
                <a:latin typeface="PKMLHR+MicrosoftYaHei"/>
              </a:rPr>
              <a:t>季度，对公应付统计分析，资金管理</a:t>
            </a:r>
            <a:endParaRPr sz="2400" b="1" dirty="0">
              <a:solidFill>
                <a:srgbClr val="FF0000"/>
              </a:solidFill>
              <a:highlight>
                <a:srgbClr val="FFFF00"/>
              </a:highlight>
              <a:latin typeface="+mn-ea"/>
              <a:cs typeface="PKMLHR+MicrosoftYaHei"/>
            </a:endParaRPr>
          </a:p>
        </p:txBody>
      </p:sp>
      <p:sp>
        <p:nvSpPr>
          <p:cNvPr id="2" name="箭头: 下 1">
            <a:extLst>
              <a:ext uri="{FF2B5EF4-FFF2-40B4-BE49-F238E27FC236}">
                <a16:creationId xmlns:a16="http://schemas.microsoft.com/office/drawing/2014/main" id="{C6A95014-ADC4-4480-8FDB-161E7774A718}"/>
              </a:ext>
            </a:extLst>
          </p:cNvPr>
          <p:cNvSpPr/>
          <p:nvPr/>
        </p:nvSpPr>
        <p:spPr>
          <a:xfrm>
            <a:off x="911424" y="3010438"/>
            <a:ext cx="360040" cy="73495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下 21">
            <a:extLst>
              <a:ext uri="{FF2B5EF4-FFF2-40B4-BE49-F238E27FC236}">
                <a16:creationId xmlns:a16="http://schemas.microsoft.com/office/drawing/2014/main" id="{144C3EF3-4F8A-428A-B191-B91CB248A32B}"/>
              </a:ext>
            </a:extLst>
          </p:cNvPr>
          <p:cNvSpPr/>
          <p:nvPr/>
        </p:nvSpPr>
        <p:spPr>
          <a:xfrm>
            <a:off x="948426" y="4578831"/>
            <a:ext cx="323037" cy="7091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下 22">
            <a:extLst>
              <a:ext uri="{FF2B5EF4-FFF2-40B4-BE49-F238E27FC236}">
                <a16:creationId xmlns:a16="http://schemas.microsoft.com/office/drawing/2014/main" id="{52DC751B-FB94-4BE4-8696-B5F3E0D72BF5}"/>
              </a:ext>
            </a:extLst>
          </p:cNvPr>
          <p:cNvSpPr/>
          <p:nvPr/>
        </p:nvSpPr>
        <p:spPr>
          <a:xfrm>
            <a:off x="2795910" y="2461164"/>
            <a:ext cx="347762" cy="23948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68472E85-C549-458C-B007-B507763963A8}"/>
              </a:ext>
            </a:extLst>
          </p:cNvPr>
          <p:cNvSpPr/>
          <p:nvPr/>
        </p:nvSpPr>
        <p:spPr>
          <a:xfrm>
            <a:off x="2739182" y="3131521"/>
            <a:ext cx="347762" cy="21535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a:extLst>
              <a:ext uri="{FF2B5EF4-FFF2-40B4-BE49-F238E27FC236}">
                <a16:creationId xmlns:a16="http://schemas.microsoft.com/office/drawing/2014/main" id="{B467997F-5AD4-41FB-9BE1-AF2BC39CDC36}"/>
              </a:ext>
            </a:extLst>
          </p:cNvPr>
          <p:cNvSpPr/>
          <p:nvPr/>
        </p:nvSpPr>
        <p:spPr>
          <a:xfrm>
            <a:off x="2795910" y="3825922"/>
            <a:ext cx="347762" cy="32060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a:extLst>
              <a:ext uri="{FF2B5EF4-FFF2-40B4-BE49-F238E27FC236}">
                <a16:creationId xmlns:a16="http://schemas.microsoft.com/office/drawing/2014/main" id="{B265F339-2B1F-43F6-A2DE-0567C3D27F59}"/>
              </a:ext>
            </a:extLst>
          </p:cNvPr>
          <p:cNvSpPr/>
          <p:nvPr/>
        </p:nvSpPr>
        <p:spPr>
          <a:xfrm>
            <a:off x="2795910" y="4763749"/>
            <a:ext cx="347762" cy="32060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a:extLst>
              <a:ext uri="{FF2B5EF4-FFF2-40B4-BE49-F238E27FC236}">
                <a16:creationId xmlns:a16="http://schemas.microsoft.com/office/drawing/2014/main" id="{32C03D3D-21AE-4602-845D-1F3AD36367E9}"/>
              </a:ext>
            </a:extLst>
          </p:cNvPr>
          <p:cNvSpPr/>
          <p:nvPr/>
        </p:nvSpPr>
        <p:spPr>
          <a:xfrm>
            <a:off x="2795910" y="5612771"/>
            <a:ext cx="347762" cy="25432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52A2746A-1883-4021-B8FC-531B279C94AE}"/>
              </a:ext>
            </a:extLst>
          </p:cNvPr>
          <p:cNvSpPr/>
          <p:nvPr/>
        </p:nvSpPr>
        <p:spPr>
          <a:xfrm>
            <a:off x="1847528" y="2484100"/>
            <a:ext cx="327023" cy="2968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A6C80F9A-B230-4E5E-81D4-22022947AEDC}"/>
              </a:ext>
            </a:extLst>
          </p:cNvPr>
          <p:cNvSpPr/>
          <p:nvPr/>
        </p:nvSpPr>
        <p:spPr>
          <a:xfrm>
            <a:off x="1873691" y="4183273"/>
            <a:ext cx="327023" cy="2968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030F70AB-7A7A-48BF-B9CE-D18043355FE1}"/>
              </a:ext>
            </a:extLst>
          </p:cNvPr>
          <p:cNvSpPr/>
          <p:nvPr/>
        </p:nvSpPr>
        <p:spPr>
          <a:xfrm>
            <a:off x="2298962" y="5661248"/>
            <a:ext cx="169925" cy="2968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038B85D-7EC0-4655-87DD-3D26134B215E}"/>
              </a:ext>
            </a:extLst>
          </p:cNvPr>
          <p:cNvSpPr txBox="1"/>
          <p:nvPr/>
        </p:nvSpPr>
        <p:spPr>
          <a:xfrm>
            <a:off x="191344" y="316059"/>
            <a:ext cx="1728192" cy="461665"/>
          </a:xfrm>
          <a:prstGeom prst="rect">
            <a:avLst/>
          </a:prstGeom>
          <a:solidFill>
            <a:srgbClr val="FFFF00"/>
          </a:solidFill>
        </p:spPr>
        <p:txBody>
          <a:bodyPr wrap="square" rtlCol="0">
            <a:spAutoFit/>
          </a:bodyPr>
          <a:lstStyle/>
          <a:p>
            <a:r>
              <a:rPr lang="zh-CN" altLang="en-US" sz="2400" b="1" dirty="0">
                <a:solidFill>
                  <a:srgbClr val="FF0000"/>
                </a:solidFill>
              </a:rPr>
              <a:t>请购单</a:t>
            </a:r>
            <a:r>
              <a:rPr lang="en-US" altLang="zh-CN" sz="2400" b="1" dirty="0">
                <a:solidFill>
                  <a:srgbClr val="FF0000"/>
                </a:solidFill>
              </a:rPr>
              <a:t>1-1</a:t>
            </a:r>
            <a:endParaRPr lang="zh-CN" altLang="en-US" sz="2400" b="1" dirty="0">
              <a:solidFill>
                <a:srgbClr val="FF0000"/>
              </a:solidFill>
            </a:endParaRPr>
          </a:p>
        </p:txBody>
      </p:sp>
      <p:graphicFrame>
        <p:nvGraphicFramePr>
          <p:cNvPr id="6" name="表格 5">
            <a:extLst>
              <a:ext uri="{FF2B5EF4-FFF2-40B4-BE49-F238E27FC236}">
                <a16:creationId xmlns:a16="http://schemas.microsoft.com/office/drawing/2014/main" id="{7300DC4B-9F8D-491B-8668-BE1B0DDE52B5}"/>
              </a:ext>
            </a:extLst>
          </p:cNvPr>
          <p:cNvGraphicFramePr>
            <a:graphicFrameLocks noGrp="1"/>
          </p:cNvGraphicFramePr>
          <p:nvPr>
            <p:extLst>
              <p:ext uri="{D42A27DB-BD31-4B8C-83A1-F6EECF244321}">
                <p14:modId xmlns:p14="http://schemas.microsoft.com/office/powerpoint/2010/main" val="2944994682"/>
              </p:ext>
            </p:extLst>
          </p:nvPr>
        </p:nvGraphicFramePr>
        <p:xfrm>
          <a:off x="2063553" y="316058"/>
          <a:ext cx="9721081" cy="6065268"/>
        </p:xfrm>
        <a:graphic>
          <a:graphicData uri="http://schemas.openxmlformats.org/drawingml/2006/table">
            <a:tbl>
              <a:tblPr>
                <a:tableStyleId>{5C22544A-7EE6-4342-B048-85BDC9FD1C3A}</a:tableStyleId>
              </a:tblPr>
              <a:tblGrid>
                <a:gridCol w="1467616">
                  <a:extLst>
                    <a:ext uri="{9D8B030D-6E8A-4147-A177-3AD203B41FA5}">
                      <a16:colId xmlns:a16="http://schemas.microsoft.com/office/drawing/2014/main" val="4170076424"/>
                    </a:ext>
                  </a:extLst>
                </a:gridCol>
                <a:gridCol w="2367995">
                  <a:extLst>
                    <a:ext uri="{9D8B030D-6E8A-4147-A177-3AD203B41FA5}">
                      <a16:colId xmlns:a16="http://schemas.microsoft.com/office/drawing/2014/main" val="4159120109"/>
                    </a:ext>
                  </a:extLst>
                </a:gridCol>
                <a:gridCol w="1332559">
                  <a:extLst>
                    <a:ext uri="{9D8B030D-6E8A-4147-A177-3AD203B41FA5}">
                      <a16:colId xmlns:a16="http://schemas.microsoft.com/office/drawing/2014/main" val="3010479975"/>
                    </a:ext>
                  </a:extLst>
                </a:gridCol>
                <a:gridCol w="1932811">
                  <a:extLst>
                    <a:ext uri="{9D8B030D-6E8A-4147-A177-3AD203B41FA5}">
                      <a16:colId xmlns:a16="http://schemas.microsoft.com/office/drawing/2014/main" val="511686474"/>
                    </a:ext>
                  </a:extLst>
                </a:gridCol>
                <a:gridCol w="2620100">
                  <a:extLst>
                    <a:ext uri="{9D8B030D-6E8A-4147-A177-3AD203B41FA5}">
                      <a16:colId xmlns:a16="http://schemas.microsoft.com/office/drawing/2014/main" val="3584426275"/>
                    </a:ext>
                  </a:extLst>
                </a:gridCol>
              </a:tblGrid>
              <a:tr h="551388">
                <a:tc gridSpan="5">
                  <a:txBody>
                    <a:bodyPr/>
                    <a:lstStyle/>
                    <a:p>
                      <a:pPr algn="ctr" fontAlgn="ctr"/>
                      <a:r>
                        <a:rPr lang="zh-CN" altLang="en-US" sz="900" u="none" strike="noStrike">
                          <a:effectLst/>
                        </a:rPr>
                        <a:t>材料</a:t>
                      </a:r>
                      <a:r>
                        <a:rPr lang="en-US" altLang="zh-CN" sz="900" u="none" strike="noStrike">
                          <a:effectLst/>
                        </a:rPr>
                        <a:t>/</a:t>
                      </a:r>
                      <a:r>
                        <a:rPr lang="zh-CN" altLang="en-US" sz="900" u="none" strike="noStrike">
                          <a:effectLst/>
                        </a:rPr>
                        <a:t>物资</a:t>
                      </a:r>
                      <a:r>
                        <a:rPr lang="en-US" altLang="zh-CN" sz="900" u="none" strike="noStrike">
                          <a:effectLst/>
                        </a:rPr>
                        <a:t>/</a:t>
                      </a:r>
                      <a:r>
                        <a:rPr lang="zh-CN" altLang="en-US" sz="900" u="none" strike="noStrike">
                          <a:effectLst/>
                        </a:rPr>
                        <a:t>软件</a:t>
                      </a:r>
                      <a:r>
                        <a:rPr lang="en-US" altLang="zh-CN" sz="900" u="none" strike="noStrike">
                          <a:effectLst/>
                        </a:rPr>
                        <a:t>/</a:t>
                      </a:r>
                      <a:r>
                        <a:rPr lang="zh-CN" altLang="en-US" sz="900" u="none" strike="noStrike">
                          <a:effectLst/>
                        </a:rPr>
                        <a:t>服务请购单</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31967831"/>
                  </a:ext>
                </a:extLst>
              </a:tr>
              <a:tr h="551388">
                <a:tc>
                  <a:txBody>
                    <a:bodyPr/>
                    <a:lstStyle/>
                    <a:p>
                      <a:pPr algn="ctr" fontAlgn="ctr"/>
                      <a:r>
                        <a:rPr lang="zh-CN" altLang="en-US" sz="800" u="none" strike="noStrike">
                          <a:effectLst/>
                        </a:rPr>
                        <a:t>申请部门</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申请人</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申请编号：</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722137474"/>
                  </a:ext>
                </a:extLst>
              </a:tr>
              <a:tr h="551388">
                <a:tc>
                  <a:txBody>
                    <a:bodyPr/>
                    <a:lstStyle/>
                    <a:p>
                      <a:pPr algn="ctr" fontAlgn="ctr"/>
                      <a:r>
                        <a:rPr lang="zh-CN" altLang="en-US" sz="800" u="none" strike="noStrike">
                          <a:effectLst/>
                        </a:rPr>
                        <a:t>领用用途</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□生产耗用 □研发专用 □日常办公               □项目专用 □销售包装 □其他</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需求到货日期</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申请日期：</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318016699"/>
                  </a:ext>
                </a:extLst>
              </a:tr>
              <a:tr h="551388">
                <a:tc>
                  <a:txBody>
                    <a:bodyPr/>
                    <a:lstStyle/>
                    <a:p>
                      <a:pPr algn="ctr" fontAlgn="ctr"/>
                      <a:r>
                        <a:rPr lang="zh-CN" altLang="en-US" sz="800" u="none" strike="noStrike">
                          <a:effectLst/>
                        </a:rPr>
                        <a:t>收货仓库</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预算</a:t>
                      </a:r>
                      <a:r>
                        <a:rPr lang="en-US" altLang="zh-CN" sz="800" u="none" strike="noStrike">
                          <a:effectLst/>
                        </a:rPr>
                        <a:t>/</a:t>
                      </a:r>
                      <a:r>
                        <a:rPr lang="zh-CN" altLang="en-US" sz="800" u="none" strike="noStrike">
                          <a:effectLst/>
                        </a:rPr>
                        <a:t>成本归属项目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现有库存核对人：</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1576636957"/>
                  </a:ext>
                </a:extLst>
              </a:tr>
              <a:tr h="551388">
                <a:tc>
                  <a:txBody>
                    <a:bodyPr/>
                    <a:lstStyle/>
                    <a:p>
                      <a:pPr algn="ctr" fontAlgn="ctr"/>
                      <a:r>
                        <a:rPr lang="zh-CN" altLang="en-US" sz="800" u="none" strike="noStrike">
                          <a:effectLst/>
                        </a:rPr>
                        <a:t>序号</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材料</a:t>
                      </a:r>
                      <a:r>
                        <a:rPr lang="en-US" altLang="zh-CN" sz="800" u="none" strike="noStrike">
                          <a:effectLst/>
                        </a:rPr>
                        <a:t>/</a:t>
                      </a:r>
                      <a:r>
                        <a:rPr lang="zh-CN" altLang="en-US" sz="800" u="none" strike="noStrike">
                          <a:effectLst/>
                        </a:rPr>
                        <a:t>物料</a:t>
                      </a:r>
                      <a:r>
                        <a:rPr lang="en-US" altLang="zh-CN" sz="800" u="none" strike="noStrike">
                          <a:effectLst/>
                        </a:rPr>
                        <a:t>/</a:t>
                      </a:r>
                      <a:r>
                        <a:rPr lang="zh-CN" altLang="en-US" sz="800" u="none" strike="noStrike">
                          <a:effectLst/>
                        </a:rPr>
                        <a:t>软件</a:t>
                      </a:r>
                      <a:r>
                        <a:rPr lang="en-US" altLang="zh-CN" sz="800" u="none" strike="noStrike">
                          <a:effectLst/>
                        </a:rPr>
                        <a:t>/</a:t>
                      </a:r>
                      <a:r>
                        <a:rPr lang="zh-CN" altLang="en-US" sz="800" u="none" strike="noStrike">
                          <a:effectLst/>
                        </a:rPr>
                        <a:t>服务名称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规格型号</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材质</a:t>
                      </a:r>
                      <a:r>
                        <a:rPr lang="en-US" altLang="zh-CN" sz="800" u="none" strike="noStrike">
                          <a:effectLst/>
                        </a:rPr>
                        <a:t>/</a:t>
                      </a:r>
                      <a:r>
                        <a:rPr lang="zh-CN" altLang="en-US" sz="800" u="none" strike="noStrike">
                          <a:effectLst/>
                        </a:rPr>
                        <a:t>标准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单位数量</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1569446362"/>
                  </a:ext>
                </a:extLst>
              </a:tr>
              <a:tr h="551388">
                <a:tc>
                  <a:txBody>
                    <a:bodyPr/>
                    <a:lstStyle/>
                    <a:p>
                      <a:pPr algn="ctr" fontAlgn="ctr"/>
                      <a:r>
                        <a:rPr lang="en-US" altLang="zh-CN" sz="800" u="none" strike="noStrike">
                          <a:effectLst/>
                        </a:rPr>
                        <a:t>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3040188611"/>
                  </a:ext>
                </a:extLst>
              </a:tr>
              <a:tr h="551388">
                <a:tc>
                  <a:txBody>
                    <a:bodyPr/>
                    <a:lstStyle/>
                    <a:p>
                      <a:pPr algn="ctr" fontAlgn="ctr"/>
                      <a:r>
                        <a:rPr lang="en-US" altLang="zh-CN" sz="800" u="none" strike="noStrike">
                          <a:effectLst/>
                        </a:rPr>
                        <a:t>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11759954"/>
                  </a:ext>
                </a:extLst>
              </a:tr>
              <a:tr h="551388">
                <a:tc>
                  <a:txBody>
                    <a:bodyPr/>
                    <a:lstStyle/>
                    <a:p>
                      <a:pPr algn="ctr" fontAlgn="ctr"/>
                      <a:r>
                        <a:rPr lang="en-US" altLang="zh-CN" sz="800" u="none" strike="noStrike">
                          <a:effectLst/>
                        </a:rPr>
                        <a:t>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1236988057"/>
                  </a:ext>
                </a:extLst>
              </a:tr>
              <a:tr h="551388">
                <a:tc>
                  <a:txBody>
                    <a:bodyPr/>
                    <a:lstStyle/>
                    <a:p>
                      <a:pPr algn="ctr" fontAlgn="ctr"/>
                      <a:r>
                        <a:rPr lang="zh-CN" altLang="en-US" sz="800" u="none" strike="noStrike">
                          <a:effectLst/>
                        </a:rPr>
                        <a:t>合计预估金额</a:t>
                      </a:r>
                      <a:r>
                        <a:rPr lang="en-US" altLang="zh-CN" sz="800" u="none" strike="noStrike">
                          <a:effectLst/>
                        </a:rPr>
                        <a:t>/</a:t>
                      </a:r>
                      <a:r>
                        <a:rPr lang="zh-CN" altLang="en-US" sz="800" u="none" strike="noStrike">
                          <a:effectLst/>
                        </a:rPr>
                        <a:t>大写</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合计预估金额</a:t>
                      </a:r>
                      <a:r>
                        <a:rPr lang="en-US" altLang="zh-CN" sz="800" u="none" strike="noStrike">
                          <a:effectLst/>
                        </a:rPr>
                        <a:t>/</a:t>
                      </a:r>
                      <a:r>
                        <a:rPr lang="zh-CN" altLang="en-US" sz="800" u="none" strike="noStrike">
                          <a:effectLst/>
                        </a:rPr>
                        <a:t>小写</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附件（报价单</a:t>
                      </a:r>
                      <a:r>
                        <a:rPr lang="en-US" altLang="zh-CN" sz="800" u="none" strike="noStrike">
                          <a:effectLst/>
                        </a:rPr>
                        <a:t>/</a:t>
                      </a:r>
                      <a:r>
                        <a:rPr lang="zh-CN" altLang="en-US" sz="800" u="none" strike="noStrike">
                          <a:effectLst/>
                        </a:rPr>
                        <a:t>技术图纸）张数</a:t>
                      </a:r>
                      <a:endParaRPr lang="zh-CN" altLang="en-US" sz="800" b="1"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862586341"/>
                  </a:ext>
                </a:extLst>
              </a:tr>
              <a:tr h="551388">
                <a:tc>
                  <a:txBody>
                    <a:bodyPr/>
                    <a:lstStyle/>
                    <a:p>
                      <a:pPr algn="ctr" fontAlgn="ctr"/>
                      <a:r>
                        <a:rPr lang="zh-CN" altLang="en-US" sz="800" u="none" strike="noStrike">
                          <a:effectLst/>
                        </a:rPr>
                        <a:t>部门审批</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仓库复核库存</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采购审核</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2708152643"/>
                  </a:ext>
                </a:extLst>
              </a:tr>
              <a:tr h="551388">
                <a:tc>
                  <a:txBody>
                    <a:bodyPr/>
                    <a:lstStyle/>
                    <a:p>
                      <a:pPr algn="ctr" fontAlgn="ctr"/>
                      <a:r>
                        <a:rPr lang="zh-CN" altLang="en-US" sz="800" u="none" strike="noStrike">
                          <a:effectLst/>
                        </a:rPr>
                        <a:t>财务复核预算</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a:effectLst/>
                        </a:rPr>
                        <a:t>审批人签字</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6302" marR="6302" marT="6302" marB="0" anchor="ctr"/>
                </a:tc>
                <a:tc>
                  <a:txBody>
                    <a:bodyPr/>
                    <a:lstStyle/>
                    <a:p>
                      <a:pPr algn="l" fontAlgn="ctr"/>
                      <a:r>
                        <a:rPr lang="zh-CN" altLang="en-US" sz="800" u="none" strike="noStrike" dirty="0">
                          <a:effectLst/>
                        </a:rPr>
                        <a:t>采购订单号（后续回填）</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6302" marR="6302" marT="6302" marB="0" anchor="ctr"/>
                </a:tc>
                <a:extLst>
                  <a:ext uri="{0D108BD9-81ED-4DB2-BD59-A6C34878D82A}">
                    <a16:rowId xmlns:a16="http://schemas.microsoft.com/office/drawing/2014/main" val="238339912"/>
                  </a:ext>
                </a:extLst>
              </a:tr>
            </a:tbl>
          </a:graphicData>
        </a:graphic>
      </p:graphicFrame>
    </p:spTree>
    <p:extLst>
      <p:ext uri="{BB962C8B-B14F-4D97-AF65-F5344CB8AC3E}">
        <p14:creationId xmlns:p14="http://schemas.microsoft.com/office/powerpoint/2010/main" val="1814066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0DB85A7-A2CE-4BB5-B52C-A4BE3C153784}"/>
              </a:ext>
            </a:extLst>
          </p:cNvPr>
          <p:cNvSpPr txBox="1"/>
          <p:nvPr/>
        </p:nvSpPr>
        <p:spPr>
          <a:xfrm>
            <a:off x="3702" y="85458"/>
            <a:ext cx="1608856" cy="461665"/>
          </a:xfrm>
          <a:prstGeom prst="rect">
            <a:avLst/>
          </a:prstGeom>
          <a:solidFill>
            <a:srgbClr val="FFFF00"/>
          </a:solidFill>
        </p:spPr>
        <p:txBody>
          <a:bodyPr wrap="square" rtlCol="0">
            <a:spAutoFit/>
          </a:bodyPr>
          <a:lstStyle/>
          <a:p>
            <a:r>
              <a:rPr lang="zh-CN" altLang="en-US" sz="2400" b="1" dirty="0">
                <a:solidFill>
                  <a:srgbClr val="FF0000"/>
                </a:solidFill>
              </a:rPr>
              <a:t>请购单</a:t>
            </a:r>
            <a:r>
              <a:rPr lang="en-US" altLang="zh-CN" sz="2400" b="1" dirty="0">
                <a:solidFill>
                  <a:srgbClr val="FF0000"/>
                </a:solidFill>
              </a:rPr>
              <a:t>1-2</a:t>
            </a:r>
            <a:endParaRPr lang="zh-CN" altLang="en-US" sz="2400" b="1" dirty="0">
              <a:solidFill>
                <a:srgbClr val="FF0000"/>
              </a:solidFill>
            </a:endParaRPr>
          </a:p>
        </p:txBody>
      </p:sp>
      <p:graphicFrame>
        <p:nvGraphicFramePr>
          <p:cNvPr id="6" name="表格 5">
            <a:extLst>
              <a:ext uri="{FF2B5EF4-FFF2-40B4-BE49-F238E27FC236}">
                <a16:creationId xmlns:a16="http://schemas.microsoft.com/office/drawing/2014/main" id="{3D6CB771-A72D-4342-8D62-926AC29A6E7B}"/>
              </a:ext>
            </a:extLst>
          </p:cNvPr>
          <p:cNvGraphicFramePr>
            <a:graphicFrameLocks noGrp="1"/>
          </p:cNvGraphicFramePr>
          <p:nvPr>
            <p:extLst>
              <p:ext uri="{D42A27DB-BD31-4B8C-83A1-F6EECF244321}">
                <p14:modId xmlns:p14="http://schemas.microsoft.com/office/powerpoint/2010/main" val="2407970177"/>
              </p:ext>
            </p:extLst>
          </p:nvPr>
        </p:nvGraphicFramePr>
        <p:xfrm>
          <a:off x="1991544" y="260648"/>
          <a:ext cx="9721081" cy="6264696"/>
        </p:xfrm>
        <a:graphic>
          <a:graphicData uri="http://schemas.openxmlformats.org/drawingml/2006/table">
            <a:tbl>
              <a:tblPr>
                <a:tableStyleId>{5C22544A-7EE6-4342-B048-85BDC9FD1C3A}</a:tableStyleId>
              </a:tblPr>
              <a:tblGrid>
                <a:gridCol w="1632805">
                  <a:extLst>
                    <a:ext uri="{9D8B030D-6E8A-4147-A177-3AD203B41FA5}">
                      <a16:colId xmlns:a16="http://schemas.microsoft.com/office/drawing/2014/main" val="1442495319"/>
                    </a:ext>
                  </a:extLst>
                </a:gridCol>
                <a:gridCol w="2482873">
                  <a:extLst>
                    <a:ext uri="{9D8B030D-6E8A-4147-A177-3AD203B41FA5}">
                      <a16:colId xmlns:a16="http://schemas.microsoft.com/office/drawing/2014/main" val="2823329518"/>
                    </a:ext>
                  </a:extLst>
                </a:gridCol>
                <a:gridCol w="1750636">
                  <a:extLst>
                    <a:ext uri="{9D8B030D-6E8A-4147-A177-3AD203B41FA5}">
                      <a16:colId xmlns:a16="http://schemas.microsoft.com/office/drawing/2014/main" val="3343226061"/>
                    </a:ext>
                  </a:extLst>
                </a:gridCol>
                <a:gridCol w="1161480">
                  <a:extLst>
                    <a:ext uri="{9D8B030D-6E8A-4147-A177-3AD203B41FA5}">
                      <a16:colId xmlns:a16="http://schemas.microsoft.com/office/drawing/2014/main" val="1654144392"/>
                    </a:ext>
                  </a:extLst>
                </a:gridCol>
                <a:gridCol w="2693287">
                  <a:extLst>
                    <a:ext uri="{9D8B030D-6E8A-4147-A177-3AD203B41FA5}">
                      <a16:colId xmlns:a16="http://schemas.microsoft.com/office/drawing/2014/main" val="2726150828"/>
                    </a:ext>
                  </a:extLst>
                </a:gridCol>
              </a:tblGrid>
              <a:tr h="522058">
                <a:tc gridSpan="5">
                  <a:txBody>
                    <a:bodyPr/>
                    <a:lstStyle/>
                    <a:p>
                      <a:pPr algn="ctr" fontAlgn="ctr"/>
                      <a:r>
                        <a:rPr lang="zh-CN" altLang="en-US" sz="900" u="none" strike="noStrike">
                          <a:effectLst/>
                        </a:rPr>
                        <a:t>固定资产请购单</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68783895"/>
                  </a:ext>
                </a:extLst>
              </a:tr>
              <a:tr h="522058">
                <a:tc>
                  <a:txBody>
                    <a:bodyPr/>
                    <a:lstStyle/>
                    <a:p>
                      <a:pPr algn="l" fontAlgn="ctr"/>
                      <a:r>
                        <a:rPr lang="zh-CN" altLang="en-US" sz="700" u="none" strike="noStrike">
                          <a:effectLst/>
                        </a:rPr>
                        <a:t>申请部门</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申请人</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申请编号：</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1656769415"/>
                  </a:ext>
                </a:extLst>
              </a:tr>
              <a:tr h="522058">
                <a:tc>
                  <a:txBody>
                    <a:bodyPr/>
                    <a:lstStyle/>
                    <a:p>
                      <a:pPr algn="l" fontAlgn="ctr"/>
                      <a:r>
                        <a:rPr lang="zh-CN" altLang="en-US" sz="700" u="none" strike="noStrike">
                          <a:effectLst/>
                        </a:rPr>
                        <a:t>需求使用日期</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放置</a:t>
                      </a:r>
                      <a:r>
                        <a:rPr lang="en-US" altLang="zh-CN" sz="700" u="none" strike="noStrike">
                          <a:effectLst/>
                        </a:rPr>
                        <a:t>/</a:t>
                      </a:r>
                      <a:r>
                        <a:rPr lang="zh-CN" altLang="en-US" sz="700" u="none" strike="noStrike">
                          <a:effectLst/>
                        </a:rPr>
                        <a:t>使用地点</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申请日期：</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2124083353"/>
                  </a:ext>
                </a:extLst>
              </a:tr>
              <a:tr h="522058">
                <a:tc>
                  <a:txBody>
                    <a:bodyPr/>
                    <a:lstStyle/>
                    <a:p>
                      <a:pPr algn="l" fontAlgn="ctr"/>
                      <a:r>
                        <a:rPr lang="zh-CN" altLang="en-US" sz="700" u="none" strike="noStrike">
                          <a:effectLst/>
                        </a:rPr>
                        <a:t>请购事由、用途说明</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gridSpan="3">
                  <a:txBody>
                    <a:bodyPr/>
                    <a:lstStyle/>
                    <a:p>
                      <a:pPr algn="l" fontAlgn="ctr"/>
                      <a:r>
                        <a:rPr lang="zh-CN" altLang="en-US" sz="700" u="none" strike="noStrike">
                          <a:effectLst/>
                        </a:rPr>
                        <a:t>（填写：替换旧设备</a:t>
                      </a:r>
                      <a:r>
                        <a:rPr lang="en-US" altLang="zh-CN" sz="700" u="none" strike="noStrike">
                          <a:effectLst/>
                        </a:rPr>
                        <a:t>/</a:t>
                      </a:r>
                      <a:r>
                        <a:rPr lang="zh-CN" altLang="en-US" sz="700" u="none" strike="noStrike">
                          <a:effectLst/>
                        </a:rPr>
                        <a:t>新增业务使用</a:t>
                      </a:r>
                      <a:r>
                        <a:rPr lang="en-US" altLang="zh-CN" sz="700" u="none" strike="noStrike">
                          <a:effectLst/>
                        </a:rPr>
                        <a:t>/</a:t>
                      </a:r>
                      <a:r>
                        <a:rPr lang="zh-CN" altLang="en-US" sz="700" u="none" strike="noStrike">
                          <a:effectLst/>
                        </a:rPr>
                        <a:t>研发专用</a:t>
                      </a:r>
                      <a:r>
                        <a:rPr lang="en-US" altLang="zh-CN" sz="700" u="none" strike="noStrike">
                          <a:effectLst/>
                        </a:rPr>
                        <a:t>/</a:t>
                      </a:r>
                      <a:r>
                        <a:rPr lang="zh-CN" altLang="en-US" sz="700" u="none" strike="noStrike">
                          <a:effectLst/>
                        </a:rPr>
                        <a:t>生产扩产等）</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hMerge="1">
                  <a:txBody>
                    <a:bodyPr/>
                    <a:lstStyle/>
                    <a:p>
                      <a:endParaRPr lang="zh-CN" altLang="en-US"/>
                    </a:p>
                  </a:txBody>
                  <a:tcPr/>
                </a:tc>
                <a:tc hMerge="1">
                  <a:txBody>
                    <a:bodyPr/>
                    <a:lstStyle/>
                    <a:p>
                      <a:endParaRPr lang="zh-CN" altLang="en-US"/>
                    </a:p>
                  </a:txBody>
                  <a:tcPr/>
                </a:tc>
                <a:tc>
                  <a:txBody>
                    <a:bodyPr/>
                    <a:lstStyle/>
                    <a:p>
                      <a:pPr algn="l" fontAlgn="ctr"/>
                      <a:r>
                        <a:rPr lang="zh-CN" altLang="en-US" sz="700" u="none" strike="noStrike">
                          <a:effectLst/>
                        </a:rPr>
                        <a:t>预算归属部门</a:t>
                      </a:r>
                      <a:r>
                        <a:rPr lang="en-US" altLang="zh-CN" sz="700" u="none" strike="noStrike">
                          <a:effectLst/>
                        </a:rPr>
                        <a:t>/</a:t>
                      </a:r>
                      <a:r>
                        <a:rPr lang="zh-CN" altLang="en-US" sz="700" u="none" strike="noStrike">
                          <a:effectLst/>
                        </a:rPr>
                        <a:t>项目：</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2584642633"/>
                  </a:ext>
                </a:extLst>
              </a:tr>
              <a:tr h="522058">
                <a:tc>
                  <a:txBody>
                    <a:bodyPr/>
                    <a:lstStyle/>
                    <a:p>
                      <a:pPr algn="l" fontAlgn="ctr"/>
                      <a:r>
                        <a:rPr lang="zh-CN" altLang="en-US" sz="700" u="none" strike="noStrike">
                          <a:effectLst/>
                        </a:rPr>
                        <a:t>资产类别</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□电子设备 □机器设备 □运输设备 □家具器具 □房屋构筑物 □其他</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预计使用年限</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ctr" fontAlgn="ctr"/>
                      <a:r>
                        <a:rPr lang="zh-CN" altLang="en-US" sz="700" u="none" strike="noStrike">
                          <a:effectLst/>
                        </a:rPr>
                        <a:t>年</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1988124404"/>
                  </a:ext>
                </a:extLst>
              </a:tr>
              <a:tr h="522058">
                <a:tc>
                  <a:txBody>
                    <a:bodyPr/>
                    <a:lstStyle/>
                    <a:p>
                      <a:pPr algn="ctr" fontAlgn="ctr"/>
                      <a:r>
                        <a:rPr lang="zh-CN" altLang="en-US" sz="700" u="none" strike="noStrike">
                          <a:effectLst/>
                        </a:rPr>
                        <a:t>序号</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ctr" fontAlgn="ctr"/>
                      <a:r>
                        <a:rPr lang="zh-CN" altLang="en-US" sz="700" u="none" strike="noStrike">
                          <a:effectLst/>
                        </a:rPr>
                        <a:t>资产名称</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ctr" fontAlgn="ctr"/>
                      <a:r>
                        <a:rPr lang="zh-CN" altLang="en-US" sz="700" u="none" strike="noStrike">
                          <a:effectLst/>
                        </a:rPr>
                        <a:t>规格型号</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ctr" fontAlgn="ctr"/>
                      <a:r>
                        <a:rPr lang="zh-CN" altLang="en-US" sz="700" u="none" strike="noStrike">
                          <a:effectLst/>
                        </a:rPr>
                        <a:t>品牌要求</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ctr" fontAlgn="ctr"/>
                      <a:r>
                        <a:rPr lang="zh-CN" altLang="en-US" sz="700" u="none" strike="noStrike">
                          <a:effectLst/>
                        </a:rPr>
                        <a:t>数量</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368054295"/>
                  </a:ext>
                </a:extLst>
              </a:tr>
              <a:tr h="522058">
                <a:tc>
                  <a:txBody>
                    <a:bodyPr/>
                    <a:lstStyle/>
                    <a:p>
                      <a:pPr algn="ctr" fontAlgn="ct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2945732753"/>
                  </a:ext>
                </a:extLst>
              </a:tr>
              <a:tr h="522058">
                <a:tc>
                  <a:txBody>
                    <a:bodyPr/>
                    <a:lstStyle/>
                    <a:p>
                      <a:pPr algn="ctr" fontAlgn="ctr"/>
                      <a:r>
                        <a:rPr lang="en-US" altLang="zh-CN" sz="700" u="none" strike="noStrike">
                          <a:effectLst/>
                        </a:rPr>
                        <a:t>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dirty="0">
                          <a:effectLst/>
                        </a:rPr>
                        <a:t>　</a:t>
                      </a:r>
                      <a:endParaRPr lang="zh-CN" altLang="en-US" sz="700" b="0" i="0" u="none" strike="noStrike" dirty="0">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315315913"/>
                  </a:ext>
                </a:extLst>
              </a:tr>
              <a:tr h="522058">
                <a:tc>
                  <a:txBody>
                    <a:bodyPr/>
                    <a:lstStyle/>
                    <a:p>
                      <a:pPr algn="l" fontAlgn="ctr"/>
                      <a:r>
                        <a:rPr lang="zh-CN" altLang="en-US" sz="700" u="none" strike="noStrike">
                          <a:effectLst/>
                        </a:rPr>
                        <a:t>合计预估金额（大写）</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合计小写金额</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是否已有同类资产：□是 □否</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359018736"/>
                  </a:ext>
                </a:extLst>
              </a:tr>
              <a:tr h="522058">
                <a:tc>
                  <a:txBody>
                    <a:bodyPr/>
                    <a:lstStyle/>
                    <a:p>
                      <a:pPr algn="l" fontAlgn="ctr"/>
                      <a:r>
                        <a:rPr lang="zh-CN" altLang="en-US" sz="700" u="none" strike="noStrike">
                          <a:effectLst/>
                        </a:rPr>
                        <a:t>原有资产处置方案（如有）</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gridSpan="2">
                  <a:txBody>
                    <a:bodyPr/>
                    <a:lstStyle/>
                    <a:p>
                      <a:pPr algn="l" fontAlgn="ctr"/>
                      <a:r>
                        <a:rPr lang="zh-CN" altLang="en-US" sz="700" u="none" strike="noStrike">
                          <a:effectLst/>
                        </a:rPr>
                        <a:t>□继续共用 □报废 □调拨其他部门 □变卖</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hMerge="1">
                  <a:txBody>
                    <a:bodyPr/>
                    <a:lstStyle/>
                    <a:p>
                      <a:endParaRPr lang="zh-CN" altLang="en-US"/>
                    </a:p>
                  </a:txBody>
                  <a:tcP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878853784"/>
                  </a:ext>
                </a:extLst>
              </a:tr>
              <a:tr h="522058">
                <a:tc>
                  <a:txBody>
                    <a:bodyPr/>
                    <a:lstStyle/>
                    <a:p>
                      <a:pPr algn="l" fontAlgn="ctr"/>
                      <a:r>
                        <a:rPr lang="zh-CN" altLang="en-US" sz="700" u="none" strike="noStrike">
                          <a:effectLst/>
                        </a:rPr>
                        <a:t>部门负责人审批</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采购部门意见</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财务审核（预算</a:t>
                      </a:r>
                      <a:r>
                        <a:rPr lang="en-US" altLang="zh-CN" sz="700" u="none" strike="noStrike">
                          <a:effectLst/>
                        </a:rPr>
                        <a:t>/</a:t>
                      </a:r>
                      <a:r>
                        <a:rPr lang="zh-CN" altLang="en-US" sz="700" u="none" strike="noStrike">
                          <a:effectLst/>
                        </a:rPr>
                        <a:t>资本化判定）</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3643665211"/>
                  </a:ext>
                </a:extLst>
              </a:tr>
              <a:tr h="522058">
                <a:tc>
                  <a:txBody>
                    <a:bodyPr/>
                    <a:lstStyle/>
                    <a:p>
                      <a:pPr algn="l" fontAlgn="ctr"/>
                      <a:r>
                        <a:rPr lang="zh-CN" altLang="en-US" sz="700" u="none" strike="noStrike">
                          <a:effectLst/>
                        </a:rPr>
                        <a:t>管理层终审</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dirty="0">
                          <a:effectLst/>
                        </a:rPr>
                        <a:t>采购跟进记录</a:t>
                      </a:r>
                      <a:endParaRPr lang="zh-CN" altLang="en-US" sz="700" b="0" i="0" u="none" strike="noStrike" dirty="0">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80" marR="5880" marT="5880" marB="0" anchor="ctr"/>
                </a:tc>
                <a:tc>
                  <a:txBody>
                    <a:bodyPr/>
                    <a:lstStyle/>
                    <a:p>
                      <a:pPr algn="l" fontAlgn="ctr"/>
                      <a:r>
                        <a:rPr lang="zh-CN" altLang="en-US" sz="700" u="none" strike="noStrike" dirty="0">
                          <a:effectLst/>
                        </a:rPr>
                        <a:t>到货验收登记号</a:t>
                      </a:r>
                      <a:endParaRPr lang="zh-CN" altLang="en-US" sz="700" b="0" i="0" u="none" strike="noStrike" dirty="0">
                        <a:solidFill>
                          <a:srgbClr val="000000"/>
                        </a:solidFill>
                        <a:effectLst/>
                        <a:latin typeface="等线" panose="02010600030101010101" pitchFamily="2" charset="-122"/>
                        <a:ea typeface="等线" panose="02010600030101010101" pitchFamily="2" charset="-122"/>
                      </a:endParaRPr>
                    </a:p>
                  </a:txBody>
                  <a:tcPr marL="5880" marR="5880" marT="5880" marB="0" anchor="ctr"/>
                </a:tc>
                <a:extLst>
                  <a:ext uri="{0D108BD9-81ED-4DB2-BD59-A6C34878D82A}">
                    <a16:rowId xmlns:a16="http://schemas.microsoft.com/office/drawing/2014/main" val="3945777863"/>
                  </a:ext>
                </a:extLst>
              </a:tr>
            </a:tbl>
          </a:graphicData>
        </a:graphic>
      </p:graphicFrame>
    </p:spTree>
    <p:extLst>
      <p:ext uri="{BB962C8B-B14F-4D97-AF65-F5344CB8AC3E}">
        <p14:creationId xmlns:p14="http://schemas.microsoft.com/office/powerpoint/2010/main" val="2149756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D31041B-BB89-4727-B630-6B2B6EDAC96A}"/>
              </a:ext>
            </a:extLst>
          </p:cNvPr>
          <p:cNvSpPr txBox="1"/>
          <p:nvPr/>
        </p:nvSpPr>
        <p:spPr>
          <a:xfrm>
            <a:off x="3702" y="85458"/>
            <a:ext cx="2419890" cy="46166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采购比价单</a:t>
            </a:r>
            <a:r>
              <a:rPr kumimoji="0" lang="en-US" altLang="zh-CN"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1-3</a:t>
            </a:r>
            <a:endParaRPr kumimoji="0" lang="zh-CN" altLang="en-US"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graphicFrame>
        <p:nvGraphicFramePr>
          <p:cNvPr id="2" name="表格 1">
            <a:extLst>
              <a:ext uri="{FF2B5EF4-FFF2-40B4-BE49-F238E27FC236}">
                <a16:creationId xmlns:a16="http://schemas.microsoft.com/office/drawing/2014/main" id="{5C0EBF2D-5B11-42E6-8D5C-A3BA845CA934}"/>
              </a:ext>
            </a:extLst>
          </p:cNvPr>
          <p:cNvGraphicFramePr>
            <a:graphicFrameLocks noGrp="1"/>
          </p:cNvGraphicFramePr>
          <p:nvPr>
            <p:extLst>
              <p:ext uri="{D42A27DB-BD31-4B8C-83A1-F6EECF244321}">
                <p14:modId xmlns:p14="http://schemas.microsoft.com/office/powerpoint/2010/main" val="2753220769"/>
              </p:ext>
            </p:extLst>
          </p:nvPr>
        </p:nvGraphicFramePr>
        <p:xfrm>
          <a:off x="2279576" y="307270"/>
          <a:ext cx="9649071" cy="6362148"/>
        </p:xfrm>
        <a:graphic>
          <a:graphicData uri="http://schemas.openxmlformats.org/drawingml/2006/table">
            <a:tbl>
              <a:tblPr>
                <a:tableStyleId>{5C22544A-7EE6-4342-B048-85BDC9FD1C3A}</a:tableStyleId>
              </a:tblPr>
              <a:tblGrid>
                <a:gridCol w="657665">
                  <a:extLst>
                    <a:ext uri="{9D8B030D-6E8A-4147-A177-3AD203B41FA5}">
                      <a16:colId xmlns:a16="http://schemas.microsoft.com/office/drawing/2014/main" val="936793457"/>
                    </a:ext>
                  </a:extLst>
                </a:gridCol>
                <a:gridCol w="697285">
                  <a:extLst>
                    <a:ext uri="{9D8B030D-6E8A-4147-A177-3AD203B41FA5}">
                      <a16:colId xmlns:a16="http://schemas.microsoft.com/office/drawing/2014/main" val="597377504"/>
                    </a:ext>
                  </a:extLst>
                </a:gridCol>
                <a:gridCol w="873586">
                  <a:extLst>
                    <a:ext uri="{9D8B030D-6E8A-4147-A177-3AD203B41FA5}">
                      <a16:colId xmlns:a16="http://schemas.microsoft.com/office/drawing/2014/main" val="1835643442"/>
                    </a:ext>
                  </a:extLst>
                </a:gridCol>
                <a:gridCol w="705208">
                  <a:extLst>
                    <a:ext uri="{9D8B030D-6E8A-4147-A177-3AD203B41FA5}">
                      <a16:colId xmlns:a16="http://schemas.microsoft.com/office/drawing/2014/main" val="51911748"/>
                    </a:ext>
                  </a:extLst>
                </a:gridCol>
                <a:gridCol w="1236095">
                  <a:extLst>
                    <a:ext uri="{9D8B030D-6E8A-4147-A177-3AD203B41FA5}">
                      <a16:colId xmlns:a16="http://schemas.microsoft.com/office/drawing/2014/main" val="1015695558"/>
                    </a:ext>
                  </a:extLst>
                </a:gridCol>
                <a:gridCol w="1236095">
                  <a:extLst>
                    <a:ext uri="{9D8B030D-6E8A-4147-A177-3AD203B41FA5}">
                      <a16:colId xmlns:a16="http://schemas.microsoft.com/office/drawing/2014/main" val="1948661510"/>
                    </a:ext>
                  </a:extLst>
                </a:gridCol>
                <a:gridCol w="1212325">
                  <a:extLst>
                    <a:ext uri="{9D8B030D-6E8A-4147-A177-3AD203B41FA5}">
                      <a16:colId xmlns:a16="http://schemas.microsoft.com/office/drawing/2014/main" val="801263126"/>
                    </a:ext>
                  </a:extLst>
                </a:gridCol>
                <a:gridCol w="1212325">
                  <a:extLst>
                    <a:ext uri="{9D8B030D-6E8A-4147-A177-3AD203B41FA5}">
                      <a16:colId xmlns:a16="http://schemas.microsoft.com/office/drawing/2014/main" val="3419304756"/>
                    </a:ext>
                  </a:extLst>
                </a:gridCol>
                <a:gridCol w="1206382">
                  <a:extLst>
                    <a:ext uri="{9D8B030D-6E8A-4147-A177-3AD203B41FA5}">
                      <a16:colId xmlns:a16="http://schemas.microsoft.com/office/drawing/2014/main" val="249395480"/>
                    </a:ext>
                  </a:extLst>
                </a:gridCol>
                <a:gridCol w="612105">
                  <a:extLst>
                    <a:ext uri="{9D8B030D-6E8A-4147-A177-3AD203B41FA5}">
                      <a16:colId xmlns:a16="http://schemas.microsoft.com/office/drawing/2014/main" val="896698485"/>
                    </a:ext>
                  </a:extLst>
                </a:gridCol>
              </a:tblGrid>
              <a:tr h="266651">
                <a:tc gridSpan="10">
                  <a:txBody>
                    <a:bodyPr/>
                    <a:lstStyle/>
                    <a:p>
                      <a:pPr algn="ctr" fontAlgn="ctr"/>
                      <a:r>
                        <a:rPr lang="zh-CN" altLang="en-US" sz="700" u="none" strike="noStrike">
                          <a:effectLst/>
                        </a:rPr>
                        <a:t>采购（供应商报价）比价与评估表</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91952399"/>
                  </a:ext>
                </a:extLst>
              </a:tr>
              <a:tr h="266651">
                <a:tc gridSpan="2">
                  <a:txBody>
                    <a:bodyPr/>
                    <a:lstStyle/>
                    <a:p>
                      <a:pPr algn="l" fontAlgn="ctr"/>
                      <a:r>
                        <a:rPr lang="zh-CN" altLang="en-US" sz="600" u="none" strike="noStrike">
                          <a:effectLst/>
                        </a:rPr>
                        <a:t>比价单号：</a:t>
                      </a:r>
                      <a:r>
                        <a:rPr lang="en-US" altLang="zh-CN" sz="600" u="none" strike="noStrike">
                          <a:effectLst/>
                        </a:rPr>
                        <a:t>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gridSpan="2">
                  <a:txBody>
                    <a:bodyPr/>
                    <a:lstStyle/>
                    <a:p>
                      <a:pPr algn="l" fontAlgn="ctr"/>
                      <a:r>
                        <a:rPr lang="zh-CN" altLang="en-US" sz="600" u="none" strike="noStrike">
                          <a:effectLst/>
                        </a:rPr>
                        <a:t>申请部门：</a:t>
                      </a:r>
                      <a:r>
                        <a:rPr lang="en-US" altLang="zh-CN" sz="600" u="none" strike="noStrike">
                          <a:effectLst/>
                        </a:rPr>
                        <a:t>_____________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gridSpan="2">
                  <a:txBody>
                    <a:bodyPr/>
                    <a:lstStyle/>
                    <a:p>
                      <a:pPr algn="l" fontAlgn="ctr"/>
                      <a:r>
                        <a:rPr lang="zh-CN" altLang="en-US" sz="600" u="none" strike="noStrike">
                          <a:effectLst/>
                        </a:rPr>
                        <a:t>请购单号：</a:t>
                      </a:r>
                      <a:r>
                        <a:rPr lang="en-US" altLang="zh-CN" sz="600" u="none" strike="noStrike">
                          <a:effectLst/>
                        </a:rPr>
                        <a:t>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a:txBody>
                    <a:bodyPr/>
                    <a:lstStyle/>
                    <a:p>
                      <a:pPr algn="l" fontAlgn="ctr"/>
                      <a:r>
                        <a:rPr lang="zh-CN" altLang="en-US" sz="600" u="none" strike="noStrike">
                          <a:effectLst/>
                        </a:rPr>
                        <a:t>比价日期：</a:t>
                      </a:r>
                      <a:r>
                        <a:rPr lang="en-US" altLang="zh-CN" sz="600" u="none" strike="noStrike">
                          <a:effectLst/>
                        </a:rPr>
                        <a:t>___</a:t>
                      </a:r>
                      <a:r>
                        <a:rPr lang="zh-CN" altLang="en-US" sz="600" u="none" strike="noStrike">
                          <a:effectLst/>
                        </a:rPr>
                        <a:t>年</a:t>
                      </a:r>
                      <a:r>
                        <a:rPr lang="en-US" altLang="zh-CN" sz="600" u="none" strike="noStrike">
                          <a:effectLst/>
                        </a:rPr>
                        <a:t>___</a:t>
                      </a:r>
                      <a:r>
                        <a:rPr lang="zh-CN" altLang="en-US" sz="600" u="none" strike="noStrike">
                          <a:effectLst/>
                        </a:rPr>
                        <a:t>月</a:t>
                      </a:r>
                      <a:r>
                        <a:rPr lang="en-US" altLang="zh-CN" sz="600" u="none" strike="noStrike">
                          <a:effectLst/>
                        </a:rPr>
                        <a:t>___</a:t>
                      </a:r>
                      <a:r>
                        <a:rPr lang="zh-CN" altLang="en-US" sz="600" u="none" strike="noStrike">
                          <a:effectLst/>
                        </a:rPr>
                        <a:t>日</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gridSpan="3">
                  <a:txBody>
                    <a:bodyPr/>
                    <a:lstStyle/>
                    <a:p>
                      <a:pPr algn="l" fontAlgn="ctr"/>
                      <a:r>
                        <a:rPr lang="zh-CN" altLang="en-US" sz="600" u="none" strike="noStrike">
                          <a:effectLst/>
                        </a:rPr>
                        <a:t>采购需求简述：</a:t>
                      </a:r>
                      <a:r>
                        <a:rPr lang="en-US" altLang="zh-CN" sz="600" u="none" strike="noStrike">
                          <a:effectLst/>
                        </a:rPr>
                        <a:t>____________________________________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0215164"/>
                  </a:ext>
                </a:extLst>
              </a:tr>
              <a:tr h="249631">
                <a:tc>
                  <a:txBody>
                    <a:bodyPr/>
                    <a:lstStyle/>
                    <a:p>
                      <a:pPr algn="ctr" fontAlgn="ctr"/>
                      <a:r>
                        <a:rPr lang="zh-CN" altLang="en-US" sz="600" u="none" strike="noStrike">
                          <a:effectLst/>
                        </a:rPr>
                        <a:t>序号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物料</a:t>
                      </a:r>
                      <a:r>
                        <a:rPr lang="en-US" altLang="zh-CN" sz="600" u="none" strike="noStrike">
                          <a:effectLst/>
                        </a:rPr>
                        <a:t>/</a:t>
                      </a:r>
                      <a:r>
                        <a:rPr lang="zh-CN" altLang="en-US" sz="600" u="none" strike="noStrike">
                          <a:effectLst/>
                        </a:rPr>
                        <a:t>服务名称</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规格型号</a:t>
                      </a:r>
                      <a:r>
                        <a:rPr lang="en-US" altLang="zh-CN" sz="600" u="none" strike="noStrike">
                          <a:effectLst/>
                        </a:rPr>
                        <a:t>/</a:t>
                      </a:r>
                      <a:r>
                        <a:rPr lang="zh-CN" altLang="en-US" sz="600" u="none" strike="noStrike">
                          <a:effectLst/>
                        </a:rPr>
                        <a:t>技术参数</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单位</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采购数量</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A</a:t>
                      </a:r>
                      <a:endParaRPr 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B</a:t>
                      </a:r>
                      <a:endParaRPr 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C</a:t>
                      </a:r>
                      <a:endParaRPr 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备选供应商</a:t>
                      </a:r>
                      <a:r>
                        <a:rPr lang="en-US" sz="600" u="none" strike="noStrike">
                          <a:effectLst/>
                        </a:rPr>
                        <a:t>D</a:t>
                      </a:r>
                      <a:endParaRPr 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备注要求</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1738225474"/>
                  </a:ext>
                </a:extLst>
              </a:tr>
              <a:tr h="368772">
                <a:tc>
                  <a:txBody>
                    <a:bodyPr/>
                    <a:lstStyle/>
                    <a:p>
                      <a:pPr algn="ctr" fontAlgn="ctr"/>
                      <a:r>
                        <a:rPr lang="en-US" altLang="zh-CN" sz="600" u="none" strike="noStrike">
                          <a:effectLst/>
                        </a:rPr>
                        <a:t>1</a:t>
                      </a:r>
                      <a:endParaRPr lang="en-US" altLang="zh-CN"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含税单价：税率：单品总价：交货周期：付款条件：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含税单价：税率：单品总价：交货周期：付款条件：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含税单价：税率：单品总价：交货周期：付款条件：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含税单价：税率：单品总价：交货周期：付款条件：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质保、售后、供货能力等</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3533141372"/>
                  </a:ext>
                </a:extLst>
              </a:tr>
              <a:tr h="529865">
                <a:tc>
                  <a:txBody>
                    <a:bodyPr/>
                    <a:lstStyle/>
                    <a:p>
                      <a:pPr algn="ctr" fontAlgn="ctr"/>
                      <a:r>
                        <a:rPr lang="en-US" altLang="zh-CN" sz="600" u="none" strike="noStrike">
                          <a:effectLst/>
                        </a:rPr>
                        <a:t>2</a:t>
                      </a:r>
                      <a:endParaRPr lang="en-US" altLang="zh-CN"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181246461"/>
                  </a:ext>
                </a:extLst>
              </a:tr>
              <a:tr h="357426">
                <a:tc>
                  <a:txBody>
                    <a:bodyPr/>
                    <a:lstStyle/>
                    <a:p>
                      <a:pPr algn="ctr" fontAlgn="ctr"/>
                      <a:r>
                        <a:rPr lang="en-US" altLang="zh-CN" sz="600" u="none" strike="noStrike">
                          <a:effectLst/>
                        </a:rPr>
                        <a:t>3</a:t>
                      </a:r>
                      <a:endParaRPr lang="en-US" altLang="zh-CN"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95965931"/>
                  </a:ext>
                </a:extLst>
              </a:tr>
              <a:tr h="391466">
                <a:tc>
                  <a:txBody>
                    <a:bodyPr/>
                    <a:lstStyle/>
                    <a:p>
                      <a:pPr algn="ctr" fontAlgn="ctr"/>
                      <a:r>
                        <a:rPr lang="zh-CN" altLang="en-US" sz="600" u="none" strike="noStrike">
                          <a:effectLst/>
                        </a:rPr>
                        <a:t>合计</a:t>
                      </a:r>
                      <a:r>
                        <a:rPr lang="en-US" altLang="zh-CN" sz="600" u="none" strike="noStrike">
                          <a:effectLst/>
                        </a:rPr>
                        <a:t>/</a:t>
                      </a:r>
                      <a:r>
                        <a:rPr lang="zh-CN" altLang="en-US" sz="600" u="none" strike="noStrike">
                          <a:effectLst/>
                        </a:rPr>
                        <a:t>含税总价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1360713364"/>
                  </a:ext>
                </a:extLst>
              </a:tr>
              <a:tr h="357426">
                <a:tc rowSpan="6">
                  <a:txBody>
                    <a:bodyPr/>
                    <a:lstStyle/>
                    <a:p>
                      <a:pPr algn="ctr" fontAlgn="ctr"/>
                      <a:r>
                        <a:rPr lang="zh-CN" altLang="en-US" sz="600" u="none" strike="noStrike">
                          <a:effectLst/>
                        </a:rPr>
                        <a:t>供应商评估</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vert="eaVert" anchor="ctr"/>
                </a:tc>
                <a:tc gridSpan="3">
                  <a:txBody>
                    <a:bodyPr/>
                    <a:lstStyle/>
                    <a:p>
                      <a:pPr algn="ctr" fontAlgn="ctr"/>
                      <a:r>
                        <a:rPr lang="zh-CN" altLang="en-US" sz="600" u="none" strike="noStrike">
                          <a:effectLst/>
                        </a:rPr>
                        <a:t>评估维度</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权重</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A</a:t>
                      </a:r>
                      <a:r>
                        <a:rPr lang="zh-CN" altLang="en-US" sz="600" u="none" strike="noStrike">
                          <a:effectLst/>
                        </a:rPr>
                        <a:t>评分</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B</a:t>
                      </a:r>
                      <a:r>
                        <a:rPr lang="zh-CN" altLang="en-US" sz="600" u="none" strike="noStrike">
                          <a:effectLst/>
                        </a:rPr>
                        <a:t>评分</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C</a:t>
                      </a:r>
                      <a:r>
                        <a:rPr lang="zh-CN" altLang="en-US" sz="600" u="none" strike="noStrike">
                          <a:effectLst/>
                        </a:rPr>
                        <a:t>评分</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供应商</a:t>
                      </a:r>
                      <a:r>
                        <a:rPr lang="en-US" sz="600" u="none" strike="noStrike">
                          <a:effectLst/>
                        </a:rPr>
                        <a:t>D</a:t>
                      </a:r>
                      <a:r>
                        <a:rPr lang="zh-CN" altLang="en-US" sz="600" u="none" strike="noStrike">
                          <a:effectLst/>
                        </a:rPr>
                        <a:t>评分</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备注</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507376935"/>
                  </a:ext>
                </a:extLst>
              </a:tr>
              <a:tr h="357426">
                <a:tc vMerge="1">
                  <a:txBody>
                    <a:bodyPr/>
                    <a:lstStyle/>
                    <a:p>
                      <a:endParaRPr lang="zh-CN" altLang="en-US"/>
                    </a:p>
                  </a:txBody>
                  <a:tcPr/>
                </a:tc>
                <a:tc gridSpan="3">
                  <a:txBody>
                    <a:bodyPr/>
                    <a:lstStyle/>
                    <a:p>
                      <a:pPr algn="ctr" fontAlgn="ctr"/>
                      <a:r>
                        <a:rPr lang="zh-CN" altLang="en-US" sz="600" u="none" strike="noStrike">
                          <a:effectLst/>
                        </a:rPr>
                        <a:t>报价价格</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u="none" strike="noStrike">
                          <a:effectLst/>
                        </a:rPr>
                        <a:t>50%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86329538"/>
                  </a:ext>
                </a:extLst>
              </a:tr>
              <a:tr h="357426">
                <a:tc vMerge="1">
                  <a:txBody>
                    <a:bodyPr/>
                    <a:lstStyle/>
                    <a:p>
                      <a:endParaRPr lang="zh-CN" altLang="en-US"/>
                    </a:p>
                  </a:txBody>
                  <a:tcPr/>
                </a:tc>
                <a:tc gridSpan="3">
                  <a:txBody>
                    <a:bodyPr/>
                    <a:lstStyle/>
                    <a:p>
                      <a:pPr algn="ctr" fontAlgn="ctr"/>
                      <a:r>
                        <a:rPr lang="zh-CN" altLang="en-US" sz="600" u="none" strike="noStrike">
                          <a:effectLst/>
                        </a:rPr>
                        <a:t>交货周期</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u="none" strike="noStrike">
                          <a:effectLst/>
                        </a:rPr>
                        <a:t>20%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3747453299"/>
                  </a:ext>
                </a:extLst>
              </a:tr>
              <a:tr h="357426">
                <a:tc vMerge="1">
                  <a:txBody>
                    <a:bodyPr/>
                    <a:lstStyle/>
                    <a:p>
                      <a:endParaRPr lang="zh-CN" altLang="en-US"/>
                    </a:p>
                  </a:txBody>
                  <a:tcPr/>
                </a:tc>
                <a:tc gridSpan="3">
                  <a:txBody>
                    <a:bodyPr/>
                    <a:lstStyle/>
                    <a:p>
                      <a:pPr algn="ctr" fontAlgn="ctr"/>
                      <a:r>
                        <a:rPr lang="zh-CN" altLang="en-US" sz="600" u="none" strike="noStrike">
                          <a:effectLst/>
                        </a:rPr>
                        <a:t>产品质量</a:t>
                      </a:r>
                      <a:r>
                        <a:rPr lang="en-US" altLang="zh-CN" sz="600" u="none" strike="noStrike">
                          <a:effectLst/>
                        </a:rPr>
                        <a:t>/</a:t>
                      </a:r>
                      <a:r>
                        <a:rPr lang="zh-CN" altLang="en-US" sz="600" u="none" strike="noStrike">
                          <a:effectLst/>
                        </a:rPr>
                        <a:t>资质</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u="none" strike="noStrike">
                          <a:effectLst/>
                        </a:rPr>
                        <a:t>20%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3585351972"/>
                  </a:ext>
                </a:extLst>
              </a:tr>
              <a:tr h="357426">
                <a:tc vMerge="1">
                  <a:txBody>
                    <a:bodyPr/>
                    <a:lstStyle/>
                    <a:p>
                      <a:endParaRPr lang="zh-CN" altLang="en-US"/>
                    </a:p>
                  </a:txBody>
                  <a:tcPr/>
                </a:tc>
                <a:tc gridSpan="3">
                  <a:txBody>
                    <a:bodyPr/>
                    <a:lstStyle/>
                    <a:p>
                      <a:pPr algn="ctr" fontAlgn="ctr"/>
                      <a:r>
                        <a:rPr lang="zh-CN" altLang="en-US" sz="600" u="none" strike="noStrike">
                          <a:effectLst/>
                        </a:rPr>
                        <a:t>售后与账期服务</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u="none" strike="noStrike">
                          <a:effectLst/>
                        </a:rPr>
                        <a:t>10%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528570975"/>
                  </a:ext>
                </a:extLst>
              </a:tr>
              <a:tr h="357426">
                <a:tc vMerge="1">
                  <a:txBody>
                    <a:bodyPr/>
                    <a:lstStyle/>
                    <a:p>
                      <a:endParaRPr lang="zh-CN" altLang="en-US"/>
                    </a:p>
                  </a:txBody>
                  <a:tcPr/>
                </a:tc>
                <a:tc gridSpan="3">
                  <a:txBody>
                    <a:bodyPr/>
                    <a:lstStyle/>
                    <a:p>
                      <a:pPr algn="ctr" fontAlgn="ctr"/>
                      <a:r>
                        <a:rPr lang="zh-CN" altLang="en-US" sz="600" u="none" strike="noStrike">
                          <a:effectLst/>
                        </a:rPr>
                        <a:t>综合得分</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600" u="none" strike="noStrike">
                          <a:effectLst/>
                        </a:rPr>
                        <a:t>100%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309941530"/>
                  </a:ext>
                </a:extLst>
              </a:tr>
              <a:tr h="357426">
                <a:tc gridSpan="5">
                  <a:txBody>
                    <a:bodyPr/>
                    <a:lstStyle/>
                    <a:p>
                      <a:pPr algn="ctr" fontAlgn="ctr"/>
                      <a:r>
                        <a:rPr lang="zh-CN" altLang="en-US" sz="600" u="none" strike="noStrike">
                          <a:effectLst/>
                        </a:rPr>
                        <a:t>拟选定合作供应商：</a:t>
                      </a:r>
                      <a:r>
                        <a:rPr lang="en-US" altLang="zh-CN" sz="600" u="none" strike="noStrike">
                          <a:effectLst/>
                        </a:rPr>
                        <a:t>________________________________</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600" u="none" strike="noStrike">
                          <a:effectLst/>
                        </a:rPr>
                        <a:t>比价原因说明：</a:t>
                      </a:r>
                      <a:r>
                        <a:rPr lang="en-US" altLang="zh-CN" sz="600" u="none" strike="noStrike">
                          <a:effectLst/>
                        </a:rPr>
                        <a:t>______________________________________________________________________________</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15304323"/>
                  </a:ext>
                </a:extLst>
              </a:tr>
              <a:tr h="357426">
                <a:tc gridSpan="2">
                  <a:txBody>
                    <a:bodyPr/>
                    <a:lstStyle/>
                    <a:p>
                      <a:pPr algn="ctr" fontAlgn="ctr"/>
                      <a:r>
                        <a:rPr lang="zh-CN" altLang="en-US" sz="600" u="none" strike="noStrike">
                          <a:effectLst/>
                        </a:rPr>
                        <a:t>签字审批栏</a:t>
                      </a:r>
                      <a:endParaRPr lang="zh-CN" altLang="en-US" sz="600" b="1"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gridSpan="4">
                  <a:txBody>
                    <a:bodyPr/>
                    <a:lstStyle/>
                    <a:p>
                      <a:pPr algn="l" fontAlgn="ctr"/>
                      <a:r>
                        <a:rPr lang="zh-CN" altLang="en-US" sz="600" u="none" strike="noStrike">
                          <a:effectLst/>
                        </a:rPr>
                        <a:t>比价经办人：</a:t>
                      </a:r>
                      <a:r>
                        <a:rPr lang="en-US" altLang="zh-CN" sz="600" u="none" strike="noStrike">
                          <a:effectLst/>
                        </a:rPr>
                        <a:t>________  </a:t>
                      </a:r>
                      <a:r>
                        <a:rPr lang="zh-CN" altLang="en-US" sz="600" u="none" strike="noStrike">
                          <a:effectLst/>
                        </a:rPr>
                        <a:t>部门负责人：</a:t>
                      </a:r>
                      <a:r>
                        <a:rPr lang="en-US" altLang="zh-CN" sz="600" u="none" strike="noStrike">
                          <a:effectLst/>
                        </a:rPr>
                        <a:t>_________</a:t>
                      </a:r>
                      <a:r>
                        <a:rPr lang="zh-CN" altLang="en-US" sz="600" u="none" strike="noStrike">
                          <a:effectLst/>
                        </a:rPr>
                        <a:t>采购负责人审核：</a:t>
                      </a:r>
                      <a:r>
                        <a:rPr lang="en-US" altLang="zh-CN" sz="600" u="none" strike="noStrike">
                          <a:effectLst/>
                        </a:rPr>
                        <a:t>_________ </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600" u="none" strike="noStrike">
                          <a:effectLst/>
                        </a:rPr>
                        <a:t>财务预算复核：</a:t>
                      </a:r>
                      <a:r>
                        <a:rPr lang="en-US" altLang="zh-CN" sz="600" u="none" strike="noStrike">
                          <a:effectLst/>
                        </a:rPr>
                        <a:t>________________________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hMerge="1">
                  <a:txBody>
                    <a:bodyPr/>
                    <a:lstStyle/>
                    <a:p>
                      <a:endParaRPr lang="zh-CN" altLang="en-US"/>
                    </a:p>
                  </a:txBody>
                  <a:tcPr/>
                </a:tc>
                <a:tc gridSpan="2">
                  <a:txBody>
                    <a:bodyPr/>
                    <a:lstStyle/>
                    <a:p>
                      <a:pPr algn="l" fontAlgn="ctr"/>
                      <a:r>
                        <a:rPr lang="zh-CN" altLang="en-US" sz="600" u="none" strike="noStrike">
                          <a:effectLst/>
                        </a:rPr>
                        <a:t>管理层审批：</a:t>
                      </a:r>
                      <a:r>
                        <a:rPr lang="en-US" altLang="zh-CN" sz="600" u="none" strike="noStrike">
                          <a:effectLst/>
                        </a:rPr>
                        <a:t>_____________________</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extLst>
                  <a:ext uri="{0D108BD9-81ED-4DB2-BD59-A6C34878D82A}">
                    <a16:rowId xmlns:a16="http://schemas.microsoft.com/office/drawing/2014/main" val="2044241550"/>
                  </a:ext>
                </a:extLst>
              </a:tr>
              <a:tr h="357426">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1620705634"/>
                  </a:ext>
                </a:extLst>
              </a:tr>
              <a:tr h="357426">
                <a:tc gridSpan="3">
                  <a:txBody>
                    <a:bodyPr/>
                    <a:lstStyle/>
                    <a:p>
                      <a:pPr algn="l" fontAlgn="ctr"/>
                      <a:endParaRPr lang="zh-CN" altLang="en-US"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2641733163"/>
                  </a:ext>
                </a:extLst>
              </a:tr>
              <a:tr h="357426">
                <a:tc gridSpan="3">
                  <a:txBody>
                    <a:bodyPr/>
                    <a:lstStyle/>
                    <a:p>
                      <a:pPr algn="l" fontAlgn="ctr"/>
                      <a:endParaRPr lang="zh-CN" altLang="en-US" sz="600" b="0" i="0" u="none" strike="noStrike">
                        <a:solidFill>
                          <a:srgbClr val="000000"/>
                        </a:solidFill>
                        <a:effectLst/>
                        <a:latin typeface="Arial" panose="020B0604020202020204" pitchFamily="34" charset="0"/>
                        <a:ea typeface="等线" panose="02010600030101010101" pitchFamily="2" charset="-122"/>
                      </a:endParaRPr>
                    </a:p>
                  </a:txBody>
                  <a:tcPr marL="4508" marR="4508" marT="4508" marB="0" anchor="ct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08" marR="4508" marT="4508" marB="0" anchor="ctr"/>
                </a:tc>
                <a:tc>
                  <a:txBody>
                    <a:bodyPr/>
                    <a:lstStyle/>
                    <a:p>
                      <a:pPr algn="ctr" fontAlgn="ct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508" marR="4508" marT="4508" marB="0" anchor="ctr"/>
                </a:tc>
                <a:extLst>
                  <a:ext uri="{0D108BD9-81ED-4DB2-BD59-A6C34878D82A}">
                    <a16:rowId xmlns:a16="http://schemas.microsoft.com/office/drawing/2014/main" val="4003490450"/>
                  </a:ext>
                </a:extLst>
              </a:tr>
            </a:tbl>
          </a:graphicData>
        </a:graphic>
      </p:graphicFrame>
    </p:spTree>
    <p:extLst>
      <p:ext uri="{BB962C8B-B14F-4D97-AF65-F5344CB8AC3E}">
        <p14:creationId xmlns:p14="http://schemas.microsoft.com/office/powerpoint/2010/main" val="254300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871968E-B12E-40C0-968B-5045947E32CC}"/>
              </a:ext>
            </a:extLst>
          </p:cNvPr>
          <p:cNvSpPr txBox="1"/>
          <p:nvPr/>
        </p:nvSpPr>
        <p:spPr>
          <a:xfrm>
            <a:off x="3702" y="85458"/>
            <a:ext cx="2203866" cy="461665"/>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采购订单</a:t>
            </a:r>
            <a:r>
              <a:rPr kumimoji="0" lang="en-US" altLang="zh-CN"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1-4</a:t>
            </a:r>
            <a:endParaRPr kumimoji="0" lang="zh-CN" altLang="en-US" sz="2400" b="1"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endParaRPr>
          </a:p>
        </p:txBody>
      </p:sp>
      <p:graphicFrame>
        <p:nvGraphicFramePr>
          <p:cNvPr id="3" name="表格 2">
            <a:extLst>
              <a:ext uri="{FF2B5EF4-FFF2-40B4-BE49-F238E27FC236}">
                <a16:creationId xmlns:a16="http://schemas.microsoft.com/office/drawing/2014/main" id="{7C3BDE65-2746-462A-B3CC-ED103CDC1B54}"/>
              </a:ext>
            </a:extLst>
          </p:cNvPr>
          <p:cNvGraphicFramePr>
            <a:graphicFrameLocks noGrp="1"/>
          </p:cNvGraphicFramePr>
          <p:nvPr/>
        </p:nvGraphicFramePr>
        <p:xfrm>
          <a:off x="1991544" y="404664"/>
          <a:ext cx="9793088" cy="6048675"/>
        </p:xfrm>
        <a:graphic>
          <a:graphicData uri="http://schemas.openxmlformats.org/drawingml/2006/table">
            <a:tbl>
              <a:tblPr>
                <a:tableStyleId>{5C22544A-7EE6-4342-B048-85BDC9FD1C3A}</a:tableStyleId>
              </a:tblPr>
              <a:tblGrid>
                <a:gridCol w="1373771">
                  <a:extLst>
                    <a:ext uri="{9D8B030D-6E8A-4147-A177-3AD203B41FA5}">
                      <a16:colId xmlns:a16="http://schemas.microsoft.com/office/drawing/2014/main" val="3441511753"/>
                    </a:ext>
                  </a:extLst>
                </a:gridCol>
                <a:gridCol w="2269706">
                  <a:extLst>
                    <a:ext uri="{9D8B030D-6E8A-4147-A177-3AD203B41FA5}">
                      <a16:colId xmlns:a16="http://schemas.microsoft.com/office/drawing/2014/main" val="1810384790"/>
                    </a:ext>
                  </a:extLst>
                </a:gridCol>
                <a:gridCol w="696839">
                  <a:extLst>
                    <a:ext uri="{9D8B030D-6E8A-4147-A177-3AD203B41FA5}">
                      <a16:colId xmlns:a16="http://schemas.microsoft.com/office/drawing/2014/main" val="1921703426"/>
                    </a:ext>
                  </a:extLst>
                </a:gridCol>
                <a:gridCol w="836208">
                  <a:extLst>
                    <a:ext uri="{9D8B030D-6E8A-4147-A177-3AD203B41FA5}">
                      <a16:colId xmlns:a16="http://schemas.microsoft.com/office/drawing/2014/main" val="2840983835"/>
                    </a:ext>
                  </a:extLst>
                </a:gridCol>
                <a:gridCol w="709284">
                  <a:extLst>
                    <a:ext uri="{9D8B030D-6E8A-4147-A177-3AD203B41FA5}">
                      <a16:colId xmlns:a16="http://schemas.microsoft.com/office/drawing/2014/main" val="3185658879"/>
                    </a:ext>
                  </a:extLst>
                </a:gridCol>
                <a:gridCol w="457923">
                  <a:extLst>
                    <a:ext uri="{9D8B030D-6E8A-4147-A177-3AD203B41FA5}">
                      <a16:colId xmlns:a16="http://schemas.microsoft.com/office/drawing/2014/main" val="2200870177"/>
                    </a:ext>
                  </a:extLst>
                </a:gridCol>
                <a:gridCol w="589825">
                  <a:extLst>
                    <a:ext uri="{9D8B030D-6E8A-4147-A177-3AD203B41FA5}">
                      <a16:colId xmlns:a16="http://schemas.microsoft.com/office/drawing/2014/main" val="136324626"/>
                    </a:ext>
                  </a:extLst>
                </a:gridCol>
                <a:gridCol w="537562">
                  <a:extLst>
                    <a:ext uri="{9D8B030D-6E8A-4147-A177-3AD203B41FA5}">
                      <a16:colId xmlns:a16="http://schemas.microsoft.com/office/drawing/2014/main" val="3030981851"/>
                    </a:ext>
                  </a:extLst>
                </a:gridCol>
                <a:gridCol w="537562">
                  <a:extLst>
                    <a:ext uri="{9D8B030D-6E8A-4147-A177-3AD203B41FA5}">
                      <a16:colId xmlns:a16="http://schemas.microsoft.com/office/drawing/2014/main" val="3634700075"/>
                    </a:ext>
                  </a:extLst>
                </a:gridCol>
                <a:gridCol w="627156">
                  <a:extLst>
                    <a:ext uri="{9D8B030D-6E8A-4147-A177-3AD203B41FA5}">
                      <a16:colId xmlns:a16="http://schemas.microsoft.com/office/drawing/2014/main" val="3858266518"/>
                    </a:ext>
                  </a:extLst>
                </a:gridCol>
                <a:gridCol w="1157252">
                  <a:extLst>
                    <a:ext uri="{9D8B030D-6E8A-4147-A177-3AD203B41FA5}">
                      <a16:colId xmlns:a16="http://schemas.microsoft.com/office/drawing/2014/main" val="1026858183"/>
                    </a:ext>
                  </a:extLst>
                </a:gridCol>
              </a:tblGrid>
              <a:tr h="403245">
                <a:tc gridSpan="11">
                  <a:txBody>
                    <a:bodyPr/>
                    <a:lstStyle/>
                    <a:p>
                      <a:pPr algn="ctr" fontAlgn="ctr"/>
                      <a:r>
                        <a:rPr lang="zh-CN" altLang="en-US" sz="800" u="none" strike="noStrike">
                          <a:effectLst/>
                        </a:rPr>
                        <a:t>采购订单</a:t>
                      </a:r>
                      <a:r>
                        <a:rPr lang="en-US" altLang="zh-CN" sz="800" u="none" strike="noStrike">
                          <a:effectLst/>
                        </a:rPr>
                        <a:t>(</a:t>
                      </a:r>
                      <a:r>
                        <a:rPr lang="en-US" sz="800" u="none" strike="noStrike">
                          <a:effectLst/>
                        </a:rPr>
                        <a:t>PO)</a:t>
                      </a:r>
                      <a:endParaRPr lang="en-US" sz="8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19419365"/>
                  </a:ext>
                </a:extLst>
              </a:tr>
              <a:tr h="403245">
                <a:tc gridSpan="2">
                  <a:txBody>
                    <a:bodyPr/>
                    <a:lstStyle/>
                    <a:p>
                      <a:pPr algn="l" fontAlgn="ctr"/>
                      <a:r>
                        <a:rPr lang="zh-CN" altLang="en-US" sz="700" u="none" strike="noStrike">
                          <a:effectLst/>
                        </a:rPr>
                        <a:t>采购订单编号：</a:t>
                      </a:r>
                      <a:r>
                        <a:rPr lang="en-US" altLang="zh-CN" sz="700" u="none" strike="noStrike">
                          <a:effectLst/>
                        </a:rPr>
                        <a:t>____________________  </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gridSpan="9">
                  <a:txBody>
                    <a:bodyPr/>
                    <a:lstStyle/>
                    <a:p>
                      <a:pPr algn="ctr" fontAlgn="ctr"/>
                      <a:r>
                        <a:rPr lang="zh-CN" altLang="en-US" sz="700" u="none" strike="noStrike">
                          <a:effectLst/>
                        </a:rPr>
                        <a:t>下单日期：</a:t>
                      </a:r>
                      <a:r>
                        <a:rPr lang="en-US" altLang="zh-CN" sz="700" u="none" strike="noStrike">
                          <a:effectLst/>
                        </a:rPr>
                        <a:t>____</a:t>
                      </a:r>
                      <a:r>
                        <a:rPr lang="zh-CN" altLang="en-US" sz="700" u="none" strike="noStrike">
                          <a:effectLst/>
                        </a:rPr>
                        <a:t>年</a:t>
                      </a:r>
                      <a:r>
                        <a:rPr lang="en-US" altLang="zh-CN" sz="700" u="none" strike="noStrike">
                          <a:effectLst/>
                        </a:rPr>
                        <a:t>__</a:t>
                      </a:r>
                      <a:r>
                        <a:rPr lang="zh-CN" altLang="en-US" sz="700" u="none" strike="noStrike">
                          <a:effectLst/>
                        </a:rPr>
                        <a:t>月</a:t>
                      </a:r>
                      <a:r>
                        <a:rPr lang="en-US" altLang="zh-CN" sz="700" u="none" strike="noStrike">
                          <a:effectLst/>
                        </a:rPr>
                        <a:t>__</a:t>
                      </a:r>
                      <a:r>
                        <a:rPr lang="zh-CN" altLang="en-US" sz="700" u="none" strike="noStrike">
                          <a:effectLst/>
                        </a:rPr>
                        <a:t>日</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57058450"/>
                  </a:ext>
                </a:extLst>
              </a:tr>
              <a:tr h="403245">
                <a:tc>
                  <a:txBody>
                    <a:bodyPr/>
                    <a:lstStyle/>
                    <a:p>
                      <a:pPr algn="ctr" fontAlgn="ctr"/>
                      <a:r>
                        <a:rPr lang="zh-CN" altLang="en-US" sz="700" u="none" strike="noStrike">
                          <a:effectLst/>
                        </a:rPr>
                        <a:t>项目</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详情填写栏</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采购明细</a:t>
                      </a:r>
                      <a:r>
                        <a:rPr lang="en-US" altLang="zh-CN" sz="700" u="none" strike="noStrike">
                          <a:effectLst/>
                        </a:rPr>
                        <a:t>/</a:t>
                      </a:r>
                      <a:r>
                        <a:rPr lang="zh-CN" altLang="en-US" sz="700" u="none" strike="noStrike">
                          <a:effectLst/>
                        </a:rPr>
                        <a:t>序号</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货物</a:t>
                      </a:r>
                      <a:r>
                        <a:rPr lang="en-US" altLang="zh-CN" sz="700" u="none" strike="noStrike">
                          <a:effectLst/>
                        </a:rPr>
                        <a:t>/</a:t>
                      </a:r>
                      <a:r>
                        <a:rPr lang="zh-CN" altLang="en-US" sz="700" u="none" strike="noStrike">
                          <a:effectLst/>
                        </a:rPr>
                        <a:t>服务名称</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规格型号</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单位</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采购数量</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含税单价</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适用税率</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含税小计金额</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备注</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3744745141"/>
                  </a:ext>
                </a:extLst>
              </a:tr>
              <a:tr h="403245">
                <a:tc>
                  <a:txBody>
                    <a:bodyPr/>
                    <a:lstStyle/>
                    <a:p>
                      <a:pPr algn="ctr" fontAlgn="ctr"/>
                      <a:r>
                        <a:rPr lang="zh-CN" altLang="en-US" sz="700" u="none" strike="noStrike">
                          <a:effectLst/>
                        </a:rPr>
                        <a:t>供应商全称</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1</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3240077193"/>
                  </a:ext>
                </a:extLst>
              </a:tr>
              <a:tr h="403245">
                <a:tc>
                  <a:txBody>
                    <a:bodyPr/>
                    <a:lstStyle/>
                    <a:p>
                      <a:pPr algn="ctr" fontAlgn="ctr"/>
                      <a:r>
                        <a:rPr lang="zh-CN" altLang="en-US" sz="700" u="none" strike="noStrike">
                          <a:effectLst/>
                        </a:rPr>
                        <a:t>供应商联系人及电话</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2</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1704012579"/>
                  </a:ext>
                </a:extLst>
              </a:tr>
              <a:tr h="403245">
                <a:tc>
                  <a:txBody>
                    <a:bodyPr/>
                    <a:lstStyle/>
                    <a:p>
                      <a:pPr algn="ctr" fontAlgn="ctr"/>
                      <a:r>
                        <a:rPr lang="zh-CN" altLang="en-US" sz="700" u="none" strike="noStrike">
                          <a:effectLst/>
                        </a:rPr>
                        <a:t>供应商开户行及账号</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3</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1486537797"/>
                  </a:ext>
                </a:extLst>
              </a:tr>
              <a:tr h="403245">
                <a:tc>
                  <a:txBody>
                    <a:bodyPr/>
                    <a:lstStyle/>
                    <a:p>
                      <a:pPr algn="ctr" fontAlgn="ctr"/>
                      <a:r>
                        <a:rPr lang="zh-CN" altLang="en-US" sz="700" u="none" strike="noStrike">
                          <a:effectLst/>
                        </a:rPr>
                        <a:t>供应商开票信息（税号）</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4</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1142019769"/>
                  </a:ext>
                </a:extLst>
              </a:tr>
              <a:tr h="403245">
                <a:tc>
                  <a:txBody>
                    <a:bodyPr/>
                    <a:lstStyle/>
                    <a:p>
                      <a:pPr algn="ctr" fontAlgn="ctr"/>
                      <a:r>
                        <a:rPr lang="zh-CN" altLang="en-US" sz="700" u="none" strike="noStrike">
                          <a:effectLst/>
                        </a:rPr>
                        <a:t>我方收货地址</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5</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4287695350"/>
                  </a:ext>
                </a:extLst>
              </a:tr>
              <a:tr h="403245">
                <a:tc>
                  <a:txBody>
                    <a:bodyPr/>
                    <a:lstStyle/>
                    <a:p>
                      <a:pPr algn="ctr" fontAlgn="ctr"/>
                      <a:r>
                        <a:rPr lang="zh-CN" altLang="en-US" sz="700" u="none" strike="noStrike">
                          <a:effectLst/>
                        </a:rPr>
                        <a:t>约定交货期限</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en-US" altLang="zh-CN" sz="700" u="none" strike="noStrike">
                          <a:effectLst/>
                        </a:rPr>
                        <a:t>____</a:t>
                      </a:r>
                      <a:r>
                        <a:rPr lang="zh-CN" altLang="en-US" sz="700" u="none" strike="noStrike">
                          <a:effectLst/>
                        </a:rPr>
                        <a:t>年</a:t>
                      </a:r>
                      <a:r>
                        <a:rPr lang="en-US" altLang="zh-CN" sz="700" u="none" strike="noStrike">
                          <a:effectLst/>
                        </a:rPr>
                        <a:t>__</a:t>
                      </a:r>
                      <a:r>
                        <a:rPr lang="zh-CN" altLang="en-US" sz="700" u="none" strike="noStrike">
                          <a:effectLst/>
                        </a:rPr>
                        <a:t>月</a:t>
                      </a:r>
                      <a:r>
                        <a:rPr lang="en-US" altLang="zh-CN" sz="700" u="none" strike="noStrike">
                          <a:effectLst/>
                        </a:rPr>
                        <a:t>__</a:t>
                      </a:r>
                      <a:r>
                        <a:rPr lang="zh-CN" altLang="en-US" sz="700" u="none" strike="noStrike">
                          <a:effectLst/>
                        </a:rPr>
                        <a:t>日前送达</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6</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3032086587"/>
                  </a:ext>
                </a:extLst>
              </a:tr>
              <a:tr h="403245">
                <a:tc>
                  <a:txBody>
                    <a:bodyPr/>
                    <a:lstStyle/>
                    <a:p>
                      <a:pPr algn="ctr" fontAlgn="ctr"/>
                      <a:r>
                        <a:rPr lang="zh-CN" altLang="en-US" sz="700" u="none" strike="noStrike">
                          <a:effectLst/>
                        </a:rPr>
                        <a:t>付款条款</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□预付</a:t>
                      </a:r>
                      <a:r>
                        <a:rPr lang="en-US" altLang="zh-CN" sz="700" u="none" strike="noStrike">
                          <a:effectLst/>
                        </a:rPr>
                        <a:t>__% □</a:t>
                      </a:r>
                      <a:r>
                        <a:rPr lang="zh-CN" altLang="en-US" sz="700" u="none" strike="noStrike">
                          <a:effectLst/>
                        </a:rPr>
                        <a:t>货到验收后付款 □月结</a:t>
                      </a:r>
                      <a:r>
                        <a:rPr lang="en-US" altLang="zh-CN" sz="700" u="none" strike="noStrike">
                          <a:effectLst/>
                        </a:rPr>
                        <a:t>__</a:t>
                      </a:r>
                      <a:r>
                        <a:rPr lang="zh-CN" altLang="en-US" sz="700" u="none" strike="noStrike">
                          <a:effectLst/>
                        </a:rPr>
                        <a:t>天 □分期付款：</a:t>
                      </a:r>
                      <a:r>
                        <a:rPr lang="en-US" altLang="zh-CN" sz="700" u="none" strike="noStrike">
                          <a:effectLst/>
                        </a:rPr>
                        <a:t>________</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7</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3426035352"/>
                  </a:ext>
                </a:extLst>
              </a:tr>
              <a:tr h="403245">
                <a:tc>
                  <a:txBody>
                    <a:bodyPr/>
                    <a:lstStyle/>
                    <a:p>
                      <a:pPr algn="ctr" fontAlgn="ctr"/>
                      <a:r>
                        <a:rPr lang="zh-CN" altLang="en-US" sz="700" u="none" strike="noStrike">
                          <a:effectLst/>
                        </a:rPr>
                        <a:t>运输及运费承担</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□供方承担 □需方承担</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8</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1277237664"/>
                  </a:ext>
                </a:extLst>
              </a:tr>
              <a:tr h="403245">
                <a:tc>
                  <a:txBody>
                    <a:bodyPr/>
                    <a:lstStyle/>
                    <a:p>
                      <a:pPr algn="ctr" fontAlgn="ctr"/>
                      <a:r>
                        <a:rPr lang="zh-CN" altLang="en-US" sz="700" u="none" strike="noStrike">
                          <a:effectLst/>
                        </a:rPr>
                        <a:t>其他约定事项</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en-US" altLang="zh-CN" sz="700" u="none" strike="noStrike">
                          <a:effectLst/>
                        </a:rPr>
                        <a:t>...</a:t>
                      </a:r>
                      <a:endParaRPr lang="en-US" altLang="zh-CN"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extLst>
                  <a:ext uri="{0D108BD9-81ED-4DB2-BD59-A6C34878D82A}">
                    <a16:rowId xmlns:a16="http://schemas.microsoft.com/office/drawing/2014/main" val="2620956292"/>
                  </a:ext>
                </a:extLst>
              </a:tr>
              <a:tr h="403245">
                <a:tc>
                  <a:txBody>
                    <a:bodyPr/>
                    <a:lstStyle/>
                    <a:p>
                      <a:pPr algn="ctr" fontAlgn="ctr"/>
                      <a:r>
                        <a:rPr lang="zh-CN" altLang="en-US" sz="700" u="none" strike="noStrike">
                          <a:effectLst/>
                        </a:rPr>
                        <a:t>合计金额</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r" fontAlgn="ctr"/>
                      <a:r>
                        <a:rPr lang="zh-CN" altLang="en-US" sz="700" u="none" strike="noStrike">
                          <a:effectLst/>
                        </a:rPr>
                        <a:t>含税总金额（小写）</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gridSpan="3">
                  <a:txBody>
                    <a:bodyPr/>
                    <a:lstStyle/>
                    <a:p>
                      <a:pPr algn="l" fontAlgn="ctr"/>
                      <a:r>
                        <a:rPr lang="zh-CN" altLang="en-US" sz="700" u="none" strike="noStrike">
                          <a:effectLst/>
                        </a:rPr>
                        <a:t>￥</a:t>
                      </a:r>
                      <a:r>
                        <a:rPr lang="en-US" altLang="zh-CN" sz="700" u="none" strike="noStrike">
                          <a:effectLst/>
                        </a:rPr>
                        <a:t>_________________________________</a:t>
                      </a:r>
                      <a:endParaRPr lang="en-US" altLang="zh-CN"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gridSpan="3">
                  <a:txBody>
                    <a:bodyPr/>
                    <a:lstStyle/>
                    <a:p>
                      <a:pPr algn="r" fontAlgn="ctr"/>
                      <a:r>
                        <a:rPr lang="zh-CN" altLang="en-US" sz="700" u="none" strike="noStrike">
                          <a:effectLst/>
                        </a:rPr>
                        <a:t>含税总金额（大写） </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700" u="none" strike="noStrike">
                          <a:effectLst/>
                        </a:rPr>
                        <a:t>人民币</a:t>
                      </a:r>
                      <a:r>
                        <a:rPr lang="en-US" altLang="zh-CN" sz="700" u="none" strike="noStrike">
                          <a:effectLst/>
                        </a:rPr>
                        <a:t>___________________________________</a:t>
                      </a:r>
                      <a:endParaRPr lang="en-US" altLang="zh-CN"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68304870"/>
                  </a:ext>
                </a:extLst>
              </a:tr>
              <a:tr h="403245">
                <a:tc rowSpan="2">
                  <a:txBody>
                    <a:bodyPr/>
                    <a:lstStyle/>
                    <a:p>
                      <a:pPr algn="ctr" fontAlgn="ctr"/>
                      <a:r>
                        <a:rPr lang="zh-CN" altLang="en-US" sz="700" u="none" strike="noStrike">
                          <a:effectLst/>
                        </a:rPr>
                        <a:t>双方确认签字</a:t>
                      </a:r>
                      <a:r>
                        <a:rPr lang="en-US" altLang="zh-CN" sz="700" u="none" strike="noStrike">
                          <a:effectLst/>
                        </a:rPr>
                        <a:t>/</a:t>
                      </a:r>
                      <a:r>
                        <a:rPr lang="zh-CN" altLang="en-US" sz="700" u="none" strike="noStrike">
                          <a:effectLst/>
                        </a:rPr>
                        <a:t>盖章</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a:txBody>
                    <a:bodyPr/>
                    <a:lstStyle/>
                    <a:p>
                      <a:pPr algn="ctr" fontAlgn="ctr"/>
                      <a:r>
                        <a:rPr lang="zh-CN" altLang="en-US" sz="700" u="none" strike="noStrike">
                          <a:effectLst/>
                        </a:rPr>
                        <a:t>采购员（我方）</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gridSpan="2">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gridSpan="3">
                  <a:txBody>
                    <a:bodyPr/>
                    <a:lstStyle/>
                    <a:p>
                      <a:pPr algn="ctr" fontAlgn="ctr"/>
                      <a:r>
                        <a:rPr lang="zh-CN" altLang="en-US" sz="700" u="none" strike="noStrike">
                          <a:effectLst/>
                        </a:rPr>
                        <a:t>供应商经办人签字</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60459380"/>
                  </a:ext>
                </a:extLst>
              </a:tr>
              <a:tr h="403245">
                <a:tc vMerge="1">
                  <a:txBody>
                    <a:bodyPr/>
                    <a:lstStyle/>
                    <a:p>
                      <a:endParaRPr lang="zh-CN" altLang="en-US"/>
                    </a:p>
                  </a:txBody>
                  <a:tcPr/>
                </a:tc>
                <a:tc>
                  <a:txBody>
                    <a:bodyPr/>
                    <a:lstStyle/>
                    <a:p>
                      <a:pPr algn="ctr" fontAlgn="ctr"/>
                      <a:r>
                        <a:rPr lang="zh-CN" altLang="en-US" sz="700" u="none" strike="noStrike">
                          <a:effectLst/>
                        </a:rPr>
                        <a:t>采购部门负责人</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gridSpan="2">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gridSpan="3">
                  <a:txBody>
                    <a:bodyPr/>
                    <a:lstStyle/>
                    <a:p>
                      <a:pPr algn="ctr" fontAlgn="ctr"/>
                      <a:r>
                        <a:rPr lang="zh-CN" altLang="en-US" sz="700" u="none" strike="noStrike">
                          <a:effectLst/>
                        </a:rPr>
                        <a:t>供应商加盖公章</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700" u="none" strike="noStrike" dirty="0">
                          <a:effectLst/>
                        </a:rPr>
                        <a:t>　</a:t>
                      </a:r>
                      <a:endParaRPr lang="zh-CN" altLang="en-US" sz="700" b="0" i="0" u="none" strike="noStrike" dirty="0">
                        <a:solidFill>
                          <a:srgbClr val="000000"/>
                        </a:solidFill>
                        <a:effectLst/>
                        <a:latin typeface="等线" panose="02010600030101010101" pitchFamily="2" charset="-122"/>
                        <a:ea typeface="等线" panose="02010600030101010101" pitchFamily="2" charset="-122"/>
                      </a:endParaRPr>
                    </a:p>
                  </a:txBody>
                  <a:tcPr marL="5186" marR="5186" marT="518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31106267"/>
                  </a:ext>
                </a:extLst>
              </a:tr>
            </a:tbl>
          </a:graphicData>
        </a:graphic>
      </p:graphicFrame>
    </p:spTree>
    <p:extLst>
      <p:ext uri="{BB962C8B-B14F-4D97-AF65-F5344CB8AC3E}">
        <p14:creationId xmlns:p14="http://schemas.microsoft.com/office/powerpoint/2010/main" val="36033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4098733-DE16-4548-8DB9-5B96C0AC4EB2}"/>
              </a:ext>
            </a:extLst>
          </p:cNvPr>
          <p:cNvSpPr txBox="1"/>
          <p:nvPr/>
        </p:nvSpPr>
        <p:spPr>
          <a:xfrm>
            <a:off x="3702" y="85458"/>
            <a:ext cx="2203866" cy="461665"/>
          </a:xfrm>
          <a:prstGeom prst="rect">
            <a:avLst/>
          </a:prstGeom>
          <a:solidFill>
            <a:srgbClr val="FFFF00"/>
          </a:solidFill>
        </p:spPr>
        <p:txBody>
          <a:bodyPr wrap="square" rtlCol="0">
            <a:spAutoFit/>
          </a:bodyPr>
          <a:lstStyle/>
          <a:p>
            <a:r>
              <a:rPr lang="zh-CN" altLang="en-US" sz="2400" b="1" dirty="0">
                <a:solidFill>
                  <a:srgbClr val="FF0000"/>
                </a:solidFill>
              </a:rPr>
              <a:t>合同会审单</a:t>
            </a:r>
            <a:r>
              <a:rPr lang="en-US" altLang="zh-CN" sz="2400" b="1" dirty="0">
                <a:solidFill>
                  <a:srgbClr val="FF0000"/>
                </a:solidFill>
              </a:rPr>
              <a:t>1-5</a:t>
            </a:r>
            <a:endParaRPr lang="zh-CN" altLang="en-US" sz="2400" b="1" dirty="0">
              <a:solidFill>
                <a:srgbClr val="FF0000"/>
              </a:solidFill>
            </a:endParaRPr>
          </a:p>
        </p:txBody>
      </p:sp>
      <p:graphicFrame>
        <p:nvGraphicFramePr>
          <p:cNvPr id="2" name="表格 1">
            <a:extLst>
              <a:ext uri="{FF2B5EF4-FFF2-40B4-BE49-F238E27FC236}">
                <a16:creationId xmlns:a16="http://schemas.microsoft.com/office/drawing/2014/main" id="{376A95C5-67BC-4837-8AA1-CE25F61E2E6E}"/>
              </a:ext>
            </a:extLst>
          </p:cNvPr>
          <p:cNvGraphicFramePr>
            <a:graphicFrameLocks noGrp="1"/>
          </p:cNvGraphicFramePr>
          <p:nvPr>
            <p:extLst>
              <p:ext uri="{D42A27DB-BD31-4B8C-83A1-F6EECF244321}">
                <p14:modId xmlns:p14="http://schemas.microsoft.com/office/powerpoint/2010/main" val="1799592891"/>
              </p:ext>
            </p:extLst>
          </p:nvPr>
        </p:nvGraphicFramePr>
        <p:xfrm>
          <a:off x="2351584" y="332655"/>
          <a:ext cx="8784976" cy="6192689"/>
        </p:xfrm>
        <a:graphic>
          <a:graphicData uri="http://schemas.openxmlformats.org/drawingml/2006/table">
            <a:tbl>
              <a:tblPr>
                <a:tableStyleId>{5C22544A-7EE6-4342-B048-85BDC9FD1C3A}</a:tableStyleId>
              </a:tblPr>
              <a:tblGrid>
                <a:gridCol w="2196244">
                  <a:extLst>
                    <a:ext uri="{9D8B030D-6E8A-4147-A177-3AD203B41FA5}">
                      <a16:colId xmlns:a16="http://schemas.microsoft.com/office/drawing/2014/main" val="1573832794"/>
                    </a:ext>
                  </a:extLst>
                </a:gridCol>
                <a:gridCol w="2196244">
                  <a:extLst>
                    <a:ext uri="{9D8B030D-6E8A-4147-A177-3AD203B41FA5}">
                      <a16:colId xmlns:a16="http://schemas.microsoft.com/office/drawing/2014/main" val="1979101328"/>
                    </a:ext>
                  </a:extLst>
                </a:gridCol>
                <a:gridCol w="2196244">
                  <a:extLst>
                    <a:ext uri="{9D8B030D-6E8A-4147-A177-3AD203B41FA5}">
                      <a16:colId xmlns:a16="http://schemas.microsoft.com/office/drawing/2014/main" val="1123406916"/>
                    </a:ext>
                  </a:extLst>
                </a:gridCol>
                <a:gridCol w="2196244">
                  <a:extLst>
                    <a:ext uri="{9D8B030D-6E8A-4147-A177-3AD203B41FA5}">
                      <a16:colId xmlns:a16="http://schemas.microsoft.com/office/drawing/2014/main" val="987793554"/>
                    </a:ext>
                  </a:extLst>
                </a:gridCol>
              </a:tblGrid>
              <a:tr h="1007734">
                <a:tc gridSpan="4">
                  <a:txBody>
                    <a:bodyPr/>
                    <a:lstStyle/>
                    <a:p>
                      <a:pPr algn="ctr" fontAlgn="ctr"/>
                      <a:r>
                        <a:rPr lang="zh-CN" altLang="en-US" sz="1200" u="none" strike="noStrike">
                          <a:effectLst/>
                        </a:rPr>
                        <a:t>合同会审单</a:t>
                      </a:r>
                      <a:endParaRPr lang="zh-CN" altLang="en-US" sz="1200" b="1" i="0" u="none" strike="noStrike">
                        <a:effectLst/>
                        <a:latin typeface="宋体" panose="02010600030101010101" pitchFamily="2" charset="-122"/>
                        <a:ea typeface="宋体" panose="02010600030101010101" pitchFamily="2" charset="-122"/>
                      </a:endParaRPr>
                    </a:p>
                  </a:txBody>
                  <a:tcPr marL="9525" marR="9525" marT="952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3763149"/>
                  </a:ext>
                </a:extLst>
              </a:tr>
              <a:tr h="666405">
                <a:tc>
                  <a:txBody>
                    <a:bodyPr/>
                    <a:lstStyle/>
                    <a:p>
                      <a:pPr algn="l" fontAlgn="ctr"/>
                      <a:r>
                        <a:rPr lang="zh-CN" altLang="en-US" sz="1100" u="none" strike="noStrike">
                          <a:effectLst/>
                        </a:rPr>
                        <a:t>对方单位</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gridSpan="2">
                  <a:txBody>
                    <a:bodyPr/>
                    <a:lstStyle/>
                    <a:p>
                      <a:pPr algn="l" fontAlgn="ctr"/>
                      <a:r>
                        <a:rPr lang="zh-CN" altLang="en-US" sz="1100" u="none" strike="noStrike">
                          <a:effectLst/>
                        </a:rPr>
                        <a:t> 时间：       年    月     日</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hMerge="1">
                  <a:txBody>
                    <a:bodyPr/>
                    <a:lstStyle/>
                    <a:p>
                      <a:endParaRPr lang="zh-CN" altLang="en-US"/>
                    </a:p>
                  </a:txBody>
                  <a:tcPr/>
                </a:tc>
                <a:extLst>
                  <a:ext uri="{0D108BD9-81ED-4DB2-BD59-A6C34878D82A}">
                    <a16:rowId xmlns:a16="http://schemas.microsoft.com/office/drawing/2014/main" val="3206832184"/>
                  </a:ext>
                </a:extLst>
              </a:tr>
              <a:tr h="1852930">
                <a:tc gridSpan="4">
                  <a:txBody>
                    <a:bodyPr/>
                    <a:lstStyle/>
                    <a:p>
                      <a:pPr algn="l" fontAlgn="t"/>
                      <a:r>
                        <a:rPr lang="zh-CN" altLang="en-US" sz="1100" u="none" strike="noStrike">
                          <a:effectLst/>
                        </a:rPr>
                        <a:t>事由：</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78343395"/>
                  </a:ext>
                </a:extLst>
              </a:tr>
              <a:tr h="666405">
                <a:tc>
                  <a:txBody>
                    <a:bodyPr/>
                    <a:lstStyle/>
                    <a:p>
                      <a:pPr algn="ctr" fontAlgn="ctr"/>
                      <a:r>
                        <a:rPr lang="zh-CN" altLang="en-US" sz="1100" u="none" strike="noStrike">
                          <a:effectLst/>
                        </a:rPr>
                        <a:t>审签部门</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审核意见</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审核人</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日期</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a16="http://schemas.microsoft.com/office/drawing/2014/main" val="2825280662"/>
                  </a:ext>
                </a:extLst>
              </a:tr>
              <a:tr h="666405">
                <a:tc>
                  <a:txBody>
                    <a:bodyPr/>
                    <a:lstStyle/>
                    <a:p>
                      <a:pPr algn="ctr" fontAlgn="ctr"/>
                      <a:r>
                        <a:rPr lang="zh-CN" altLang="en-US" sz="1100" u="none" strike="noStrike">
                          <a:effectLst/>
                        </a:rPr>
                        <a:t>财务部</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a16="http://schemas.microsoft.com/office/drawing/2014/main" val="3731330149"/>
                  </a:ext>
                </a:extLst>
              </a:tr>
              <a:tr h="666405">
                <a:tc>
                  <a:txBody>
                    <a:bodyPr/>
                    <a:lstStyle/>
                    <a:p>
                      <a:pPr algn="ctr" fontAlgn="ctr"/>
                      <a:r>
                        <a:rPr lang="zh-CN" altLang="en-US" sz="1100" u="none" strike="noStrike">
                          <a:effectLst/>
                        </a:rPr>
                        <a:t>法务部</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a16="http://schemas.microsoft.com/office/drawing/2014/main" val="1470531455"/>
                  </a:ext>
                </a:extLst>
              </a:tr>
              <a:tr h="666405">
                <a:tc>
                  <a:txBody>
                    <a:bodyPr/>
                    <a:lstStyle/>
                    <a:p>
                      <a:pPr algn="ctr" fontAlgn="ctr"/>
                      <a:r>
                        <a:rPr lang="zh-CN" altLang="en-US" sz="1100" u="none" strike="noStrike">
                          <a:effectLst/>
                        </a:rPr>
                        <a:t>总经理</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a:effectLst/>
                        </a:rPr>
                        <a:t>　</a:t>
                      </a:r>
                      <a:endParaRPr lang="zh-CN" altLang="en-US" sz="1100" b="0" i="0" u="none" strike="noStrike">
                        <a:effectLst/>
                        <a:latin typeface="宋体" panose="02010600030101010101" pitchFamily="2" charset="-122"/>
                        <a:ea typeface="宋体" panose="02010600030101010101" pitchFamily="2" charset="-122"/>
                      </a:endParaRPr>
                    </a:p>
                  </a:txBody>
                  <a:tcPr marL="9525" marR="9525" marT="9525" marB="0" anchor="ctr"/>
                </a:tc>
                <a:tc>
                  <a:txBody>
                    <a:bodyPr/>
                    <a:lstStyle/>
                    <a:p>
                      <a:pPr algn="ctr" fontAlgn="ctr"/>
                      <a:r>
                        <a:rPr lang="zh-CN" altLang="en-US" sz="1100" u="none" strike="noStrike" dirty="0">
                          <a:effectLst/>
                        </a:rPr>
                        <a:t>　</a:t>
                      </a:r>
                      <a:endParaRPr lang="zh-CN" altLang="en-US" sz="1100" b="0" i="0" u="none" strike="noStrike" dirty="0">
                        <a:effectLst/>
                        <a:latin typeface="宋体" panose="02010600030101010101" pitchFamily="2" charset="-122"/>
                        <a:ea typeface="宋体" panose="02010600030101010101" pitchFamily="2" charset="-122"/>
                      </a:endParaRPr>
                    </a:p>
                  </a:txBody>
                  <a:tcPr marL="9525" marR="9525" marT="9525" marB="0" anchor="ctr"/>
                </a:tc>
                <a:extLst>
                  <a:ext uri="{0D108BD9-81ED-4DB2-BD59-A6C34878D82A}">
                    <a16:rowId xmlns:a16="http://schemas.microsoft.com/office/drawing/2014/main" val="1685397851"/>
                  </a:ext>
                </a:extLst>
              </a:tr>
            </a:tbl>
          </a:graphicData>
        </a:graphic>
      </p:graphicFrame>
    </p:spTree>
    <p:extLst>
      <p:ext uri="{BB962C8B-B14F-4D97-AF65-F5344CB8AC3E}">
        <p14:creationId xmlns:p14="http://schemas.microsoft.com/office/powerpoint/2010/main" val="1097110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4098733-DE16-4548-8DB9-5B96C0AC4EB2}"/>
              </a:ext>
            </a:extLst>
          </p:cNvPr>
          <p:cNvSpPr txBox="1"/>
          <p:nvPr/>
        </p:nvSpPr>
        <p:spPr>
          <a:xfrm>
            <a:off x="3702" y="85458"/>
            <a:ext cx="4796154" cy="461665"/>
          </a:xfrm>
          <a:prstGeom prst="rect">
            <a:avLst/>
          </a:prstGeom>
          <a:solidFill>
            <a:srgbClr val="FFFF00"/>
          </a:solidFill>
        </p:spPr>
        <p:txBody>
          <a:bodyPr wrap="square" rtlCol="0">
            <a:spAutoFit/>
          </a:bodyPr>
          <a:lstStyle/>
          <a:p>
            <a:r>
              <a:rPr lang="zh-CN" altLang="en-US" sz="2400" b="1" dirty="0">
                <a:solidFill>
                  <a:srgbClr val="FF0000"/>
                </a:solidFill>
              </a:rPr>
              <a:t>发票管理台账（进项</a:t>
            </a:r>
            <a:r>
              <a:rPr lang="en-US" altLang="zh-CN" sz="2400" b="1" dirty="0">
                <a:solidFill>
                  <a:srgbClr val="FF0000"/>
                </a:solidFill>
              </a:rPr>
              <a:t>-</a:t>
            </a:r>
            <a:r>
              <a:rPr lang="zh-CN" altLang="en-US" sz="2400" b="1" dirty="0">
                <a:solidFill>
                  <a:srgbClr val="FF0000"/>
                </a:solidFill>
              </a:rPr>
              <a:t>收票）</a:t>
            </a:r>
            <a:r>
              <a:rPr lang="en-US" altLang="zh-CN" sz="2400" b="1" dirty="0">
                <a:solidFill>
                  <a:srgbClr val="FF0000"/>
                </a:solidFill>
              </a:rPr>
              <a:t> 1-6</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DD22F4FC-3CB2-40FC-BD49-16D92601E67D}"/>
              </a:ext>
            </a:extLst>
          </p:cNvPr>
          <p:cNvGraphicFramePr>
            <a:graphicFrameLocks noGrp="1"/>
          </p:cNvGraphicFramePr>
          <p:nvPr>
            <p:extLst>
              <p:ext uri="{D42A27DB-BD31-4B8C-83A1-F6EECF244321}">
                <p14:modId xmlns:p14="http://schemas.microsoft.com/office/powerpoint/2010/main" val="3467916687"/>
              </p:ext>
            </p:extLst>
          </p:nvPr>
        </p:nvGraphicFramePr>
        <p:xfrm>
          <a:off x="263352" y="548012"/>
          <a:ext cx="11665300" cy="6049336"/>
        </p:xfrm>
        <a:graphic>
          <a:graphicData uri="http://schemas.openxmlformats.org/drawingml/2006/table">
            <a:tbl>
              <a:tblPr>
                <a:tableStyleId>{5C22544A-7EE6-4342-B048-85BDC9FD1C3A}</a:tableStyleId>
              </a:tblPr>
              <a:tblGrid>
                <a:gridCol w="188402">
                  <a:extLst>
                    <a:ext uri="{9D8B030D-6E8A-4147-A177-3AD203B41FA5}">
                      <a16:colId xmlns:a16="http://schemas.microsoft.com/office/drawing/2014/main" val="29712579"/>
                    </a:ext>
                  </a:extLst>
                </a:gridCol>
                <a:gridCol w="552649">
                  <a:extLst>
                    <a:ext uri="{9D8B030D-6E8A-4147-A177-3AD203B41FA5}">
                      <a16:colId xmlns:a16="http://schemas.microsoft.com/office/drawing/2014/main" val="3722439811"/>
                    </a:ext>
                  </a:extLst>
                </a:gridCol>
                <a:gridCol w="390937">
                  <a:extLst>
                    <a:ext uri="{9D8B030D-6E8A-4147-A177-3AD203B41FA5}">
                      <a16:colId xmlns:a16="http://schemas.microsoft.com/office/drawing/2014/main" val="4275753455"/>
                    </a:ext>
                  </a:extLst>
                </a:gridCol>
                <a:gridCol w="390937">
                  <a:extLst>
                    <a:ext uri="{9D8B030D-6E8A-4147-A177-3AD203B41FA5}">
                      <a16:colId xmlns:a16="http://schemas.microsoft.com/office/drawing/2014/main" val="2878883541"/>
                    </a:ext>
                  </a:extLst>
                </a:gridCol>
                <a:gridCol w="390937">
                  <a:extLst>
                    <a:ext uri="{9D8B030D-6E8A-4147-A177-3AD203B41FA5}">
                      <a16:colId xmlns:a16="http://schemas.microsoft.com/office/drawing/2014/main" val="792233656"/>
                    </a:ext>
                  </a:extLst>
                </a:gridCol>
                <a:gridCol w="466298">
                  <a:extLst>
                    <a:ext uri="{9D8B030D-6E8A-4147-A177-3AD203B41FA5}">
                      <a16:colId xmlns:a16="http://schemas.microsoft.com/office/drawing/2014/main" val="1038211903"/>
                    </a:ext>
                  </a:extLst>
                </a:gridCol>
                <a:gridCol w="390937">
                  <a:extLst>
                    <a:ext uri="{9D8B030D-6E8A-4147-A177-3AD203B41FA5}">
                      <a16:colId xmlns:a16="http://schemas.microsoft.com/office/drawing/2014/main" val="2740529805"/>
                    </a:ext>
                  </a:extLst>
                </a:gridCol>
                <a:gridCol w="485139">
                  <a:extLst>
                    <a:ext uri="{9D8B030D-6E8A-4147-A177-3AD203B41FA5}">
                      <a16:colId xmlns:a16="http://schemas.microsoft.com/office/drawing/2014/main" val="4207132754"/>
                    </a:ext>
                  </a:extLst>
                </a:gridCol>
                <a:gridCol w="671971">
                  <a:extLst>
                    <a:ext uri="{9D8B030D-6E8A-4147-A177-3AD203B41FA5}">
                      <a16:colId xmlns:a16="http://schemas.microsoft.com/office/drawing/2014/main" val="2423370029"/>
                    </a:ext>
                  </a:extLst>
                </a:gridCol>
                <a:gridCol w="390937">
                  <a:extLst>
                    <a:ext uri="{9D8B030D-6E8A-4147-A177-3AD203B41FA5}">
                      <a16:colId xmlns:a16="http://schemas.microsoft.com/office/drawing/2014/main" val="1923614526"/>
                    </a:ext>
                  </a:extLst>
                </a:gridCol>
                <a:gridCol w="445887">
                  <a:extLst>
                    <a:ext uri="{9D8B030D-6E8A-4147-A177-3AD203B41FA5}">
                      <a16:colId xmlns:a16="http://schemas.microsoft.com/office/drawing/2014/main" val="2126916041"/>
                    </a:ext>
                  </a:extLst>
                </a:gridCol>
                <a:gridCol w="390937">
                  <a:extLst>
                    <a:ext uri="{9D8B030D-6E8A-4147-A177-3AD203B41FA5}">
                      <a16:colId xmlns:a16="http://schemas.microsoft.com/office/drawing/2014/main" val="378716357"/>
                    </a:ext>
                  </a:extLst>
                </a:gridCol>
                <a:gridCol w="401926">
                  <a:extLst>
                    <a:ext uri="{9D8B030D-6E8A-4147-A177-3AD203B41FA5}">
                      <a16:colId xmlns:a16="http://schemas.microsoft.com/office/drawing/2014/main" val="3958840112"/>
                    </a:ext>
                  </a:extLst>
                </a:gridCol>
                <a:gridCol w="390937">
                  <a:extLst>
                    <a:ext uri="{9D8B030D-6E8A-4147-A177-3AD203B41FA5}">
                      <a16:colId xmlns:a16="http://schemas.microsoft.com/office/drawing/2014/main" val="581843860"/>
                    </a:ext>
                  </a:extLst>
                </a:gridCol>
                <a:gridCol w="822694">
                  <a:extLst>
                    <a:ext uri="{9D8B030D-6E8A-4147-A177-3AD203B41FA5}">
                      <a16:colId xmlns:a16="http://schemas.microsoft.com/office/drawing/2014/main" val="1923055688"/>
                    </a:ext>
                  </a:extLst>
                </a:gridCol>
                <a:gridCol w="389366">
                  <a:extLst>
                    <a:ext uri="{9D8B030D-6E8A-4147-A177-3AD203B41FA5}">
                      <a16:colId xmlns:a16="http://schemas.microsoft.com/office/drawing/2014/main" val="3621511647"/>
                    </a:ext>
                  </a:extLst>
                </a:gridCol>
                <a:gridCol w="376807">
                  <a:extLst>
                    <a:ext uri="{9D8B030D-6E8A-4147-A177-3AD203B41FA5}">
                      <a16:colId xmlns:a16="http://schemas.microsoft.com/office/drawing/2014/main" val="1112107627"/>
                    </a:ext>
                  </a:extLst>
                </a:gridCol>
                <a:gridCol w="390937">
                  <a:extLst>
                    <a:ext uri="{9D8B030D-6E8A-4147-A177-3AD203B41FA5}">
                      <a16:colId xmlns:a16="http://schemas.microsoft.com/office/drawing/2014/main" val="2924748040"/>
                    </a:ext>
                  </a:extLst>
                </a:gridCol>
                <a:gridCol w="390937">
                  <a:extLst>
                    <a:ext uri="{9D8B030D-6E8A-4147-A177-3AD203B41FA5}">
                      <a16:colId xmlns:a16="http://schemas.microsoft.com/office/drawing/2014/main" val="2003287137"/>
                    </a:ext>
                  </a:extLst>
                </a:gridCol>
                <a:gridCol w="390937">
                  <a:extLst>
                    <a:ext uri="{9D8B030D-6E8A-4147-A177-3AD203B41FA5}">
                      <a16:colId xmlns:a16="http://schemas.microsoft.com/office/drawing/2014/main" val="1699078223"/>
                    </a:ext>
                  </a:extLst>
                </a:gridCol>
                <a:gridCol w="390937">
                  <a:extLst>
                    <a:ext uri="{9D8B030D-6E8A-4147-A177-3AD203B41FA5}">
                      <a16:colId xmlns:a16="http://schemas.microsoft.com/office/drawing/2014/main" val="758691766"/>
                    </a:ext>
                  </a:extLst>
                </a:gridCol>
                <a:gridCol w="390937">
                  <a:extLst>
                    <a:ext uri="{9D8B030D-6E8A-4147-A177-3AD203B41FA5}">
                      <a16:colId xmlns:a16="http://schemas.microsoft.com/office/drawing/2014/main" val="3926839556"/>
                    </a:ext>
                  </a:extLst>
                </a:gridCol>
                <a:gridCol w="571490">
                  <a:extLst>
                    <a:ext uri="{9D8B030D-6E8A-4147-A177-3AD203B41FA5}">
                      <a16:colId xmlns:a16="http://schemas.microsoft.com/office/drawing/2014/main" val="3054355902"/>
                    </a:ext>
                  </a:extLst>
                </a:gridCol>
                <a:gridCol w="390937">
                  <a:extLst>
                    <a:ext uri="{9D8B030D-6E8A-4147-A177-3AD203B41FA5}">
                      <a16:colId xmlns:a16="http://schemas.microsoft.com/office/drawing/2014/main" val="1559604257"/>
                    </a:ext>
                  </a:extLst>
                </a:gridCol>
                <a:gridCol w="390937">
                  <a:extLst>
                    <a:ext uri="{9D8B030D-6E8A-4147-A177-3AD203B41FA5}">
                      <a16:colId xmlns:a16="http://schemas.microsoft.com/office/drawing/2014/main" val="937801735"/>
                    </a:ext>
                  </a:extLst>
                </a:gridCol>
                <a:gridCol w="428616">
                  <a:extLst>
                    <a:ext uri="{9D8B030D-6E8A-4147-A177-3AD203B41FA5}">
                      <a16:colId xmlns:a16="http://schemas.microsoft.com/office/drawing/2014/main" val="746350469"/>
                    </a:ext>
                  </a:extLst>
                </a:gridCol>
                <a:gridCol w="390937">
                  <a:extLst>
                    <a:ext uri="{9D8B030D-6E8A-4147-A177-3AD203B41FA5}">
                      <a16:colId xmlns:a16="http://schemas.microsoft.com/office/drawing/2014/main" val="3661942248"/>
                    </a:ext>
                  </a:extLst>
                </a:gridCol>
              </a:tblGrid>
              <a:tr h="470266">
                <a:tc gridSpan="27">
                  <a:txBody>
                    <a:bodyPr/>
                    <a:lstStyle/>
                    <a:p>
                      <a:pPr algn="ctr" fontAlgn="ctr"/>
                      <a:r>
                        <a:rPr lang="zh-CN" altLang="en-US" sz="400" u="none" strike="noStrike">
                          <a:effectLst/>
                        </a:rPr>
                        <a:t>进项发票管理台账（供应商开具给我方的发票）</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94292316"/>
                  </a:ext>
                </a:extLst>
              </a:tr>
              <a:tr h="470266">
                <a:tc gridSpan="8">
                  <a:txBody>
                    <a:bodyPr/>
                    <a:lstStyle/>
                    <a:p>
                      <a:pPr algn="l" fontAlgn="ctr"/>
                      <a:r>
                        <a:rPr lang="zh-CN" altLang="en-US" sz="300" u="none" strike="noStrike">
                          <a:effectLst/>
                        </a:rPr>
                        <a:t>统计年度：</a:t>
                      </a:r>
                      <a:r>
                        <a:rPr lang="en-US" altLang="zh-CN" sz="300" u="none" strike="noStrike">
                          <a:effectLst/>
                        </a:rPr>
                        <a:t>____________   </a:t>
                      </a:r>
                      <a:r>
                        <a:rPr lang="zh-CN" altLang="en-US" sz="300" u="none" strike="noStrike">
                          <a:effectLst/>
                        </a:rPr>
                        <a:t>年</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300" u="none" strike="noStrike">
                          <a:effectLst/>
                        </a:rPr>
                        <a:t>制表人：</a:t>
                      </a:r>
                      <a:r>
                        <a:rPr lang="en-US" altLang="zh-CN" sz="300" u="none" strike="noStrike">
                          <a:effectLst/>
                        </a:rPr>
                        <a:t>________________</a:t>
                      </a:r>
                      <a:endParaRPr lang="en-US" altLang="zh-CN" sz="300" b="0" i="0" u="none" strike="noStrike">
                        <a:solidFill>
                          <a:srgbClr val="000000"/>
                        </a:solidFill>
                        <a:effectLst/>
                        <a:latin typeface="Arial" panose="020B0604020202020204" pitchFamily="34" charset="0"/>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300" u="none" strike="noStrike">
                          <a:effectLst/>
                        </a:rPr>
                        <a:t>复核人：</a:t>
                      </a:r>
                      <a:r>
                        <a:rPr lang="en-US" altLang="zh-CN" sz="300" u="none" strike="noStrike">
                          <a:effectLst/>
                        </a:rPr>
                        <a:t>________________</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300" u="none" strike="noStrike">
                          <a:effectLst/>
                        </a:rPr>
                        <a:t>单位：元</a:t>
                      </a:r>
                      <a:endParaRPr lang="zh-CN" altLang="en-US" sz="300" b="0" i="0" u="none" strike="noStrike">
                        <a:solidFill>
                          <a:srgbClr val="000000"/>
                        </a:solidFill>
                        <a:effectLst/>
                        <a:latin typeface="Arial" panose="020B0604020202020204" pitchFamily="34" charset="0"/>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4585422"/>
                  </a:ext>
                </a:extLst>
              </a:tr>
              <a:tr h="470266">
                <a:tc>
                  <a:txBody>
                    <a:bodyPr/>
                    <a:lstStyle/>
                    <a:p>
                      <a:pPr algn="ctr" fontAlgn="ctr"/>
                      <a:r>
                        <a:rPr lang="zh-CN" altLang="en-US" sz="300" u="none" strike="noStrike">
                          <a:effectLst/>
                        </a:rPr>
                        <a:t>序号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发票类型</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发票号码</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收票日期</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开票日期</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对应采购订单 </a:t>
                      </a:r>
                      <a:r>
                        <a:rPr lang="en-US" altLang="zh-CN" sz="300" u="none" strike="noStrike">
                          <a:effectLst/>
                        </a:rPr>
                        <a:t>PO </a:t>
                      </a:r>
                      <a:r>
                        <a:rPr lang="zh-CN" altLang="en-US" sz="300" u="none" strike="noStrike">
                          <a:effectLst/>
                        </a:rPr>
                        <a:t>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对应入库 </a:t>
                      </a:r>
                      <a:r>
                        <a:rPr lang="en-US" altLang="zh-CN" sz="300" u="none" strike="noStrike">
                          <a:effectLst/>
                        </a:rPr>
                        <a:t>/ </a:t>
                      </a:r>
                      <a:r>
                        <a:rPr lang="zh-CN" altLang="en-US" sz="300" u="none" strike="noStrike">
                          <a:effectLst/>
                        </a:rPr>
                        <a:t>验收单号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供应商全称</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供应商纳税人识别号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开票项目</a:t>
                      </a:r>
                      <a:r>
                        <a:rPr lang="en-US" altLang="zh-CN" sz="300" u="none" strike="noStrike">
                          <a:effectLst/>
                        </a:rPr>
                        <a:t>/</a:t>
                      </a:r>
                      <a:r>
                        <a:rPr lang="zh-CN" altLang="en-US" sz="300" u="none" strike="noStrike">
                          <a:effectLst/>
                        </a:rPr>
                        <a:t>商品名称</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不含税总金额</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适用税率</a:t>
                      </a:r>
                      <a:r>
                        <a:rPr lang="en-US" altLang="zh-CN" sz="300" u="none" strike="noStrike">
                          <a:effectLst/>
                        </a:rPr>
                        <a:t>/</a:t>
                      </a:r>
                      <a:r>
                        <a:rPr lang="zh-CN" altLang="en-US" sz="300" u="none" strike="noStrike">
                          <a:effectLst/>
                        </a:rPr>
                        <a:t>征收率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增值税进项税额</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含税总金额</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发票状态</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收票审核人</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认证日期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认证状态</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抵扣状态</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抵扣所属期</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入账日期</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入账凭证号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付款状态</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付款日期</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 对应付款凭证号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红冲 </a:t>
                      </a:r>
                      <a:r>
                        <a:rPr lang="en-US" altLang="zh-CN" sz="300" u="none" strike="noStrike">
                          <a:effectLst/>
                        </a:rPr>
                        <a:t>/ </a:t>
                      </a:r>
                      <a:r>
                        <a:rPr lang="zh-CN" altLang="en-US" sz="300" u="none" strike="noStrike">
                          <a:effectLst/>
                        </a:rPr>
                        <a:t>进项转出说明</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备注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2725595808"/>
                  </a:ext>
                </a:extLst>
              </a:tr>
              <a:tr h="470266">
                <a:tc>
                  <a:txBody>
                    <a:bodyPr/>
                    <a:lstStyle/>
                    <a:p>
                      <a:pPr algn="ctr" fontAlgn="ctr"/>
                      <a:r>
                        <a:rPr lang="en-US" altLang="zh-CN" sz="300" u="none" strike="noStrike">
                          <a:effectLst/>
                        </a:rPr>
                        <a:t>1</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r>
                        <a:rPr lang="zh-CN" altLang="en-US" sz="300" u="none" strike="noStrike">
                          <a:effectLst/>
                        </a:rPr>
                        <a:t>□专票 □普票 □电子票</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r>
                        <a:rPr lang="zh-CN" altLang="en-US" sz="300" u="none" strike="noStrike">
                          <a:effectLst/>
                        </a:rPr>
                        <a:t>□正常 □待认证 □已认证 □进项转出 □作废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□未认证 □已认证</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未抵扣 □已抵扣</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r>
                        <a:rPr lang="zh-CN" altLang="en-US" sz="300" u="none" strike="noStrike">
                          <a:effectLst/>
                        </a:rPr>
                        <a:t>□未付款 □部分付款 □全额付款</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2128141420"/>
                  </a:ext>
                </a:extLst>
              </a:tr>
              <a:tr h="470266">
                <a:tc>
                  <a:txBody>
                    <a:bodyPr/>
                    <a:lstStyle/>
                    <a:p>
                      <a:pPr algn="ctr" fontAlgn="ctr"/>
                      <a:r>
                        <a:rPr lang="en-US" altLang="zh-CN" sz="300" u="none" strike="noStrike">
                          <a:effectLst/>
                        </a:rPr>
                        <a:t>2</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dirty="0">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2945360261"/>
                  </a:ext>
                </a:extLst>
              </a:tr>
              <a:tr h="470266">
                <a:tc>
                  <a:txBody>
                    <a:bodyPr/>
                    <a:lstStyle/>
                    <a:p>
                      <a:pPr algn="ctr" fontAlgn="ctr"/>
                      <a:r>
                        <a:rPr lang="en-US" altLang="zh-CN" sz="300" u="none" strike="noStrike">
                          <a:effectLst/>
                        </a:rPr>
                        <a:t>3</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3521640591"/>
                  </a:ext>
                </a:extLst>
              </a:tr>
              <a:tr h="470266">
                <a:tc>
                  <a:txBody>
                    <a:bodyPr/>
                    <a:lstStyle/>
                    <a:p>
                      <a:pPr algn="ctr" fontAlgn="ctr"/>
                      <a:r>
                        <a:rPr lang="en-US" altLang="zh-CN" sz="300" u="none" strike="noStrike">
                          <a:effectLst/>
                        </a:rPr>
                        <a:t>4</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230407586"/>
                  </a:ext>
                </a:extLst>
              </a:tr>
              <a:tr h="470266">
                <a:tc>
                  <a:txBody>
                    <a:bodyPr/>
                    <a:lstStyle/>
                    <a:p>
                      <a:pPr algn="ctr" fontAlgn="ctr"/>
                      <a:r>
                        <a:rPr lang="en-US" altLang="zh-CN" sz="300" u="none" strike="noStrike">
                          <a:effectLst/>
                        </a:rPr>
                        <a:t>5</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1256529389"/>
                  </a:ext>
                </a:extLst>
              </a:tr>
              <a:tr h="470266">
                <a:tc>
                  <a:txBody>
                    <a:bodyPr/>
                    <a:lstStyle/>
                    <a:p>
                      <a:pPr algn="ctr" fontAlgn="ctr"/>
                      <a:r>
                        <a:rPr lang="en-US" altLang="zh-CN" sz="300" u="none" strike="noStrike">
                          <a:effectLst/>
                        </a:rPr>
                        <a:t>6</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3341031088"/>
                  </a:ext>
                </a:extLst>
              </a:tr>
              <a:tr h="470266">
                <a:tc>
                  <a:txBody>
                    <a:bodyPr/>
                    <a:lstStyle/>
                    <a:p>
                      <a:pPr algn="ctr" fontAlgn="ctr"/>
                      <a:r>
                        <a:rPr lang="zh-CN" altLang="en-US" sz="300" u="none" strike="noStrike">
                          <a:effectLst/>
                        </a:rPr>
                        <a:t>合计</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l"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tc>
                  <a:txBody>
                    <a:bodyPr/>
                    <a:lstStyle/>
                    <a:p>
                      <a:pPr algn="ctr" fontAlgn="ct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751" marR="2751" marT="2751" marB="0" anchor="ctr"/>
                </a:tc>
                <a:extLst>
                  <a:ext uri="{0D108BD9-81ED-4DB2-BD59-A6C34878D82A}">
                    <a16:rowId xmlns:a16="http://schemas.microsoft.com/office/drawing/2014/main" val="3573549098"/>
                  </a:ext>
                </a:extLst>
              </a:tr>
              <a:tr h="1346676">
                <a:tc gridSpan="27">
                  <a:txBody>
                    <a:bodyPr/>
                    <a:lstStyle/>
                    <a:p>
                      <a:pPr algn="l" fontAlgn="ctr"/>
                      <a:r>
                        <a:rPr lang="zh-CN" altLang="en-US" sz="300" u="none" strike="noStrike" dirty="0">
                          <a:effectLst/>
                        </a:rPr>
                        <a:t>填写与使用核心规范：</a:t>
                      </a:r>
                      <a:r>
                        <a:rPr lang="en-US" altLang="zh-CN" sz="300" u="none" strike="noStrike" dirty="0">
                          <a:effectLst/>
                        </a:rPr>
                        <a:t>1</a:t>
                      </a:r>
                      <a:r>
                        <a:rPr lang="zh-CN" altLang="en-US" sz="300" u="none" strike="noStrike" dirty="0">
                          <a:effectLst/>
                        </a:rPr>
                        <a:t>、单据闭环要求：进项发票对应采购订单 </a:t>
                      </a:r>
                      <a:r>
                        <a:rPr lang="en-US" altLang="zh-CN" sz="300" u="none" strike="noStrike" dirty="0">
                          <a:effectLst/>
                        </a:rPr>
                        <a:t>PO </a:t>
                      </a:r>
                      <a:r>
                        <a:rPr lang="zh-CN" altLang="en-US" sz="300" u="none" strike="noStrike" dirty="0">
                          <a:effectLst/>
                        </a:rPr>
                        <a:t>号、入库 </a:t>
                      </a:r>
                      <a:r>
                        <a:rPr lang="en-US" altLang="zh-CN" sz="300" u="none" strike="noStrike" dirty="0">
                          <a:effectLst/>
                        </a:rPr>
                        <a:t>/ </a:t>
                      </a:r>
                      <a:r>
                        <a:rPr lang="zh-CN" altLang="en-US" sz="300" u="none" strike="noStrike" dirty="0">
                          <a:effectLst/>
                        </a:rPr>
                        <a:t>验收单号，确保合同、发票、资金、货物流四流一致，符合税务合规要求。</a:t>
                      </a:r>
                      <a:r>
                        <a:rPr lang="en-US" altLang="zh-CN" sz="300" u="none" strike="noStrike" dirty="0">
                          <a:effectLst/>
                        </a:rPr>
                        <a:t>2.</a:t>
                      </a:r>
                      <a:r>
                        <a:rPr lang="zh-CN" altLang="en-US" sz="300" u="none" strike="noStrike" dirty="0">
                          <a:effectLst/>
                        </a:rPr>
                        <a:t>发票状态更新规则：进项发票：收票后未认证标注「待认证」，认证完成标注「已认证」，申报抵扣完成标注「已抵扣」，发生进项税额转出标注「进项转出」，并填写转出原因、对应凭证号。</a:t>
                      </a:r>
                      <a:r>
                        <a:rPr lang="en-US" altLang="zh-CN" sz="300" u="none" strike="noStrike" dirty="0">
                          <a:effectLst/>
                        </a:rPr>
                        <a:t>3.</a:t>
                      </a:r>
                      <a:r>
                        <a:rPr lang="zh-CN" altLang="en-US" sz="300" u="none" strike="noStrike" dirty="0">
                          <a:effectLst/>
                        </a:rPr>
                        <a:t>数据核对要求：每月结账后，进项发票已抵扣金额、税额合计必须与增值税纳税申报表附列资料（二）完全一致，确保账表相符。</a:t>
                      </a:r>
                      <a:r>
                        <a:rPr lang="en-US" altLang="zh-CN" sz="300" u="none" strike="noStrike" dirty="0">
                          <a:effectLst/>
                        </a:rPr>
                        <a:t>4.</a:t>
                      </a:r>
                      <a:r>
                        <a:rPr lang="zh-CN" altLang="en-US" sz="300" u="none" strike="noStrike" dirty="0">
                          <a:effectLst/>
                        </a:rPr>
                        <a:t>进项发票专项规范</a:t>
                      </a:r>
                      <a:r>
                        <a:rPr lang="en-US" altLang="zh-CN" sz="300" u="none" strike="noStrike" dirty="0">
                          <a:effectLst/>
                        </a:rPr>
                        <a:t>-</a:t>
                      </a:r>
                      <a:r>
                        <a:rPr lang="zh-CN" altLang="en-US" sz="300" u="none" strike="noStrike" dirty="0">
                          <a:effectLst/>
                        </a:rPr>
                        <a:t>认证抵扣管控：增值税专用发票需在收票后及时完成认证抵扣，避免逾期无法抵扣造成企业税金损失；认证完成后需填写认证日期、抵扣所属期，确保与税务申报数据完全匹配。</a:t>
                      </a:r>
                      <a:r>
                        <a:rPr lang="en-US" altLang="zh-CN" sz="300" u="none" strike="noStrike" dirty="0">
                          <a:effectLst/>
                        </a:rPr>
                        <a:t>5.</a:t>
                      </a:r>
                      <a:r>
                        <a:rPr lang="zh-CN" altLang="en-US" sz="300" u="none" strike="noStrike" dirty="0">
                          <a:effectLst/>
                        </a:rPr>
                        <a:t>入账付款管控：发票收票审核无误后需及时入账，填写入账日期、入账凭证号；付款完成后更新付款状态，填写付款日期、对应付款凭证号，实现「收票 </a:t>
                      </a:r>
                      <a:r>
                        <a:rPr lang="en-US" altLang="zh-CN" sz="300" u="none" strike="noStrike" dirty="0">
                          <a:effectLst/>
                        </a:rPr>
                        <a:t>- </a:t>
                      </a:r>
                      <a:r>
                        <a:rPr lang="zh-CN" altLang="en-US" sz="300" u="none" strike="noStrike" dirty="0">
                          <a:effectLst/>
                        </a:rPr>
                        <a:t>入账 </a:t>
                      </a:r>
                      <a:r>
                        <a:rPr lang="en-US" altLang="zh-CN" sz="300" u="none" strike="noStrike" dirty="0">
                          <a:effectLst/>
                        </a:rPr>
                        <a:t>- </a:t>
                      </a:r>
                      <a:r>
                        <a:rPr lang="zh-CN" altLang="en-US" sz="300" u="none" strike="noStrike" dirty="0">
                          <a:effectLst/>
                        </a:rPr>
                        <a:t>付款」全流程闭环管理，避免应付账款管理混乱。</a:t>
                      </a:r>
                      <a:r>
                        <a:rPr lang="en-US" altLang="zh-CN" sz="300" u="none" strike="noStrike" dirty="0">
                          <a:effectLst/>
                        </a:rPr>
                        <a:t>6.</a:t>
                      </a:r>
                      <a:r>
                        <a:rPr lang="zh-CN" altLang="en-US" sz="300" u="none" strike="noStrike" dirty="0">
                          <a:effectLst/>
                        </a:rPr>
                        <a:t>异常发票处理：收到异常凭证、虚开发票、红冲发票，需立即在台账标注，同步暂停抵扣、做进项税额转出，并及时与供应商沟通处理，避免税务稽查风险。</a:t>
                      </a:r>
                      <a:r>
                        <a:rPr lang="en-US" altLang="zh-CN" sz="300" u="none" strike="noStrike" dirty="0">
                          <a:effectLst/>
                        </a:rPr>
                        <a:t>7.</a:t>
                      </a:r>
                      <a:r>
                        <a:rPr lang="zh-CN" altLang="en-US" sz="300" u="none" strike="noStrike" dirty="0">
                          <a:effectLst/>
                        </a:rPr>
                        <a:t>复制到 </a:t>
                      </a:r>
                      <a:r>
                        <a:rPr lang="en-US" altLang="zh-CN" sz="300" u="none" strike="noStrike" dirty="0">
                          <a:effectLst/>
                        </a:rPr>
                        <a:t>Excel </a:t>
                      </a:r>
                      <a:r>
                        <a:rPr lang="zh-CN" altLang="en-US" sz="300" u="none" strike="noStrike" dirty="0">
                          <a:effectLst/>
                        </a:rPr>
                        <a:t>后，可对「金额、税额」列设置数值格式（保留 </a:t>
                      </a:r>
                      <a:r>
                        <a:rPr lang="en-US" altLang="zh-CN" sz="300" u="none" strike="noStrike" dirty="0">
                          <a:effectLst/>
                        </a:rPr>
                        <a:t>2 </a:t>
                      </a:r>
                      <a:r>
                        <a:rPr lang="zh-CN" altLang="en-US" sz="300" u="none" strike="noStrike" dirty="0">
                          <a:effectLst/>
                        </a:rPr>
                        <a:t>位小数），对「日期」列设置日期格式，对表头行设置冻结窗格，方便滚动查看。可按开票月份拆分 </a:t>
                      </a:r>
                      <a:r>
                        <a:rPr lang="en-US" altLang="zh-CN" sz="300" u="none" strike="noStrike" dirty="0">
                          <a:effectLst/>
                        </a:rPr>
                        <a:t>sheet </a:t>
                      </a:r>
                      <a:r>
                        <a:rPr lang="zh-CN" altLang="en-US" sz="300" u="none" strike="noStrike" dirty="0">
                          <a:effectLst/>
                        </a:rPr>
                        <a:t>页，或按「客户 </a:t>
                      </a:r>
                      <a:r>
                        <a:rPr lang="en-US" altLang="zh-CN" sz="300" u="none" strike="noStrike" dirty="0">
                          <a:effectLst/>
                        </a:rPr>
                        <a:t>/ </a:t>
                      </a:r>
                      <a:r>
                        <a:rPr lang="zh-CN" altLang="en-US" sz="300" u="none" strike="noStrike" dirty="0">
                          <a:effectLst/>
                        </a:rPr>
                        <a:t>供应商」分类筛选，提升发票查询、统计效率。可新增「预警列」，对超过 </a:t>
                      </a:r>
                      <a:r>
                        <a:rPr lang="en-US" altLang="zh-CN" sz="300" u="none" strike="noStrike" dirty="0">
                          <a:effectLst/>
                        </a:rPr>
                        <a:t>30 </a:t>
                      </a:r>
                      <a:r>
                        <a:rPr lang="zh-CN" altLang="en-US" sz="300" u="none" strike="noStrike" dirty="0">
                          <a:effectLst/>
                        </a:rPr>
                        <a:t>天未回款的销项发票、超过 </a:t>
                      </a:r>
                      <a:r>
                        <a:rPr lang="en-US" altLang="zh-CN" sz="300" u="none" strike="noStrike" dirty="0">
                          <a:effectLst/>
                        </a:rPr>
                        <a:t>15 </a:t>
                      </a:r>
                      <a:r>
                        <a:rPr lang="zh-CN" altLang="en-US" sz="300" u="none" strike="noStrike" dirty="0">
                          <a:effectLst/>
                        </a:rPr>
                        <a:t>天未认证的进项发票自动标红预警，强化风险管控。</a:t>
                      </a:r>
                      <a:endParaRPr lang="zh-CN" altLang="en-US" sz="300" b="0" i="0" u="none" strike="noStrike" dirty="0">
                        <a:solidFill>
                          <a:srgbClr val="000000"/>
                        </a:solidFill>
                        <a:effectLst/>
                        <a:latin typeface="等线" panose="02010600030101010101" pitchFamily="2" charset="-122"/>
                        <a:ea typeface="等线" panose="02010600030101010101" pitchFamily="2" charset="-122"/>
                      </a:endParaRPr>
                    </a:p>
                  </a:txBody>
                  <a:tcPr marL="2751" marR="2751" marT="27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9701810"/>
                  </a:ext>
                </a:extLst>
              </a:tr>
            </a:tbl>
          </a:graphicData>
        </a:graphic>
      </p:graphicFrame>
    </p:spTree>
    <p:extLst>
      <p:ext uri="{BB962C8B-B14F-4D97-AF65-F5344CB8AC3E}">
        <p14:creationId xmlns:p14="http://schemas.microsoft.com/office/powerpoint/2010/main" val="733375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B6F3AFF-799A-4EB3-BED6-4DF3B8AD288D}"/>
              </a:ext>
            </a:extLst>
          </p:cNvPr>
          <p:cNvSpPr txBox="1"/>
          <p:nvPr/>
        </p:nvSpPr>
        <p:spPr>
          <a:xfrm>
            <a:off x="3702" y="85458"/>
            <a:ext cx="2347882" cy="461665"/>
          </a:xfrm>
          <a:prstGeom prst="rect">
            <a:avLst/>
          </a:prstGeom>
          <a:solidFill>
            <a:srgbClr val="FFFF00"/>
          </a:solidFill>
        </p:spPr>
        <p:txBody>
          <a:bodyPr wrap="square" rtlCol="0">
            <a:spAutoFit/>
          </a:bodyPr>
          <a:lstStyle/>
          <a:p>
            <a:r>
              <a:rPr lang="zh-CN" altLang="en-US" sz="2400" b="1" dirty="0">
                <a:solidFill>
                  <a:srgbClr val="FF0000"/>
                </a:solidFill>
              </a:rPr>
              <a:t>付款申请单</a:t>
            </a:r>
            <a:r>
              <a:rPr lang="en-US" altLang="zh-CN" sz="2400" b="1" dirty="0">
                <a:solidFill>
                  <a:srgbClr val="FF0000"/>
                </a:solidFill>
              </a:rPr>
              <a:t>1-7</a:t>
            </a:r>
            <a:endParaRPr lang="zh-CN" altLang="en-US" sz="2400" b="1" dirty="0">
              <a:solidFill>
                <a:srgbClr val="FF0000"/>
              </a:solidFill>
            </a:endParaRPr>
          </a:p>
        </p:txBody>
      </p:sp>
      <p:graphicFrame>
        <p:nvGraphicFramePr>
          <p:cNvPr id="2" name="表格 1">
            <a:extLst>
              <a:ext uri="{FF2B5EF4-FFF2-40B4-BE49-F238E27FC236}">
                <a16:creationId xmlns:a16="http://schemas.microsoft.com/office/drawing/2014/main" id="{AC457929-05AD-4420-A1FE-C1A1BFCEB45C}"/>
              </a:ext>
            </a:extLst>
          </p:cNvPr>
          <p:cNvGraphicFramePr>
            <a:graphicFrameLocks noGrp="1"/>
          </p:cNvGraphicFramePr>
          <p:nvPr>
            <p:extLst>
              <p:ext uri="{D42A27DB-BD31-4B8C-83A1-F6EECF244321}">
                <p14:modId xmlns:p14="http://schemas.microsoft.com/office/powerpoint/2010/main" val="4175647914"/>
              </p:ext>
            </p:extLst>
          </p:nvPr>
        </p:nvGraphicFramePr>
        <p:xfrm>
          <a:off x="2351584" y="85458"/>
          <a:ext cx="9361038" cy="6583899"/>
        </p:xfrm>
        <a:graphic>
          <a:graphicData uri="http://schemas.openxmlformats.org/drawingml/2006/table">
            <a:tbl>
              <a:tblPr>
                <a:tableStyleId>{5C22544A-7EE6-4342-B048-85BDC9FD1C3A}</a:tableStyleId>
              </a:tblPr>
              <a:tblGrid>
                <a:gridCol w="2231850">
                  <a:extLst>
                    <a:ext uri="{9D8B030D-6E8A-4147-A177-3AD203B41FA5}">
                      <a16:colId xmlns:a16="http://schemas.microsoft.com/office/drawing/2014/main" val="2030517144"/>
                    </a:ext>
                  </a:extLst>
                </a:gridCol>
                <a:gridCol w="3548681">
                  <a:extLst>
                    <a:ext uri="{9D8B030D-6E8A-4147-A177-3AD203B41FA5}">
                      <a16:colId xmlns:a16="http://schemas.microsoft.com/office/drawing/2014/main" val="3712550776"/>
                    </a:ext>
                  </a:extLst>
                </a:gridCol>
                <a:gridCol w="1495856">
                  <a:extLst>
                    <a:ext uri="{9D8B030D-6E8A-4147-A177-3AD203B41FA5}">
                      <a16:colId xmlns:a16="http://schemas.microsoft.com/office/drawing/2014/main" val="768699756"/>
                    </a:ext>
                  </a:extLst>
                </a:gridCol>
                <a:gridCol w="986629">
                  <a:extLst>
                    <a:ext uri="{9D8B030D-6E8A-4147-A177-3AD203B41FA5}">
                      <a16:colId xmlns:a16="http://schemas.microsoft.com/office/drawing/2014/main" val="2803103686"/>
                    </a:ext>
                  </a:extLst>
                </a:gridCol>
                <a:gridCol w="1098022">
                  <a:extLst>
                    <a:ext uri="{9D8B030D-6E8A-4147-A177-3AD203B41FA5}">
                      <a16:colId xmlns:a16="http://schemas.microsoft.com/office/drawing/2014/main" val="3132858021"/>
                    </a:ext>
                  </a:extLst>
                </a:gridCol>
              </a:tblGrid>
              <a:tr h="313519">
                <a:tc gridSpan="5">
                  <a:txBody>
                    <a:bodyPr/>
                    <a:lstStyle/>
                    <a:p>
                      <a:pPr algn="ctr" fontAlgn="ctr"/>
                      <a:r>
                        <a:rPr lang="zh-CN" altLang="en-US" sz="1000" u="none" strike="noStrike">
                          <a:effectLst/>
                        </a:rPr>
                        <a:t>付款申请单</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2283831"/>
                  </a:ext>
                </a:extLst>
              </a:tr>
              <a:tr h="313519">
                <a:tc gridSpan="2">
                  <a:txBody>
                    <a:bodyPr/>
                    <a:lstStyle/>
                    <a:p>
                      <a:pPr algn="l" fontAlgn="ctr"/>
                      <a:r>
                        <a:rPr lang="zh-CN" altLang="en-US" sz="900" u="none" strike="noStrike">
                          <a:effectLst/>
                        </a:rPr>
                        <a:t>申请单号：</a:t>
                      </a:r>
                      <a:r>
                        <a:rPr lang="en-US" altLang="zh-CN" sz="900" u="none" strike="noStrike">
                          <a:effectLst/>
                        </a:rPr>
                        <a:t>_____________________________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gridSpan="3">
                  <a:txBody>
                    <a:bodyPr/>
                    <a:lstStyle/>
                    <a:p>
                      <a:pPr algn="l" fontAlgn="ctr"/>
                      <a:r>
                        <a:rPr lang="zh-CN" altLang="en-US" sz="900" u="none" strike="noStrike">
                          <a:effectLst/>
                        </a:rPr>
                        <a:t> 申请日期：</a:t>
                      </a:r>
                      <a:r>
                        <a:rPr lang="en-US" altLang="zh-CN" sz="900" u="none" strike="noStrike">
                          <a:effectLst/>
                        </a:rPr>
                        <a:t>______</a:t>
                      </a:r>
                      <a:r>
                        <a:rPr lang="zh-CN" altLang="en-US" sz="900" u="none" strike="noStrike">
                          <a:effectLst/>
                        </a:rPr>
                        <a:t>年</a:t>
                      </a:r>
                      <a:r>
                        <a:rPr lang="en-US" altLang="zh-CN" sz="900" u="none" strike="noStrike">
                          <a:effectLst/>
                        </a:rPr>
                        <a:t>_____</a:t>
                      </a:r>
                      <a:r>
                        <a:rPr lang="zh-CN" altLang="en-US" sz="900" u="none" strike="noStrike">
                          <a:effectLst/>
                        </a:rPr>
                        <a:t>月</a:t>
                      </a:r>
                      <a:r>
                        <a:rPr lang="en-US" altLang="zh-CN" sz="900" u="none" strike="noStrike">
                          <a:effectLst/>
                        </a:rPr>
                        <a:t>_____</a:t>
                      </a:r>
                      <a:r>
                        <a:rPr lang="zh-CN" altLang="en-US" sz="900" u="none" strike="noStrike">
                          <a:effectLst/>
                        </a:rPr>
                        <a:t>日</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52696158"/>
                  </a:ext>
                </a:extLst>
              </a:tr>
              <a:tr h="313519">
                <a:tc gridSpan="2">
                  <a:txBody>
                    <a:bodyPr/>
                    <a:lstStyle/>
                    <a:p>
                      <a:pPr algn="l" fontAlgn="ctr"/>
                      <a:r>
                        <a:rPr lang="zh-CN" altLang="en-US" sz="900" u="none" strike="noStrike">
                          <a:effectLst/>
                        </a:rPr>
                        <a:t>申请部门：</a:t>
                      </a:r>
                      <a:r>
                        <a:rPr lang="en-US" altLang="zh-CN" sz="900" u="none" strike="noStrike">
                          <a:effectLst/>
                        </a:rPr>
                        <a:t>_____________________________ </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gridSpan="3">
                  <a:txBody>
                    <a:bodyPr/>
                    <a:lstStyle/>
                    <a:p>
                      <a:pPr algn="l" fontAlgn="ctr"/>
                      <a:r>
                        <a:rPr lang="zh-CN" altLang="en-US" sz="900" u="none" strike="noStrike">
                          <a:effectLst/>
                        </a:rPr>
                        <a:t>申请人：</a:t>
                      </a:r>
                      <a:r>
                        <a:rPr lang="en-US" altLang="zh-CN" sz="900" u="none" strike="noStrike">
                          <a:effectLst/>
                        </a:rPr>
                        <a:t>________________________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40097435"/>
                  </a:ext>
                </a:extLst>
              </a:tr>
              <a:tr h="313519">
                <a:tc>
                  <a:txBody>
                    <a:bodyPr/>
                    <a:lstStyle/>
                    <a:p>
                      <a:pPr algn="ctr" fontAlgn="ctr"/>
                      <a:r>
                        <a:rPr lang="zh-CN" altLang="en-US" sz="900" u="none" strike="noStrike">
                          <a:effectLst/>
                        </a:rPr>
                        <a:t>项目</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ctr" fontAlgn="ctr"/>
                      <a:r>
                        <a:rPr lang="zh-CN" altLang="en-US" sz="900" u="none" strike="noStrike">
                          <a:effectLst/>
                        </a:rPr>
                        <a:t>填写内容</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ctr" fontAlgn="ctr"/>
                      <a:r>
                        <a:rPr lang="zh-CN" altLang="en-US" sz="900" u="none" strike="noStrike">
                          <a:effectLst/>
                        </a:rPr>
                        <a:t>审批签字</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ctr" fontAlgn="ctr"/>
                      <a:r>
                        <a:rPr lang="zh-CN" altLang="en-US" sz="900" u="none" strike="noStrike">
                          <a:effectLst/>
                        </a:rPr>
                        <a:t>签字</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ctr" fontAlgn="ctr"/>
                      <a:r>
                        <a:rPr lang="zh-CN" altLang="en-US" sz="900" u="none" strike="noStrike">
                          <a:effectLst/>
                        </a:rPr>
                        <a:t>日期</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extLst>
                  <a:ext uri="{0D108BD9-81ED-4DB2-BD59-A6C34878D82A}">
                    <a16:rowId xmlns:a16="http://schemas.microsoft.com/office/drawing/2014/main" val="2988435103"/>
                  </a:ext>
                </a:extLst>
              </a:tr>
              <a:tr h="313519">
                <a:tc>
                  <a:txBody>
                    <a:bodyPr/>
                    <a:lstStyle/>
                    <a:p>
                      <a:pPr algn="l" fontAlgn="ctr"/>
                      <a:r>
                        <a:rPr lang="zh-CN" altLang="en-US" sz="900" u="none" strike="noStrike">
                          <a:effectLst/>
                        </a:rPr>
                        <a:t>收款单位全称</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申请人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extLst>
                  <a:ext uri="{0D108BD9-81ED-4DB2-BD59-A6C34878D82A}">
                    <a16:rowId xmlns:a16="http://schemas.microsoft.com/office/drawing/2014/main" val="697126713"/>
                  </a:ext>
                </a:extLst>
              </a:tr>
              <a:tr h="313519">
                <a:tc>
                  <a:txBody>
                    <a:bodyPr/>
                    <a:lstStyle/>
                    <a:p>
                      <a:pPr algn="l" fontAlgn="ctr"/>
                      <a:r>
                        <a:rPr lang="zh-CN" altLang="en-US" sz="900" u="none" strike="noStrike" dirty="0">
                          <a:effectLst/>
                        </a:rPr>
                        <a:t>开户银行</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616748513"/>
                  </a:ext>
                </a:extLst>
              </a:tr>
              <a:tr h="313519">
                <a:tc>
                  <a:txBody>
                    <a:bodyPr/>
                    <a:lstStyle/>
                    <a:p>
                      <a:pPr algn="l" fontAlgn="ctr"/>
                      <a:r>
                        <a:rPr lang="zh-CN" altLang="en-US" sz="900" u="none" strike="noStrike">
                          <a:effectLst/>
                        </a:rPr>
                        <a:t>银行账号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部门负责人审核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extLst>
                  <a:ext uri="{0D108BD9-81ED-4DB2-BD59-A6C34878D82A}">
                    <a16:rowId xmlns:a16="http://schemas.microsoft.com/office/drawing/2014/main" val="2828958769"/>
                  </a:ext>
                </a:extLst>
              </a:tr>
              <a:tr h="313519">
                <a:tc>
                  <a:txBody>
                    <a:bodyPr/>
                    <a:lstStyle/>
                    <a:p>
                      <a:pPr algn="l" fontAlgn="ctr"/>
                      <a:r>
                        <a:rPr lang="zh-CN" altLang="en-US" sz="900" u="none" strike="noStrike">
                          <a:effectLst/>
                        </a:rPr>
                        <a:t>纳税人识别号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327583568"/>
                  </a:ext>
                </a:extLst>
              </a:tr>
              <a:tr h="313519">
                <a:tc>
                  <a:txBody>
                    <a:bodyPr/>
                    <a:lstStyle/>
                    <a:p>
                      <a:pPr algn="l" fontAlgn="ctr"/>
                      <a:r>
                        <a:rPr lang="zh-CN" altLang="en-US" sz="900" u="none" strike="noStrike">
                          <a:effectLst/>
                        </a:rPr>
                        <a:t>对应采购订单</a:t>
                      </a:r>
                      <a:r>
                        <a:rPr lang="en-US" altLang="zh-CN" sz="900" u="none" strike="noStrike">
                          <a:effectLst/>
                        </a:rPr>
                        <a:t>PO</a:t>
                      </a:r>
                      <a:r>
                        <a:rPr lang="zh-CN" altLang="en-US" sz="900" u="none" strike="noStrike">
                          <a:effectLst/>
                        </a:rPr>
                        <a:t>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业务</a:t>
                      </a:r>
                      <a:r>
                        <a:rPr lang="en-US" altLang="zh-CN" sz="900" u="none" strike="noStrike">
                          <a:effectLst/>
                        </a:rPr>
                        <a:t>/</a:t>
                      </a:r>
                      <a:r>
                        <a:rPr lang="zh-CN" altLang="en-US" sz="900" u="none" strike="noStrike">
                          <a:effectLst/>
                        </a:rPr>
                        <a:t>采购复核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extLst>
                  <a:ext uri="{0D108BD9-81ED-4DB2-BD59-A6C34878D82A}">
                    <a16:rowId xmlns:a16="http://schemas.microsoft.com/office/drawing/2014/main" val="4025588308"/>
                  </a:ext>
                </a:extLst>
              </a:tr>
              <a:tr h="313519">
                <a:tc>
                  <a:txBody>
                    <a:bodyPr/>
                    <a:lstStyle/>
                    <a:p>
                      <a:pPr algn="l" fontAlgn="ctr"/>
                      <a:r>
                        <a:rPr lang="zh-CN" altLang="en-US" sz="900" u="none" strike="noStrike">
                          <a:effectLst/>
                        </a:rPr>
                        <a:t>对应入库</a:t>
                      </a:r>
                      <a:r>
                        <a:rPr lang="en-US" altLang="zh-CN" sz="900" u="none" strike="noStrike">
                          <a:effectLst/>
                        </a:rPr>
                        <a:t>/</a:t>
                      </a:r>
                      <a:r>
                        <a:rPr lang="zh-CN" altLang="en-US" sz="900" u="none" strike="noStrike">
                          <a:effectLst/>
                        </a:rPr>
                        <a:t>验收单号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495035011"/>
                  </a:ext>
                </a:extLst>
              </a:tr>
              <a:tr h="313519">
                <a:tc>
                  <a:txBody>
                    <a:bodyPr/>
                    <a:lstStyle/>
                    <a:p>
                      <a:pPr algn="l" fontAlgn="ctr"/>
                      <a:r>
                        <a:rPr lang="zh-CN" altLang="en-US" sz="900" u="none" strike="noStrike">
                          <a:effectLst/>
                        </a:rPr>
                        <a:t>合同编号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财务审核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extLst>
                  <a:ext uri="{0D108BD9-81ED-4DB2-BD59-A6C34878D82A}">
                    <a16:rowId xmlns:a16="http://schemas.microsoft.com/office/drawing/2014/main" val="1435086705"/>
                  </a:ext>
                </a:extLst>
              </a:tr>
              <a:tr h="313519">
                <a:tc>
                  <a:txBody>
                    <a:bodyPr/>
                    <a:lstStyle/>
                    <a:p>
                      <a:pPr algn="l" fontAlgn="ctr"/>
                      <a:r>
                        <a:rPr lang="zh-CN" altLang="en-US" sz="900" u="none" strike="noStrike">
                          <a:effectLst/>
                        </a:rPr>
                        <a:t>款项类型</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□原材料 □固定资产 □服务费 □费用类 □预付款 □尾款 其他：</a:t>
                      </a:r>
                      <a:r>
                        <a:rPr lang="en-US" altLang="zh-CN" sz="900" u="none" strike="noStrike">
                          <a:effectLst/>
                        </a:rPr>
                        <a:t>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708701746"/>
                  </a:ext>
                </a:extLst>
              </a:tr>
              <a:tr h="313519">
                <a:tc>
                  <a:txBody>
                    <a:bodyPr/>
                    <a:lstStyle/>
                    <a:p>
                      <a:pPr algn="l" fontAlgn="ctr"/>
                      <a:r>
                        <a:rPr lang="zh-CN" altLang="en-US" sz="900" u="none" strike="noStrike">
                          <a:effectLst/>
                        </a:rPr>
                        <a:t>付款方式</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□对公转账 □银行承兑 □其他：</a:t>
                      </a:r>
                      <a:r>
                        <a:rPr lang="en-US" altLang="zh-CN" sz="900" u="none" strike="noStrike">
                          <a:effectLst/>
                        </a:rPr>
                        <a:t>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gridSpan="3">
                  <a:txBody>
                    <a:bodyPr/>
                    <a:lstStyle/>
                    <a:p>
                      <a:pPr algn="ctr" fontAlgn="ctr"/>
                      <a:r>
                        <a:rPr lang="zh-CN" altLang="en-US" sz="900" u="none" strike="noStrike">
                          <a:effectLst/>
                        </a:rPr>
                        <a:t>财务付款填写</a:t>
                      </a:r>
                      <a:endParaRPr lang="zh-CN" altLang="en-US" sz="900" b="1"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06046741"/>
                  </a:ext>
                </a:extLst>
              </a:tr>
              <a:tr h="313519">
                <a:tc>
                  <a:txBody>
                    <a:bodyPr/>
                    <a:lstStyle/>
                    <a:p>
                      <a:pPr algn="l" fontAlgn="ctr"/>
                      <a:r>
                        <a:rPr lang="zh-CN" altLang="en-US" sz="900" u="none" strike="noStrike">
                          <a:effectLst/>
                        </a:rPr>
                        <a:t>归属项目</a:t>
                      </a:r>
                      <a:r>
                        <a:rPr lang="en-US" altLang="zh-CN" sz="900" u="none" strike="noStrike">
                          <a:effectLst/>
                        </a:rPr>
                        <a:t>/</a:t>
                      </a:r>
                      <a:r>
                        <a:rPr lang="zh-CN" altLang="en-US" sz="900" u="none" strike="noStrike">
                          <a:effectLst/>
                        </a:rPr>
                        <a:t>成本中心</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 实际付款日期：</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grid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hMerge="1">
                  <a:txBody>
                    <a:bodyPr/>
                    <a:lstStyle/>
                    <a:p>
                      <a:endParaRPr lang="zh-CN" altLang="en-US"/>
                    </a:p>
                  </a:txBody>
                  <a:tcPr/>
                </a:tc>
                <a:extLst>
                  <a:ext uri="{0D108BD9-81ED-4DB2-BD59-A6C34878D82A}">
                    <a16:rowId xmlns:a16="http://schemas.microsoft.com/office/drawing/2014/main" val="3748136923"/>
                  </a:ext>
                </a:extLst>
              </a:tr>
              <a:tr h="313519">
                <a:tc>
                  <a:txBody>
                    <a:bodyPr/>
                    <a:lstStyle/>
                    <a:p>
                      <a:pPr algn="l" fontAlgn="ctr"/>
                      <a:r>
                        <a:rPr lang="zh-CN" altLang="en-US" sz="900" u="none" strike="noStrike">
                          <a:effectLst/>
                        </a:rPr>
                        <a:t>应付总金额</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a:t>
                      </a:r>
                      <a:r>
                        <a:rPr lang="en-US" altLang="zh-CN" sz="900" u="none" strike="noStrike">
                          <a:effectLst/>
                        </a:rPr>
                        <a:t>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393378309"/>
                  </a:ext>
                </a:extLst>
              </a:tr>
              <a:tr h="313519">
                <a:tc>
                  <a:txBody>
                    <a:bodyPr/>
                    <a:lstStyle/>
                    <a:p>
                      <a:pPr algn="l" fontAlgn="ctr"/>
                      <a:r>
                        <a:rPr lang="zh-CN" altLang="en-US" sz="900" u="none" strike="noStrike">
                          <a:effectLst/>
                        </a:rPr>
                        <a:t>前期已付金额</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a:t>
                      </a:r>
                      <a:r>
                        <a:rPr lang="en-US" altLang="zh-CN" sz="900" u="none" strike="noStrike">
                          <a:effectLst/>
                        </a:rPr>
                        <a:t>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银行流水号</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grid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hMerge="1">
                  <a:txBody>
                    <a:bodyPr/>
                    <a:lstStyle/>
                    <a:p>
                      <a:endParaRPr lang="zh-CN" altLang="en-US"/>
                    </a:p>
                  </a:txBody>
                  <a:tcPr/>
                </a:tc>
                <a:extLst>
                  <a:ext uri="{0D108BD9-81ED-4DB2-BD59-A6C34878D82A}">
                    <a16:rowId xmlns:a16="http://schemas.microsoft.com/office/drawing/2014/main" val="3886994007"/>
                  </a:ext>
                </a:extLst>
              </a:tr>
              <a:tr h="313519">
                <a:tc>
                  <a:txBody>
                    <a:bodyPr/>
                    <a:lstStyle/>
                    <a:p>
                      <a:pPr algn="l" fontAlgn="ctr"/>
                      <a:r>
                        <a:rPr lang="zh-CN" altLang="en-US" sz="900" u="none" strike="noStrike">
                          <a:effectLst/>
                        </a:rPr>
                        <a:t>本次申请付款小写金额</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a:t>
                      </a:r>
                      <a:r>
                        <a:rPr lang="en-US" altLang="zh-CN" sz="900" u="none" strike="noStrike">
                          <a:effectLst/>
                        </a:rPr>
                        <a:t>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87132860"/>
                  </a:ext>
                </a:extLst>
              </a:tr>
              <a:tr h="313519">
                <a:tc>
                  <a:txBody>
                    <a:bodyPr/>
                    <a:lstStyle/>
                    <a:p>
                      <a:pPr algn="l" fontAlgn="ctr"/>
                      <a:r>
                        <a:rPr lang="zh-CN" altLang="en-US" sz="900" u="none" strike="noStrike">
                          <a:effectLst/>
                        </a:rPr>
                        <a:t>本次申请付款大写金额</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人民币</a:t>
                      </a:r>
                      <a:r>
                        <a:rPr lang="en-US" altLang="zh-CN" sz="900" u="none" strike="noStrike">
                          <a:effectLst/>
                        </a:rPr>
                        <a:t>________________________</a:t>
                      </a:r>
                      <a:endParaRPr lang="en-US" altLang="zh-CN"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a:txBody>
                    <a:bodyPr/>
                    <a:lstStyle/>
                    <a:p>
                      <a:pPr algn="ctr" fontAlgn="ctr"/>
                      <a:r>
                        <a:rPr lang="zh-CN" altLang="en-US" sz="900" u="none" strike="noStrike">
                          <a:effectLst/>
                        </a:rPr>
                        <a:t>出纳签字</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gridSpan="2">
                  <a:txBody>
                    <a:bodyPr/>
                    <a:lstStyle/>
                    <a:p>
                      <a:pPr algn="ctr" fontAlgn="ctr"/>
                      <a:r>
                        <a:rPr lang="zh-CN" altLang="en-US" sz="900" u="none" strike="noStrike">
                          <a:effectLst/>
                        </a:rPr>
                        <a:t>　</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rowSpan="2" hMerge="1">
                  <a:txBody>
                    <a:bodyPr/>
                    <a:lstStyle/>
                    <a:p>
                      <a:endParaRPr lang="zh-CN" altLang="en-US"/>
                    </a:p>
                  </a:txBody>
                  <a:tcPr/>
                </a:tc>
                <a:extLst>
                  <a:ext uri="{0D108BD9-81ED-4DB2-BD59-A6C34878D82A}">
                    <a16:rowId xmlns:a16="http://schemas.microsoft.com/office/drawing/2014/main" val="2806473256"/>
                  </a:ext>
                </a:extLst>
              </a:tr>
              <a:tr h="313519">
                <a:tc>
                  <a:txBody>
                    <a:bodyPr/>
                    <a:lstStyle/>
                    <a:p>
                      <a:pPr algn="l" fontAlgn="ctr"/>
                      <a:r>
                        <a:rPr lang="zh-CN" altLang="en-US" sz="900" u="none" strike="noStrike">
                          <a:effectLst/>
                        </a:rPr>
                        <a:t>发票状态</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a:txBody>
                    <a:bodyPr/>
                    <a:lstStyle/>
                    <a:p>
                      <a:pPr algn="l" fontAlgn="ctr"/>
                      <a:r>
                        <a:rPr lang="zh-CN" altLang="en-US" sz="900" u="none" strike="noStrike">
                          <a:effectLst/>
                        </a:rPr>
                        <a:t>□已收票 □未收票 □已认证抵扣</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867553574"/>
                  </a:ext>
                </a:extLst>
              </a:tr>
              <a:tr h="313519">
                <a:tc>
                  <a:txBody>
                    <a:bodyPr/>
                    <a:lstStyle/>
                    <a:p>
                      <a:pPr algn="l" fontAlgn="ctr"/>
                      <a:r>
                        <a:rPr lang="zh-CN" altLang="en-US" sz="900" u="none" strike="noStrike">
                          <a:effectLst/>
                        </a:rPr>
                        <a:t>附件清单及份数</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gridSpan="4">
                  <a:txBody>
                    <a:bodyPr/>
                    <a:lstStyle/>
                    <a:p>
                      <a:pPr algn="l" fontAlgn="ctr"/>
                      <a:r>
                        <a:rPr lang="zh-CN" altLang="en-US" sz="900" u="none" strike="noStrike">
                          <a:effectLst/>
                        </a:rPr>
                        <a:t>采购订单</a:t>
                      </a:r>
                      <a:r>
                        <a:rPr lang="en-US" altLang="zh-CN" sz="900" u="none" strike="noStrike">
                          <a:effectLst/>
                        </a:rPr>
                        <a:t>__</a:t>
                      </a:r>
                      <a:r>
                        <a:rPr lang="zh-CN" altLang="en-US" sz="900" u="none" strike="noStrike">
                          <a:effectLst/>
                        </a:rPr>
                        <a:t>份、验收单</a:t>
                      </a:r>
                      <a:r>
                        <a:rPr lang="en-US" altLang="zh-CN" sz="900" u="none" strike="noStrike">
                          <a:effectLst/>
                        </a:rPr>
                        <a:t>__</a:t>
                      </a:r>
                      <a:r>
                        <a:rPr lang="zh-CN" altLang="en-US" sz="900" u="none" strike="noStrike">
                          <a:effectLst/>
                        </a:rPr>
                        <a:t>份、合同</a:t>
                      </a:r>
                      <a:r>
                        <a:rPr lang="en-US" altLang="zh-CN" sz="900" u="none" strike="noStrike">
                          <a:effectLst/>
                        </a:rPr>
                        <a:t>__</a:t>
                      </a:r>
                      <a:r>
                        <a:rPr lang="zh-CN" altLang="en-US" sz="900" u="none" strike="noStrike">
                          <a:effectLst/>
                        </a:rPr>
                        <a:t>份、发票</a:t>
                      </a:r>
                      <a:r>
                        <a:rPr lang="en-US" altLang="zh-CN" sz="900" u="none" strike="noStrike">
                          <a:effectLst/>
                        </a:rPr>
                        <a:t>__</a:t>
                      </a:r>
                      <a:r>
                        <a:rPr lang="zh-CN" altLang="en-US" sz="900" u="none" strike="noStrike">
                          <a:effectLst/>
                        </a:rPr>
                        <a:t>张、其他</a:t>
                      </a:r>
                      <a:r>
                        <a:rPr lang="en-US" altLang="zh-CN" sz="900" u="none" strike="noStrike">
                          <a:effectLst/>
                        </a:rPr>
                        <a:t>__</a:t>
                      </a:r>
                      <a:r>
                        <a:rPr lang="zh-CN" altLang="en-US" sz="900" u="none" strike="noStrike">
                          <a:effectLst/>
                        </a:rPr>
                        <a:t>份</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89032214"/>
                  </a:ext>
                </a:extLst>
              </a:tr>
              <a:tr h="313519">
                <a:tc>
                  <a:txBody>
                    <a:bodyPr/>
                    <a:lstStyle/>
                    <a:p>
                      <a:pPr algn="l" fontAlgn="ctr"/>
                      <a:r>
                        <a:rPr lang="zh-CN" altLang="en-US" sz="900" u="none" strike="noStrike">
                          <a:effectLst/>
                        </a:rPr>
                        <a:t>付款备注说明</a:t>
                      </a:r>
                      <a:endParaRPr lang="zh-CN" altLang="en-US" sz="900" b="0" i="0" u="none" strike="noStrike">
                        <a:solidFill>
                          <a:srgbClr val="000000"/>
                        </a:solidFill>
                        <a:effectLst/>
                        <a:latin typeface="等线" panose="02010600030101010101" pitchFamily="2" charset="-122"/>
                        <a:ea typeface="等线" panose="02010600030101010101" pitchFamily="2" charset="-122"/>
                      </a:endParaRPr>
                    </a:p>
                  </a:txBody>
                  <a:tcPr marL="6859" marR="6859" marT="6859" marB="0" anchor="ctr"/>
                </a:tc>
                <a:tc gridSpan="4">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859" marR="6859" marT="6859"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0470874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72F57B-6D21-40A9-BAA2-B6F0D539A4EB}"/>
              </a:ext>
            </a:extLst>
          </p:cNvPr>
          <p:cNvSpPr txBox="1"/>
          <p:nvPr/>
        </p:nvSpPr>
        <p:spPr>
          <a:xfrm>
            <a:off x="3702" y="85458"/>
            <a:ext cx="2923946" cy="461665"/>
          </a:xfrm>
          <a:prstGeom prst="rect">
            <a:avLst/>
          </a:prstGeom>
          <a:solidFill>
            <a:srgbClr val="FFFF00"/>
          </a:solidFill>
        </p:spPr>
        <p:txBody>
          <a:bodyPr wrap="square" rtlCol="0">
            <a:spAutoFit/>
          </a:bodyPr>
          <a:lstStyle/>
          <a:p>
            <a:r>
              <a:rPr lang="zh-CN" altLang="en-US" sz="2400" b="1" dirty="0">
                <a:solidFill>
                  <a:srgbClr val="FF0000"/>
                </a:solidFill>
              </a:rPr>
              <a:t>应付账龄分析表</a:t>
            </a:r>
            <a:r>
              <a:rPr lang="en-US" altLang="zh-CN" sz="2400" b="1" dirty="0">
                <a:solidFill>
                  <a:srgbClr val="FF0000"/>
                </a:solidFill>
              </a:rPr>
              <a:t>1-8</a:t>
            </a:r>
            <a:endParaRPr lang="zh-CN" altLang="en-US" sz="2400" b="1" dirty="0">
              <a:solidFill>
                <a:srgbClr val="FF0000"/>
              </a:solidFill>
            </a:endParaRPr>
          </a:p>
        </p:txBody>
      </p:sp>
      <p:graphicFrame>
        <p:nvGraphicFramePr>
          <p:cNvPr id="2" name="表格 1">
            <a:extLst>
              <a:ext uri="{FF2B5EF4-FFF2-40B4-BE49-F238E27FC236}">
                <a16:creationId xmlns:a16="http://schemas.microsoft.com/office/drawing/2014/main" id="{BE2B9536-B4AE-424E-AB9C-8959F51B3C3E}"/>
              </a:ext>
            </a:extLst>
          </p:cNvPr>
          <p:cNvGraphicFramePr>
            <a:graphicFrameLocks noGrp="1"/>
          </p:cNvGraphicFramePr>
          <p:nvPr>
            <p:extLst>
              <p:ext uri="{D42A27DB-BD31-4B8C-83A1-F6EECF244321}">
                <p14:modId xmlns:p14="http://schemas.microsoft.com/office/powerpoint/2010/main" val="2712341397"/>
              </p:ext>
            </p:extLst>
          </p:nvPr>
        </p:nvGraphicFramePr>
        <p:xfrm>
          <a:off x="407368" y="547123"/>
          <a:ext cx="11593281" cy="6050224"/>
        </p:xfrm>
        <a:graphic>
          <a:graphicData uri="http://schemas.openxmlformats.org/drawingml/2006/table">
            <a:tbl>
              <a:tblPr>
                <a:tableStyleId>{5C22544A-7EE6-4342-B048-85BDC9FD1C3A}</a:tableStyleId>
              </a:tblPr>
              <a:tblGrid>
                <a:gridCol w="491895">
                  <a:extLst>
                    <a:ext uri="{9D8B030D-6E8A-4147-A177-3AD203B41FA5}">
                      <a16:colId xmlns:a16="http://schemas.microsoft.com/office/drawing/2014/main" val="2164191641"/>
                    </a:ext>
                  </a:extLst>
                </a:gridCol>
                <a:gridCol w="658269">
                  <a:extLst>
                    <a:ext uri="{9D8B030D-6E8A-4147-A177-3AD203B41FA5}">
                      <a16:colId xmlns:a16="http://schemas.microsoft.com/office/drawing/2014/main" val="1503556139"/>
                    </a:ext>
                  </a:extLst>
                </a:gridCol>
                <a:gridCol w="571465">
                  <a:extLst>
                    <a:ext uri="{9D8B030D-6E8A-4147-A177-3AD203B41FA5}">
                      <a16:colId xmlns:a16="http://schemas.microsoft.com/office/drawing/2014/main" val="3160281062"/>
                    </a:ext>
                  </a:extLst>
                </a:gridCol>
                <a:gridCol w="491895">
                  <a:extLst>
                    <a:ext uri="{9D8B030D-6E8A-4147-A177-3AD203B41FA5}">
                      <a16:colId xmlns:a16="http://schemas.microsoft.com/office/drawing/2014/main" val="1826021952"/>
                    </a:ext>
                  </a:extLst>
                </a:gridCol>
                <a:gridCol w="491895">
                  <a:extLst>
                    <a:ext uri="{9D8B030D-6E8A-4147-A177-3AD203B41FA5}">
                      <a16:colId xmlns:a16="http://schemas.microsoft.com/office/drawing/2014/main" val="589075403"/>
                    </a:ext>
                  </a:extLst>
                </a:gridCol>
                <a:gridCol w="491895">
                  <a:extLst>
                    <a:ext uri="{9D8B030D-6E8A-4147-A177-3AD203B41FA5}">
                      <a16:colId xmlns:a16="http://schemas.microsoft.com/office/drawing/2014/main" val="4031360458"/>
                    </a:ext>
                  </a:extLst>
                </a:gridCol>
                <a:gridCol w="491895">
                  <a:extLst>
                    <a:ext uri="{9D8B030D-6E8A-4147-A177-3AD203B41FA5}">
                      <a16:colId xmlns:a16="http://schemas.microsoft.com/office/drawing/2014/main" val="459614676"/>
                    </a:ext>
                  </a:extLst>
                </a:gridCol>
                <a:gridCol w="491895">
                  <a:extLst>
                    <a:ext uri="{9D8B030D-6E8A-4147-A177-3AD203B41FA5}">
                      <a16:colId xmlns:a16="http://schemas.microsoft.com/office/drawing/2014/main" val="1584594421"/>
                    </a:ext>
                  </a:extLst>
                </a:gridCol>
                <a:gridCol w="491895">
                  <a:extLst>
                    <a:ext uri="{9D8B030D-6E8A-4147-A177-3AD203B41FA5}">
                      <a16:colId xmlns:a16="http://schemas.microsoft.com/office/drawing/2014/main" val="627322702"/>
                    </a:ext>
                  </a:extLst>
                </a:gridCol>
                <a:gridCol w="491895">
                  <a:extLst>
                    <a:ext uri="{9D8B030D-6E8A-4147-A177-3AD203B41FA5}">
                      <a16:colId xmlns:a16="http://schemas.microsoft.com/office/drawing/2014/main" val="4293271054"/>
                    </a:ext>
                  </a:extLst>
                </a:gridCol>
                <a:gridCol w="491895">
                  <a:extLst>
                    <a:ext uri="{9D8B030D-6E8A-4147-A177-3AD203B41FA5}">
                      <a16:colId xmlns:a16="http://schemas.microsoft.com/office/drawing/2014/main" val="3538247858"/>
                    </a:ext>
                  </a:extLst>
                </a:gridCol>
                <a:gridCol w="491895">
                  <a:extLst>
                    <a:ext uri="{9D8B030D-6E8A-4147-A177-3AD203B41FA5}">
                      <a16:colId xmlns:a16="http://schemas.microsoft.com/office/drawing/2014/main" val="1053214977"/>
                    </a:ext>
                  </a:extLst>
                </a:gridCol>
                <a:gridCol w="491895">
                  <a:extLst>
                    <a:ext uri="{9D8B030D-6E8A-4147-A177-3AD203B41FA5}">
                      <a16:colId xmlns:a16="http://schemas.microsoft.com/office/drawing/2014/main" val="3151165150"/>
                    </a:ext>
                  </a:extLst>
                </a:gridCol>
                <a:gridCol w="569054">
                  <a:extLst>
                    <a:ext uri="{9D8B030D-6E8A-4147-A177-3AD203B41FA5}">
                      <a16:colId xmlns:a16="http://schemas.microsoft.com/office/drawing/2014/main" val="1185215058"/>
                    </a:ext>
                  </a:extLst>
                </a:gridCol>
                <a:gridCol w="571465">
                  <a:extLst>
                    <a:ext uri="{9D8B030D-6E8A-4147-A177-3AD203B41FA5}">
                      <a16:colId xmlns:a16="http://schemas.microsoft.com/office/drawing/2014/main" val="4029725174"/>
                    </a:ext>
                  </a:extLst>
                </a:gridCol>
                <a:gridCol w="491895">
                  <a:extLst>
                    <a:ext uri="{9D8B030D-6E8A-4147-A177-3AD203B41FA5}">
                      <a16:colId xmlns:a16="http://schemas.microsoft.com/office/drawing/2014/main" val="2327077113"/>
                    </a:ext>
                  </a:extLst>
                </a:gridCol>
                <a:gridCol w="491895">
                  <a:extLst>
                    <a:ext uri="{9D8B030D-6E8A-4147-A177-3AD203B41FA5}">
                      <a16:colId xmlns:a16="http://schemas.microsoft.com/office/drawing/2014/main" val="1576565138"/>
                    </a:ext>
                  </a:extLst>
                </a:gridCol>
                <a:gridCol w="491895">
                  <a:extLst>
                    <a:ext uri="{9D8B030D-6E8A-4147-A177-3AD203B41FA5}">
                      <a16:colId xmlns:a16="http://schemas.microsoft.com/office/drawing/2014/main" val="4204348574"/>
                    </a:ext>
                  </a:extLst>
                </a:gridCol>
                <a:gridCol w="491895">
                  <a:extLst>
                    <a:ext uri="{9D8B030D-6E8A-4147-A177-3AD203B41FA5}">
                      <a16:colId xmlns:a16="http://schemas.microsoft.com/office/drawing/2014/main" val="462718464"/>
                    </a:ext>
                  </a:extLst>
                </a:gridCol>
                <a:gridCol w="675150">
                  <a:extLst>
                    <a:ext uri="{9D8B030D-6E8A-4147-A177-3AD203B41FA5}">
                      <a16:colId xmlns:a16="http://schemas.microsoft.com/office/drawing/2014/main" val="3464623113"/>
                    </a:ext>
                  </a:extLst>
                </a:gridCol>
                <a:gridCol w="484660">
                  <a:extLst>
                    <a:ext uri="{9D8B030D-6E8A-4147-A177-3AD203B41FA5}">
                      <a16:colId xmlns:a16="http://schemas.microsoft.com/office/drawing/2014/main" val="934373183"/>
                    </a:ext>
                  </a:extLst>
                </a:gridCol>
                <a:gridCol w="684793">
                  <a:extLst>
                    <a:ext uri="{9D8B030D-6E8A-4147-A177-3AD203B41FA5}">
                      <a16:colId xmlns:a16="http://schemas.microsoft.com/office/drawing/2014/main" val="992746512"/>
                    </a:ext>
                  </a:extLst>
                </a:gridCol>
              </a:tblGrid>
              <a:tr h="304727">
                <a:tc gridSpan="21">
                  <a:txBody>
                    <a:bodyPr/>
                    <a:lstStyle/>
                    <a:p>
                      <a:pPr algn="ctr" fontAlgn="ctr"/>
                      <a:r>
                        <a:rPr lang="zh-CN" altLang="en-US" sz="500" u="none" strike="noStrike">
                          <a:effectLst/>
                        </a:rPr>
                        <a:t>应付账龄分析表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4157272652"/>
                  </a:ext>
                </a:extLst>
              </a:tr>
              <a:tr h="304727">
                <a:tc gridSpan="4">
                  <a:txBody>
                    <a:bodyPr/>
                    <a:lstStyle/>
                    <a:p>
                      <a:pPr algn="l" fontAlgn="ctr"/>
                      <a:r>
                        <a:rPr lang="zh-CN" altLang="en-US" sz="500" u="none" strike="noStrike">
                          <a:effectLst/>
                        </a:rPr>
                        <a:t>统计截止日期：</a:t>
                      </a:r>
                      <a:r>
                        <a:rPr lang="en-US" altLang="zh-CN" sz="500" u="none" strike="noStrike">
                          <a:effectLst/>
                        </a:rPr>
                        <a:t>____</a:t>
                      </a:r>
                      <a:r>
                        <a:rPr lang="zh-CN" altLang="en-US" sz="500" u="none" strike="noStrike">
                          <a:effectLst/>
                        </a:rPr>
                        <a:t>年</a:t>
                      </a:r>
                      <a:r>
                        <a:rPr lang="en-US" altLang="zh-CN" sz="500" u="none" strike="noStrike">
                          <a:effectLst/>
                        </a:rPr>
                        <a:t>____</a:t>
                      </a:r>
                      <a:r>
                        <a:rPr lang="zh-CN" altLang="en-US" sz="500" u="none" strike="noStrike">
                          <a:effectLst/>
                        </a:rPr>
                        <a:t>月</a:t>
                      </a:r>
                      <a:r>
                        <a:rPr lang="en-US" altLang="zh-CN" sz="500" u="none" strike="noStrike">
                          <a:effectLst/>
                        </a:rPr>
                        <a:t>____</a:t>
                      </a:r>
                      <a:r>
                        <a:rPr lang="zh-CN" altLang="en-US" sz="500" u="none" strike="noStrike">
                          <a:effectLst/>
                        </a:rPr>
                        <a:t>日</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500" u="none" strike="noStrike">
                          <a:effectLst/>
                        </a:rPr>
                        <a:t>统计期间：</a:t>
                      </a:r>
                      <a:r>
                        <a:rPr lang="en-US" altLang="zh-CN" sz="500" u="none" strike="noStrike">
                          <a:effectLst/>
                        </a:rPr>
                        <a:t>_____</a:t>
                      </a:r>
                      <a:r>
                        <a:rPr lang="zh-CN" altLang="en-US" sz="500" u="none" strike="noStrike">
                          <a:effectLst/>
                        </a:rPr>
                        <a:t>年</a:t>
                      </a:r>
                      <a:r>
                        <a:rPr lang="en-US" altLang="zh-CN" sz="500" u="none" strike="noStrike">
                          <a:effectLst/>
                        </a:rPr>
                        <a:t>____</a:t>
                      </a:r>
                      <a:r>
                        <a:rPr lang="zh-CN" altLang="en-US" sz="500" u="none" strike="noStrike">
                          <a:effectLst/>
                        </a:rPr>
                        <a:t>月 至</a:t>
                      </a:r>
                      <a:r>
                        <a:rPr lang="en-US" altLang="zh-CN" sz="500" u="none" strike="noStrike">
                          <a:effectLst/>
                        </a:rPr>
                        <a:t>____ </a:t>
                      </a:r>
                      <a:r>
                        <a:rPr lang="zh-CN" altLang="en-US" sz="500" u="none" strike="noStrike">
                          <a:effectLst/>
                        </a:rPr>
                        <a:t>年</a:t>
                      </a:r>
                      <a:r>
                        <a:rPr lang="en-US" altLang="zh-CN" sz="500" u="none" strike="noStrike">
                          <a:effectLst/>
                        </a:rPr>
                        <a:t>____</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制表人：</a:t>
                      </a:r>
                      <a:r>
                        <a:rPr lang="en-US" altLang="zh-CN" sz="500" u="none" strike="noStrike">
                          <a:effectLst/>
                        </a:rPr>
                        <a:t>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复核人：</a:t>
                      </a:r>
                      <a:r>
                        <a:rPr lang="en-US" altLang="zh-CN" sz="500" u="none" strike="noStrike">
                          <a:effectLst/>
                        </a:rPr>
                        <a:t>________________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财务负责人：</a:t>
                      </a:r>
                      <a:r>
                        <a:rPr lang="en-US" altLang="zh-CN" sz="500" u="none" strike="noStrike">
                          <a:effectLst/>
                        </a:rPr>
                        <a:t>___________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单位：元</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573695787"/>
                  </a:ext>
                </a:extLst>
              </a:tr>
              <a:tr h="304727">
                <a:tc rowSpan="2">
                  <a:txBody>
                    <a:bodyPr/>
                    <a:lstStyle/>
                    <a:p>
                      <a:pPr algn="ctr" fontAlgn="ctr"/>
                      <a:r>
                        <a:rPr lang="zh-CN" altLang="en-US" sz="500" u="none" strike="noStrike">
                          <a:effectLst/>
                        </a:rPr>
                        <a:t>序号</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公司名称</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供应商</a:t>
                      </a:r>
                      <a:br>
                        <a:rPr lang="zh-CN" altLang="en-US" sz="500" u="none" strike="noStrike">
                          <a:effectLst/>
                        </a:rPr>
                      </a:br>
                      <a:r>
                        <a:rPr lang="zh-CN" altLang="en-US" sz="500" u="none" strike="noStrike">
                          <a:effectLst/>
                        </a:rPr>
                        <a:t>等级</a:t>
                      </a:r>
                      <a:r>
                        <a:rPr lang="en-US" altLang="zh-CN" sz="500" u="none" strike="noStrike">
                          <a:effectLst/>
                        </a:rPr>
                        <a:t>/</a:t>
                      </a:r>
                      <a:r>
                        <a:rPr lang="zh-CN" altLang="en-US" sz="500" u="none" strike="noStrike">
                          <a:effectLst/>
                        </a:rPr>
                        <a:t>编码</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应付账款</a:t>
                      </a:r>
                      <a:br>
                        <a:rPr lang="zh-CN" altLang="en-US" sz="500" u="none" strike="noStrike">
                          <a:effectLst/>
                        </a:rPr>
                      </a:br>
                      <a:r>
                        <a:rPr lang="zh-CN" altLang="en-US" sz="500" u="none" strike="noStrike">
                          <a:effectLst/>
                        </a:rPr>
                        <a:t>账面余额</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gridSpan="4">
                  <a:txBody>
                    <a:bodyPr/>
                    <a:lstStyle/>
                    <a:p>
                      <a:pPr algn="ctr" fontAlgn="ctr"/>
                      <a:r>
                        <a:rPr lang="zh-CN" altLang="en-US" sz="500" u="none" strike="noStrike">
                          <a:effectLst/>
                        </a:rPr>
                        <a:t>未到期（按应付确认日起算）</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0">
                  <a:txBody>
                    <a:bodyPr/>
                    <a:lstStyle/>
                    <a:p>
                      <a:pPr algn="ctr" fontAlgn="ctr"/>
                      <a:r>
                        <a:rPr lang="zh-CN" altLang="en-US" sz="500" u="none" strike="noStrike">
                          <a:effectLst/>
                        </a:rPr>
                        <a:t>超期（按应付确认日起算）</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fontAlgn="ctr"/>
                      <a:r>
                        <a:rPr lang="zh-CN" altLang="en-US" sz="500" u="none" strike="noStrike">
                          <a:effectLst/>
                        </a:rPr>
                        <a:t>最早到期付款日</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未付款核心原因</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最新付款计划</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rowSpan="2">
                  <a:txBody>
                    <a:bodyPr/>
                    <a:lstStyle/>
                    <a:p>
                      <a:pPr algn="ctr" fontAlgn="ctr"/>
                      <a:r>
                        <a:rPr lang="zh-CN" altLang="en-US" sz="500" u="none" strike="noStrike">
                          <a:effectLst/>
                        </a:rPr>
                        <a:t>备注（（对应发票 </a:t>
                      </a:r>
                      <a:r>
                        <a:rPr lang="en-US" altLang="zh-CN" sz="500" u="none" strike="noStrike">
                          <a:effectLst/>
                        </a:rPr>
                        <a:t>/ </a:t>
                      </a:r>
                      <a:r>
                        <a:rPr lang="zh-CN" altLang="en-US" sz="500" u="none" strike="noStrike">
                          <a:effectLst/>
                        </a:rPr>
                        <a:t>采购订单号</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1917530324"/>
                  </a:ext>
                </a:extLst>
              </a:tr>
              <a:tr h="30472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en-US" altLang="zh-CN" sz="500" u="none" strike="noStrike">
                          <a:effectLst/>
                        </a:rPr>
                        <a:t>1</a:t>
                      </a:r>
                      <a:r>
                        <a:rPr lang="zh-CN" altLang="en-US" sz="500" u="none" strike="noStrike">
                          <a:effectLst/>
                        </a:rPr>
                        <a:t>个月内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altLang="zh-CN" sz="500" u="none" strike="noStrike">
                          <a:effectLst/>
                        </a:rPr>
                        <a:t>3</a:t>
                      </a:r>
                      <a:r>
                        <a:rPr lang="zh-CN" altLang="en-US" sz="500" u="none" strike="noStrike">
                          <a:effectLst/>
                        </a:rPr>
                        <a:t>个月内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超</a:t>
                      </a:r>
                      <a:r>
                        <a:rPr lang="en-US" altLang="zh-CN" sz="500" u="none" strike="noStrike">
                          <a:effectLst/>
                        </a:rPr>
                        <a:t>1</a:t>
                      </a:r>
                      <a:r>
                        <a:rPr lang="zh-CN" altLang="en-US" sz="500" u="none" strike="noStrike">
                          <a:effectLst/>
                        </a:rPr>
                        <a:t>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超期</a:t>
                      </a:r>
                      <a:br>
                        <a:rPr lang="zh-CN" altLang="en-US" sz="500" u="none" strike="noStrike">
                          <a:effectLst/>
                        </a:rPr>
                      </a:br>
                      <a:r>
                        <a:rPr lang="en-US" altLang="zh-CN" sz="500" u="none" strike="noStrike">
                          <a:effectLst/>
                        </a:rPr>
                        <a:t>1-3</a:t>
                      </a:r>
                      <a:r>
                        <a:rPr lang="zh-CN" altLang="en-US" sz="500" u="none" strike="noStrike">
                          <a:effectLst/>
                        </a:rPr>
                        <a:t>个月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超期</a:t>
                      </a:r>
                      <a:br>
                        <a:rPr lang="zh-CN" altLang="en-US" sz="500" u="none" strike="noStrike">
                          <a:effectLst/>
                        </a:rPr>
                      </a:br>
                      <a:r>
                        <a:rPr lang="en-US" altLang="zh-CN" sz="500" u="none" strike="noStrike">
                          <a:effectLst/>
                        </a:rPr>
                        <a:t>3-6</a:t>
                      </a:r>
                      <a:r>
                        <a:rPr lang="zh-CN" altLang="en-US" sz="500" u="none" strike="noStrike">
                          <a:effectLst/>
                        </a:rPr>
                        <a:t>个月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超期         </a:t>
                      </a:r>
                      <a:r>
                        <a:rPr lang="en-US" altLang="zh-CN" sz="500" u="none" strike="noStrike">
                          <a:effectLst/>
                        </a:rPr>
                        <a:t>6</a:t>
                      </a:r>
                      <a:r>
                        <a:rPr lang="zh-CN" altLang="en-US" sz="500" u="none" strike="noStrike">
                          <a:effectLst/>
                        </a:rPr>
                        <a:t>个月</a:t>
                      </a:r>
                      <a:r>
                        <a:rPr lang="en-US" altLang="zh-CN" sz="500" u="none" strike="noStrike">
                          <a:effectLst/>
                        </a:rPr>
                        <a:t>-1</a:t>
                      </a:r>
                      <a:r>
                        <a:rPr lang="zh-CN" altLang="en-US" sz="500" u="none" strike="noStrike">
                          <a:effectLst/>
                        </a:rPr>
                        <a:t>年</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超期</a:t>
                      </a:r>
                      <a:r>
                        <a:rPr lang="en-US" altLang="zh-CN" sz="500" u="none" strike="noStrike">
                          <a:effectLst/>
                        </a:rPr>
                        <a:t>1</a:t>
                      </a:r>
                      <a:r>
                        <a:rPr lang="zh-CN" altLang="en-US" sz="500" u="none" strike="noStrike">
                          <a:effectLst/>
                        </a:rPr>
                        <a:t>年以上</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762745832"/>
                  </a:ext>
                </a:extLst>
              </a:tr>
              <a:tr h="304727">
                <a:tc>
                  <a:txBody>
                    <a:bodyPr/>
                    <a:lstStyle/>
                    <a:p>
                      <a:pPr algn="ctr" fontAlgn="ctr"/>
                      <a:r>
                        <a:rPr lang="en-US" altLang="zh-CN" sz="500" u="none" strike="noStrike">
                          <a:effectLst/>
                        </a:rPr>
                        <a:t>1</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供应商</a:t>
                      </a:r>
                      <a:r>
                        <a:rPr lang="en-US" altLang="zh-CN" sz="500" u="none" strike="noStrike">
                          <a:effectLst/>
                        </a:rPr>
                        <a:t>1</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sz="500" u="none" strike="noStrike">
                          <a:effectLst/>
                        </a:rPr>
                        <a:t>A</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888102906"/>
                  </a:ext>
                </a:extLst>
              </a:tr>
              <a:tr h="304727">
                <a:tc>
                  <a:txBody>
                    <a:bodyPr/>
                    <a:lstStyle/>
                    <a:p>
                      <a:pPr algn="ctr" fontAlgn="ctr"/>
                      <a:r>
                        <a:rPr lang="en-US" altLang="zh-CN" sz="500" u="none" strike="noStrike">
                          <a:effectLst/>
                        </a:rPr>
                        <a:t>2</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供应商</a:t>
                      </a:r>
                      <a:r>
                        <a:rPr lang="en-US" altLang="zh-CN" sz="500" u="none" strike="noStrike">
                          <a:effectLst/>
                        </a:rPr>
                        <a:t>2</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sz="500" u="none" strike="noStrike">
                          <a:effectLst/>
                        </a:rPr>
                        <a:t>B</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2632766674"/>
                  </a:ext>
                </a:extLst>
              </a:tr>
              <a:tr h="304727">
                <a:tc>
                  <a:txBody>
                    <a:bodyPr/>
                    <a:lstStyle/>
                    <a:p>
                      <a:pPr algn="ctr" fontAlgn="ctr"/>
                      <a:r>
                        <a:rPr lang="en-US" altLang="zh-CN" sz="500" u="none" strike="noStrike">
                          <a:effectLst/>
                        </a:rPr>
                        <a:t>3</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供应商</a:t>
                      </a:r>
                      <a:r>
                        <a:rPr lang="en-US" altLang="zh-CN" sz="500" u="none" strike="noStrike">
                          <a:effectLst/>
                        </a:rPr>
                        <a:t>3</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sz="500" u="none" strike="noStrike">
                          <a:effectLst/>
                        </a:rPr>
                        <a:t>A</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3451763381"/>
                  </a:ext>
                </a:extLst>
              </a:tr>
              <a:tr h="304727">
                <a:tc>
                  <a:txBody>
                    <a:bodyPr/>
                    <a:lstStyle/>
                    <a:p>
                      <a:pPr algn="ctr" fontAlgn="ctr"/>
                      <a:r>
                        <a:rPr lang="en-US" altLang="zh-CN" sz="500" u="none" strike="noStrike">
                          <a:effectLst/>
                        </a:rPr>
                        <a:t>4</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供应商</a:t>
                      </a:r>
                      <a:r>
                        <a:rPr lang="en-US" altLang="zh-CN" sz="500" u="none" strike="noStrike">
                          <a:effectLst/>
                        </a:rPr>
                        <a:t>4</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sz="500" u="none" strike="noStrike">
                          <a:effectLst/>
                        </a:rPr>
                        <a:t>B</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3955733350"/>
                  </a:ext>
                </a:extLst>
              </a:tr>
              <a:tr h="304727">
                <a:tc>
                  <a:txBody>
                    <a:bodyPr/>
                    <a:lstStyle/>
                    <a:p>
                      <a:pPr algn="ctr" fontAlgn="ctr"/>
                      <a:r>
                        <a:rPr lang="en-US" altLang="zh-CN" sz="500" u="none" strike="noStrike">
                          <a:effectLst/>
                        </a:rPr>
                        <a:t>5</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供应商</a:t>
                      </a:r>
                      <a:r>
                        <a:rPr lang="en-US" altLang="zh-CN" sz="500" u="none" strike="noStrike">
                          <a:effectLst/>
                        </a:rPr>
                        <a:t>5</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en-US" sz="500" u="none" strike="noStrike">
                          <a:effectLst/>
                        </a:rPr>
                        <a:t>C</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2188456017"/>
                  </a:ext>
                </a:extLst>
              </a:tr>
              <a:tr h="304727">
                <a:tc>
                  <a:txBody>
                    <a:bodyPr/>
                    <a:lstStyle/>
                    <a:p>
                      <a:pPr algn="ctr" fontAlgn="ctr"/>
                      <a:r>
                        <a:rPr lang="en-US" altLang="zh-CN" sz="500" u="none" strike="noStrike">
                          <a:effectLst/>
                        </a:rPr>
                        <a:t>…</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4293990264"/>
                  </a:ext>
                </a:extLst>
              </a:tr>
              <a:tr h="304727">
                <a:tc>
                  <a:txBody>
                    <a:bodyPr/>
                    <a:lstStyle/>
                    <a:p>
                      <a:pPr algn="ctr" fontAlgn="ctr"/>
                      <a:r>
                        <a:rPr lang="zh-CN" altLang="en-US" sz="500" u="none" strike="noStrike">
                          <a:effectLst/>
                        </a:rPr>
                        <a:t>合计</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extLst>
                  <a:ext uri="{0D108BD9-81ED-4DB2-BD59-A6C34878D82A}">
                    <a16:rowId xmlns:a16="http://schemas.microsoft.com/office/drawing/2014/main" val="4157342234"/>
                  </a:ext>
                </a:extLst>
              </a:tr>
              <a:tr h="2698227">
                <a:tc gridSpan="22">
                  <a:txBody>
                    <a:bodyPr/>
                    <a:lstStyle/>
                    <a:p>
                      <a:pPr algn="l" fontAlgn="ctr"/>
                      <a:r>
                        <a:rPr lang="zh-CN" altLang="en-US" sz="500" u="none" strike="noStrike" dirty="0">
                          <a:effectLst/>
                        </a:rPr>
                        <a:t>一、核心核算规则</a:t>
                      </a:r>
                      <a:br>
                        <a:rPr lang="zh-CN" altLang="en-US" sz="500" u="none" strike="noStrike" dirty="0">
                          <a:effectLst/>
                        </a:rPr>
                      </a:br>
                      <a:r>
                        <a:rPr lang="zh-CN" altLang="en-US" sz="500" u="none" strike="noStrike" dirty="0">
                          <a:effectLst/>
                        </a:rPr>
                        <a:t>账龄计算规则：以统计截止日为基准，按应付账款确认日（采购入库验收 </a:t>
                      </a:r>
                      <a:r>
                        <a:rPr lang="en-US" altLang="zh-CN" sz="500" u="none" strike="noStrike" dirty="0">
                          <a:effectLst/>
                        </a:rPr>
                        <a:t>/ </a:t>
                      </a:r>
                      <a:r>
                        <a:rPr lang="zh-CN" altLang="en-US" sz="500" u="none" strike="noStrike" dirty="0">
                          <a:effectLst/>
                        </a:rPr>
                        <a:t>收票入账日）到截止日的时间间隔划分区间；应付按采购收票 </a:t>
                      </a:r>
                      <a:r>
                        <a:rPr lang="en-US" altLang="zh-CN" sz="500" u="none" strike="noStrike" dirty="0">
                          <a:effectLst/>
                        </a:rPr>
                        <a:t>/ </a:t>
                      </a:r>
                      <a:r>
                        <a:rPr lang="zh-CN" altLang="en-US" sz="500" u="none" strike="noStrike" dirty="0">
                          <a:effectLst/>
                        </a:rPr>
                        <a:t>应付确认日计算；同一供应商多笔应付款，需按单笔应付的确认日、到期日分别计算账龄，不得合并按供应商整体计算，确保账龄统计精准。</a:t>
                      </a:r>
                      <a:br>
                        <a:rPr lang="zh-CN" altLang="en-US" sz="500" u="none" strike="noStrike" dirty="0">
                          <a:effectLst/>
                        </a:rPr>
                      </a:br>
                      <a:r>
                        <a:rPr lang="zh-CN" altLang="en-US" sz="500" u="none" strike="noStrike" dirty="0">
                          <a:effectLst/>
                        </a:rPr>
                        <a:t>数据闭环核对要求：每月结账后，表格应付账面总余额合计必须与总账「应付账款」科目余额、进项发票管理台账未付款含税总金额完全一致，确保账表、账证、账实相符；且需与供应商对账单核对一致，避免长期挂账差异。                                                                                                                                                                                                                                                                                                                         二、管理与使用要求                                                                                                                                                                                                                                                                                        核心用途：应付账龄表，用于统筹公司付款计划、管控现金流、评估供应商合作风险、财务对账管理。财务核算端：用于月度 </a:t>
                      </a:r>
                      <a:r>
                        <a:rPr lang="en-US" altLang="zh-CN" sz="500" u="none" strike="noStrike" dirty="0">
                          <a:effectLst/>
                        </a:rPr>
                        <a:t>/ </a:t>
                      </a:r>
                      <a:r>
                        <a:rPr lang="zh-CN" altLang="en-US" sz="500" u="none" strike="noStrike" dirty="0">
                          <a:effectLst/>
                        </a:rPr>
                        <a:t>年度财务报表附注披露、企业所得税汇算清缴纳税调整、长期挂账应付款清理（超过 </a:t>
                      </a:r>
                      <a:r>
                        <a:rPr lang="en-US" altLang="zh-CN" sz="500" u="none" strike="noStrike" dirty="0">
                          <a:effectLst/>
                        </a:rPr>
                        <a:t>3 </a:t>
                      </a:r>
                      <a:r>
                        <a:rPr lang="zh-CN" altLang="en-US" sz="500" u="none" strike="noStrike" dirty="0">
                          <a:effectLst/>
                        </a:rPr>
                        <a:t>年无法支付的应付款需按规定转营业外收入；资金管理端：用于统筹月度 </a:t>
                      </a:r>
                      <a:r>
                        <a:rPr lang="en-US" altLang="zh-CN" sz="500" u="none" strike="noStrike" dirty="0">
                          <a:effectLst/>
                        </a:rPr>
                        <a:t>/ </a:t>
                      </a:r>
                      <a:r>
                        <a:rPr lang="zh-CN" altLang="en-US" sz="500" u="none" strike="noStrike" dirty="0">
                          <a:effectLst/>
                        </a:rPr>
                        <a:t>年度付款计划、合理安排公司现金流、优化付款节奏、降低资金成本；供应商管理端：用于评估供应商合作风险、维护核心供应商合作关系、调整供应商信用政策、避免逾期付款影响企业信用；：用于识别异常长期挂账应付款、管控无真实业务的挂账风险、防范税务稽查风险；</a:t>
                      </a:r>
                      <a:br>
                        <a:rPr lang="zh-CN" altLang="en-US" sz="500" u="none" strike="noStrike" dirty="0">
                          <a:effectLst/>
                        </a:rPr>
                      </a:br>
                      <a:r>
                        <a:rPr lang="zh-CN" altLang="en-US" sz="500" u="none" strike="noStrike" dirty="0">
                          <a:effectLst/>
                        </a:rPr>
                        <a:t>更新与归档要求：更新频率：建议每月结账后更新，与总账应收 </a:t>
                      </a:r>
                      <a:r>
                        <a:rPr lang="en-US" altLang="zh-CN" sz="500" u="none" strike="noStrike" dirty="0">
                          <a:effectLst/>
                        </a:rPr>
                        <a:t>/ </a:t>
                      </a:r>
                      <a:r>
                        <a:rPr lang="zh-CN" altLang="en-US" sz="500" u="none" strike="noStrike" dirty="0">
                          <a:effectLst/>
                        </a:rPr>
                        <a:t>应付科目余额核对一致，确保账表相符；季度做全公司付款计划统筹，年度做应付账款全面清理与核对；归档要求：每月账龄分析表需与财务凭证、供应商对账单、付款计划一同装订归档，保存期限不低于 </a:t>
                      </a:r>
                      <a:r>
                        <a:rPr lang="en-US" altLang="zh-CN" sz="500" u="none" strike="noStrike" dirty="0">
                          <a:effectLst/>
                        </a:rPr>
                        <a:t>10 </a:t>
                      </a:r>
                      <a:r>
                        <a:rPr lang="zh-CN" altLang="en-US" sz="500" u="none" strike="noStrike" dirty="0">
                          <a:effectLst/>
                        </a:rPr>
                        <a:t>年，符合财务档案管理要求。                                                                                                                                                                                            三、 </a:t>
                      </a:r>
                      <a:r>
                        <a:rPr lang="en-US" altLang="zh-CN" sz="500" u="none" strike="noStrike" dirty="0">
                          <a:effectLst/>
                        </a:rPr>
                        <a:t>Excel </a:t>
                      </a:r>
                      <a:r>
                        <a:rPr lang="zh-CN" altLang="en-US" sz="500" u="none" strike="noStrike" dirty="0">
                          <a:effectLst/>
                        </a:rPr>
                        <a:t>优化与使用技巧：                                                                                                                                                                                                                                                                                                     格式标准化设置：复制到 </a:t>
                      </a:r>
                      <a:r>
                        <a:rPr lang="en-US" altLang="zh-CN" sz="500" u="none" strike="noStrike" dirty="0">
                          <a:effectLst/>
                        </a:rPr>
                        <a:t>Excel </a:t>
                      </a:r>
                      <a:r>
                        <a:rPr lang="zh-CN" altLang="en-US" sz="500" u="none" strike="noStrike" dirty="0">
                          <a:effectLst/>
                        </a:rPr>
                        <a:t>后，对「金额」列设置数值格式（保留 </a:t>
                      </a:r>
                      <a:r>
                        <a:rPr lang="en-US" altLang="zh-CN" sz="500" u="none" strike="noStrike" dirty="0">
                          <a:effectLst/>
                        </a:rPr>
                        <a:t>2 </a:t>
                      </a:r>
                      <a:r>
                        <a:rPr lang="zh-CN" altLang="en-US" sz="500" u="none" strike="noStrike" dirty="0">
                          <a:effectLst/>
                        </a:rPr>
                        <a:t>位小数、千分位分隔），对「日期」列设置标准日期格式，对表头行设置冻结窗格，滚动查看长表时表头固定；对账龄区间、付款计划列设置居中对齐，提升表格可读性。                                                                                                                                                                                                                                                                                                        高效数据联动：可通过 </a:t>
                      </a:r>
                      <a:r>
                        <a:rPr lang="en-US" altLang="zh-CN" sz="500" u="none" strike="noStrike" dirty="0">
                          <a:effectLst/>
                        </a:rPr>
                        <a:t>Excel</a:t>
                      </a:r>
                      <a:r>
                        <a:rPr lang="zh-CN" altLang="en-US" sz="500" u="none" strike="noStrike" dirty="0">
                          <a:effectLst/>
                        </a:rPr>
                        <a:t>「</a:t>
                      </a:r>
                      <a:r>
                        <a:rPr lang="en-US" altLang="zh-CN" sz="500" u="none" strike="noStrike" dirty="0">
                          <a:effectLst/>
                        </a:rPr>
                        <a:t>VLOOKUP </a:t>
                      </a:r>
                      <a:r>
                        <a:rPr lang="zh-CN" altLang="en-US" sz="500" u="none" strike="noStrike" dirty="0">
                          <a:effectLst/>
                        </a:rPr>
                        <a:t>函数」，直接从进项发票管理台账、供应商信息台账、采购订单台账中匹配供应商名称、供应商编码、应付余额、发票号、采购订单号等信息，避免手动录入错误，实现数据一键联动更新。                                                                                                                                                                                                                                                                                                    付款到期预警：新增「到期状态列」，通过 </a:t>
                      </a:r>
                      <a:r>
                        <a:rPr lang="en-US" altLang="zh-CN" sz="500" u="none" strike="noStrike" dirty="0">
                          <a:effectLst/>
                        </a:rPr>
                        <a:t>Excel </a:t>
                      </a:r>
                      <a:r>
                        <a:rPr lang="zh-CN" altLang="en-US" sz="500" u="none" strike="noStrike" dirty="0">
                          <a:effectLst/>
                        </a:rPr>
                        <a:t>条件格式设置自动预警：未到期应付款：绿色（正常）；到期未付≤</a:t>
                      </a:r>
                      <a:r>
                        <a:rPr lang="en-US" altLang="zh-CN" sz="500" u="none" strike="noStrike" dirty="0">
                          <a:effectLst/>
                        </a:rPr>
                        <a:t>30 </a:t>
                      </a:r>
                      <a:r>
                        <a:rPr lang="zh-CN" altLang="en-US" sz="500" u="none" strike="noStrike" dirty="0">
                          <a:effectLst/>
                        </a:rPr>
                        <a:t>天：黄色（需安排付款）；到期未付＞</a:t>
                      </a:r>
                      <a:r>
                        <a:rPr lang="en-US" altLang="zh-CN" sz="500" u="none" strike="noStrike" dirty="0">
                          <a:effectLst/>
                        </a:rPr>
                        <a:t>30 </a:t>
                      </a:r>
                      <a:r>
                        <a:rPr lang="zh-CN" altLang="en-US" sz="500" u="none" strike="noStrike" dirty="0">
                          <a:effectLst/>
                        </a:rPr>
                        <a:t>天：红色（逾期，需重点处理）；实现付款到期风险可视化，避免逾期付款影响企业信用与供应商合作。</a:t>
                      </a:r>
                      <a:br>
                        <a:rPr lang="zh-CN" altLang="en-US" sz="500" u="none" strike="noStrike" dirty="0">
                          <a:effectLst/>
                        </a:rPr>
                      </a:br>
                      <a:r>
                        <a:rPr lang="zh-CN" altLang="en-US" sz="500" u="none" strike="noStrike" dirty="0">
                          <a:effectLst/>
                        </a:rPr>
                        <a:t>多维度统计分析：通过 </a:t>
                      </a:r>
                      <a:r>
                        <a:rPr lang="en-US" altLang="zh-CN" sz="500" u="none" strike="noStrike" dirty="0">
                          <a:effectLst/>
                        </a:rPr>
                        <a:t>Excel</a:t>
                      </a:r>
                      <a:r>
                        <a:rPr lang="zh-CN" altLang="en-US" sz="500" u="none" strike="noStrike" dirty="0">
                          <a:effectLst/>
                        </a:rPr>
                        <a:t>「数据透视表」功能，可一键实现：按供应商维度统计应付余额、账龄结构、到期付款金额；按账龄区间统计整体应付结构、长期挂账应付款规模；按月度统计应付余额变动、付款进度、现金流支出预算；满足财务分析、管理层汇报、经营决策、现金流预算的多维度数据需求。</a:t>
                      </a:r>
                      <a:endParaRPr lang="zh-CN" altLang="en-US" sz="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365" marR="4365" marT="436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56072590"/>
                  </a:ext>
                </a:extLst>
              </a:tr>
            </a:tbl>
          </a:graphicData>
        </a:graphic>
      </p:graphicFrame>
    </p:spTree>
    <p:extLst>
      <p:ext uri="{BB962C8B-B14F-4D97-AF65-F5344CB8AC3E}">
        <p14:creationId xmlns:p14="http://schemas.microsoft.com/office/powerpoint/2010/main" val="236650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D961A944-1C7E-47E5-ACA6-43EA053B6728}"/>
              </a:ext>
            </a:extLst>
          </p:cNvPr>
          <p:cNvSpPr/>
          <p:nvPr/>
        </p:nvSpPr>
        <p:spPr>
          <a:xfrm>
            <a:off x="2423592" y="3288947"/>
            <a:ext cx="9433048" cy="34258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a:extLst>
              <a:ext uri="{FF2B5EF4-FFF2-40B4-BE49-F238E27FC236}">
                <a16:creationId xmlns:a16="http://schemas.microsoft.com/office/drawing/2014/main" id="{43559900-FBB6-4864-A2F9-6215D94E344D}"/>
              </a:ext>
            </a:extLst>
          </p:cNvPr>
          <p:cNvSpPr/>
          <p:nvPr/>
        </p:nvSpPr>
        <p:spPr>
          <a:xfrm>
            <a:off x="2423592" y="1346627"/>
            <a:ext cx="9577064" cy="18494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7594625D-AEDE-4DED-90CF-2B39B221DF18}"/>
              </a:ext>
            </a:extLst>
          </p:cNvPr>
          <p:cNvPicPr>
            <a:picLocks noChangeAspect="1"/>
          </p:cNvPicPr>
          <p:nvPr/>
        </p:nvPicPr>
        <p:blipFill>
          <a:blip r:embed="rId2"/>
          <a:stretch>
            <a:fillRect/>
          </a:stretch>
        </p:blipFill>
        <p:spPr>
          <a:xfrm>
            <a:off x="9257728" y="577215"/>
            <a:ext cx="2036240" cy="709228"/>
          </a:xfrm>
          <a:prstGeom prst="rect">
            <a:avLst/>
          </a:prstGeom>
        </p:spPr>
      </p:pic>
      <p:pic>
        <p:nvPicPr>
          <p:cNvPr id="2" name="图片 1">
            <a:extLst>
              <a:ext uri="{FF2B5EF4-FFF2-40B4-BE49-F238E27FC236}">
                <a16:creationId xmlns:a16="http://schemas.microsoft.com/office/drawing/2014/main" id="{B5BBDD7F-A685-497F-8CCC-2B5A8167D33F}"/>
              </a:ext>
            </a:extLst>
          </p:cNvPr>
          <p:cNvPicPr>
            <a:picLocks noChangeAspect="1"/>
          </p:cNvPicPr>
          <p:nvPr/>
        </p:nvPicPr>
        <p:blipFill>
          <a:blip r:embed="rId2"/>
          <a:stretch>
            <a:fillRect/>
          </a:stretch>
        </p:blipFill>
        <p:spPr>
          <a:xfrm>
            <a:off x="715091" y="678850"/>
            <a:ext cx="3021088" cy="602262"/>
          </a:xfrm>
          <a:prstGeom prst="rect">
            <a:avLst/>
          </a:prstGeom>
        </p:spPr>
      </p:pic>
      <p:sp>
        <p:nvSpPr>
          <p:cNvPr id="3" name="object 3"/>
          <p:cNvSpPr txBox="1"/>
          <p:nvPr/>
        </p:nvSpPr>
        <p:spPr>
          <a:xfrm>
            <a:off x="203919" y="105237"/>
            <a:ext cx="3384267" cy="1115690"/>
          </a:xfrm>
          <a:prstGeom prst="rect">
            <a:avLst/>
          </a:prstGeom>
        </p:spPr>
        <p:txBody>
          <a:bodyPr vert="horz" wrap="square" lIns="0" tIns="0" rIns="0" bIns="0" rtlCol="0">
            <a:spAutoFit/>
          </a:bodyPr>
          <a:lstStyle/>
          <a:p>
            <a:pPr marL="0" marR="0">
              <a:lnSpc>
                <a:spcPts val="3339"/>
              </a:lnSpc>
              <a:spcBef>
                <a:spcPts val="0"/>
              </a:spcBef>
              <a:spcAft>
                <a:spcPts val="0"/>
              </a:spcAft>
            </a:pPr>
            <a:r>
              <a:rPr sz="3200" b="1" dirty="0">
                <a:solidFill>
                  <a:srgbClr val="FF0000"/>
                </a:solidFill>
                <a:latin typeface="OAKHCI+MicrosoftYaHei-Bold"/>
                <a:cs typeface="OAKHCI+MicrosoftYaHei-Bold"/>
              </a:rPr>
              <a:t>财务管控体系</a:t>
            </a:r>
          </a:p>
          <a:p>
            <a:pPr marL="678180" marR="0">
              <a:lnSpc>
                <a:spcPts val="3339"/>
              </a:lnSpc>
              <a:spcBef>
                <a:spcPts val="2072"/>
              </a:spcBef>
              <a:spcAft>
                <a:spcPts val="0"/>
              </a:spcAft>
            </a:pPr>
            <a:r>
              <a:rPr lang="zh-CN" altLang="en-US" sz="3200" b="1" dirty="0">
                <a:solidFill>
                  <a:srgbClr val="000099"/>
                </a:solidFill>
                <a:latin typeface="OAKHCI+MicrosoftYaHei-Bold"/>
                <a:cs typeface="OAKHCI+MicrosoftYaHei-Bold"/>
              </a:rPr>
              <a:t>二、</a:t>
            </a:r>
            <a:r>
              <a:rPr sz="3200" b="1" dirty="0" err="1">
                <a:solidFill>
                  <a:srgbClr val="000099"/>
                </a:solidFill>
                <a:latin typeface="OAKHCI+MicrosoftYaHei-Bold"/>
                <a:cs typeface="OAKHCI+MicrosoftYaHei-Bold"/>
              </a:rPr>
              <a:t>仓库管理</a:t>
            </a:r>
            <a:endParaRPr sz="3200" b="1" dirty="0">
              <a:solidFill>
                <a:srgbClr val="000099"/>
              </a:solidFill>
              <a:latin typeface="OAKHCI+MicrosoftYaHei-Bold"/>
              <a:cs typeface="OAKHCI+MicrosoftYaHei-Bold"/>
            </a:endParaRPr>
          </a:p>
        </p:txBody>
      </p:sp>
      <p:sp>
        <p:nvSpPr>
          <p:cNvPr id="4" name="object 4"/>
          <p:cNvSpPr txBox="1"/>
          <p:nvPr/>
        </p:nvSpPr>
        <p:spPr>
          <a:xfrm>
            <a:off x="9385578" y="755103"/>
            <a:ext cx="1780539" cy="462227"/>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000099"/>
                </a:solidFill>
                <a:latin typeface="OAKHCI+MicrosoftYaHei-Bold"/>
                <a:cs typeface="OAKHCI+MicrosoftYaHei-Bold"/>
              </a:rPr>
              <a:t>流程设计</a:t>
            </a:r>
          </a:p>
        </p:txBody>
      </p:sp>
      <p:sp>
        <p:nvSpPr>
          <p:cNvPr id="5" name="object 5"/>
          <p:cNvSpPr txBox="1"/>
          <p:nvPr/>
        </p:nvSpPr>
        <p:spPr>
          <a:xfrm>
            <a:off x="441842" y="1758552"/>
            <a:ext cx="1454211" cy="4898777"/>
          </a:xfrm>
          <a:prstGeom prst="rect">
            <a:avLst/>
          </a:prstGeom>
        </p:spPr>
        <p:txBody>
          <a:bodyPr vert="horz" wrap="square" lIns="0" tIns="0" rIns="0" bIns="0" rtlCol="0">
            <a:spAutoFit/>
          </a:bodyPr>
          <a:lstStyle/>
          <a:p>
            <a:pPr marL="76" marR="0">
              <a:lnSpc>
                <a:spcPts val="3339"/>
              </a:lnSpc>
              <a:spcBef>
                <a:spcPts val="0"/>
              </a:spcBef>
              <a:spcAft>
                <a:spcPts val="0"/>
              </a:spcAft>
            </a:pPr>
            <a:r>
              <a:rPr sz="2800" b="1" dirty="0">
                <a:solidFill>
                  <a:srgbClr val="000099"/>
                </a:solidFill>
                <a:highlight>
                  <a:srgbClr val="FFFF00"/>
                </a:highlight>
                <a:latin typeface="PKMLHR+MicrosoftYaHei"/>
                <a:cs typeface="PKMLHR+MicrosoftYaHei"/>
              </a:rPr>
              <a:t>1 </a:t>
            </a:r>
            <a:r>
              <a:rPr sz="2800" b="1" dirty="0" err="1">
                <a:solidFill>
                  <a:srgbClr val="000099"/>
                </a:solidFill>
                <a:highlight>
                  <a:srgbClr val="FFFF00"/>
                </a:highlight>
                <a:latin typeface="PKMLHR+MicrosoftYaHei"/>
                <a:cs typeface="PKMLHR+MicrosoftYaHei"/>
              </a:rPr>
              <a:t>入库</a:t>
            </a:r>
            <a:endParaRPr lang="en-US" sz="2800" b="1"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en-US" sz="2800" b="1" dirty="0">
              <a:solidFill>
                <a:srgbClr val="000099"/>
              </a:solidFill>
              <a:highlight>
                <a:srgbClr val="FFFF00"/>
              </a:highlight>
              <a:latin typeface="PKMLHR+MicrosoftYaHei"/>
              <a:cs typeface="PKMLHR+MicrosoftYaHei"/>
            </a:endParaRPr>
          </a:p>
          <a:p>
            <a:pPr marL="0" marR="0">
              <a:lnSpc>
                <a:spcPts val="3339"/>
              </a:lnSpc>
              <a:spcBef>
                <a:spcPts val="4579"/>
              </a:spcBef>
              <a:spcAft>
                <a:spcPts val="0"/>
              </a:spcAft>
            </a:pPr>
            <a:endParaRPr lang="en-US" sz="2800" b="1" dirty="0">
              <a:solidFill>
                <a:srgbClr val="000099"/>
              </a:solidFill>
              <a:highlight>
                <a:srgbClr val="FFFF00"/>
              </a:highlight>
              <a:latin typeface="PKMLHR+MicrosoftYaHei"/>
              <a:cs typeface="PKMLHR+MicrosoftYaHei"/>
            </a:endParaRPr>
          </a:p>
          <a:p>
            <a:pPr marL="0" marR="0">
              <a:lnSpc>
                <a:spcPts val="3339"/>
              </a:lnSpc>
              <a:spcBef>
                <a:spcPts val="4579"/>
              </a:spcBef>
              <a:spcAft>
                <a:spcPts val="0"/>
              </a:spcAft>
            </a:pPr>
            <a:r>
              <a:rPr lang="en-US" sz="2800" b="1" dirty="0">
                <a:solidFill>
                  <a:srgbClr val="000099"/>
                </a:solidFill>
                <a:highlight>
                  <a:srgbClr val="FFFF00"/>
                </a:highlight>
                <a:latin typeface="PKMLHR+MicrosoftYaHei"/>
                <a:cs typeface="PKMLHR+MicrosoftYaHei"/>
              </a:rPr>
              <a:t>2</a:t>
            </a:r>
            <a:r>
              <a:rPr lang="zh-CN" altLang="en-US" sz="2800" b="1" dirty="0">
                <a:solidFill>
                  <a:srgbClr val="000099"/>
                </a:solidFill>
                <a:highlight>
                  <a:srgbClr val="FFFF00"/>
                </a:highlight>
                <a:latin typeface="PKMLHR+MicrosoftYaHei"/>
                <a:cs typeface="PKMLHR+MicrosoftYaHei"/>
              </a:rPr>
              <a:t>、保管</a:t>
            </a:r>
            <a:endParaRPr lang="en-US" altLang="zh-CN" sz="2800" b="1" dirty="0">
              <a:solidFill>
                <a:srgbClr val="000099"/>
              </a:solidFill>
              <a:highlight>
                <a:srgbClr val="FFFF00"/>
              </a:highlight>
              <a:latin typeface="PKMLHR+MicrosoftYaHei"/>
              <a:cs typeface="PKMLHR+MicrosoftYaHei"/>
            </a:endParaRPr>
          </a:p>
          <a:p>
            <a:pPr marL="0" marR="0">
              <a:lnSpc>
                <a:spcPts val="3339"/>
              </a:lnSpc>
              <a:spcBef>
                <a:spcPts val="4579"/>
              </a:spcBef>
              <a:spcAft>
                <a:spcPts val="0"/>
              </a:spcAft>
            </a:pPr>
            <a:endParaRPr lang="en-US" sz="2800" b="1" dirty="0">
              <a:solidFill>
                <a:srgbClr val="000099"/>
              </a:solidFill>
              <a:highlight>
                <a:srgbClr val="FFFF00"/>
              </a:highlight>
              <a:latin typeface="PKMLHR+MicrosoftYaHei"/>
              <a:cs typeface="PKMLHR+MicrosoftYaHei"/>
            </a:endParaRPr>
          </a:p>
          <a:p>
            <a:pPr marL="0" marR="0">
              <a:lnSpc>
                <a:spcPts val="3339"/>
              </a:lnSpc>
              <a:spcBef>
                <a:spcPts val="4579"/>
              </a:spcBef>
              <a:spcAft>
                <a:spcPts val="0"/>
              </a:spcAft>
            </a:pPr>
            <a:endParaRPr lang="zh-CN" altLang="en-US" sz="2800" b="1" dirty="0">
              <a:solidFill>
                <a:srgbClr val="000099"/>
              </a:solidFill>
              <a:highlight>
                <a:srgbClr val="FFFF00"/>
              </a:highlight>
              <a:latin typeface="PKMLHR+MicrosoftYaHei"/>
              <a:cs typeface="PKMLHR+MicrosoftYaHei"/>
            </a:endParaRPr>
          </a:p>
        </p:txBody>
      </p:sp>
      <p:sp>
        <p:nvSpPr>
          <p:cNvPr id="6" name="object 6"/>
          <p:cNvSpPr txBox="1"/>
          <p:nvPr/>
        </p:nvSpPr>
        <p:spPr>
          <a:xfrm>
            <a:off x="2567608" y="1439523"/>
            <a:ext cx="9289032" cy="1603003"/>
          </a:xfrm>
          <a:prstGeom prst="rect">
            <a:avLst/>
          </a:prstGeom>
        </p:spPr>
        <p:txBody>
          <a:bodyPr vert="horz" wrap="square" lIns="0" tIns="0" rIns="0" bIns="0" rtlCol="0">
            <a:spAutoFit/>
          </a:bodyPr>
          <a:lstStyle/>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固定资产验收单：发票、供应商、名称、类别、型号、单价</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税额、数量、使用部门、使用年限</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残值、配件</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保修卡</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合格证</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质检报告等</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商品</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材料</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物料</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服务入库单：发票、供应商、名称、类别、型号、单价</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税额、数量、服务是否完工、合格证</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质检报告等；</a:t>
            </a:r>
            <a:endParaRPr sz="2400" b="1" dirty="0">
              <a:solidFill>
                <a:srgbClr val="FF0000"/>
              </a:solidFill>
              <a:highlight>
                <a:srgbClr val="FFFF00"/>
              </a:highlight>
              <a:latin typeface="PKMLHR+MicrosoftYaHei"/>
              <a:cs typeface="PKMLHR+MicrosoftYaHei"/>
            </a:endParaRPr>
          </a:p>
        </p:txBody>
      </p:sp>
      <p:sp>
        <p:nvSpPr>
          <p:cNvPr id="8" name="object 8"/>
          <p:cNvSpPr txBox="1"/>
          <p:nvPr/>
        </p:nvSpPr>
        <p:spPr>
          <a:xfrm>
            <a:off x="2639616" y="3470225"/>
            <a:ext cx="9433048" cy="3847207"/>
          </a:xfrm>
          <a:prstGeom prst="rect">
            <a:avLst/>
          </a:prstGeom>
        </p:spPr>
        <p:txBody>
          <a:bodyPr vert="horz" wrap="square" lIns="0" tIns="0" rIns="0" bIns="0" rtlCol="0">
            <a:spAutoFit/>
          </a:bodyPr>
          <a:lstStyle/>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固定资产</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库存商品</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原材料台账：各资产库存数据，随时更新</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固定资产</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存货盘点表：月末</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季末</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年末盘点资产，可使用</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毁损</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租赁资产台账：办公室租赁、设备租赁、其他非企业自有资产登记</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存货库龄分析表：库存保管情况，自用</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出售</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长期呆滞、后续处理</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材料</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物料</a:t>
            </a:r>
            <a:r>
              <a:rPr lang="en-US" altLang="zh-CN" sz="2400" b="1" dirty="0">
                <a:solidFill>
                  <a:srgbClr val="FF0000"/>
                </a:solidFill>
                <a:highlight>
                  <a:srgbClr val="FFFF00"/>
                </a:highlight>
                <a:latin typeface="PKMLHR+MicrosoftYaHei"/>
                <a:cs typeface="PKMLHR+MicrosoftYaHei"/>
              </a:rPr>
              <a:t>/</a:t>
            </a:r>
            <a:r>
              <a:rPr lang="zh-CN" altLang="en-US" sz="2400" b="1" dirty="0">
                <a:solidFill>
                  <a:srgbClr val="FF0000"/>
                </a:solidFill>
                <a:highlight>
                  <a:srgbClr val="FFFF00"/>
                </a:highlight>
                <a:latin typeface="PKMLHR+MicrosoftYaHei"/>
                <a:cs typeface="PKMLHR+MicrosoftYaHei"/>
              </a:rPr>
              <a:t>固定资产报废申请单：保管失误、过期、不可抗力毁损，责任人处理</a:t>
            </a:r>
            <a:endParaRPr lang="en-US" altLang="zh-CN"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lang="en-US" sz="2400" b="1" dirty="0">
              <a:solidFill>
                <a:srgbClr val="FF0000"/>
              </a:solidFill>
              <a:highlight>
                <a:srgbClr val="FFFF00"/>
              </a:highlight>
              <a:latin typeface="PKMLHR+MicrosoftYaHei"/>
              <a:cs typeface="PKMLHR+MicrosoftYaHei"/>
            </a:endParaRPr>
          </a:p>
          <a:p>
            <a:pPr marL="0" marR="0">
              <a:lnSpc>
                <a:spcPts val="2500"/>
              </a:lnSpc>
              <a:spcBef>
                <a:spcPts val="0"/>
              </a:spcBef>
              <a:spcAft>
                <a:spcPts val="0"/>
              </a:spcAft>
            </a:pPr>
            <a:endParaRPr sz="2400" b="1" dirty="0">
              <a:solidFill>
                <a:srgbClr val="FF0000"/>
              </a:solidFill>
              <a:highlight>
                <a:srgbClr val="FFFF00"/>
              </a:highlight>
              <a:latin typeface="PKMLHR+MicrosoftYaHei"/>
              <a:cs typeface="PKMLHR+MicrosoftYaHei"/>
            </a:endParaRPr>
          </a:p>
        </p:txBody>
      </p:sp>
      <p:sp>
        <p:nvSpPr>
          <p:cNvPr id="12" name="箭头: 下 11">
            <a:extLst>
              <a:ext uri="{FF2B5EF4-FFF2-40B4-BE49-F238E27FC236}">
                <a16:creationId xmlns:a16="http://schemas.microsoft.com/office/drawing/2014/main" id="{E80E16FB-9650-4C0F-891B-25C8A18A75DC}"/>
              </a:ext>
            </a:extLst>
          </p:cNvPr>
          <p:cNvSpPr/>
          <p:nvPr/>
        </p:nvSpPr>
        <p:spPr>
          <a:xfrm>
            <a:off x="715090" y="2564905"/>
            <a:ext cx="556373" cy="108012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AD366703-2AB2-4B15-B172-4850329AF08B}"/>
              </a:ext>
            </a:extLst>
          </p:cNvPr>
          <p:cNvSpPr/>
          <p:nvPr/>
        </p:nvSpPr>
        <p:spPr>
          <a:xfrm>
            <a:off x="3008040" y="3060560"/>
            <a:ext cx="288032" cy="28803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200E63F8-917E-48C8-BC57-FD2E83103B3E}"/>
              </a:ext>
            </a:extLst>
          </p:cNvPr>
          <p:cNvSpPr/>
          <p:nvPr/>
        </p:nvSpPr>
        <p:spPr>
          <a:xfrm>
            <a:off x="1821540" y="4144830"/>
            <a:ext cx="347762" cy="510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05F8EE2C-76AE-4F41-A923-2EE53066F7EA}"/>
              </a:ext>
            </a:extLst>
          </p:cNvPr>
          <p:cNvSpPr/>
          <p:nvPr/>
        </p:nvSpPr>
        <p:spPr>
          <a:xfrm>
            <a:off x="1692597" y="1737208"/>
            <a:ext cx="347762" cy="510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42828CFB-C876-47FB-AF99-6FFEC44F06A9}"/>
              </a:ext>
            </a:extLst>
          </p:cNvPr>
          <p:cNvSpPr/>
          <p:nvPr/>
        </p:nvSpPr>
        <p:spPr>
          <a:xfrm>
            <a:off x="3008040" y="3789040"/>
            <a:ext cx="288032" cy="28803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0EA1B953-5EDA-4C1A-9F44-AAC0CDDCF40B}"/>
              </a:ext>
            </a:extLst>
          </p:cNvPr>
          <p:cNvSpPr/>
          <p:nvPr/>
        </p:nvSpPr>
        <p:spPr>
          <a:xfrm flipV="1">
            <a:off x="3048222" y="4437112"/>
            <a:ext cx="288032" cy="25966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C6B064B4-A691-48AD-9210-6D2E4CEDC5A4}"/>
              </a:ext>
            </a:extLst>
          </p:cNvPr>
          <p:cNvSpPr/>
          <p:nvPr/>
        </p:nvSpPr>
        <p:spPr>
          <a:xfrm>
            <a:off x="3048222" y="5082471"/>
            <a:ext cx="288032" cy="28803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下 21">
            <a:extLst>
              <a:ext uri="{FF2B5EF4-FFF2-40B4-BE49-F238E27FC236}">
                <a16:creationId xmlns:a16="http://schemas.microsoft.com/office/drawing/2014/main" id="{BD0A6AD8-2A39-4F89-8EA6-8D6AAF93D782}"/>
              </a:ext>
            </a:extLst>
          </p:cNvPr>
          <p:cNvSpPr/>
          <p:nvPr/>
        </p:nvSpPr>
        <p:spPr>
          <a:xfrm>
            <a:off x="3031676" y="5708887"/>
            <a:ext cx="288032" cy="288032"/>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8EB303E1-9C2E-485A-A5A3-624EC6102116}"/>
              </a:ext>
            </a:extLst>
          </p:cNvPr>
          <p:cNvGraphicFramePr>
            <a:graphicFrameLocks noGrp="1"/>
          </p:cNvGraphicFramePr>
          <p:nvPr>
            <p:extLst>
              <p:ext uri="{D42A27DB-BD31-4B8C-83A1-F6EECF244321}">
                <p14:modId xmlns:p14="http://schemas.microsoft.com/office/powerpoint/2010/main" val="815414126"/>
              </p:ext>
            </p:extLst>
          </p:nvPr>
        </p:nvGraphicFramePr>
        <p:xfrm>
          <a:off x="2495600" y="332656"/>
          <a:ext cx="9361040" cy="6120678"/>
        </p:xfrm>
        <a:graphic>
          <a:graphicData uri="http://schemas.openxmlformats.org/drawingml/2006/table">
            <a:tbl>
              <a:tblPr>
                <a:tableStyleId>{5C22544A-7EE6-4342-B048-85BDC9FD1C3A}</a:tableStyleId>
              </a:tblPr>
              <a:tblGrid>
                <a:gridCol w="1656264">
                  <a:extLst>
                    <a:ext uri="{9D8B030D-6E8A-4147-A177-3AD203B41FA5}">
                      <a16:colId xmlns:a16="http://schemas.microsoft.com/office/drawing/2014/main" val="3845965344"/>
                    </a:ext>
                  </a:extLst>
                </a:gridCol>
                <a:gridCol w="3553631">
                  <a:extLst>
                    <a:ext uri="{9D8B030D-6E8A-4147-A177-3AD203B41FA5}">
                      <a16:colId xmlns:a16="http://schemas.microsoft.com/office/drawing/2014/main" val="523139336"/>
                    </a:ext>
                  </a:extLst>
                </a:gridCol>
                <a:gridCol w="1519990">
                  <a:extLst>
                    <a:ext uri="{9D8B030D-6E8A-4147-A177-3AD203B41FA5}">
                      <a16:colId xmlns:a16="http://schemas.microsoft.com/office/drawing/2014/main" val="257200027"/>
                    </a:ext>
                  </a:extLst>
                </a:gridCol>
                <a:gridCol w="1016820">
                  <a:extLst>
                    <a:ext uri="{9D8B030D-6E8A-4147-A177-3AD203B41FA5}">
                      <a16:colId xmlns:a16="http://schemas.microsoft.com/office/drawing/2014/main" val="3087291876"/>
                    </a:ext>
                  </a:extLst>
                </a:gridCol>
                <a:gridCol w="1614335">
                  <a:extLst>
                    <a:ext uri="{9D8B030D-6E8A-4147-A177-3AD203B41FA5}">
                      <a16:colId xmlns:a16="http://schemas.microsoft.com/office/drawing/2014/main" val="3729277925"/>
                    </a:ext>
                  </a:extLst>
                </a:gridCol>
              </a:tblGrid>
              <a:tr h="327309">
                <a:tc gridSpan="5">
                  <a:txBody>
                    <a:bodyPr/>
                    <a:lstStyle/>
                    <a:p>
                      <a:pPr algn="ctr" fontAlgn="ctr"/>
                      <a:r>
                        <a:rPr lang="zh-CN" altLang="en-US" sz="1100" u="none" strike="noStrike" dirty="0">
                          <a:effectLst/>
                        </a:rPr>
                        <a:t>固定资产验收单（卡片）</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81713283"/>
                  </a:ext>
                </a:extLst>
              </a:tr>
              <a:tr h="327309">
                <a:tc gridSpan="2">
                  <a:txBody>
                    <a:bodyPr/>
                    <a:lstStyle/>
                    <a:p>
                      <a:pPr algn="l" fontAlgn="ctr"/>
                      <a:r>
                        <a:rPr lang="zh-CN" altLang="en-US" sz="1000" u="none" strike="noStrike" dirty="0">
                          <a:effectLst/>
                        </a:rPr>
                        <a:t>验收单号：</a:t>
                      </a:r>
                      <a:r>
                        <a:rPr lang="en-US" altLang="zh-CN" sz="1000" u="none" strike="noStrike" dirty="0">
                          <a:effectLst/>
                        </a:rPr>
                        <a:t>_____________________________________________</a:t>
                      </a:r>
                      <a:endParaRPr lang="en-US" altLang="zh-CN" sz="1000" b="0" i="0" u="none" strike="noStrike" dirty="0">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gridSpan="3">
                  <a:txBody>
                    <a:bodyPr/>
                    <a:lstStyle/>
                    <a:p>
                      <a:pPr algn="ctr" fontAlgn="ct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55131905"/>
                  </a:ext>
                </a:extLst>
              </a:tr>
              <a:tr h="327309">
                <a:tc gridSpan="2">
                  <a:txBody>
                    <a:bodyPr/>
                    <a:lstStyle/>
                    <a:p>
                      <a:pPr algn="l" fontAlgn="ctr"/>
                      <a:r>
                        <a:rPr lang="zh-CN" altLang="en-US" sz="1000" u="none" strike="noStrike">
                          <a:effectLst/>
                        </a:rPr>
                        <a:t>对应请购单号：</a:t>
                      </a:r>
                      <a:r>
                        <a:rPr lang="en-US" altLang="zh-CN" sz="1000" u="none" strike="noStrike">
                          <a:effectLst/>
                        </a:rPr>
                        <a:t>________________________________________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gridSpan="3">
                  <a:txBody>
                    <a:bodyPr/>
                    <a:lstStyle/>
                    <a:p>
                      <a:pPr algn="ctr" fontAlgn="ctr"/>
                      <a:r>
                        <a:rPr lang="zh-CN" altLang="en-US" sz="1000" u="none" strike="noStrike">
                          <a:effectLst/>
                        </a:rPr>
                        <a:t>对应采购订单</a:t>
                      </a:r>
                      <a:r>
                        <a:rPr lang="en-US" altLang="zh-CN" sz="1000" u="none" strike="noStrike">
                          <a:effectLst/>
                        </a:rPr>
                        <a:t>PO</a:t>
                      </a:r>
                      <a:r>
                        <a:rPr lang="zh-CN" altLang="en-US" sz="1000" u="none" strike="noStrike">
                          <a:effectLst/>
                        </a:rPr>
                        <a:t>号：</a:t>
                      </a:r>
                      <a:r>
                        <a:rPr lang="en-US" altLang="zh-CN" sz="1000" u="none" strike="noStrike">
                          <a:effectLst/>
                        </a:rPr>
                        <a:t>______________________________ </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67808540"/>
                  </a:ext>
                </a:extLst>
              </a:tr>
              <a:tr h="327309">
                <a:tc gridSpan="2">
                  <a:txBody>
                    <a:bodyPr/>
                    <a:lstStyle/>
                    <a:p>
                      <a:pPr algn="l" fontAlgn="ctr"/>
                      <a:r>
                        <a:rPr lang="zh-CN" altLang="en-US" sz="1000" u="none" strike="noStrike">
                          <a:effectLst/>
                        </a:rPr>
                        <a:t>验收日期：</a:t>
                      </a:r>
                      <a:r>
                        <a:rPr lang="en-US" altLang="zh-CN" sz="1000" u="none" strike="noStrike">
                          <a:effectLst/>
                        </a:rPr>
                        <a:t>____________</a:t>
                      </a:r>
                      <a:r>
                        <a:rPr lang="zh-CN" altLang="en-US" sz="1000" u="none" strike="noStrike">
                          <a:effectLst/>
                        </a:rPr>
                        <a:t>年</a:t>
                      </a:r>
                      <a:r>
                        <a:rPr lang="en-US" altLang="zh-CN" sz="1000" u="none" strike="noStrike">
                          <a:effectLst/>
                        </a:rPr>
                        <a:t>__________</a:t>
                      </a:r>
                      <a:r>
                        <a:rPr lang="zh-CN" altLang="en-US" sz="1000" u="none" strike="noStrike">
                          <a:effectLst/>
                        </a:rPr>
                        <a:t>月</a:t>
                      </a:r>
                      <a:r>
                        <a:rPr lang="en-US" altLang="zh-CN" sz="1000" u="none" strike="noStrike">
                          <a:effectLst/>
                        </a:rPr>
                        <a:t>__________</a:t>
                      </a:r>
                      <a:r>
                        <a:rPr lang="zh-CN" altLang="en-US" sz="1000" u="none" strike="noStrike">
                          <a:effectLst/>
                        </a:rPr>
                        <a:t>日</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gridSpan="3">
                  <a:txBody>
                    <a:bodyPr/>
                    <a:lstStyle/>
                    <a:p>
                      <a:pPr algn="ctr" fontAlgn="ctr"/>
                      <a:r>
                        <a:rPr lang="zh-CN" altLang="en-US" sz="1000" u="none" strike="noStrike">
                          <a:effectLst/>
                        </a:rPr>
                        <a:t>供应商名称：</a:t>
                      </a:r>
                      <a:r>
                        <a:rPr lang="en-US" altLang="zh-CN" sz="1000" u="none" strike="noStrike">
                          <a:effectLst/>
                        </a:rPr>
                        <a:t>_______________________________________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932598"/>
                  </a:ext>
                </a:extLst>
              </a:tr>
              <a:tr h="327309">
                <a:tc>
                  <a:txBody>
                    <a:bodyPr/>
                    <a:lstStyle/>
                    <a:p>
                      <a:pPr algn="l" fontAlgn="ctr"/>
                      <a:r>
                        <a:rPr lang="zh-CN" altLang="en-US" sz="1000" u="none" strike="noStrike">
                          <a:effectLst/>
                        </a:rPr>
                        <a:t>资产基础信息</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ctr" fontAlgn="ctr"/>
                      <a:r>
                        <a:rPr lang="zh-CN" altLang="en-US" sz="1000" u="none" strike="noStrike">
                          <a:effectLst/>
                        </a:rPr>
                        <a:t> 内容填写栏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a:txBody>
                    <a:bodyPr/>
                    <a:lstStyle/>
                    <a:p>
                      <a:pPr algn="ctr" fontAlgn="ctr"/>
                      <a:r>
                        <a:rPr lang="zh-CN" altLang="en-US" sz="1000" u="none" strike="noStrike">
                          <a:effectLst/>
                        </a:rPr>
                        <a:t>验收结果</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55169933"/>
                  </a:ext>
                </a:extLst>
              </a:tr>
              <a:tr h="327309">
                <a:tc>
                  <a:txBody>
                    <a:bodyPr/>
                    <a:lstStyle/>
                    <a:p>
                      <a:pPr algn="l" fontAlgn="ctr"/>
                      <a:r>
                        <a:rPr lang="zh-CN" altLang="en-US" sz="1000" u="none" strike="noStrike">
                          <a:effectLst/>
                        </a:rPr>
                        <a:t>资产名称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a:txBody>
                    <a:bodyPr/>
                    <a:lstStyle/>
                    <a:p>
                      <a:pPr algn="l" fontAlgn="ctr"/>
                      <a:r>
                        <a:rPr lang="zh-CN" altLang="en-US" sz="1000" u="none" strike="noStrike">
                          <a:effectLst/>
                        </a:rPr>
                        <a:t>□合格，准予入库投入使用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76475469"/>
                  </a:ext>
                </a:extLst>
              </a:tr>
              <a:tr h="327309">
                <a:tc>
                  <a:txBody>
                    <a:bodyPr/>
                    <a:lstStyle/>
                    <a:p>
                      <a:pPr algn="l" fontAlgn="ctr"/>
                      <a:r>
                        <a:rPr lang="zh-CN" altLang="en-US" sz="1000" u="none" strike="noStrike">
                          <a:effectLst/>
                        </a:rPr>
                        <a:t>规格型号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a:txBody>
                    <a:bodyPr/>
                    <a:lstStyle/>
                    <a:p>
                      <a:pPr algn="l" fontAlgn="ctr"/>
                      <a:r>
                        <a:rPr lang="zh-CN" altLang="en-US" sz="1000" u="none" strike="noStrike">
                          <a:effectLst/>
                        </a:rPr>
                        <a:t>□不合格，需退换货</a:t>
                      </a:r>
                      <a:r>
                        <a:rPr lang="en-US" altLang="zh-CN" sz="1000" u="none" strike="noStrike">
                          <a:effectLst/>
                        </a:rPr>
                        <a:t>/</a:t>
                      </a:r>
                      <a:r>
                        <a:rPr lang="zh-CN" altLang="en-US" sz="1000" u="none" strike="noStrike">
                          <a:effectLst/>
                        </a:rPr>
                        <a:t>维修</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52221527"/>
                  </a:ext>
                </a:extLst>
              </a:tr>
              <a:tr h="327309">
                <a:tc>
                  <a:txBody>
                    <a:bodyPr/>
                    <a:lstStyle/>
                    <a:p>
                      <a:pPr algn="l" fontAlgn="ctr"/>
                      <a:r>
                        <a:rPr lang="zh-CN" altLang="en-US" sz="1000" u="none" strike="noStrike">
                          <a:effectLst/>
                        </a:rPr>
                        <a:t>品牌</a:t>
                      </a:r>
                      <a:r>
                        <a:rPr lang="en-US" altLang="zh-CN" sz="1000" u="none" strike="noStrike">
                          <a:effectLst/>
                        </a:rPr>
                        <a:t>/</a:t>
                      </a:r>
                      <a:r>
                        <a:rPr lang="zh-CN" altLang="en-US" sz="1000" u="none" strike="noStrike">
                          <a:effectLst/>
                        </a:rPr>
                        <a:t>出厂编号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rowSpan="5" gridSpan="3">
                  <a:txBody>
                    <a:bodyPr/>
                    <a:lstStyle/>
                    <a:p>
                      <a:pPr algn="l" fontAlgn="t"/>
                      <a:r>
                        <a:rPr lang="zh-CN" altLang="en-US" sz="1000" u="none" strike="noStrike" dirty="0">
                          <a:effectLst/>
                        </a:rPr>
                        <a:t>问题描述：</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7598" marR="7598" marT="7598" marB="0"/>
                </a:tc>
                <a:tc rowSpan="5" hMerge="1">
                  <a:txBody>
                    <a:bodyPr/>
                    <a:lstStyle/>
                    <a:p>
                      <a:endParaRPr lang="zh-CN" altLang="en-US"/>
                    </a:p>
                  </a:txBody>
                  <a:tcPr/>
                </a:tc>
                <a:tc rowSpan="5" hMerge="1">
                  <a:txBody>
                    <a:bodyPr/>
                    <a:lstStyle/>
                    <a:p>
                      <a:endParaRPr lang="zh-CN" altLang="en-US"/>
                    </a:p>
                  </a:txBody>
                  <a:tcPr/>
                </a:tc>
                <a:extLst>
                  <a:ext uri="{0D108BD9-81ED-4DB2-BD59-A6C34878D82A}">
                    <a16:rowId xmlns:a16="http://schemas.microsoft.com/office/drawing/2014/main" val="2314092225"/>
                  </a:ext>
                </a:extLst>
              </a:tr>
              <a:tr h="556425">
                <a:tc>
                  <a:txBody>
                    <a:bodyPr/>
                    <a:lstStyle/>
                    <a:p>
                      <a:pPr algn="l" fontAlgn="ctr"/>
                      <a:r>
                        <a:rPr lang="zh-CN" altLang="en-US" sz="1000" u="none" strike="noStrike">
                          <a:effectLst/>
                        </a:rPr>
                        <a:t>资产类别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□电子设备 □机器设备 □运输设备 □办公家具 □仪器设备 □其他</a:t>
                      </a:r>
                      <a:r>
                        <a:rPr lang="en-US" altLang="zh-CN" sz="1000" u="none" strike="noStrike">
                          <a:effectLst/>
                        </a:rPr>
                        <a:t>____ </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842493395"/>
                  </a:ext>
                </a:extLst>
              </a:tr>
              <a:tr h="327309">
                <a:tc>
                  <a:txBody>
                    <a:bodyPr/>
                    <a:lstStyle/>
                    <a:p>
                      <a:pPr algn="l" fontAlgn="ctr"/>
                      <a:r>
                        <a:rPr lang="zh-CN" altLang="en-US" sz="1000" u="none" strike="noStrike">
                          <a:effectLst/>
                        </a:rPr>
                        <a:t>申请使用部门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532191423"/>
                  </a:ext>
                </a:extLst>
              </a:tr>
              <a:tr h="327309">
                <a:tc>
                  <a:txBody>
                    <a:bodyPr/>
                    <a:lstStyle/>
                    <a:p>
                      <a:pPr algn="l" fontAlgn="ctr"/>
                      <a:r>
                        <a:rPr lang="zh-CN" altLang="en-US" sz="1000" u="none" strike="noStrike">
                          <a:effectLst/>
                        </a:rPr>
                        <a:t>合同约定数量</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实收数量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807678107"/>
                  </a:ext>
                </a:extLst>
              </a:tr>
              <a:tr h="327309">
                <a:tc>
                  <a:txBody>
                    <a:bodyPr/>
                    <a:lstStyle/>
                    <a:p>
                      <a:pPr algn="l" fontAlgn="ctr"/>
                      <a:r>
                        <a:rPr lang="zh-CN" altLang="en-US" sz="1000" u="none" strike="noStrike">
                          <a:effectLst/>
                        </a:rPr>
                        <a:t>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025232165"/>
                  </a:ext>
                </a:extLst>
              </a:tr>
              <a:tr h="327309">
                <a:tc>
                  <a:txBody>
                    <a:bodyPr/>
                    <a:lstStyle/>
                    <a:p>
                      <a:pPr algn="l" fontAlgn="ctr"/>
                      <a:r>
                        <a:rPr lang="zh-CN" altLang="en-US" sz="1000" u="none" strike="noStrike">
                          <a:effectLst/>
                        </a:rPr>
                        <a:t>含税采购总价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税率</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签字确认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ctr" fontAlgn="ctr"/>
                      <a:r>
                        <a:rPr lang="zh-CN" altLang="en-US" sz="1000" u="none" strike="noStrike">
                          <a:effectLst/>
                        </a:rPr>
                        <a:t>签字</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ctr" fontAlgn="ctr"/>
                      <a:r>
                        <a:rPr lang="zh-CN" altLang="en-US" sz="1000" u="none" strike="noStrike">
                          <a:effectLst/>
                        </a:rPr>
                        <a:t>日期</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303702995"/>
                  </a:ext>
                </a:extLst>
              </a:tr>
              <a:tr h="327309">
                <a:tc>
                  <a:txBody>
                    <a:bodyPr/>
                    <a:lstStyle/>
                    <a:p>
                      <a:pPr algn="l" fontAlgn="ctr"/>
                      <a:r>
                        <a:rPr lang="zh-CN" altLang="en-US" sz="1000" u="none" strike="noStrike">
                          <a:effectLst/>
                        </a:rPr>
                        <a:t>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使用部门验收人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2330216466"/>
                  </a:ext>
                </a:extLst>
              </a:tr>
              <a:tr h="327309">
                <a:tc>
                  <a:txBody>
                    <a:bodyPr/>
                    <a:lstStyle/>
                    <a:p>
                      <a:pPr algn="l" fontAlgn="ctr"/>
                      <a:r>
                        <a:rPr lang="zh-CN" altLang="en-US" sz="1000" u="none" strike="noStrike">
                          <a:effectLst/>
                        </a:rPr>
                        <a:t>预计使用年限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残值率</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采购经办人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2056534172"/>
                  </a:ext>
                </a:extLst>
              </a:tr>
              <a:tr h="327309">
                <a:tc>
                  <a:txBody>
                    <a:bodyPr/>
                    <a:lstStyle/>
                    <a:p>
                      <a:pPr algn="l" fontAlgn="ctr"/>
                      <a:r>
                        <a:rPr lang="zh-CN" altLang="en-US" sz="1000" u="none" strike="noStrike">
                          <a:effectLst/>
                        </a:rPr>
                        <a:t>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仓库保管登记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3055298738"/>
                  </a:ext>
                </a:extLst>
              </a:tr>
              <a:tr h="327309">
                <a:tc>
                  <a:txBody>
                    <a:bodyPr/>
                    <a:lstStyle/>
                    <a:p>
                      <a:pPr algn="l" fontAlgn="ctr"/>
                      <a:r>
                        <a:rPr lang="zh-CN" altLang="en-US" sz="1000" u="none" strike="noStrike">
                          <a:effectLst/>
                        </a:rPr>
                        <a:t>配件、资料验收明细</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配套配件</a:t>
                      </a:r>
                      <a:r>
                        <a:rPr lang="en-US" altLang="zh-CN" sz="1000" u="none" strike="noStrike">
                          <a:effectLst/>
                        </a:rPr>
                        <a:t>/</a:t>
                      </a:r>
                      <a:r>
                        <a:rPr lang="zh-CN" altLang="en-US" sz="1000" u="none" strike="noStrike">
                          <a:effectLst/>
                        </a:rPr>
                        <a:t>说明书</a:t>
                      </a:r>
                      <a:r>
                        <a:rPr lang="en-US" altLang="zh-CN" sz="1000" u="none" strike="noStrike">
                          <a:effectLst/>
                        </a:rPr>
                        <a:t>/</a:t>
                      </a:r>
                      <a:r>
                        <a:rPr lang="zh-CN" altLang="en-US" sz="1000" u="none" strike="noStrike">
                          <a:effectLst/>
                        </a:rPr>
                        <a:t>合格证</a:t>
                      </a:r>
                      <a:r>
                        <a:rPr lang="en-US" altLang="zh-CN" sz="1000" u="none" strike="noStrike">
                          <a:effectLst/>
                        </a:rPr>
                        <a:t>/</a:t>
                      </a:r>
                      <a:r>
                        <a:rPr lang="zh-CN" altLang="en-US" sz="1000" u="none" strike="noStrike">
                          <a:effectLst/>
                        </a:rPr>
                        <a:t>保修卡</a:t>
                      </a:r>
                      <a:r>
                        <a:rPr lang="en-US" altLang="zh-CN" sz="1000" u="none" strike="noStrike">
                          <a:effectLst/>
                        </a:rPr>
                        <a:t>/</a:t>
                      </a:r>
                      <a:r>
                        <a:rPr lang="zh-CN" altLang="en-US" sz="1000" u="none" strike="noStrike">
                          <a:effectLst/>
                        </a:rPr>
                        <a:t>发票等资料</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财务入账备案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365591683"/>
                  </a:ext>
                </a:extLst>
              </a:tr>
              <a:tr h="327309">
                <a:tc gridSpan="2">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hMerge="1">
                  <a:txBody>
                    <a:bodyPr/>
                    <a:lstStyle/>
                    <a:p>
                      <a:endParaRPr lang="zh-CN" altLang="en-US"/>
                    </a:p>
                  </a:txBody>
                  <a:tcPr/>
                </a:tc>
                <a:tc>
                  <a:txBody>
                    <a:bodyPr/>
                    <a:lstStyle/>
                    <a:p>
                      <a:pPr algn="l" fontAlgn="ctr"/>
                      <a:r>
                        <a:rPr lang="zh-CN" altLang="en-US" sz="1000" u="none" strike="noStrike">
                          <a:effectLst/>
                        </a:rPr>
                        <a:t>部门负责人审批</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598" marR="7598" marT="7598" marB="0" anchor="ctr"/>
                </a:tc>
                <a:tc>
                  <a:txBody>
                    <a:bodyPr/>
                    <a:lstStyle/>
                    <a:p>
                      <a:pPr algn="l" fontAlgn="ctr"/>
                      <a:r>
                        <a:rPr lang="zh-CN" altLang="en-US" sz="1000" u="none" strike="noStrike" dirty="0">
                          <a:effectLst/>
                        </a:rPr>
                        <a:t>　</a:t>
                      </a:r>
                      <a:endParaRPr lang="zh-CN" altLang="en-US" sz="1000" b="0" i="0" u="none" strike="noStrike" dirty="0">
                        <a:solidFill>
                          <a:srgbClr val="000000"/>
                        </a:solidFill>
                        <a:effectLst/>
                        <a:latin typeface="等线" panose="02010600030101010101" pitchFamily="2" charset="-122"/>
                        <a:ea typeface="等线" panose="02010600030101010101" pitchFamily="2" charset="-122"/>
                      </a:endParaRPr>
                    </a:p>
                  </a:txBody>
                  <a:tcPr marL="7598" marR="7598" marT="7598" marB="0" anchor="ctr"/>
                </a:tc>
                <a:extLst>
                  <a:ext uri="{0D108BD9-81ED-4DB2-BD59-A6C34878D82A}">
                    <a16:rowId xmlns:a16="http://schemas.microsoft.com/office/drawing/2014/main" val="4023627895"/>
                  </a:ext>
                </a:extLst>
              </a:tr>
            </a:tbl>
          </a:graphicData>
        </a:graphic>
      </p:graphicFrame>
      <p:sp>
        <p:nvSpPr>
          <p:cNvPr id="4" name="文本框 3">
            <a:extLst>
              <a:ext uri="{FF2B5EF4-FFF2-40B4-BE49-F238E27FC236}">
                <a16:creationId xmlns:a16="http://schemas.microsoft.com/office/drawing/2014/main" id="{BDFA3C20-8055-41E6-B406-BFC98DE0A31E}"/>
              </a:ext>
            </a:extLst>
          </p:cNvPr>
          <p:cNvSpPr txBox="1"/>
          <p:nvPr/>
        </p:nvSpPr>
        <p:spPr>
          <a:xfrm>
            <a:off x="3702" y="85458"/>
            <a:ext cx="3572018" cy="461665"/>
          </a:xfrm>
          <a:prstGeom prst="rect">
            <a:avLst/>
          </a:prstGeom>
          <a:solidFill>
            <a:srgbClr val="FFFF00"/>
          </a:solidFill>
        </p:spPr>
        <p:txBody>
          <a:bodyPr wrap="square" rtlCol="0">
            <a:spAutoFit/>
          </a:bodyPr>
          <a:lstStyle/>
          <a:p>
            <a:r>
              <a:rPr lang="zh-CN" altLang="en-US" sz="2400" b="1" dirty="0">
                <a:solidFill>
                  <a:srgbClr val="FF0000"/>
                </a:solidFill>
              </a:rPr>
              <a:t>固定资产验收单</a:t>
            </a:r>
            <a:r>
              <a:rPr lang="en-US" altLang="zh-CN" sz="2400" b="1" dirty="0">
                <a:solidFill>
                  <a:srgbClr val="FF0000"/>
                </a:solidFill>
              </a:rPr>
              <a:t>2-1</a:t>
            </a:r>
            <a:endParaRPr lang="zh-CN" altLang="en-US" sz="2400" b="1" dirty="0">
              <a:solidFill>
                <a:srgbClr val="FF0000"/>
              </a:solidFill>
            </a:endParaRPr>
          </a:p>
        </p:txBody>
      </p:sp>
    </p:spTree>
    <p:extLst>
      <p:ext uri="{BB962C8B-B14F-4D97-AF65-F5344CB8AC3E}">
        <p14:creationId xmlns:p14="http://schemas.microsoft.com/office/powerpoint/2010/main" val="352910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4F3EC700-A769-4C5C-AECE-F2E78F530C1B}"/>
              </a:ext>
            </a:extLst>
          </p:cNvPr>
          <p:cNvGraphicFramePr>
            <a:graphicFrameLocks noGrp="1"/>
          </p:cNvGraphicFramePr>
          <p:nvPr>
            <p:extLst>
              <p:ext uri="{D42A27DB-BD31-4B8C-83A1-F6EECF244321}">
                <p14:modId xmlns:p14="http://schemas.microsoft.com/office/powerpoint/2010/main" val="3682709176"/>
              </p:ext>
            </p:extLst>
          </p:nvPr>
        </p:nvGraphicFramePr>
        <p:xfrm>
          <a:off x="2783632" y="332656"/>
          <a:ext cx="9073008" cy="6192689"/>
        </p:xfrm>
        <a:graphic>
          <a:graphicData uri="http://schemas.openxmlformats.org/drawingml/2006/table">
            <a:tbl>
              <a:tblPr>
                <a:tableStyleId>{5C22544A-7EE6-4342-B048-85BDC9FD1C3A}</a:tableStyleId>
              </a:tblPr>
              <a:tblGrid>
                <a:gridCol w="661555">
                  <a:extLst>
                    <a:ext uri="{9D8B030D-6E8A-4147-A177-3AD203B41FA5}">
                      <a16:colId xmlns:a16="http://schemas.microsoft.com/office/drawing/2014/main" val="784078638"/>
                    </a:ext>
                  </a:extLst>
                </a:gridCol>
                <a:gridCol w="879077">
                  <a:extLst>
                    <a:ext uri="{9D8B030D-6E8A-4147-A177-3AD203B41FA5}">
                      <a16:colId xmlns:a16="http://schemas.microsoft.com/office/drawing/2014/main" val="3540159420"/>
                    </a:ext>
                  </a:extLst>
                </a:gridCol>
                <a:gridCol w="771215">
                  <a:extLst>
                    <a:ext uri="{9D8B030D-6E8A-4147-A177-3AD203B41FA5}">
                      <a16:colId xmlns:a16="http://schemas.microsoft.com/office/drawing/2014/main" val="648092973"/>
                    </a:ext>
                  </a:extLst>
                </a:gridCol>
                <a:gridCol w="675937">
                  <a:extLst>
                    <a:ext uri="{9D8B030D-6E8A-4147-A177-3AD203B41FA5}">
                      <a16:colId xmlns:a16="http://schemas.microsoft.com/office/drawing/2014/main" val="815996018"/>
                    </a:ext>
                  </a:extLst>
                </a:gridCol>
                <a:gridCol w="776608">
                  <a:extLst>
                    <a:ext uri="{9D8B030D-6E8A-4147-A177-3AD203B41FA5}">
                      <a16:colId xmlns:a16="http://schemas.microsoft.com/office/drawing/2014/main" val="1292127683"/>
                    </a:ext>
                  </a:extLst>
                </a:gridCol>
                <a:gridCol w="776608">
                  <a:extLst>
                    <a:ext uri="{9D8B030D-6E8A-4147-A177-3AD203B41FA5}">
                      <a16:colId xmlns:a16="http://schemas.microsoft.com/office/drawing/2014/main" val="727685412"/>
                    </a:ext>
                  </a:extLst>
                </a:gridCol>
                <a:gridCol w="474594">
                  <a:extLst>
                    <a:ext uri="{9D8B030D-6E8A-4147-A177-3AD203B41FA5}">
                      <a16:colId xmlns:a16="http://schemas.microsoft.com/office/drawing/2014/main" val="2545202184"/>
                    </a:ext>
                  </a:extLst>
                </a:gridCol>
                <a:gridCol w="641779">
                  <a:extLst>
                    <a:ext uri="{9D8B030D-6E8A-4147-A177-3AD203B41FA5}">
                      <a16:colId xmlns:a16="http://schemas.microsoft.com/office/drawing/2014/main" val="681112015"/>
                    </a:ext>
                  </a:extLst>
                </a:gridCol>
                <a:gridCol w="460212">
                  <a:extLst>
                    <a:ext uri="{9D8B030D-6E8A-4147-A177-3AD203B41FA5}">
                      <a16:colId xmlns:a16="http://schemas.microsoft.com/office/drawing/2014/main" val="2121773954"/>
                    </a:ext>
                  </a:extLst>
                </a:gridCol>
                <a:gridCol w="424259">
                  <a:extLst>
                    <a:ext uri="{9D8B030D-6E8A-4147-A177-3AD203B41FA5}">
                      <a16:colId xmlns:a16="http://schemas.microsoft.com/office/drawing/2014/main" val="497093458"/>
                    </a:ext>
                  </a:extLst>
                </a:gridCol>
                <a:gridCol w="1265582">
                  <a:extLst>
                    <a:ext uri="{9D8B030D-6E8A-4147-A177-3AD203B41FA5}">
                      <a16:colId xmlns:a16="http://schemas.microsoft.com/office/drawing/2014/main" val="2985191477"/>
                    </a:ext>
                  </a:extLst>
                </a:gridCol>
                <a:gridCol w="1265582">
                  <a:extLst>
                    <a:ext uri="{9D8B030D-6E8A-4147-A177-3AD203B41FA5}">
                      <a16:colId xmlns:a16="http://schemas.microsoft.com/office/drawing/2014/main" val="3680450068"/>
                    </a:ext>
                  </a:extLst>
                </a:gridCol>
              </a:tblGrid>
              <a:tr h="559748">
                <a:tc gridSpan="11">
                  <a:txBody>
                    <a:bodyPr/>
                    <a:lstStyle/>
                    <a:p>
                      <a:pPr algn="ctr" fontAlgn="ctr"/>
                      <a:r>
                        <a:rPr lang="zh-CN" altLang="en-US" sz="700" u="none" strike="noStrike">
                          <a:effectLst/>
                        </a:rPr>
                        <a:t>商品</a:t>
                      </a:r>
                      <a:r>
                        <a:rPr lang="en-US" altLang="zh-CN" sz="700" u="none" strike="noStrike">
                          <a:effectLst/>
                        </a:rPr>
                        <a:t>/</a:t>
                      </a:r>
                      <a:r>
                        <a:rPr lang="zh-CN" altLang="en-US" sz="700" u="none" strike="noStrike">
                          <a:effectLst/>
                        </a:rPr>
                        <a:t>材料</a:t>
                      </a:r>
                      <a:r>
                        <a:rPr lang="en-US" altLang="zh-CN" sz="700" u="none" strike="noStrike">
                          <a:effectLst/>
                        </a:rPr>
                        <a:t>/</a:t>
                      </a:r>
                      <a:r>
                        <a:rPr lang="zh-CN" altLang="en-US" sz="700" u="none" strike="noStrike">
                          <a:effectLst/>
                        </a:rPr>
                        <a:t>物料</a:t>
                      </a:r>
                      <a:r>
                        <a:rPr lang="en-US" altLang="zh-CN" sz="700" u="none" strike="noStrike">
                          <a:effectLst/>
                        </a:rPr>
                        <a:t>/</a:t>
                      </a:r>
                      <a:r>
                        <a:rPr lang="zh-CN" altLang="en-US" sz="700" u="none" strike="noStrike">
                          <a:effectLst/>
                        </a:rPr>
                        <a:t>服务入库单</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704253279"/>
                  </a:ext>
                </a:extLst>
              </a:tr>
              <a:tr h="533402">
                <a:tc>
                  <a:txBody>
                    <a:bodyPr/>
                    <a:lstStyle/>
                    <a:p>
                      <a:pPr algn="l" fontAlgn="ctr"/>
                      <a:r>
                        <a:rPr lang="zh-CN" altLang="en-US" sz="600" u="none" strike="noStrike">
                          <a:effectLst/>
                        </a:rPr>
                        <a:t>验收单号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对应请购单号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对应采购订单</a:t>
                      </a:r>
                      <a:r>
                        <a:rPr lang="en-US" altLang="zh-CN" sz="600" u="none" strike="noStrike">
                          <a:effectLst/>
                        </a:rPr>
                        <a:t>PO</a:t>
                      </a:r>
                      <a:r>
                        <a:rPr lang="zh-CN" altLang="en-US" sz="600" u="none" strike="noStrike">
                          <a:effectLst/>
                        </a:rPr>
                        <a:t>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验收日期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gridSpan="2">
                  <a:txBody>
                    <a:bodyPr/>
                    <a:lstStyle/>
                    <a:p>
                      <a:pPr algn="l" fontAlgn="ctr"/>
                      <a:r>
                        <a:rPr lang="en-US" altLang="zh-CN" sz="600" u="none" strike="noStrike">
                          <a:effectLst/>
                        </a:rPr>
                        <a:t>______</a:t>
                      </a:r>
                      <a:r>
                        <a:rPr lang="zh-CN" altLang="en-US" sz="600" u="none" strike="noStrike">
                          <a:effectLst/>
                        </a:rPr>
                        <a:t>年</a:t>
                      </a:r>
                      <a:r>
                        <a:rPr lang="en-US" altLang="zh-CN" sz="600" u="none" strike="noStrike">
                          <a:effectLst/>
                        </a:rPr>
                        <a:t>______</a:t>
                      </a:r>
                      <a:r>
                        <a:rPr lang="zh-CN" altLang="en-US" sz="600" u="none" strike="noStrike">
                          <a:effectLst/>
                        </a:rPr>
                        <a:t>月</a:t>
                      </a:r>
                      <a:r>
                        <a:rPr lang="en-US" altLang="zh-CN" sz="600" u="none" strike="noStrike">
                          <a:effectLst/>
                        </a:rPr>
                        <a:t>_____</a:t>
                      </a:r>
                      <a:r>
                        <a:rPr lang="zh-CN" altLang="en-US" sz="600" u="none" strike="noStrike">
                          <a:effectLst/>
                        </a:rPr>
                        <a:t>日</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496729943"/>
                  </a:ext>
                </a:extLst>
              </a:tr>
              <a:tr h="533402">
                <a:tc>
                  <a:txBody>
                    <a:bodyPr/>
                    <a:lstStyle/>
                    <a:p>
                      <a:pPr algn="l" fontAlgn="ctr"/>
                      <a:r>
                        <a:rPr lang="zh-CN" altLang="en-US" sz="600" u="none" strike="noStrike">
                          <a:effectLst/>
                        </a:rPr>
                        <a:t>供应商名称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____________________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收货仓库</a:t>
                      </a:r>
                      <a:r>
                        <a:rPr lang="en-US" altLang="zh-CN" sz="600" u="none" strike="noStrike">
                          <a:effectLst/>
                        </a:rPr>
                        <a:t>/</a:t>
                      </a:r>
                      <a:r>
                        <a:rPr lang="zh-CN" altLang="en-US" sz="600" u="none" strike="noStrike">
                          <a:effectLst/>
                        </a:rPr>
                        <a:t>归属部门</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采购经办人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en-US" altLang="zh-CN" sz="600" u="none" strike="noStrike">
                          <a:effectLst/>
                        </a:rPr>
                        <a:t>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1306064367"/>
                  </a:ext>
                </a:extLst>
              </a:tr>
              <a:tr h="559748">
                <a:tc>
                  <a:txBody>
                    <a:bodyPr/>
                    <a:lstStyle/>
                    <a:p>
                      <a:pPr algn="ctr" fontAlgn="ctr"/>
                      <a:r>
                        <a:rPr lang="zh-CN" altLang="en-US" sz="600" u="none" strike="noStrike">
                          <a:effectLst/>
                        </a:rPr>
                        <a:t>序号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商品</a:t>
                      </a:r>
                      <a:r>
                        <a:rPr lang="en-US" altLang="zh-CN" sz="600" u="none" strike="noStrike">
                          <a:effectLst/>
                        </a:rPr>
                        <a:t>/</a:t>
                      </a:r>
                      <a:r>
                        <a:rPr lang="zh-CN" altLang="en-US" sz="600" u="none" strike="noStrike">
                          <a:effectLst/>
                        </a:rPr>
                        <a:t>材料</a:t>
                      </a:r>
                      <a:r>
                        <a:rPr lang="en-US" altLang="zh-CN" sz="600" u="none" strike="noStrike">
                          <a:effectLst/>
                        </a:rPr>
                        <a:t>/</a:t>
                      </a:r>
                      <a:r>
                        <a:rPr lang="zh-CN" altLang="en-US" sz="600" u="none" strike="noStrike">
                          <a:effectLst/>
                        </a:rPr>
                        <a:t>物料</a:t>
                      </a:r>
                      <a:r>
                        <a:rPr lang="en-US" altLang="zh-CN" sz="600" u="none" strike="noStrike">
                          <a:effectLst/>
                        </a:rPr>
                        <a:t>/</a:t>
                      </a:r>
                      <a:r>
                        <a:rPr lang="zh-CN" altLang="en-US" sz="600" u="none" strike="noStrike">
                          <a:effectLst/>
                        </a:rPr>
                        <a:t>服务名称</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规格型号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单位</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订单订购数量</a:t>
                      </a:r>
                      <a:r>
                        <a:rPr lang="en-US" altLang="zh-CN" sz="600" u="none" strike="noStrike">
                          <a:effectLst/>
                        </a:rPr>
                        <a:t>/</a:t>
                      </a:r>
                      <a:r>
                        <a:rPr lang="zh-CN" altLang="en-US" sz="600" u="none" strike="noStrike">
                          <a:effectLst/>
                        </a:rPr>
                        <a:t>约定服务内容</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实际到货</a:t>
                      </a:r>
                      <a:r>
                        <a:rPr lang="en-US" altLang="zh-CN" sz="600" u="none" strike="noStrike">
                          <a:effectLst/>
                        </a:rPr>
                        <a:t>/</a:t>
                      </a:r>
                      <a:r>
                        <a:rPr lang="zh-CN" altLang="en-US" sz="600" u="none" strike="noStrike">
                          <a:effectLst/>
                        </a:rPr>
                        <a:t>完成数量</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合格数量 </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不合格</a:t>
                      </a:r>
                      <a:r>
                        <a:rPr lang="en-US" altLang="zh-CN" sz="600" u="none" strike="noStrike">
                          <a:effectLst/>
                        </a:rPr>
                        <a:t>/</a:t>
                      </a:r>
                      <a:r>
                        <a:rPr lang="zh-CN" altLang="en-US" sz="600" u="none" strike="noStrike">
                          <a:effectLst/>
                        </a:rPr>
                        <a:t>需退换数量</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含税单价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含税金额 </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备注</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3640126857"/>
                  </a:ext>
                </a:extLst>
              </a:tr>
              <a:tr h="496141">
                <a:tc>
                  <a:txBody>
                    <a:bodyPr/>
                    <a:lstStyle/>
                    <a:p>
                      <a:pPr algn="ctr" fontAlgn="ctr"/>
                      <a:r>
                        <a:rPr lang="en-US" altLang="zh-CN" sz="600" u="none" strike="noStrike">
                          <a:effectLst/>
                        </a:rPr>
                        <a:t>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4254728619"/>
                  </a:ext>
                </a:extLst>
              </a:tr>
              <a:tr h="496141">
                <a:tc>
                  <a:txBody>
                    <a:bodyPr/>
                    <a:lstStyle/>
                    <a:p>
                      <a:pPr algn="ctr" fontAlgn="ctr"/>
                      <a:r>
                        <a:rPr lang="en-US" altLang="zh-CN" sz="600" u="none" strike="noStrike">
                          <a:effectLst/>
                        </a:rPr>
                        <a:t>2</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116116158"/>
                  </a:ext>
                </a:extLst>
              </a:tr>
              <a:tr h="496141">
                <a:tc>
                  <a:txBody>
                    <a:bodyPr/>
                    <a:lstStyle/>
                    <a:p>
                      <a:pPr algn="ctr" fontAlgn="ctr"/>
                      <a:r>
                        <a:rPr lang="en-US" altLang="zh-CN" sz="600" u="none" strike="noStrike">
                          <a:effectLst/>
                        </a:rPr>
                        <a:t>3</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3442730875"/>
                  </a:ext>
                </a:extLst>
              </a:tr>
              <a:tr h="533402">
                <a:tc>
                  <a:txBody>
                    <a:bodyPr/>
                    <a:lstStyle/>
                    <a:p>
                      <a:pPr algn="l" fontAlgn="ctr"/>
                      <a:r>
                        <a:rPr lang="zh-CN" altLang="en-US" sz="600" u="none" strike="noStrike">
                          <a:effectLst/>
                        </a:rPr>
                        <a:t>合计含税总金额          </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小写总金额</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gridSpan="3">
                  <a:txBody>
                    <a:bodyPr/>
                    <a:lstStyle/>
                    <a:p>
                      <a:pPr algn="l" fontAlgn="ctr"/>
                      <a:r>
                        <a:rPr lang="zh-CN" altLang="en-US" sz="600" u="none" strike="noStrike">
                          <a:effectLst/>
                        </a:rPr>
                        <a:t>￥</a:t>
                      </a:r>
                      <a:r>
                        <a:rPr lang="en-US" altLang="zh-CN" sz="600" u="none" strike="noStrike">
                          <a:effectLst/>
                        </a:rPr>
                        <a:t>_________________________________________________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大写总金额</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gridSpan="5">
                  <a:txBody>
                    <a:bodyPr/>
                    <a:lstStyle/>
                    <a:p>
                      <a:pPr algn="l" fontAlgn="ctr"/>
                      <a:r>
                        <a:rPr lang="zh-CN" altLang="en-US" sz="600" u="none" strike="noStrike">
                          <a:effectLst/>
                        </a:rPr>
                        <a:t>人民币</a:t>
                      </a:r>
                      <a:r>
                        <a:rPr lang="en-US" altLang="zh-CN" sz="600" u="none" strike="noStrike">
                          <a:effectLst/>
                        </a:rPr>
                        <a:t>_______________________________________________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3194618212"/>
                  </a:ext>
                </a:extLst>
              </a:tr>
              <a:tr h="496141">
                <a:tc rowSpan="4">
                  <a:txBody>
                    <a:bodyPr/>
                    <a:lstStyle/>
                    <a:p>
                      <a:pPr algn="ctr" fontAlgn="ctr"/>
                      <a:r>
                        <a:rPr lang="zh-CN" altLang="en-US" sz="600" u="none" strike="noStrike">
                          <a:effectLst/>
                        </a:rPr>
                        <a:t>资料附件核对</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rowSpan="4" gridSpan="2">
                  <a:txBody>
                    <a:bodyPr/>
                    <a:lstStyle/>
                    <a:p>
                      <a:pPr algn="l" fontAlgn="ctr"/>
                      <a:r>
                        <a:rPr lang="zh-CN" altLang="en-US" sz="600" u="none" strike="noStrike" dirty="0">
                          <a:effectLst/>
                        </a:rPr>
                        <a:t>发票：□已收 □未收                                                                                                     合格证</a:t>
                      </a:r>
                      <a:r>
                        <a:rPr lang="en-US" altLang="zh-CN" sz="600" u="none" strike="noStrike" dirty="0">
                          <a:effectLst/>
                        </a:rPr>
                        <a:t>/</a:t>
                      </a:r>
                      <a:r>
                        <a:rPr lang="zh-CN" altLang="en-US" sz="600" u="none" strike="noStrike" dirty="0">
                          <a:effectLst/>
                        </a:rPr>
                        <a:t>质检报告：□已收 □未收                                                                                                                                                                                 服务交付：□已完工交付 □部分完工                     特殊说明：</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468" marR="4468" marT="4468" marB="0" anchor="ctr"/>
                </a:tc>
                <a:tc rowSpan="4" hMerge="1">
                  <a:txBody>
                    <a:bodyPr/>
                    <a:lstStyle/>
                    <a:p>
                      <a:endParaRPr lang="zh-CN" altLang="en-US"/>
                    </a:p>
                  </a:txBody>
                  <a:tcPr/>
                </a:tc>
                <a:tc rowSpan="4">
                  <a:txBody>
                    <a:bodyPr/>
                    <a:lstStyle/>
                    <a:p>
                      <a:pPr algn="ctr" fontAlgn="ctr"/>
                      <a:r>
                        <a:rPr lang="zh-CN" altLang="en-US" sz="600" u="none" strike="noStrike">
                          <a:effectLst/>
                        </a:rPr>
                        <a:t>验收结论</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rowSpan="4" gridSpan="3">
                  <a:txBody>
                    <a:bodyPr/>
                    <a:lstStyle/>
                    <a:p>
                      <a:pPr algn="l" fontAlgn="ctr"/>
                      <a:r>
                        <a:rPr lang="zh-CN" altLang="en-US" sz="600" u="none" strike="noStrike">
                          <a:effectLst/>
                        </a:rPr>
                        <a:t>□验收合格，准予入库</a:t>
                      </a:r>
                      <a:r>
                        <a:rPr lang="en-US" altLang="zh-CN" sz="600" u="none" strike="noStrike">
                          <a:effectLst/>
                        </a:rPr>
                        <a:t>/</a:t>
                      </a:r>
                      <a:r>
                        <a:rPr lang="zh-CN" altLang="en-US" sz="600" u="none" strike="noStrike">
                          <a:effectLst/>
                        </a:rPr>
                        <a:t>结算                                            □部分不合格                                                                      处理方案：□退货 □换货 □扣款 □返工重做                                                                                                                       问题详细描述：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rowSpan="4" hMerge="1">
                  <a:txBody>
                    <a:bodyPr/>
                    <a:lstStyle/>
                    <a:p>
                      <a:endParaRPr lang="zh-CN" altLang="en-US"/>
                    </a:p>
                  </a:txBody>
                  <a:tcPr/>
                </a:tc>
                <a:tc rowSpan="4" hMerge="1">
                  <a:txBody>
                    <a:bodyPr/>
                    <a:lstStyle/>
                    <a:p>
                      <a:endParaRPr lang="zh-CN" altLang="en-US"/>
                    </a:p>
                  </a:txBody>
                  <a:tcPr/>
                </a:tc>
                <a:tc gridSpan="2">
                  <a:txBody>
                    <a:bodyPr/>
                    <a:lstStyle/>
                    <a:p>
                      <a:pPr algn="ctr" fontAlgn="ctr"/>
                      <a:r>
                        <a:rPr lang="zh-CN" altLang="en-US" sz="600" u="none" strike="noStrike">
                          <a:effectLst/>
                        </a:rPr>
                        <a:t>签字确认</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a:txBody>
                    <a:bodyPr/>
                    <a:lstStyle/>
                    <a:p>
                      <a:pPr algn="ctr" fontAlgn="ctr"/>
                      <a:r>
                        <a:rPr lang="zh-CN" altLang="en-US" sz="600" u="none" strike="noStrike">
                          <a:effectLst/>
                        </a:rPr>
                        <a:t>签字</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日期</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3703233437"/>
                  </a:ext>
                </a:extLst>
              </a:tr>
              <a:tr h="496141">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zh-CN" altLang="en-US" sz="600" u="none" strike="noStrike">
                          <a:effectLst/>
                        </a:rPr>
                        <a:t>验收人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2395766179"/>
                  </a:ext>
                </a:extLst>
              </a:tr>
              <a:tr h="496141">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zh-CN" altLang="en-US" sz="600" u="none" strike="noStrike">
                          <a:effectLst/>
                        </a:rPr>
                        <a:t>仓库</a:t>
                      </a:r>
                      <a:r>
                        <a:rPr lang="en-US" altLang="zh-CN" sz="600" u="none" strike="noStrike">
                          <a:effectLst/>
                        </a:rPr>
                        <a:t>/</a:t>
                      </a:r>
                      <a:r>
                        <a:rPr lang="zh-CN" altLang="en-US" sz="600" u="none" strike="noStrike">
                          <a:effectLst/>
                        </a:rPr>
                        <a:t>使用部门负责人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12047425"/>
                  </a:ext>
                </a:extLst>
              </a:tr>
              <a:tr h="496141">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zh-CN" altLang="en-US" sz="600" u="none" strike="noStrike">
                          <a:effectLst/>
                        </a:rPr>
                        <a:t>财务备案登记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hMerge="1">
                  <a:txBody>
                    <a:bodyPr/>
                    <a:lstStyle/>
                    <a:p>
                      <a:endParaRPr lang="zh-CN" altLang="en-US"/>
                    </a:p>
                  </a:txBody>
                  <a:tcP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468" marR="4468" marT="4468" marB="0" anchor="ctr"/>
                </a:tc>
                <a:tc>
                  <a:txBody>
                    <a:bodyPr/>
                    <a:lstStyle/>
                    <a:p>
                      <a:pPr algn="l" fontAlgn="ctr"/>
                      <a:r>
                        <a:rPr lang="zh-CN" altLang="en-US" sz="600" u="none" strike="noStrike" dirty="0">
                          <a:effectLst/>
                        </a:rPr>
                        <a:t>　</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468" marR="4468" marT="4468" marB="0" anchor="ctr"/>
                </a:tc>
                <a:extLst>
                  <a:ext uri="{0D108BD9-81ED-4DB2-BD59-A6C34878D82A}">
                    <a16:rowId xmlns:a16="http://schemas.microsoft.com/office/drawing/2014/main" val="514580706"/>
                  </a:ext>
                </a:extLst>
              </a:tr>
            </a:tbl>
          </a:graphicData>
        </a:graphic>
      </p:graphicFrame>
      <p:sp>
        <p:nvSpPr>
          <p:cNvPr id="5" name="文本框 4">
            <a:extLst>
              <a:ext uri="{FF2B5EF4-FFF2-40B4-BE49-F238E27FC236}">
                <a16:creationId xmlns:a16="http://schemas.microsoft.com/office/drawing/2014/main" id="{54A9086E-8DAC-4C9C-8FCA-E8025BC6C1E3}"/>
              </a:ext>
            </a:extLst>
          </p:cNvPr>
          <p:cNvSpPr txBox="1"/>
          <p:nvPr/>
        </p:nvSpPr>
        <p:spPr>
          <a:xfrm>
            <a:off x="3702" y="85458"/>
            <a:ext cx="3572018" cy="461665"/>
          </a:xfrm>
          <a:prstGeom prst="rect">
            <a:avLst/>
          </a:prstGeom>
          <a:solidFill>
            <a:srgbClr val="FFFF00"/>
          </a:solidFill>
        </p:spPr>
        <p:txBody>
          <a:bodyPr wrap="square" rtlCol="0">
            <a:spAutoFit/>
          </a:bodyPr>
          <a:lstStyle/>
          <a:p>
            <a:r>
              <a:rPr lang="zh-CN" altLang="en-US" sz="2400" b="1" dirty="0">
                <a:solidFill>
                  <a:srgbClr val="FF0000"/>
                </a:solidFill>
              </a:rPr>
              <a:t>材料</a:t>
            </a:r>
            <a:r>
              <a:rPr lang="en-US" altLang="zh-CN" sz="2400" b="1" dirty="0">
                <a:solidFill>
                  <a:srgbClr val="FF0000"/>
                </a:solidFill>
              </a:rPr>
              <a:t>/</a:t>
            </a:r>
            <a:r>
              <a:rPr lang="zh-CN" altLang="en-US" sz="2400" b="1" dirty="0">
                <a:solidFill>
                  <a:srgbClr val="FF0000"/>
                </a:solidFill>
              </a:rPr>
              <a:t>商品入库验收单</a:t>
            </a:r>
            <a:r>
              <a:rPr lang="en-US" altLang="zh-CN" sz="2400" b="1" dirty="0">
                <a:solidFill>
                  <a:srgbClr val="FF0000"/>
                </a:solidFill>
              </a:rPr>
              <a:t>2-2</a:t>
            </a:r>
            <a:endParaRPr lang="zh-CN" altLang="en-US" sz="2400" b="1" dirty="0">
              <a:solidFill>
                <a:srgbClr val="FF0000"/>
              </a:solidFill>
            </a:endParaRPr>
          </a:p>
        </p:txBody>
      </p:sp>
    </p:spTree>
    <p:extLst>
      <p:ext uri="{BB962C8B-B14F-4D97-AF65-F5344CB8AC3E}">
        <p14:creationId xmlns:p14="http://schemas.microsoft.com/office/powerpoint/2010/main" val="4175508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A3D66925-CB24-4075-861D-DF67A2EDB39C}"/>
              </a:ext>
            </a:extLst>
          </p:cNvPr>
          <p:cNvGraphicFramePr>
            <a:graphicFrameLocks noGrp="1"/>
          </p:cNvGraphicFramePr>
          <p:nvPr>
            <p:extLst>
              <p:ext uri="{D42A27DB-BD31-4B8C-83A1-F6EECF244321}">
                <p14:modId xmlns:p14="http://schemas.microsoft.com/office/powerpoint/2010/main" val="1623618840"/>
              </p:ext>
            </p:extLst>
          </p:nvPr>
        </p:nvGraphicFramePr>
        <p:xfrm>
          <a:off x="2207568" y="260649"/>
          <a:ext cx="9721084" cy="6048668"/>
        </p:xfrm>
        <a:graphic>
          <a:graphicData uri="http://schemas.openxmlformats.org/drawingml/2006/table">
            <a:tbl>
              <a:tblPr>
                <a:tableStyleId>{5C22544A-7EE6-4342-B048-85BDC9FD1C3A}</a:tableStyleId>
              </a:tblPr>
              <a:tblGrid>
                <a:gridCol w="196266">
                  <a:extLst>
                    <a:ext uri="{9D8B030D-6E8A-4147-A177-3AD203B41FA5}">
                      <a16:colId xmlns:a16="http://schemas.microsoft.com/office/drawing/2014/main" val="608724848"/>
                    </a:ext>
                  </a:extLst>
                </a:gridCol>
                <a:gridCol w="356846">
                  <a:extLst>
                    <a:ext uri="{9D8B030D-6E8A-4147-A177-3AD203B41FA5}">
                      <a16:colId xmlns:a16="http://schemas.microsoft.com/office/drawing/2014/main" val="1712197012"/>
                    </a:ext>
                  </a:extLst>
                </a:gridCol>
                <a:gridCol w="362794">
                  <a:extLst>
                    <a:ext uri="{9D8B030D-6E8A-4147-A177-3AD203B41FA5}">
                      <a16:colId xmlns:a16="http://schemas.microsoft.com/office/drawing/2014/main" val="3113542107"/>
                    </a:ext>
                  </a:extLst>
                </a:gridCol>
                <a:gridCol w="356846">
                  <a:extLst>
                    <a:ext uri="{9D8B030D-6E8A-4147-A177-3AD203B41FA5}">
                      <a16:colId xmlns:a16="http://schemas.microsoft.com/office/drawing/2014/main" val="1481118177"/>
                    </a:ext>
                  </a:extLst>
                </a:gridCol>
                <a:gridCol w="594744">
                  <a:extLst>
                    <a:ext uri="{9D8B030D-6E8A-4147-A177-3AD203B41FA5}">
                      <a16:colId xmlns:a16="http://schemas.microsoft.com/office/drawing/2014/main" val="1353000996"/>
                    </a:ext>
                  </a:extLst>
                </a:gridCol>
                <a:gridCol w="356846">
                  <a:extLst>
                    <a:ext uri="{9D8B030D-6E8A-4147-A177-3AD203B41FA5}">
                      <a16:colId xmlns:a16="http://schemas.microsoft.com/office/drawing/2014/main" val="1658936739"/>
                    </a:ext>
                  </a:extLst>
                </a:gridCol>
                <a:gridCol w="356846">
                  <a:extLst>
                    <a:ext uri="{9D8B030D-6E8A-4147-A177-3AD203B41FA5}">
                      <a16:colId xmlns:a16="http://schemas.microsoft.com/office/drawing/2014/main" val="1070206898"/>
                    </a:ext>
                  </a:extLst>
                </a:gridCol>
                <a:gridCol w="356846">
                  <a:extLst>
                    <a:ext uri="{9D8B030D-6E8A-4147-A177-3AD203B41FA5}">
                      <a16:colId xmlns:a16="http://schemas.microsoft.com/office/drawing/2014/main" val="866301994"/>
                    </a:ext>
                  </a:extLst>
                </a:gridCol>
                <a:gridCol w="356846">
                  <a:extLst>
                    <a:ext uri="{9D8B030D-6E8A-4147-A177-3AD203B41FA5}">
                      <a16:colId xmlns:a16="http://schemas.microsoft.com/office/drawing/2014/main" val="1654461000"/>
                    </a:ext>
                  </a:extLst>
                </a:gridCol>
                <a:gridCol w="356846">
                  <a:extLst>
                    <a:ext uri="{9D8B030D-6E8A-4147-A177-3AD203B41FA5}">
                      <a16:colId xmlns:a16="http://schemas.microsoft.com/office/drawing/2014/main" val="1900166588"/>
                    </a:ext>
                  </a:extLst>
                </a:gridCol>
                <a:gridCol w="356846">
                  <a:extLst>
                    <a:ext uri="{9D8B030D-6E8A-4147-A177-3AD203B41FA5}">
                      <a16:colId xmlns:a16="http://schemas.microsoft.com/office/drawing/2014/main" val="2008058892"/>
                    </a:ext>
                  </a:extLst>
                </a:gridCol>
                <a:gridCol w="356846">
                  <a:extLst>
                    <a:ext uri="{9D8B030D-6E8A-4147-A177-3AD203B41FA5}">
                      <a16:colId xmlns:a16="http://schemas.microsoft.com/office/drawing/2014/main" val="1760920762"/>
                    </a:ext>
                  </a:extLst>
                </a:gridCol>
                <a:gridCol w="356846">
                  <a:extLst>
                    <a:ext uri="{9D8B030D-6E8A-4147-A177-3AD203B41FA5}">
                      <a16:colId xmlns:a16="http://schemas.microsoft.com/office/drawing/2014/main" val="4236428493"/>
                    </a:ext>
                  </a:extLst>
                </a:gridCol>
                <a:gridCol w="356846">
                  <a:extLst>
                    <a:ext uri="{9D8B030D-6E8A-4147-A177-3AD203B41FA5}">
                      <a16:colId xmlns:a16="http://schemas.microsoft.com/office/drawing/2014/main" val="1906241348"/>
                    </a:ext>
                  </a:extLst>
                </a:gridCol>
                <a:gridCol w="356846">
                  <a:extLst>
                    <a:ext uri="{9D8B030D-6E8A-4147-A177-3AD203B41FA5}">
                      <a16:colId xmlns:a16="http://schemas.microsoft.com/office/drawing/2014/main" val="895044446"/>
                    </a:ext>
                  </a:extLst>
                </a:gridCol>
                <a:gridCol w="356846">
                  <a:extLst>
                    <a:ext uri="{9D8B030D-6E8A-4147-A177-3AD203B41FA5}">
                      <a16:colId xmlns:a16="http://schemas.microsoft.com/office/drawing/2014/main" val="334758333"/>
                    </a:ext>
                  </a:extLst>
                </a:gridCol>
                <a:gridCol w="356846">
                  <a:extLst>
                    <a:ext uri="{9D8B030D-6E8A-4147-A177-3AD203B41FA5}">
                      <a16:colId xmlns:a16="http://schemas.microsoft.com/office/drawing/2014/main" val="495689859"/>
                    </a:ext>
                  </a:extLst>
                </a:gridCol>
                <a:gridCol w="356846">
                  <a:extLst>
                    <a:ext uri="{9D8B030D-6E8A-4147-A177-3AD203B41FA5}">
                      <a16:colId xmlns:a16="http://schemas.microsoft.com/office/drawing/2014/main" val="443971888"/>
                    </a:ext>
                  </a:extLst>
                </a:gridCol>
                <a:gridCol w="356846">
                  <a:extLst>
                    <a:ext uri="{9D8B030D-6E8A-4147-A177-3AD203B41FA5}">
                      <a16:colId xmlns:a16="http://schemas.microsoft.com/office/drawing/2014/main" val="2907870892"/>
                    </a:ext>
                  </a:extLst>
                </a:gridCol>
                <a:gridCol w="459439">
                  <a:extLst>
                    <a:ext uri="{9D8B030D-6E8A-4147-A177-3AD203B41FA5}">
                      <a16:colId xmlns:a16="http://schemas.microsoft.com/office/drawing/2014/main" val="685868467"/>
                    </a:ext>
                  </a:extLst>
                </a:gridCol>
                <a:gridCol w="548652">
                  <a:extLst>
                    <a:ext uri="{9D8B030D-6E8A-4147-A177-3AD203B41FA5}">
                      <a16:colId xmlns:a16="http://schemas.microsoft.com/office/drawing/2014/main" val="2166847927"/>
                    </a:ext>
                  </a:extLst>
                </a:gridCol>
                <a:gridCol w="422269">
                  <a:extLst>
                    <a:ext uri="{9D8B030D-6E8A-4147-A177-3AD203B41FA5}">
                      <a16:colId xmlns:a16="http://schemas.microsoft.com/office/drawing/2014/main" val="1125567443"/>
                    </a:ext>
                  </a:extLst>
                </a:gridCol>
                <a:gridCol w="356846">
                  <a:extLst>
                    <a:ext uri="{9D8B030D-6E8A-4147-A177-3AD203B41FA5}">
                      <a16:colId xmlns:a16="http://schemas.microsoft.com/office/drawing/2014/main" val="1281647980"/>
                    </a:ext>
                  </a:extLst>
                </a:gridCol>
                <a:gridCol w="356846">
                  <a:extLst>
                    <a:ext uri="{9D8B030D-6E8A-4147-A177-3AD203B41FA5}">
                      <a16:colId xmlns:a16="http://schemas.microsoft.com/office/drawing/2014/main" val="3269908206"/>
                    </a:ext>
                  </a:extLst>
                </a:gridCol>
                <a:gridCol w="356846">
                  <a:extLst>
                    <a:ext uri="{9D8B030D-6E8A-4147-A177-3AD203B41FA5}">
                      <a16:colId xmlns:a16="http://schemas.microsoft.com/office/drawing/2014/main" val="593272811"/>
                    </a:ext>
                  </a:extLst>
                </a:gridCol>
                <a:gridCol w="356846">
                  <a:extLst>
                    <a:ext uri="{9D8B030D-6E8A-4147-A177-3AD203B41FA5}">
                      <a16:colId xmlns:a16="http://schemas.microsoft.com/office/drawing/2014/main" val="1748966455"/>
                    </a:ext>
                  </a:extLst>
                </a:gridCol>
              </a:tblGrid>
              <a:tr h="355804">
                <a:tc gridSpan="22">
                  <a:txBody>
                    <a:bodyPr/>
                    <a:lstStyle/>
                    <a:p>
                      <a:pPr algn="ctr" fontAlgn="ctr"/>
                      <a:r>
                        <a:rPr lang="zh-CN" altLang="en-US" sz="500" u="none" strike="noStrike">
                          <a:effectLst/>
                        </a:rPr>
                        <a:t>固定资产台账</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698974731"/>
                  </a:ext>
                </a:extLst>
              </a:tr>
              <a:tr h="355804">
                <a:tc gridSpan="8">
                  <a:txBody>
                    <a:bodyPr/>
                    <a:lstStyle/>
                    <a:p>
                      <a:pPr algn="l" fontAlgn="ctr"/>
                      <a:r>
                        <a:rPr lang="zh-CN" altLang="en-US" sz="400" u="none" strike="noStrike" dirty="0">
                          <a:effectLst/>
                        </a:rPr>
                        <a:t>台账统计期间：</a:t>
                      </a:r>
                      <a:r>
                        <a:rPr lang="en-US" altLang="zh-CN" sz="400" u="none" strike="noStrike" dirty="0">
                          <a:effectLst/>
                        </a:rPr>
                        <a:t>________</a:t>
                      </a:r>
                      <a:r>
                        <a:rPr lang="zh-CN" altLang="en-US" sz="400" u="none" strike="noStrike" dirty="0">
                          <a:effectLst/>
                        </a:rPr>
                        <a:t>年</a:t>
                      </a:r>
                      <a:r>
                        <a:rPr lang="en-US" altLang="zh-CN" sz="400" u="none" strike="noStrike" dirty="0">
                          <a:effectLst/>
                        </a:rPr>
                        <a:t>________</a:t>
                      </a:r>
                      <a:r>
                        <a:rPr lang="zh-CN" altLang="en-US" sz="400" u="none" strike="noStrike" dirty="0">
                          <a:effectLst/>
                        </a:rPr>
                        <a:t>月</a:t>
                      </a:r>
                      <a:r>
                        <a:rPr lang="en-US" altLang="zh-CN" sz="400" u="none" strike="noStrike" dirty="0">
                          <a:effectLst/>
                        </a:rPr>
                        <a:t>________</a:t>
                      </a:r>
                      <a:r>
                        <a:rPr lang="zh-CN" altLang="en-US" sz="400" u="none" strike="noStrike" dirty="0">
                          <a:effectLst/>
                        </a:rPr>
                        <a:t>日 </a:t>
                      </a:r>
                      <a:endParaRPr lang="zh-CN" altLang="en-US" sz="400" b="0" i="0" u="none" strike="noStrike" dirty="0">
                        <a:solidFill>
                          <a:srgbClr val="000000"/>
                        </a:solidFill>
                        <a:effectLst/>
                        <a:latin typeface="等线" panose="02010600030101010101" pitchFamily="2" charset="-122"/>
                        <a:ea typeface="等线" panose="02010600030101010101" pitchFamily="2" charset="-122"/>
                      </a:endParaRPr>
                    </a:p>
                  </a:txBody>
                  <a:tcPr marL="3120" marR="3120" marT="31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400" u="none" strike="noStrike">
                          <a:effectLst/>
                        </a:rPr>
                        <a:t>制表人：</a:t>
                      </a:r>
                      <a:r>
                        <a:rPr lang="en-US" altLang="zh-CN" sz="400" u="none" strike="noStrike">
                          <a:effectLst/>
                        </a:rPr>
                        <a:t>_______________________</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400" u="none" strike="noStrike">
                          <a:effectLst/>
                        </a:rPr>
                        <a:t>复核人：</a:t>
                      </a:r>
                      <a:r>
                        <a:rPr lang="en-US" altLang="zh-CN" sz="400" u="none" strike="noStrike">
                          <a:effectLst/>
                        </a:rPr>
                        <a:t>________________________</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126112048"/>
                  </a:ext>
                </a:extLst>
              </a:tr>
              <a:tr h="355804">
                <a:tc>
                  <a:txBody>
                    <a:bodyPr/>
                    <a:lstStyle/>
                    <a:p>
                      <a:pPr algn="ctr" fontAlgn="ctr"/>
                      <a:r>
                        <a:rPr lang="zh-CN" altLang="en-US" sz="400" u="none" strike="noStrike">
                          <a:effectLst/>
                        </a:rPr>
                        <a:t>资产编号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dirty="0">
                          <a:effectLst/>
                        </a:rPr>
                        <a:t>资产名称</a:t>
                      </a:r>
                      <a:endParaRPr lang="zh-CN" altLang="en-US" sz="400" b="1" i="0" u="none" strike="noStrike" dirty="0">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规格型号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品牌出厂编号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资产类别</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使用部门</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存放地点</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购置日期</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对应采购订单号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验收单号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供应商</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含税总价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进项税额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入账原值</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预计使用年限</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预计残值率</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月折旧额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累计折旧</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资产净值</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折旧状态</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使用状态</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备注</a:t>
                      </a:r>
                      <a:r>
                        <a:rPr lang="en-US" altLang="zh-CN" sz="400" u="none" strike="noStrike">
                          <a:effectLst/>
                        </a:rPr>
                        <a:t>/</a:t>
                      </a:r>
                      <a:r>
                        <a:rPr lang="zh-CN" altLang="en-US" sz="400" u="none" strike="noStrike">
                          <a:effectLst/>
                        </a:rPr>
                        <a:t>管理员</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1539044103"/>
                  </a:ext>
                </a:extLst>
              </a:tr>
              <a:tr h="355804">
                <a:tc>
                  <a:txBody>
                    <a:bodyPr/>
                    <a:lstStyle/>
                    <a:p>
                      <a:pPr algn="ctr" fontAlgn="ctr"/>
                      <a:r>
                        <a:rPr lang="en-US" altLang="zh-CN" sz="400" u="none" strike="noStrike">
                          <a:effectLst/>
                        </a:rPr>
                        <a:t>1</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电子 </a:t>
                      </a:r>
                      <a:r>
                        <a:rPr lang="en-US" altLang="zh-CN" sz="400" u="none" strike="noStrike">
                          <a:effectLst/>
                        </a:rPr>
                        <a:t>/ </a:t>
                      </a:r>
                      <a:r>
                        <a:rPr lang="zh-CN" altLang="en-US" sz="400" u="none" strike="noStrike">
                          <a:effectLst/>
                        </a:rPr>
                        <a:t>机器 </a:t>
                      </a:r>
                      <a:r>
                        <a:rPr lang="en-US" altLang="zh-CN" sz="400" u="none" strike="noStrike">
                          <a:effectLst/>
                        </a:rPr>
                        <a:t>/ </a:t>
                      </a:r>
                      <a:r>
                        <a:rPr lang="zh-CN" altLang="en-US" sz="400" u="none" strike="noStrike">
                          <a:effectLst/>
                        </a:rPr>
                        <a:t>运输 </a:t>
                      </a:r>
                      <a:r>
                        <a:rPr lang="en-US" altLang="zh-CN" sz="400" u="none" strike="noStrike">
                          <a:effectLst/>
                        </a:rPr>
                        <a:t>/ </a:t>
                      </a:r>
                      <a:r>
                        <a:rPr lang="zh-CN" altLang="en-US" sz="400" u="none" strike="noStrike">
                          <a:effectLst/>
                        </a:rPr>
                        <a:t>家具 </a:t>
                      </a:r>
                      <a:r>
                        <a:rPr lang="en-US" altLang="zh-CN" sz="400" u="none" strike="noStrike">
                          <a:effectLst/>
                        </a:rPr>
                        <a:t>/ </a:t>
                      </a:r>
                      <a:r>
                        <a:rPr lang="zh-CN" altLang="en-US" sz="400" u="none" strike="noStrike">
                          <a:effectLst/>
                        </a:rPr>
                        <a:t>其他</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□正常计提 □暂停折旧</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□在用 □闲置 □待报废 □调拨</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2106146593"/>
                  </a:ext>
                </a:extLst>
              </a:tr>
              <a:tr h="355804">
                <a:tc>
                  <a:txBody>
                    <a:bodyPr/>
                    <a:lstStyle/>
                    <a:p>
                      <a:pPr algn="ctr" fontAlgn="ctr"/>
                      <a:r>
                        <a:rPr lang="en-US" altLang="zh-CN" sz="400" u="none" strike="noStrike">
                          <a:effectLst/>
                        </a:rPr>
                        <a:t>2</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dirty="0">
                          <a:effectLst/>
                        </a:rPr>
                        <a:t>　</a:t>
                      </a:r>
                      <a:endParaRPr lang="zh-CN" altLang="en-US" sz="400" b="0" i="0" u="none" strike="noStrike" dirty="0">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452435100"/>
                  </a:ext>
                </a:extLst>
              </a:tr>
              <a:tr h="355804">
                <a:tc>
                  <a:txBody>
                    <a:bodyPr/>
                    <a:lstStyle/>
                    <a:p>
                      <a:pPr algn="ctr" fontAlgn="ctr"/>
                      <a:r>
                        <a:rPr lang="en-US" altLang="zh-CN" sz="400" u="none" strike="noStrike">
                          <a:effectLst/>
                        </a:rPr>
                        <a:t>3</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2945137404"/>
                  </a:ext>
                </a:extLst>
              </a:tr>
              <a:tr h="355804">
                <a:tc>
                  <a:txBody>
                    <a:bodyPr/>
                    <a:lstStyle/>
                    <a:p>
                      <a:pPr algn="ctr" fontAlgn="ctr"/>
                      <a:r>
                        <a:rPr lang="en-US" altLang="zh-CN" sz="400" u="none" strike="noStrike">
                          <a:effectLst/>
                        </a:rPr>
                        <a:t>4</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2150323830"/>
                  </a:ext>
                </a:extLst>
              </a:tr>
              <a:tr h="355804">
                <a:tc>
                  <a:txBody>
                    <a:bodyPr/>
                    <a:lstStyle/>
                    <a:p>
                      <a:pPr algn="ctr" fontAlgn="ctr"/>
                      <a:r>
                        <a:rPr lang="en-US" altLang="zh-CN" sz="400" u="none" strike="noStrike">
                          <a:effectLst/>
                        </a:rPr>
                        <a:t>5</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1348131651"/>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048110378"/>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35549852"/>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751271413"/>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534395704"/>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01444143"/>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2083010535"/>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3340370497"/>
                  </a:ext>
                </a:extLst>
              </a:tr>
              <a:tr h="355804">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2409450402"/>
                  </a:ext>
                </a:extLst>
              </a:tr>
              <a:tr h="355804">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l"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120" marR="3120" marT="3120" marB="0" anchor="ctr"/>
                </a:tc>
                <a:tc>
                  <a:txBody>
                    <a:bodyPr/>
                    <a:lstStyle/>
                    <a:p>
                      <a:pPr algn="ctr" fontAlgn="ctr"/>
                      <a:endParaRPr lang="zh-CN" altLang="en-US" sz="400" b="0" i="0" u="none" strike="noStrike" dirty="0">
                        <a:solidFill>
                          <a:srgbClr val="000000"/>
                        </a:solidFill>
                        <a:effectLst/>
                        <a:latin typeface="等线" panose="02010600030101010101" pitchFamily="2" charset="-122"/>
                        <a:ea typeface="等线" panose="02010600030101010101" pitchFamily="2" charset="-122"/>
                      </a:endParaRPr>
                    </a:p>
                  </a:txBody>
                  <a:tcPr marL="3120" marR="3120" marT="3120" marB="0" anchor="ctr"/>
                </a:tc>
                <a:extLst>
                  <a:ext uri="{0D108BD9-81ED-4DB2-BD59-A6C34878D82A}">
                    <a16:rowId xmlns:a16="http://schemas.microsoft.com/office/drawing/2014/main" val="1098007945"/>
                  </a:ext>
                </a:extLst>
              </a:tr>
            </a:tbl>
          </a:graphicData>
        </a:graphic>
      </p:graphicFrame>
      <p:sp>
        <p:nvSpPr>
          <p:cNvPr id="6" name="文本框 5">
            <a:extLst>
              <a:ext uri="{FF2B5EF4-FFF2-40B4-BE49-F238E27FC236}">
                <a16:creationId xmlns:a16="http://schemas.microsoft.com/office/drawing/2014/main" id="{5EC98CC9-08CB-447E-8C33-AFFB2C386DC4}"/>
              </a:ext>
            </a:extLst>
          </p:cNvPr>
          <p:cNvSpPr txBox="1"/>
          <p:nvPr/>
        </p:nvSpPr>
        <p:spPr>
          <a:xfrm>
            <a:off x="3702" y="85458"/>
            <a:ext cx="2563906" cy="461665"/>
          </a:xfrm>
          <a:prstGeom prst="rect">
            <a:avLst/>
          </a:prstGeom>
          <a:solidFill>
            <a:srgbClr val="FFFF00"/>
          </a:solidFill>
        </p:spPr>
        <p:txBody>
          <a:bodyPr wrap="square" rtlCol="0">
            <a:spAutoFit/>
          </a:bodyPr>
          <a:lstStyle/>
          <a:p>
            <a:r>
              <a:rPr lang="zh-CN" altLang="en-US" sz="2400" b="1" dirty="0">
                <a:solidFill>
                  <a:srgbClr val="FF0000"/>
                </a:solidFill>
              </a:rPr>
              <a:t>固定资产台账</a:t>
            </a:r>
            <a:r>
              <a:rPr lang="en-US" altLang="zh-CN" sz="2400" b="1" dirty="0">
                <a:solidFill>
                  <a:srgbClr val="FF0000"/>
                </a:solidFill>
              </a:rPr>
              <a:t>2-3</a:t>
            </a:r>
            <a:endParaRPr lang="zh-CN" altLang="en-US" sz="2400" b="1" dirty="0">
              <a:solidFill>
                <a:srgbClr val="FF0000"/>
              </a:solidFill>
            </a:endParaRPr>
          </a:p>
        </p:txBody>
      </p:sp>
    </p:spTree>
    <p:extLst>
      <p:ext uri="{BB962C8B-B14F-4D97-AF65-F5344CB8AC3E}">
        <p14:creationId xmlns:p14="http://schemas.microsoft.com/office/powerpoint/2010/main" val="3674624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899CF71-C879-4BD8-9D91-C0F7535FE55E}"/>
              </a:ext>
            </a:extLst>
          </p:cNvPr>
          <p:cNvSpPr txBox="1"/>
          <p:nvPr/>
        </p:nvSpPr>
        <p:spPr>
          <a:xfrm>
            <a:off x="3702" y="85458"/>
            <a:ext cx="2563906" cy="461665"/>
          </a:xfrm>
          <a:prstGeom prst="rect">
            <a:avLst/>
          </a:prstGeom>
          <a:solidFill>
            <a:srgbClr val="FFFF00"/>
          </a:solidFill>
        </p:spPr>
        <p:txBody>
          <a:bodyPr wrap="square" rtlCol="0">
            <a:spAutoFit/>
          </a:bodyPr>
          <a:lstStyle/>
          <a:p>
            <a:r>
              <a:rPr lang="zh-CN" altLang="en-US" sz="2400" b="1" dirty="0">
                <a:solidFill>
                  <a:srgbClr val="FF0000"/>
                </a:solidFill>
              </a:rPr>
              <a:t>库存商品台账</a:t>
            </a:r>
            <a:r>
              <a:rPr lang="en-US" altLang="zh-CN" sz="2400" b="1" dirty="0">
                <a:solidFill>
                  <a:srgbClr val="FF0000"/>
                </a:solidFill>
              </a:rPr>
              <a:t>2-4</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64A253D0-A2E8-4759-A181-442750C53868}"/>
              </a:ext>
            </a:extLst>
          </p:cNvPr>
          <p:cNvGraphicFramePr>
            <a:graphicFrameLocks noGrp="1"/>
          </p:cNvGraphicFramePr>
          <p:nvPr>
            <p:extLst>
              <p:ext uri="{D42A27DB-BD31-4B8C-83A1-F6EECF244321}">
                <p14:modId xmlns:p14="http://schemas.microsoft.com/office/powerpoint/2010/main" val="2595654916"/>
              </p:ext>
            </p:extLst>
          </p:nvPr>
        </p:nvGraphicFramePr>
        <p:xfrm>
          <a:off x="1631504" y="583036"/>
          <a:ext cx="9937104" cy="5798290"/>
        </p:xfrm>
        <a:graphic>
          <a:graphicData uri="http://schemas.openxmlformats.org/drawingml/2006/table">
            <a:tbl>
              <a:tblPr>
                <a:tableStyleId>{5C22544A-7EE6-4342-B048-85BDC9FD1C3A}</a:tableStyleId>
              </a:tblPr>
              <a:tblGrid>
                <a:gridCol w="229051">
                  <a:extLst>
                    <a:ext uri="{9D8B030D-6E8A-4147-A177-3AD203B41FA5}">
                      <a16:colId xmlns:a16="http://schemas.microsoft.com/office/drawing/2014/main" val="2284660479"/>
                    </a:ext>
                  </a:extLst>
                </a:gridCol>
                <a:gridCol w="239275">
                  <a:extLst>
                    <a:ext uri="{9D8B030D-6E8A-4147-A177-3AD203B41FA5}">
                      <a16:colId xmlns:a16="http://schemas.microsoft.com/office/drawing/2014/main" val="780015193"/>
                    </a:ext>
                  </a:extLst>
                </a:gridCol>
                <a:gridCol w="288358">
                  <a:extLst>
                    <a:ext uri="{9D8B030D-6E8A-4147-A177-3AD203B41FA5}">
                      <a16:colId xmlns:a16="http://schemas.microsoft.com/office/drawing/2014/main" val="3883083852"/>
                    </a:ext>
                  </a:extLst>
                </a:gridCol>
                <a:gridCol w="220869">
                  <a:extLst>
                    <a:ext uri="{9D8B030D-6E8A-4147-A177-3AD203B41FA5}">
                      <a16:colId xmlns:a16="http://schemas.microsoft.com/office/drawing/2014/main" val="497284675"/>
                    </a:ext>
                  </a:extLst>
                </a:gridCol>
                <a:gridCol w="229051">
                  <a:extLst>
                    <a:ext uri="{9D8B030D-6E8A-4147-A177-3AD203B41FA5}">
                      <a16:colId xmlns:a16="http://schemas.microsoft.com/office/drawing/2014/main" val="3345264600"/>
                    </a:ext>
                  </a:extLst>
                </a:gridCol>
                <a:gridCol w="229051">
                  <a:extLst>
                    <a:ext uri="{9D8B030D-6E8A-4147-A177-3AD203B41FA5}">
                      <a16:colId xmlns:a16="http://schemas.microsoft.com/office/drawing/2014/main" val="1654137292"/>
                    </a:ext>
                  </a:extLst>
                </a:gridCol>
                <a:gridCol w="237232">
                  <a:extLst>
                    <a:ext uri="{9D8B030D-6E8A-4147-A177-3AD203B41FA5}">
                      <a16:colId xmlns:a16="http://schemas.microsoft.com/office/drawing/2014/main" val="4204008758"/>
                    </a:ext>
                  </a:extLst>
                </a:gridCol>
                <a:gridCol w="703511">
                  <a:extLst>
                    <a:ext uri="{9D8B030D-6E8A-4147-A177-3AD203B41FA5}">
                      <a16:colId xmlns:a16="http://schemas.microsoft.com/office/drawing/2014/main" val="1584437606"/>
                    </a:ext>
                  </a:extLst>
                </a:gridCol>
                <a:gridCol w="703511">
                  <a:extLst>
                    <a:ext uri="{9D8B030D-6E8A-4147-A177-3AD203B41FA5}">
                      <a16:colId xmlns:a16="http://schemas.microsoft.com/office/drawing/2014/main" val="3373633105"/>
                    </a:ext>
                  </a:extLst>
                </a:gridCol>
                <a:gridCol w="343576">
                  <a:extLst>
                    <a:ext uri="{9D8B030D-6E8A-4147-A177-3AD203B41FA5}">
                      <a16:colId xmlns:a16="http://schemas.microsoft.com/office/drawing/2014/main" val="283805645"/>
                    </a:ext>
                  </a:extLst>
                </a:gridCol>
                <a:gridCol w="343576">
                  <a:extLst>
                    <a:ext uri="{9D8B030D-6E8A-4147-A177-3AD203B41FA5}">
                      <a16:colId xmlns:a16="http://schemas.microsoft.com/office/drawing/2014/main" val="755639514"/>
                    </a:ext>
                  </a:extLst>
                </a:gridCol>
                <a:gridCol w="220869">
                  <a:extLst>
                    <a:ext uri="{9D8B030D-6E8A-4147-A177-3AD203B41FA5}">
                      <a16:colId xmlns:a16="http://schemas.microsoft.com/office/drawing/2014/main" val="2339477839"/>
                    </a:ext>
                  </a:extLst>
                </a:gridCol>
                <a:gridCol w="220869">
                  <a:extLst>
                    <a:ext uri="{9D8B030D-6E8A-4147-A177-3AD203B41FA5}">
                      <a16:colId xmlns:a16="http://schemas.microsoft.com/office/drawing/2014/main" val="928592155"/>
                    </a:ext>
                  </a:extLst>
                </a:gridCol>
                <a:gridCol w="229051">
                  <a:extLst>
                    <a:ext uri="{9D8B030D-6E8A-4147-A177-3AD203B41FA5}">
                      <a16:colId xmlns:a16="http://schemas.microsoft.com/office/drawing/2014/main" val="889709998"/>
                    </a:ext>
                  </a:extLst>
                </a:gridCol>
                <a:gridCol w="368116">
                  <a:extLst>
                    <a:ext uri="{9D8B030D-6E8A-4147-A177-3AD203B41FA5}">
                      <a16:colId xmlns:a16="http://schemas.microsoft.com/office/drawing/2014/main" val="2400346366"/>
                    </a:ext>
                  </a:extLst>
                </a:gridCol>
                <a:gridCol w="368116">
                  <a:extLst>
                    <a:ext uri="{9D8B030D-6E8A-4147-A177-3AD203B41FA5}">
                      <a16:colId xmlns:a16="http://schemas.microsoft.com/office/drawing/2014/main" val="352907391"/>
                    </a:ext>
                  </a:extLst>
                </a:gridCol>
                <a:gridCol w="327215">
                  <a:extLst>
                    <a:ext uri="{9D8B030D-6E8A-4147-A177-3AD203B41FA5}">
                      <a16:colId xmlns:a16="http://schemas.microsoft.com/office/drawing/2014/main" val="1855641577"/>
                    </a:ext>
                  </a:extLst>
                </a:gridCol>
                <a:gridCol w="327215">
                  <a:extLst>
                    <a:ext uri="{9D8B030D-6E8A-4147-A177-3AD203B41FA5}">
                      <a16:colId xmlns:a16="http://schemas.microsoft.com/office/drawing/2014/main" val="4051683715"/>
                    </a:ext>
                  </a:extLst>
                </a:gridCol>
                <a:gridCol w="253591">
                  <a:extLst>
                    <a:ext uri="{9D8B030D-6E8A-4147-A177-3AD203B41FA5}">
                      <a16:colId xmlns:a16="http://schemas.microsoft.com/office/drawing/2014/main" val="1916928941"/>
                    </a:ext>
                  </a:extLst>
                </a:gridCol>
                <a:gridCol w="253591">
                  <a:extLst>
                    <a:ext uri="{9D8B030D-6E8A-4147-A177-3AD203B41FA5}">
                      <a16:colId xmlns:a16="http://schemas.microsoft.com/office/drawing/2014/main" val="3276927399"/>
                    </a:ext>
                  </a:extLst>
                </a:gridCol>
                <a:gridCol w="253591">
                  <a:extLst>
                    <a:ext uri="{9D8B030D-6E8A-4147-A177-3AD203B41FA5}">
                      <a16:colId xmlns:a16="http://schemas.microsoft.com/office/drawing/2014/main" val="1130762936"/>
                    </a:ext>
                  </a:extLst>
                </a:gridCol>
                <a:gridCol w="245411">
                  <a:extLst>
                    <a:ext uri="{9D8B030D-6E8A-4147-A177-3AD203B41FA5}">
                      <a16:colId xmlns:a16="http://schemas.microsoft.com/office/drawing/2014/main" val="2876955295"/>
                    </a:ext>
                  </a:extLst>
                </a:gridCol>
                <a:gridCol w="376298">
                  <a:extLst>
                    <a:ext uri="{9D8B030D-6E8A-4147-A177-3AD203B41FA5}">
                      <a16:colId xmlns:a16="http://schemas.microsoft.com/office/drawing/2014/main" val="790991477"/>
                    </a:ext>
                  </a:extLst>
                </a:gridCol>
                <a:gridCol w="376298">
                  <a:extLst>
                    <a:ext uri="{9D8B030D-6E8A-4147-A177-3AD203B41FA5}">
                      <a16:colId xmlns:a16="http://schemas.microsoft.com/office/drawing/2014/main" val="3462571750"/>
                    </a:ext>
                  </a:extLst>
                </a:gridCol>
                <a:gridCol w="263817">
                  <a:extLst>
                    <a:ext uri="{9D8B030D-6E8A-4147-A177-3AD203B41FA5}">
                      <a16:colId xmlns:a16="http://schemas.microsoft.com/office/drawing/2014/main" val="3874060325"/>
                    </a:ext>
                  </a:extLst>
                </a:gridCol>
                <a:gridCol w="263817">
                  <a:extLst>
                    <a:ext uri="{9D8B030D-6E8A-4147-A177-3AD203B41FA5}">
                      <a16:colId xmlns:a16="http://schemas.microsoft.com/office/drawing/2014/main" val="4093389996"/>
                    </a:ext>
                  </a:extLst>
                </a:gridCol>
                <a:gridCol w="263817">
                  <a:extLst>
                    <a:ext uri="{9D8B030D-6E8A-4147-A177-3AD203B41FA5}">
                      <a16:colId xmlns:a16="http://schemas.microsoft.com/office/drawing/2014/main" val="3851565269"/>
                    </a:ext>
                  </a:extLst>
                </a:gridCol>
                <a:gridCol w="263817">
                  <a:extLst>
                    <a:ext uri="{9D8B030D-6E8A-4147-A177-3AD203B41FA5}">
                      <a16:colId xmlns:a16="http://schemas.microsoft.com/office/drawing/2014/main" val="454103662"/>
                    </a:ext>
                  </a:extLst>
                </a:gridCol>
                <a:gridCol w="278132">
                  <a:extLst>
                    <a:ext uri="{9D8B030D-6E8A-4147-A177-3AD203B41FA5}">
                      <a16:colId xmlns:a16="http://schemas.microsoft.com/office/drawing/2014/main" val="3285619808"/>
                    </a:ext>
                  </a:extLst>
                </a:gridCol>
                <a:gridCol w="212690">
                  <a:extLst>
                    <a:ext uri="{9D8B030D-6E8A-4147-A177-3AD203B41FA5}">
                      <a16:colId xmlns:a16="http://schemas.microsoft.com/office/drawing/2014/main" val="1055378269"/>
                    </a:ext>
                  </a:extLst>
                </a:gridCol>
                <a:gridCol w="803722">
                  <a:extLst>
                    <a:ext uri="{9D8B030D-6E8A-4147-A177-3AD203B41FA5}">
                      <a16:colId xmlns:a16="http://schemas.microsoft.com/office/drawing/2014/main" val="971374727"/>
                    </a:ext>
                  </a:extLst>
                </a:gridCol>
              </a:tblGrid>
              <a:tr h="420166">
                <a:tc gridSpan="31">
                  <a:txBody>
                    <a:bodyPr/>
                    <a:lstStyle/>
                    <a:p>
                      <a:pPr algn="ctr" fontAlgn="ctr"/>
                      <a:r>
                        <a:rPr lang="zh-CN" altLang="en-US" sz="600" u="none" strike="noStrike">
                          <a:effectLst/>
                        </a:rPr>
                        <a:t>库存商品台账</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51228054"/>
                  </a:ext>
                </a:extLst>
              </a:tr>
              <a:tr h="420166">
                <a:tc gridSpan="8">
                  <a:txBody>
                    <a:bodyPr/>
                    <a:lstStyle/>
                    <a:p>
                      <a:pPr algn="l" fontAlgn="ctr"/>
                      <a:r>
                        <a:rPr lang="zh-CN" altLang="en-US" sz="500" u="none" strike="noStrike">
                          <a:effectLst/>
                        </a:rPr>
                        <a:t>台账统计期间：</a:t>
                      </a:r>
                      <a:r>
                        <a:rPr lang="en-US" altLang="zh-CN" sz="500" u="none" strike="noStrike">
                          <a:effectLst/>
                        </a:rPr>
                        <a:t>_________</a:t>
                      </a:r>
                      <a:r>
                        <a:rPr lang="zh-CN" altLang="en-US" sz="500" u="none" strike="noStrike">
                          <a:effectLst/>
                        </a:rPr>
                        <a:t>年</a:t>
                      </a:r>
                      <a:r>
                        <a:rPr lang="en-US" altLang="zh-CN" sz="500" u="none" strike="noStrike">
                          <a:effectLst/>
                        </a:rPr>
                        <a:t>_________</a:t>
                      </a:r>
                      <a:r>
                        <a:rPr lang="zh-CN" altLang="en-US" sz="500" u="none" strike="noStrike">
                          <a:effectLst/>
                        </a:rPr>
                        <a:t>月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500" u="none" strike="noStrike">
                          <a:effectLst/>
                        </a:rPr>
                        <a:t>所属仓库：</a:t>
                      </a:r>
                      <a:r>
                        <a:rPr lang="en-US" altLang="zh-CN" sz="500" u="none" strike="noStrike">
                          <a:effectLst/>
                        </a:rPr>
                        <a:t>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500" u="none" strike="noStrike">
                          <a:effectLst/>
                        </a:rPr>
                        <a:t>物料大类：原材料</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9">
                  <a:txBody>
                    <a:bodyPr/>
                    <a:lstStyle/>
                    <a:p>
                      <a:pPr algn="l" fontAlgn="ctr"/>
                      <a:r>
                        <a:rPr lang="zh-CN" altLang="en-US" sz="500" u="none" strike="noStrike">
                          <a:effectLst/>
                        </a:rPr>
                        <a:t>制表人：</a:t>
                      </a:r>
                      <a:r>
                        <a:rPr lang="en-US" altLang="zh-CN" sz="500" u="none" strike="noStrike">
                          <a:effectLst/>
                        </a:rPr>
                        <a:t>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7503760"/>
                  </a:ext>
                </a:extLst>
              </a:tr>
              <a:tr h="420166">
                <a:tc rowSpan="2">
                  <a:txBody>
                    <a:bodyPr/>
                    <a:lstStyle/>
                    <a:p>
                      <a:pPr algn="ctr" fontAlgn="ctr"/>
                      <a:r>
                        <a:rPr lang="zh-CN" altLang="en-US" sz="500" u="none" strike="noStrike">
                          <a:effectLst/>
                        </a:rPr>
                        <a:t>序号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rowSpan="2">
                  <a:txBody>
                    <a:bodyPr/>
                    <a:lstStyle/>
                    <a:p>
                      <a:pPr algn="ctr" fontAlgn="ctr"/>
                      <a:r>
                        <a:rPr lang="zh-CN" altLang="en-US" sz="500" u="none" strike="noStrike">
                          <a:effectLst/>
                        </a:rPr>
                        <a:t>商品编码</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rowSpan="2">
                  <a:txBody>
                    <a:bodyPr/>
                    <a:lstStyle/>
                    <a:p>
                      <a:pPr algn="ctr" fontAlgn="ctr"/>
                      <a:r>
                        <a:rPr lang="zh-CN" altLang="en-US" sz="500" u="none" strike="noStrike">
                          <a:effectLst/>
                        </a:rPr>
                        <a:t>品名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rowSpan="2">
                  <a:txBody>
                    <a:bodyPr/>
                    <a:lstStyle/>
                    <a:p>
                      <a:pPr algn="ctr" fontAlgn="ctr"/>
                      <a:r>
                        <a:rPr lang="zh-CN" altLang="en-US" sz="500" u="none" strike="noStrike">
                          <a:effectLst/>
                        </a:rPr>
                        <a:t>规格型号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gridSpan="4">
                  <a:txBody>
                    <a:bodyPr/>
                    <a:lstStyle/>
                    <a:p>
                      <a:pPr algn="ctr" fontAlgn="ctr"/>
                      <a:r>
                        <a:rPr lang="zh-CN" altLang="en-US" sz="500" u="none" strike="noStrike">
                          <a:effectLst/>
                        </a:rPr>
                        <a:t>期初库存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本期入库</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本期出库</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500" u="none" strike="noStrike">
                          <a:effectLst/>
                        </a:rPr>
                        <a:t>期末结存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fontAlgn="ctr"/>
                      <a:r>
                        <a:rPr lang="zh-CN" altLang="en-US" sz="500" u="none" strike="noStrike">
                          <a:effectLst/>
                        </a:rPr>
                        <a:t>存货柜位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rowSpan="2">
                  <a:txBody>
                    <a:bodyPr/>
                    <a:lstStyle/>
                    <a:p>
                      <a:pPr algn="ctr" fontAlgn="ctr"/>
                      <a:r>
                        <a:rPr lang="zh-CN" altLang="en-US" sz="500" u="none" strike="noStrike">
                          <a:effectLst/>
                        </a:rPr>
                        <a:t>库管员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rowSpan="2">
                  <a:txBody>
                    <a:bodyPr/>
                    <a:lstStyle/>
                    <a:p>
                      <a:pPr algn="ctr" fontAlgn="ctr"/>
                      <a:r>
                        <a:rPr lang="zh-CN" altLang="en-US" sz="500" u="none" strike="noStrike">
                          <a:effectLst/>
                        </a:rPr>
                        <a:t>备注（安全库存 </a:t>
                      </a:r>
                      <a:r>
                        <a:rPr lang="en-US" altLang="zh-CN" sz="500" u="none" strike="noStrike">
                          <a:effectLst/>
                        </a:rPr>
                        <a:t>/ </a:t>
                      </a:r>
                      <a:r>
                        <a:rPr lang="zh-CN" altLang="en-US" sz="500" u="none" strike="noStrike">
                          <a:effectLst/>
                        </a:rPr>
                        <a:t>库龄</a:t>
                      </a:r>
                      <a:r>
                        <a:rPr lang="en-US" altLang="zh-CN" sz="500" u="none" strike="noStrike">
                          <a:effectLst/>
                        </a:rPr>
                        <a:t>/</a:t>
                      </a:r>
                      <a:r>
                        <a:rPr lang="zh-CN" altLang="en-US" sz="500" u="none" strike="noStrike">
                          <a:effectLst/>
                        </a:rPr>
                        <a:t>呆滞 </a:t>
                      </a:r>
                      <a:r>
                        <a:rPr lang="en-US" altLang="zh-CN" sz="500" u="none" strike="noStrike">
                          <a:effectLst/>
                        </a:rPr>
                        <a:t>/ </a:t>
                      </a:r>
                      <a:r>
                        <a:rPr lang="zh-CN" altLang="en-US" sz="500" u="none" strike="noStrike">
                          <a:effectLst/>
                        </a:rPr>
                        <a:t>质检）</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2126753121"/>
                  </a:ext>
                </a:extLst>
              </a:tr>
              <a:tr h="42016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供货单位名称</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入库时间</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入库单编号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经手人签字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出库时间</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出库单编号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领用部门</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领用人签字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741655406"/>
                  </a:ext>
                </a:extLst>
              </a:tr>
              <a:tr h="420166">
                <a:tc>
                  <a:txBody>
                    <a:bodyPr/>
                    <a:lstStyle/>
                    <a:p>
                      <a:pPr algn="ctr" fontAlgn="ctr"/>
                      <a:r>
                        <a:rPr lang="en-US" altLang="zh-CN" sz="500" u="none" strike="noStrike">
                          <a:effectLst/>
                        </a:rPr>
                        <a:t>1</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1941259652"/>
                  </a:ext>
                </a:extLst>
              </a:tr>
              <a:tr h="420166">
                <a:tc>
                  <a:txBody>
                    <a:bodyPr/>
                    <a:lstStyle/>
                    <a:p>
                      <a:pPr algn="ctr" fontAlgn="ctr"/>
                      <a:r>
                        <a:rPr lang="en-US" altLang="zh-CN" sz="500" u="none" strike="noStrike">
                          <a:effectLst/>
                        </a:rPr>
                        <a:t>2</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1938683032"/>
                  </a:ext>
                </a:extLst>
              </a:tr>
              <a:tr h="420166">
                <a:tc>
                  <a:txBody>
                    <a:bodyPr/>
                    <a:lstStyle/>
                    <a:p>
                      <a:pPr algn="ctr" fontAlgn="ctr"/>
                      <a:r>
                        <a:rPr lang="en-US" altLang="zh-CN" sz="500" u="none" strike="noStrike">
                          <a:effectLst/>
                        </a:rPr>
                        <a:t>3</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353763533"/>
                  </a:ext>
                </a:extLst>
              </a:tr>
              <a:tr h="420166">
                <a:tc>
                  <a:txBody>
                    <a:bodyPr/>
                    <a:lstStyle/>
                    <a:p>
                      <a:pPr algn="ctr" fontAlgn="ctr"/>
                      <a:r>
                        <a:rPr lang="en-US" altLang="zh-CN" sz="500" u="none" strike="noStrike">
                          <a:effectLst/>
                        </a:rPr>
                        <a:t>4</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3145527102"/>
                  </a:ext>
                </a:extLst>
              </a:tr>
              <a:tr h="420166">
                <a:tc>
                  <a:txBody>
                    <a:bodyPr/>
                    <a:lstStyle/>
                    <a:p>
                      <a:pPr algn="ctr" fontAlgn="ctr"/>
                      <a:r>
                        <a:rPr lang="en-US" altLang="zh-CN" sz="500" u="none" strike="noStrike">
                          <a:effectLst/>
                        </a:rPr>
                        <a:t>5</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3245726219"/>
                  </a:ext>
                </a:extLst>
              </a:tr>
              <a:tr h="420166">
                <a:tc>
                  <a:txBody>
                    <a:bodyPr/>
                    <a:lstStyle/>
                    <a:p>
                      <a:pPr algn="ctr" fontAlgn="ctr"/>
                      <a:r>
                        <a:rPr lang="zh-CN" altLang="en-US" sz="500" u="none" strike="noStrike">
                          <a:effectLst/>
                        </a:rPr>
                        <a:t>合计</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22" marR="4622" marT="4622" marB="0" anchor="ctr"/>
                </a:tc>
                <a:extLst>
                  <a:ext uri="{0D108BD9-81ED-4DB2-BD59-A6C34878D82A}">
                    <a16:rowId xmlns:a16="http://schemas.microsoft.com/office/drawing/2014/main" val="1748388583"/>
                  </a:ext>
                </a:extLst>
              </a:tr>
              <a:tr h="1596630">
                <a:tc gridSpan="31">
                  <a:txBody>
                    <a:bodyPr/>
                    <a:lstStyle/>
                    <a:p>
                      <a:pPr algn="l" fontAlgn="ctr"/>
                      <a:r>
                        <a:rPr lang="zh-CN" altLang="en-US" sz="500" u="none" strike="noStrike" dirty="0">
                          <a:effectLst/>
                        </a:rPr>
                        <a:t>填写与使用核心说明</a:t>
                      </a:r>
                      <a:br>
                        <a:rPr lang="zh-CN" altLang="en-US" sz="500" u="none" strike="noStrike" dirty="0">
                          <a:effectLst/>
                        </a:rPr>
                      </a:br>
                      <a:r>
                        <a:rPr lang="zh-CN" altLang="en-US" sz="500" u="none" strike="noStrike" dirty="0">
                          <a:effectLst/>
                        </a:rPr>
                        <a:t>成本核算规则：通用中小企业建议采用全月一次加权平均法：月末单位成本 </a:t>
                      </a:r>
                      <a:r>
                        <a:rPr lang="en-US" altLang="zh-CN" sz="500" u="none" strike="noStrike" dirty="0">
                          <a:effectLst/>
                        </a:rPr>
                        <a:t>=</a:t>
                      </a:r>
                      <a:r>
                        <a:rPr lang="zh-CN" altLang="en-US" sz="500" u="none" strike="noStrike" dirty="0">
                          <a:effectLst/>
                        </a:rPr>
                        <a:t>（期初结存金额 </a:t>
                      </a:r>
                      <a:r>
                        <a:rPr lang="en-US" altLang="zh-CN" sz="500" u="none" strike="noStrike" dirty="0">
                          <a:effectLst/>
                        </a:rPr>
                        <a:t>+ </a:t>
                      </a:r>
                      <a:r>
                        <a:rPr lang="zh-CN" altLang="en-US" sz="500" u="none" strike="noStrike" dirty="0">
                          <a:effectLst/>
                        </a:rPr>
                        <a:t>本期入库总金额）</a:t>
                      </a:r>
                      <a:r>
                        <a:rPr lang="en-US" altLang="zh-CN" sz="500" u="none" strike="noStrike" dirty="0">
                          <a:effectLst/>
                        </a:rPr>
                        <a:t>÷</a:t>
                      </a:r>
                      <a:r>
                        <a:rPr lang="zh-CN" altLang="en-US" sz="500" u="none" strike="noStrike" dirty="0">
                          <a:effectLst/>
                        </a:rPr>
                        <a:t>（期初结存数量 </a:t>
                      </a:r>
                      <a:r>
                        <a:rPr lang="en-US" altLang="zh-CN" sz="500" u="none" strike="noStrike" dirty="0">
                          <a:effectLst/>
                        </a:rPr>
                        <a:t>+ </a:t>
                      </a:r>
                      <a:r>
                        <a:rPr lang="zh-CN" altLang="en-US" sz="500" u="none" strike="noStrike" dirty="0">
                          <a:effectLst/>
                        </a:rPr>
                        <a:t>本期入库总数量），本期出库和期末结存均按此单价计算</a:t>
                      </a:r>
                      <a:br>
                        <a:rPr lang="zh-CN" altLang="en-US" sz="500" u="none" strike="noStrike" dirty="0">
                          <a:effectLst/>
                        </a:rPr>
                      </a:br>
                      <a:r>
                        <a:rPr lang="zh-CN" altLang="en-US" sz="500" u="none" strike="noStrike" dirty="0">
                          <a:effectLst/>
                        </a:rPr>
                        <a:t>                           商贸零售 </a:t>
                      </a:r>
                      <a:r>
                        <a:rPr lang="en-US" altLang="zh-CN" sz="500" u="none" strike="noStrike" dirty="0">
                          <a:effectLst/>
                        </a:rPr>
                        <a:t>/ </a:t>
                      </a:r>
                      <a:r>
                        <a:rPr lang="zh-CN" altLang="en-US" sz="500" u="none" strike="noStrike" dirty="0">
                          <a:effectLst/>
                        </a:rPr>
                        <a:t>批次管理企业可采用移动加权平均法或个别计价法，按单批次核算成本</a:t>
                      </a:r>
                      <a:br>
                        <a:rPr lang="zh-CN" altLang="en-US" sz="500" u="none" strike="noStrike" dirty="0">
                          <a:effectLst/>
                        </a:rPr>
                      </a:br>
                      <a:r>
                        <a:rPr lang="zh-CN" altLang="en-US" sz="500" u="none" strike="noStrike" dirty="0">
                          <a:effectLst/>
                        </a:rPr>
                        <a:t>单据追溯要求：入库单号必须对应之前的</a:t>
                      </a:r>
                      <a:r>
                        <a:rPr lang="en-US" altLang="zh-CN" sz="500" u="none" strike="noStrike" dirty="0">
                          <a:effectLst/>
                        </a:rPr>
                        <a:t>《</a:t>
                      </a:r>
                      <a:r>
                        <a:rPr lang="zh-CN" altLang="en-US" sz="500" u="none" strike="noStrike" dirty="0">
                          <a:effectLst/>
                        </a:rPr>
                        <a:t>材料 </a:t>
                      </a:r>
                      <a:r>
                        <a:rPr lang="en-US" altLang="zh-CN" sz="500" u="none" strike="noStrike" dirty="0">
                          <a:effectLst/>
                        </a:rPr>
                        <a:t>/ </a:t>
                      </a:r>
                      <a:r>
                        <a:rPr lang="zh-CN" altLang="en-US" sz="500" u="none" strike="noStrike" dirty="0">
                          <a:effectLst/>
                        </a:rPr>
                        <a:t>服务入库验收单</a:t>
                      </a:r>
                      <a:r>
                        <a:rPr lang="en-US" altLang="zh-CN" sz="500" u="none" strike="noStrike" dirty="0">
                          <a:effectLst/>
                        </a:rPr>
                        <a:t>》《</a:t>
                      </a:r>
                      <a:r>
                        <a:rPr lang="zh-CN" altLang="en-US" sz="500" u="none" strike="noStrike" dirty="0">
                          <a:effectLst/>
                        </a:rPr>
                        <a:t>采购订单 </a:t>
                      </a:r>
                      <a:r>
                        <a:rPr lang="en-US" altLang="zh-CN" sz="500" u="none" strike="noStrike" dirty="0">
                          <a:effectLst/>
                        </a:rPr>
                        <a:t>PO》</a:t>
                      </a:r>
                      <a:r>
                        <a:rPr lang="zh-CN" altLang="en-US" sz="500" u="none" strike="noStrike" dirty="0">
                          <a:effectLst/>
                        </a:rPr>
                        <a:t>，确保账实、账证相符；出库单号必须对应</a:t>
                      </a:r>
                      <a:r>
                        <a:rPr lang="en-US" altLang="zh-CN" sz="500" u="none" strike="noStrike" dirty="0">
                          <a:effectLst/>
                        </a:rPr>
                        <a:t>《</a:t>
                      </a:r>
                      <a:r>
                        <a:rPr lang="zh-CN" altLang="en-US" sz="500" u="none" strike="noStrike" dirty="0">
                          <a:effectLst/>
                        </a:rPr>
                        <a:t>材料领用单</a:t>
                      </a:r>
                      <a:r>
                        <a:rPr lang="en-US" altLang="zh-CN" sz="500" u="none" strike="noStrike" dirty="0">
                          <a:effectLst/>
                        </a:rPr>
                        <a:t>》《</a:t>
                      </a:r>
                      <a:r>
                        <a:rPr lang="zh-CN" altLang="en-US" sz="500" u="none" strike="noStrike" dirty="0">
                          <a:effectLst/>
                        </a:rPr>
                        <a:t>销售出库单</a:t>
                      </a:r>
                      <a:r>
                        <a:rPr lang="en-US" altLang="zh-CN" sz="500" u="none" strike="noStrike" dirty="0">
                          <a:effectLst/>
                        </a:rPr>
                        <a:t>》</a:t>
                      </a:r>
                      <a:r>
                        <a:rPr lang="zh-CN" altLang="en-US" sz="500" u="none" strike="noStrike" dirty="0">
                          <a:effectLst/>
                        </a:rPr>
                        <a:t>，领用需标注领用部门 </a:t>
                      </a:r>
                      <a:r>
                        <a:rPr lang="en-US" altLang="zh-CN" sz="500" u="none" strike="noStrike" dirty="0">
                          <a:effectLst/>
                        </a:rPr>
                        <a:t>/ </a:t>
                      </a:r>
                      <a:r>
                        <a:rPr lang="zh-CN" altLang="en-US" sz="500" u="none" strike="noStrike" dirty="0">
                          <a:effectLst/>
                        </a:rPr>
                        <a:t>项目，销售   需绑定对应销售订单号</a:t>
                      </a:r>
                      <a:br>
                        <a:rPr lang="zh-CN" altLang="en-US" sz="500" u="none" strike="noStrike" dirty="0">
                          <a:effectLst/>
                        </a:rPr>
                      </a:br>
                      <a:r>
                        <a:rPr lang="zh-CN" altLang="en-US" sz="500" u="none" strike="noStrike" dirty="0">
                          <a:effectLst/>
                        </a:rPr>
                        <a:t>台账核对要求：每月结账后，台账期末结存总金额必须与总账「原材料」「库存商品」科目余额完全一致；每月盘点后，台账结存数量必须与</a:t>
                      </a:r>
                      <a:r>
                        <a:rPr lang="en-US" altLang="zh-CN" sz="500" u="none" strike="noStrike" dirty="0">
                          <a:effectLst/>
                        </a:rPr>
                        <a:t>《</a:t>
                      </a:r>
                      <a:r>
                        <a:rPr lang="zh-CN" altLang="en-US" sz="500" u="none" strike="noStrike" dirty="0">
                          <a:effectLst/>
                        </a:rPr>
                        <a:t>存货盘点表</a:t>
                      </a:r>
                      <a:r>
                        <a:rPr lang="en-US" altLang="zh-CN" sz="500" u="none" strike="noStrike" dirty="0">
                          <a:effectLst/>
                        </a:rPr>
                        <a:t>》</a:t>
                      </a:r>
                      <a:r>
                        <a:rPr lang="zh-CN" altLang="en-US" sz="500" u="none" strike="noStrike" dirty="0">
                          <a:effectLst/>
                        </a:rPr>
                        <a:t>实盘数量核对，差异需做盘盈盘亏审批处理</a:t>
                      </a:r>
                      <a:br>
                        <a:rPr lang="zh-CN" altLang="en-US" sz="500" u="none" strike="noStrike" dirty="0">
                          <a:effectLst/>
                        </a:rPr>
                      </a:br>
                      <a:r>
                        <a:rPr lang="zh-CN" altLang="en-US" sz="500" u="none" strike="noStrike" dirty="0">
                          <a:effectLst/>
                        </a:rPr>
                        <a:t>扩展优化项：可新增「供应商」「客户」列，追溯物料来源和去向；可新增「呆滞预警」列，对超过 </a:t>
                      </a:r>
                      <a:r>
                        <a:rPr lang="en-US" altLang="zh-CN" sz="500" u="none" strike="noStrike" dirty="0">
                          <a:effectLst/>
                        </a:rPr>
                        <a:t>3 </a:t>
                      </a:r>
                      <a:r>
                        <a:rPr lang="zh-CN" altLang="en-US" sz="500" u="none" strike="noStrike" dirty="0">
                          <a:effectLst/>
                        </a:rPr>
                        <a:t>个月无领用 </a:t>
                      </a:r>
                      <a:r>
                        <a:rPr lang="en-US" altLang="zh-CN" sz="500" u="none" strike="noStrike" dirty="0">
                          <a:effectLst/>
                        </a:rPr>
                        <a:t>/ </a:t>
                      </a:r>
                      <a:r>
                        <a:rPr lang="zh-CN" altLang="en-US" sz="500" u="none" strike="noStrike" dirty="0">
                          <a:effectLst/>
                        </a:rPr>
                        <a:t>销售的物料自动标注；可按物料大类分 </a:t>
                      </a:r>
                      <a:r>
                        <a:rPr lang="en-US" altLang="zh-CN" sz="500" u="none" strike="noStrike" dirty="0">
                          <a:effectLst/>
                        </a:rPr>
                        <a:t>sheet </a:t>
                      </a:r>
                      <a:r>
                        <a:rPr lang="zh-CN" altLang="en-US" sz="500" u="none" strike="noStrike" dirty="0">
                          <a:effectLst/>
                        </a:rPr>
                        <a:t>登记，比如原材料分「主料」「辅料」「耗材」，库存商品分「在售款」「预售款」「滞销款」                                                           </a:t>
                      </a:r>
                      <a:endParaRPr lang="zh-CN" altLang="en-US" sz="500" b="0" i="0" u="none" strike="noStrike" dirty="0">
                        <a:solidFill>
                          <a:srgbClr val="000000"/>
                        </a:solidFill>
                        <a:effectLst/>
                        <a:latin typeface="等线" panose="02010600030101010101" pitchFamily="2" charset="-122"/>
                        <a:ea typeface="等线" panose="02010600030101010101" pitchFamily="2" charset="-122"/>
                      </a:endParaRPr>
                    </a:p>
                  </a:txBody>
                  <a:tcPr marL="4622" marR="4622" marT="462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44737142"/>
                  </a:ext>
                </a:extLst>
              </a:tr>
            </a:tbl>
          </a:graphicData>
        </a:graphic>
      </p:graphicFrame>
    </p:spTree>
    <p:extLst>
      <p:ext uri="{BB962C8B-B14F-4D97-AF65-F5344CB8AC3E}">
        <p14:creationId xmlns:p14="http://schemas.microsoft.com/office/powerpoint/2010/main" val="4227590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E059DDD-9C3F-4B4A-B885-C2A9BA21EA1E}"/>
              </a:ext>
            </a:extLst>
          </p:cNvPr>
          <p:cNvGraphicFramePr>
            <a:graphicFrameLocks noGrp="1"/>
          </p:cNvGraphicFramePr>
          <p:nvPr>
            <p:extLst>
              <p:ext uri="{D42A27DB-BD31-4B8C-83A1-F6EECF244321}">
                <p14:modId xmlns:p14="http://schemas.microsoft.com/office/powerpoint/2010/main" val="1605244819"/>
              </p:ext>
            </p:extLst>
          </p:nvPr>
        </p:nvGraphicFramePr>
        <p:xfrm>
          <a:off x="623392" y="620688"/>
          <a:ext cx="11089225" cy="5760635"/>
        </p:xfrm>
        <a:graphic>
          <a:graphicData uri="http://schemas.openxmlformats.org/drawingml/2006/table">
            <a:tbl>
              <a:tblPr>
                <a:tableStyleId>{5C22544A-7EE6-4342-B048-85BDC9FD1C3A}</a:tableStyleId>
              </a:tblPr>
              <a:tblGrid>
                <a:gridCol w="311508">
                  <a:extLst>
                    <a:ext uri="{9D8B030D-6E8A-4147-A177-3AD203B41FA5}">
                      <a16:colId xmlns:a16="http://schemas.microsoft.com/office/drawing/2014/main" val="2238162615"/>
                    </a:ext>
                  </a:extLst>
                </a:gridCol>
                <a:gridCol w="311508">
                  <a:extLst>
                    <a:ext uri="{9D8B030D-6E8A-4147-A177-3AD203B41FA5}">
                      <a16:colId xmlns:a16="http://schemas.microsoft.com/office/drawing/2014/main" val="3523368872"/>
                    </a:ext>
                  </a:extLst>
                </a:gridCol>
                <a:gridCol w="311508">
                  <a:extLst>
                    <a:ext uri="{9D8B030D-6E8A-4147-A177-3AD203B41FA5}">
                      <a16:colId xmlns:a16="http://schemas.microsoft.com/office/drawing/2014/main" val="1783672866"/>
                    </a:ext>
                  </a:extLst>
                </a:gridCol>
                <a:gridCol w="311508">
                  <a:extLst>
                    <a:ext uri="{9D8B030D-6E8A-4147-A177-3AD203B41FA5}">
                      <a16:colId xmlns:a16="http://schemas.microsoft.com/office/drawing/2014/main" val="1846738686"/>
                    </a:ext>
                  </a:extLst>
                </a:gridCol>
                <a:gridCol w="311508">
                  <a:extLst>
                    <a:ext uri="{9D8B030D-6E8A-4147-A177-3AD203B41FA5}">
                      <a16:colId xmlns:a16="http://schemas.microsoft.com/office/drawing/2014/main" val="2058574130"/>
                    </a:ext>
                  </a:extLst>
                </a:gridCol>
                <a:gridCol w="311508">
                  <a:extLst>
                    <a:ext uri="{9D8B030D-6E8A-4147-A177-3AD203B41FA5}">
                      <a16:colId xmlns:a16="http://schemas.microsoft.com/office/drawing/2014/main" val="2104329953"/>
                    </a:ext>
                  </a:extLst>
                </a:gridCol>
                <a:gridCol w="311508">
                  <a:extLst>
                    <a:ext uri="{9D8B030D-6E8A-4147-A177-3AD203B41FA5}">
                      <a16:colId xmlns:a16="http://schemas.microsoft.com/office/drawing/2014/main" val="3251859060"/>
                    </a:ext>
                  </a:extLst>
                </a:gridCol>
                <a:gridCol w="538061">
                  <a:extLst>
                    <a:ext uri="{9D8B030D-6E8A-4147-A177-3AD203B41FA5}">
                      <a16:colId xmlns:a16="http://schemas.microsoft.com/office/drawing/2014/main" val="2706135717"/>
                    </a:ext>
                  </a:extLst>
                </a:gridCol>
                <a:gridCol w="538061">
                  <a:extLst>
                    <a:ext uri="{9D8B030D-6E8A-4147-A177-3AD203B41FA5}">
                      <a16:colId xmlns:a16="http://schemas.microsoft.com/office/drawing/2014/main" val="639554338"/>
                    </a:ext>
                  </a:extLst>
                </a:gridCol>
                <a:gridCol w="358708">
                  <a:extLst>
                    <a:ext uri="{9D8B030D-6E8A-4147-A177-3AD203B41FA5}">
                      <a16:colId xmlns:a16="http://schemas.microsoft.com/office/drawing/2014/main" val="3730758209"/>
                    </a:ext>
                  </a:extLst>
                </a:gridCol>
                <a:gridCol w="361066">
                  <a:extLst>
                    <a:ext uri="{9D8B030D-6E8A-4147-A177-3AD203B41FA5}">
                      <a16:colId xmlns:a16="http://schemas.microsoft.com/office/drawing/2014/main" val="2186174022"/>
                    </a:ext>
                  </a:extLst>
                </a:gridCol>
                <a:gridCol w="311508">
                  <a:extLst>
                    <a:ext uri="{9D8B030D-6E8A-4147-A177-3AD203B41FA5}">
                      <a16:colId xmlns:a16="http://schemas.microsoft.com/office/drawing/2014/main" val="914992982"/>
                    </a:ext>
                  </a:extLst>
                </a:gridCol>
                <a:gridCol w="311508">
                  <a:extLst>
                    <a:ext uri="{9D8B030D-6E8A-4147-A177-3AD203B41FA5}">
                      <a16:colId xmlns:a16="http://schemas.microsoft.com/office/drawing/2014/main" val="3603415983"/>
                    </a:ext>
                  </a:extLst>
                </a:gridCol>
                <a:gridCol w="311508">
                  <a:extLst>
                    <a:ext uri="{9D8B030D-6E8A-4147-A177-3AD203B41FA5}">
                      <a16:colId xmlns:a16="http://schemas.microsoft.com/office/drawing/2014/main" val="3063163852"/>
                    </a:ext>
                  </a:extLst>
                </a:gridCol>
                <a:gridCol w="396465">
                  <a:extLst>
                    <a:ext uri="{9D8B030D-6E8A-4147-A177-3AD203B41FA5}">
                      <a16:colId xmlns:a16="http://schemas.microsoft.com/office/drawing/2014/main" val="1029642846"/>
                    </a:ext>
                  </a:extLst>
                </a:gridCol>
                <a:gridCol w="396465">
                  <a:extLst>
                    <a:ext uri="{9D8B030D-6E8A-4147-A177-3AD203B41FA5}">
                      <a16:colId xmlns:a16="http://schemas.microsoft.com/office/drawing/2014/main" val="2116487591"/>
                    </a:ext>
                  </a:extLst>
                </a:gridCol>
                <a:gridCol w="405905">
                  <a:extLst>
                    <a:ext uri="{9D8B030D-6E8A-4147-A177-3AD203B41FA5}">
                      <a16:colId xmlns:a16="http://schemas.microsoft.com/office/drawing/2014/main" val="3660124591"/>
                    </a:ext>
                  </a:extLst>
                </a:gridCol>
                <a:gridCol w="405905">
                  <a:extLst>
                    <a:ext uri="{9D8B030D-6E8A-4147-A177-3AD203B41FA5}">
                      <a16:colId xmlns:a16="http://schemas.microsoft.com/office/drawing/2014/main" val="1507954037"/>
                    </a:ext>
                  </a:extLst>
                </a:gridCol>
                <a:gridCol w="311508">
                  <a:extLst>
                    <a:ext uri="{9D8B030D-6E8A-4147-A177-3AD203B41FA5}">
                      <a16:colId xmlns:a16="http://schemas.microsoft.com/office/drawing/2014/main" val="3885197071"/>
                    </a:ext>
                  </a:extLst>
                </a:gridCol>
                <a:gridCol w="311508">
                  <a:extLst>
                    <a:ext uri="{9D8B030D-6E8A-4147-A177-3AD203B41FA5}">
                      <a16:colId xmlns:a16="http://schemas.microsoft.com/office/drawing/2014/main" val="1616353830"/>
                    </a:ext>
                  </a:extLst>
                </a:gridCol>
                <a:gridCol w="311508">
                  <a:extLst>
                    <a:ext uri="{9D8B030D-6E8A-4147-A177-3AD203B41FA5}">
                      <a16:colId xmlns:a16="http://schemas.microsoft.com/office/drawing/2014/main" val="2678053161"/>
                    </a:ext>
                  </a:extLst>
                </a:gridCol>
                <a:gridCol w="311508">
                  <a:extLst>
                    <a:ext uri="{9D8B030D-6E8A-4147-A177-3AD203B41FA5}">
                      <a16:colId xmlns:a16="http://schemas.microsoft.com/office/drawing/2014/main" val="3680853189"/>
                    </a:ext>
                  </a:extLst>
                </a:gridCol>
                <a:gridCol w="453104">
                  <a:extLst>
                    <a:ext uri="{9D8B030D-6E8A-4147-A177-3AD203B41FA5}">
                      <a16:colId xmlns:a16="http://schemas.microsoft.com/office/drawing/2014/main" val="4140781702"/>
                    </a:ext>
                  </a:extLst>
                </a:gridCol>
                <a:gridCol w="453104">
                  <a:extLst>
                    <a:ext uri="{9D8B030D-6E8A-4147-A177-3AD203B41FA5}">
                      <a16:colId xmlns:a16="http://schemas.microsoft.com/office/drawing/2014/main" val="2657166240"/>
                    </a:ext>
                  </a:extLst>
                </a:gridCol>
                <a:gridCol w="311508">
                  <a:extLst>
                    <a:ext uri="{9D8B030D-6E8A-4147-A177-3AD203B41FA5}">
                      <a16:colId xmlns:a16="http://schemas.microsoft.com/office/drawing/2014/main" val="3878196667"/>
                    </a:ext>
                  </a:extLst>
                </a:gridCol>
                <a:gridCol w="311508">
                  <a:extLst>
                    <a:ext uri="{9D8B030D-6E8A-4147-A177-3AD203B41FA5}">
                      <a16:colId xmlns:a16="http://schemas.microsoft.com/office/drawing/2014/main" val="484470692"/>
                    </a:ext>
                  </a:extLst>
                </a:gridCol>
                <a:gridCol w="311508">
                  <a:extLst>
                    <a:ext uri="{9D8B030D-6E8A-4147-A177-3AD203B41FA5}">
                      <a16:colId xmlns:a16="http://schemas.microsoft.com/office/drawing/2014/main" val="1834359963"/>
                    </a:ext>
                  </a:extLst>
                </a:gridCol>
                <a:gridCol w="311508">
                  <a:extLst>
                    <a:ext uri="{9D8B030D-6E8A-4147-A177-3AD203B41FA5}">
                      <a16:colId xmlns:a16="http://schemas.microsoft.com/office/drawing/2014/main" val="3729540176"/>
                    </a:ext>
                  </a:extLst>
                </a:gridCol>
                <a:gridCol w="311508">
                  <a:extLst>
                    <a:ext uri="{9D8B030D-6E8A-4147-A177-3AD203B41FA5}">
                      <a16:colId xmlns:a16="http://schemas.microsoft.com/office/drawing/2014/main" val="3369806460"/>
                    </a:ext>
                  </a:extLst>
                </a:gridCol>
                <a:gridCol w="191154">
                  <a:extLst>
                    <a:ext uri="{9D8B030D-6E8A-4147-A177-3AD203B41FA5}">
                      <a16:colId xmlns:a16="http://schemas.microsoft.com/office/drawing/2014/main" val="867252112"/>
                    </a:ext>
                  </a:extLst>
                </a:gridCol>
                <a:gridCol w="672575">
                  <a:extLst>
                    <a:ext uri="{9D8B030D-6E8A-4147-A177-3AD203B41FA5}">
                      <a16:colId xmlns:a16="http://schemas.microsoft.com/office/drawing/2014/main" val="1064800087"/>
                    </a:ext>
                  </a:extLst>
                </a:gridCol>
              </a:tblGrid>
              <a:tr h="417437">
                <a:tc gridSpan="31">
                  <a:txBody>
                    <a:bodyPr/>
                    <a:lstStyle/>
                    <a:p>
                      <a:pPr algn="ctr" fontAlgn="ctr"/>
                      <a:r>
                        <a:rPr lang="zh-CN" altLang="en-US" sz="600" u="none" strike="noStrike" dirty="0">
                          <a:effectLst/>
                        </a:rPr>
                        <a:t>原材料台账</a:t>
                      </a:r>
                      <a:endParaRPr lang="zh-CN" altLang="en-US" sz="600" b="1" i="0" u="none" strike="noStrike" dirty="0">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41663630"/>
                  </a:ext>
                </a:extLst>
              </a:tr>
              <a:tr h="417437">
                <a:tc gridSpan="8">
                  <a:txBody>
                    <a:bodyPr/>
                    <a:lstStyle/>
                    <a:p>
                      <a:pPr algn="l" fontAlgn="ctr"/>
                      <a:r>
                        <a:rPr lang="zh-CN" altLang="en-US" sz="500" u="none" strike="noStrike">
                          <a:effectLst/>
                        </a:rPr>
                        <a:t>台账统计期间：</a:t>
                      </a:r>
                      <a:r>
                        <a:rPr lang="en-US" altLang="zh-CN" sz="500" u="none" strike="noStrike">
                          <a:effectLst/>
                        </a:rPr>
                        <a:t>______</a:t>
                      </a:r>
                      <a:r>
                        <a:rPr lang="zh-CN" altLang="en-US" sz="500" u="none" strike="noStrike">
                          <a:effectLst/>
                        </a:rPr>
                        <a:t>年</a:t>
                      </a:r>
                      <a:r>
                        <a:rPr lang="en-US" altLang="zh-CN" sz="500" u="none" strike="noStrike">
                          <a:effectLst/>
                        </a:rPr>
                        <a:t>______</a:t>
                      </a:r>
                      <a:r>
                        <a:rPr lang="zh-CN" altLang="en-US" sz="500" u="none" strike="noStrike">
                          <a:effectLst/>
                        </a:rPr>
                        <a:t>月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所属仓库：</a:t>
                      </a:r>
                      <a:r>
                        <a:rPr lang="en-US" altLang="zh-CN" sz="500" u="none" strike="noStrike">
                          <a:effectLst/>
                        </a:rPr>
                        <a:t>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ctr" fontAlgn="ctr"/>
                      <a:r>
                        <a:rPr lang="zh-CN" altLang="en-US" sz="500" u="none" strike="noStrike">
                          <a:effectLst/>
                        </a:rPr>
                        <a:t>物料大类：原材料</a:t>
                      </a:r>
                      <a:endParaRPr lang="zh-CN" altLang="en-US" sz="500" b="0" i="0" u="none" strike="noStrike">
                        <a:solidFill>
                          <a:srgbClr val="000000"/>
                        </a:solidFill>
                        <a:effectLst/>
                        <a:latin typeface="Arial" panose="020B0604020202020204" pitchFamily="34" charset="0"/>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制表人：</a:t>
                      </a:r>
                      <a:r>
                        <a:rPr lang="en-US" altLang="zh-CN" sz="500" u="none" strike="noStrike">
                          <a:effectLst/>
                        </a:rPr>
                        <a:t>________</a:t>
                      </a:r>
                      <a:endParaRPr lang="en-US" altLang="zh-CN" sz="500" b="0" i="0" u="none" strike="noStrike">
                        <a:solidFill>
                          <a:srgbClr val="000000"/>
                        </a:solidFill>
                        <a:effectLst/>
                        <a:latin typeface="Arial" panose="020B0604020202020204" pitchFamily="34" charset="0"/>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36501344"/>
                  </a:ext>
                </a:extLst>
              </a:tr>
              <a:tr h="417437">
                <a:tc rowSpan="2">
                  <a:txBody>
                    <a:bodyPr/>
                    <a:lstStyle/>
                    <a:p>
                      <a:pPr algn="ctr" fontAlgn="ctr"/>
                      <a:r>
                        <a:rPr lang="zh-CN" altLang="en-US" sz="500" u="none" strike="noStrike">
                          <a:effectLst/>
                        </a:rPr>
                        <a:t>序号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rowSpan="2">
                  <a:txBody>
                    <a:bodyPr/>
                    <a:lstStyle/>
                    <a:p>
                      <a:pPr algn="ctr" fontAlgn="ctr"/>
                      <a:r>
                        <a:rPr lang="zh-CN" altLang="en-US" sz="500" u="none" strike="noStrike">
                          <a:effectLst/>
                        </a:rPr>
                        <a:t>物料编码</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rowSpan="2">
                  <a:txBody>
                    <a:bodyPr/>
                    <a:lstStyle/>
                    <a:p>
                      <a:pPr algn="ctr" fontAlgn="ctr"/>
                      <a:r>
                        <a:rPr lang="zh-CN" altLang="en-US" sz="500" u="none" strike="noStrike">
                          <a:effectLst/>
                        </a:rPr>
                        <a:t>品名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rowSpan="2">
                  <a:txBody>
                    <a:bodyPr/>
                    <a:lstStyle/>
                    <a:p>
                      <a:pPr algn="ctr" fontAlgn="ctr"/>
                      <a:r>
                        <a:rPr lang="zh-CN" altLang="en-US" sz="500" u="none" strike="noStrike">
                          <a:effectLst/>
                        </a:rPr>
                        <a:t>规格型号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gridSpan="4">
                  <a:txBody>
                    <a:bodyPr/>
                    <a:lstStyle/>
                    <a:p>
                      <a:pPr algn="ctr" fontAlgn="ctr"/>
                      <a:r>
                        <a:rPr lang="zh-CN" altLang="en-US" sz="500" u="none" strike="noStrike">
                          <a:effectLst/>
                        </a:rPr>
                        <a:t>期初库存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本期入库</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8">
                  <a:txBody>
                    <a:bodyPr/>
                    <a:lstStyle/>
                    <a:p>
                      <a:pPr algn="ctr" fontAlgn="ctr"/>
                      <a:r>
                        <a:rPr lang="zh-CN" altLang="en-US" sz="500" u="none" strike="noStrike">
                          <a:effectLst/>
                        </a:rPr>
                        <a:t>本期出库</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500" u="none" strike="noStrike">
                          <a:effectLst/>
                        </a:rPr>
                        <a:t>期末库存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fontAlgn="ctr"/>
                      <a:r>
                        <a:rPr lang="zh-CN" altLang="en-US" sz="500" u="none" strike="noStrike">
                          <a:effectLst/>
                        </a:rPr>
                        <a:t>库存柜位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rowSpan="2">
                  <a:txBody>
                    <a:bodyPr/>
                    <a:lstStyle/>
                    <a:p>
                      <a:pPr algn="ctr" fontAlgn="ctr"/>
                      <a:r>
                        <a:rPr lang="zh-CN" altLang="en-US" sz="500" u="none" strike="noStrike">
                          <a:effectLst/>
                        </a:rPr>
                        <a:t>库管员</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rowSpan="2">
                  <a:txBody>
                    <a:bodyPr/>
                    <a:lstStyle/>
                    <a:p>
                      <a:pPr algn="ctr" fontAlgn="ctr"/>
                      <a:r>
                        <a:rPr lang="zh-CN" altLang="en-US" sz="500" u="none" strike="noStrike">
                          <a:effectLst/>
                        </a:rPr>
                        <a:t>备注（安全库存 </a:t>
                      </a:r>
                      <a:r>
                        <a:rPr lang="en-US" altLang="zh-CN" sz="500" u="none" strike="noStrike">
                          <a:effectLst/>
                        </a:rPr>
                        <a:t>/ </a:t>
                      </a:r>
                      <a:r>
                        <a:rPr lang="zh-CN" altLang="en-US" sz="500" u="none" strike="noStrike">
                          <a:effectLst/>
                        </a:rPr>
                        <a:t>库龄</a:t>
                      </a:r>
                      <a:r>
                        <a:rPr lang="en-US" altLang="zh-CN" sz="500" u="none" strike="noStrike">
                          <a:effectLst/>
                        </a:rPr>
                        <a:t>/</a:t>
                      </a:r>
                      <a:r>
                        <a:rPr lang="zh-CN" altLang="en-US" sz="500" u="none" strike="noStrike">
                          <a:effectLst/>
                        </a:rPr>
                        <a:t>呆滞 </a:t>
                      </a:r>
                      <a:r>
                        <a:rPr lang="en-US" altLang="zh-CN" sz="500" u="none" strike="noStrike">
                          <a:effectLst/>
                        </a:rPr>
                        <a:t>/ </a:t>
                      </a:r>
                      <a:r>
                        <a:rPr lang="zh-CN" altLang="en-US" sz="500" u="none" strike="noStrike">
                          <a:effectLst/>
                        </a:rPr>
                        <a:t>质检）</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689221316"/>
                  </a:ext>
                </a:extLst>
              </a:tr>
              <a:tr h="41743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供货单位名称</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入库时间</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入库单编号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经手人签字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出库时间</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出库单编号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领用部门</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领用人签字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单价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702903013"/>
                  </a:ext>
                </a:extLst>
              </a:tr>
              <a:tr h="417437">
                <a:tc>
                  <a:txBody>
                    <a:bodyPr/>
                    <a:lstStyle/>
                    <a:p>
                      <a:pPr algn="ctr" fontAlgn="ctr"/>
                      <a:r>
                        <a:rPr lang="en-US" altLang="zh-CN" sz="500" u="none" strike="noStrike">
                          <a:effectLst/>
                        </a:rPr>
                        <a:t>1</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1534805036"/>
                  </a:ext>
                </a:extLst>
              </a:tr>
              <a:tr h="417437">
                <a:tc>
                  <a:txBody>
                    <a:bodyPr/>
                    <a:lstStyle/>
                    <a:p>
                      <a:pPr algn="ctr" fontAlgn="ctr"/>
                      <a:r>
                        <a:rPr lang="en-US" altLang="zh-CN" sz="500" u="none" strike="noStrike">
                          <a:effectLst/>
                        </a:rPr>
                        <a:t>2</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3654545953"/>
                  </a:ext>
                </a:extLst>
              </a:tr>
              <a:tr h="417437">
                <a:tc>
                  <a:txBody>
                    <a:bodyPr/>
                    <a:lstStyle/>
                    <a:p>
                      <a:pPr algn="ctr" fontAlgn="ctr"/>
                      <a:r>
                        <a:rPr lang="en-US" altLang="zh-CN" sz="500" u="none" strike="noStrike">
                          <a:effectLst/>
                        </a:rPr>
                        <a:t>3</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738624399"/>
                  </a:ext>
                </a:extLst>
              </a:tr>
              <a:tr h="417437">
                <a:tc>
                  <a:txBody>
                    <a:bodyPr/>
                    <a:lstStyle/>
                    <a:p>
                      <a:pPr algn="ctr" fontAlgn="ctr"/>
                      <a:r>
                        <a:rPr lang="en-US" altLang="zh-CN" sz="500" u="none" strike="noStrike">
                          <a:effectLst/>
                        </a:rPr>
                        <a:t>4</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3982635322"/>
                  </a:ext>
                </a:extLst>
              </a:tr>
              <a:tr h="417437">
                <a:tc>
                  <a:txBody>
                    <a:bodyPr/>
                    <a:lstStyle/>
                    <a:p>
                      <a:pPr algn="ctr" fontAlgn="ctr"/>
                      <a:r>
                        <a:rPr lang="en-US" altLang="zh-CN" sz="500" u="none" strike="noStrike">
                          <a:effectLst/>
                        </a:rPr>
                        <a:t>5</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4074563968"/>
                  </a:ext>
                </a:extLst>
              </a:tr>
              <a:tr h="417437">
                <a:tc>
                  <a:txBody>
                    <a:bodyPr/>
                    <a:lstStyle/>
                    <a:p>
                      <a:pPr algn="ctr" fontAlgn="ctr"/>
                      <a:r>
                        <a:rPr lang="zh-CN" altLang="en-US" sz="500" u="none" strike="noStrike">
                          <a:effectLst/>
                        </a:rPr>
                        <a:t>合计</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635" marR="4635" marT="4635" marB="0" anchor="ctr"/>
                </a:tc>
                <a:extLst>
                  <a:ext uri="{0D108BD9-81ED-4DB2-BD59-A6C34878D82A}">
                    <a16:rowId xmlns:a16="http://schemas.microsoft.com/office/drawing/2014/main" val="154725831"/>
                  </a:ext>
                </a:extLst>
              </a:tr>
              <a:tr h="1586265">
                <a:tc gridSpan="31">
                  <a:txBody>
                    <a:bodyPr/>
                    <a:lstStyle/>
                    <a:p>
                      <a:pPr algn="l" fontAlgn="ctr"/>
                      <a:r>
                        <a:rPr lang="zh-CN" altLang="en-US" sz="500" u="none" strike="noStrike" dirty="0">
                          <a:effectLst/>
                        </a:rPr>
                        <a:t>填写与使用核心说明</a:t>
                      </a:r>
                      <a:br>
                        <a:rPr lang="zh-CN" altLang="en-US" sz="500" u="none" strike="noStrike" dirty="0">
                          <a:effectLst/>
                        </a:rPr>
                      </a:br>
                      <a:r>
                        <a:rPr lang="zh-CN" altLang="en-US" sz="500" u="none" strike="noStrike" dirty="0">
                          <a:effectLst/>
                        </a:rPr>
                        <a:t>成本核算规则：通用中小企业建议采用全月一次加权平均法：月末单位成本 </a:t>
                      </a:r>
                      <a:r>
                        <a:rPr lang="en-US" altLang="zh-CN" sz="500" u="none" strike="noStrike" dirty="0">
                          <a:effectLst/>
                        </a:rPr>
                        <a:t>=</a:t>
                      </a:r>
                      <a:r>
                        <a:rPr lang="zh-CN" altLang="en-US" sz="500" u="none" strike="noStrike" dirty="0">
                          <a:effectLst/>
                        </a:rPr>
                        <a:t>（期初结存金额 </a:t>
                      </a:r>
                      <a:r>
                        <a:rPr lang="en-US" altLang="zh-CN" sz="500" u="none" strike="noStrike" dirty="0">
                          <a:effectLst/>
                        </a:rPr>
                        <a:t>+ </a:t>
                      </a:r>
                      <a:r>
                        <a:rPr lang="zh-CN" altLang="en-US" sz="500" u="none" strike="noStrike" dirty="0">
                          <a:effectLst/>
                        </a:rPr>
                        <a:t>本期入库总金额）</a:t>
                      </a:r>
                      <a:r>
                        <a:rPr lang="en-US" altLang="zh-CN" sz="500" u="none" strike="noStrike" dirty="0">
                          <a:effectLst/>
                        </a:rPr>
                        <a:t>÷</a:t>
                      </a:r>
                      <a:r>
                        <a:rPr lang="zh-CN" altLang="en-US" sz="500" u="none" strike="noStrike" dirty="0">
                          <a:effectLst/>
                        </a:rPr>
                        <a:t>（期初结存数量 </a:t>
                      </a:r>
                      <a:r>
                        <a:rPr lang="en-US" altLang="zh-CN" sz="500" u="none" strike="noStrike" dirty="0">
                          <a:effectLst/>
                        </a:rPr>
                        <a:t>+ </a:t>
                      </a:r>
                      <a:r>
                        <a:rPr lang="zh-CN" altLang="en-US" sz="500" u="none" strike="noStrike" dirty="0">
                          <a:effectLst/>
                        </a:rPr>
                        <a:t>本期入库总数量），本期出库和期末结存均按此单价计算</a:t>
                      </a:r>
                      <a:br>
                        <a:rPr lang="zh-CN" altLang="en-US" sz="500" u="none" strike="noStrike" dirty="0">
                          <a:effectLst/>
                        </a:rPr>
                      </a:br>
                      <a:r>
                        <a:rPr lang="zh-CN" altLang="en-US" sz="500" u="none" strike="noStrike" dirty="0">
                          <a:effectLst/>
                        </a:rPr>
                        <a:t>                           商贸零售 </a:t>
                      </a:r>
                      <a:r>
                        <a:rPr lang="en-US" altLang="zh-CN" sz="500" u="none" strike="noStrike" dirty="0">
                          <a:effectLst/>
                        </a:rPr>
                        <a:t>/ </a:t>
                      </a:r>
                      <a:r>
                        <a:rPr lang="zh-CN" altLang="en-US" sz="500" u="none" strike="noStrike" dirty="0">
                          <a:effectLst/>
                        </a:rPr>
                        <a:t>批次管理企业可采用移动加权平均法或个别计价法，按单批次核算成本</a:t>
                      </a:r>
                      <a:br>
                        <a:rPr lang="zh-CN" altLang="en-US" sz="500" u="none" strike="noStrike" dirty="0">
                          <a:effectLst/>
                        </a:rPr>
                      </a:br>
                      <a:r>
                        <a:rPr lang="zh-CN" altLang="en-US" sz="500" u="none" strike="noStrike" dirty="0">
                          <a:effectLst/>
                        </a:rPr>
                        <a:t>单据追溯要求：入库单号必须对应之前的</a:t>
                      </a:r>
                      <a:r>
                        <a:rPr lang="en-US" altLang="zh-CN" sz="500" u="none" strike="noStrike" dirty="0">
                          <a:effectLst/>
                        </a:rPr>
                        <a:t>《</a:t>
                      </a:r>
                      <a:r>
                        <a:rPr lang="zh-CN" altLang="en-US" sz="500" u="none" strike="noStrike" dirty="0">
                          <a:effectLst/>
                        </a:rPr>
                        <a:t>材料 </a:t>
                      </a:r>
                      <a:r>
                        <a:rPr lang="en-US" altLang="zh-CN" sz="500" u="none" strike="noStrike" dirty="0">
                          <a:effectLst/>
                        </a:rPr>
                        <a:t>/ </a:t>
                      </a:r>
                      <a:r>
                        <a:rPr lang="zh-CN" altLang="en-US" sz="500" u="none" strike="noStrike" dirty="0">
                          <a:effectLst/>
                        </a:rPr>
                        <a:t>服务入库验收单</a:t>
                      </a:r>
                      <a:r>
                        <a:rPr lang="en-US" altLang="zh-CN" sz="500" u="none" strike="noStrike" dirty="0">
                          <a:effectLst/>
                        </a:rPr>
                        <a:t>》《</a:t>
                      </a:r>
                      <a:r>
                        <a:rPr lang="zh-CN" altLang="en-US" sz="500" u="none" strike="noStrike" dirty="0">
                          <a:effectLst/>
                        </a:rPr>
                        <a:t>采购订单 </a:t>
                      </a:r>
                      <a:r>
                        <a:rPr lang="en-US" altLang="zh-CN" sz="500" u="none" strike="noStrike" dirty="0">
                          <a:effectLst/>
                        </a:rPr>
                        <a:t>PO》</a:t>
                      </a:r>
                      <a:r>
                        <a:rPr lang="zh-CN" altLang="en-US" sz="500" u="none" strike="noStrike" dirty="0">
                          <a:effectLst/>
                        </a:rPr>
                        <a:t>，确保账实、账证相符；出库单号必须对应</a:t>
                      </a:r>
                      <a:r>
                        <a:rPr lang="en-US" altLang="zh-CN" sz="500" u="none" strike="noStrike" dirty="0">
                          <a:effectLst/>
                        </a:rPr>
                        <a:t>《</a:t>
                      </a:r>
                      <a:r>
                        <a:rPr lang="zh-CN" altLang="en-US" sz="500" u="none" strike="noStrike" dirty="0">
                          <a:effectLst/>
                        </a:rPr>
                        <a:t>材料领用单</a:t>
                      </a:r>
                      <a:r>
                        <a:rPr lang="en-US" altLang="zh-CN" sz="500" u="none" strike="noStrike" dirty="0">
                          <a:effectLst/>
                        </a:rPr>
                        <a:t>》《</a:t>
                      </a:r>
                      <a:r>
                        <a:rPr lang="zh-CN" altLang="en-US" sz="500" u="none" strike="noStrike" dirty="0">
                          <a:effectLst/>
                        </a:rPr>
                        <a:t>销售出库单</a:t>
                      </a:r>
                      <a:r>
                        <a:rPr lang="en-US" altLang="zh-CN" sz="500" u="none" strike="noStrike" dirty="0">
                          <a:effectLst/>
                        </a:rPr>
                        <a:t>》</a:t>
                      </a:r>
                      <a:r>
                        <a:rPr lang="zh-CN" altLang="en-US" sz="500" u="none" strike="noStrike" dirty="0">
                          <a:effectLst/>
                        </a:rPr>
                        <a:t>，领用需标注领用部门 </a:t>
                      </a:r>
                      <a:r>
                        <a:rPr lang="en-US" altLang="zh-CN" sz="500" u="none" strike="noStrike" dirty="0">
                          <a:effectLst/>
                        </a:rPr>
                        <a:t>/ </a:t>
                      </a:r>
                      <a:r>
                        <a:rPr lang="zh-CN" altLang="en-US" sz="500" u="none" strike="noStrike" dirty="0">
                          <a:effectLst/>
                        </a:rPr>
                        <a:t>项目，销售   需绑定对应销售订单号</a:t>
                      </a:r>
                      <a:br>
                        <a:rPr lang="zh-CN" altLang="en-US" sz="500" u="none" strike="noStrike" dirty="0">
                          <a:effectLst/>
                        </a:rPr>
                      </a:br>
                      <a:r>
                        <a:rPr lang="zh-CN" altLang="en-US" sz="500" u="none" strike="noStrike" dirty="0">
                          <a:effectLst/>
                        </a:rPr>
                        <a:t>台账核对要求：每月结账后，台账期末结存总金额必须与总账「原材料」「库存商品」科目余额完全一致；每月盘点后，台账结存数量必须与</a:t>
                      </a:r>
                      <a:r>
                        <a:rPr lang="en-US" altLang="zh-CN" sz="500" u="none" strike="noStrike" dirty="0">
                          <a:effectLst/>
                        </a:rPr>
                        <a:t>《</a:t>
                      </a:r>
                      <a:r>
                        <a:rPr lang="zh-CN" altLang="en-US" sz="500" u="none" strike="noStrike" dirty="0">
                          <a:effectLst/>
                        </a:rPr>
                        <a:t>存货盘点表</a:t>
                      </a:r>
                      <a:r>
                        <a:rPr lang="en-US" altLang="zh-CN" sz="500" u="none" strike="noStrike" dirty="0">
                          <a:effectLst/>
                        </a:rPr>
                        <a:t>》</a:t>
                      </a:r>
                      <a:r>
                        <a:rPr lang="zh-CN" altLang="en-US" sz="500" u="none" strike="noStrike" dirty="0">
                          <a:effectLst/>
                        </a:rPr>
                        <a:t>实盘数量核对，差异需做盘盈盘亏审批处理</a:t>
                      </a:r>
                      <a:br>
                        <a:rPr lang="zh-CN" altLang="en-US" sz="500" u="none" strike="noStrike" dirty="0">
                          <a:effectLst/>
                        </a:rPr>
                      </a:br>
                      <a:r>
                        <a:rPr lang="zh-CN" altLang="en-US" sz="500" u="none" strike="noStrike" dirty="0">
                          <a:effectLst/>
                        </a:rPr>
                        <a:t>扩展优化项：可新增「供应商」「客户」列，追溯物料来源和去向；可新增「呆滞预警」列，对超过 </a:t>
                      </a:r>
                      <a:r>
                        <a:rPr lang="en-US" altLang="zh-CN" sz="500" u="none" strike="noStrike" dirty="0">
                          <a:effectLst/>
                        </a:rPr>
                        <a:t>3 </a:t>
                      </a:r>
                      <a:r>
                        <a:rPr lang="zh-CN" altLang="en-US" sz="500" u="none" strike="noStrike" dirty="0">
                          <a:effectLst/>
                        </a:rPr>
                        <a:t>个月无领用 </a:t>
                      </a:r>
                      <a:r>
                        <a:rPr lang="en-US" altLang="zh-CN" sz="500" u="none" strike="noStrike" dirty="0">
                          <a:effectLst/>
                        </a:rPr>
                        <a:t>/ </a:t>
                      </a:r>
                      <a:r>
                        <a:rPr lang="zh-CN" altLang="en-US" sz="500" u="none" strike="noStrike" dirty="0">
                          <a:effectLst/>
                        </a:rPr>
                        <a:t>销售的物料自动标注；可按物料大类分 </a:t>
                      </a:r>
                      <a:r>
                        <a:rPr lang="en-US" altLang="zh-CN" sz="500" u="none" strike="noStrike" dirty="0">
                          <a:effectLst/>
                        </a:rPr>
                        <a:t>sheet </a:t>
                      </a:r>
                      <a:r>
                        <a:rPr lang="zh-CN" altLang="en-US" sz="500" u="none" strike="noStrike" dirty="0">
                          <a:effectLst/>
                        </a:rPr>
                        <a:t>登记，比如原材料分「主料」「辅料」「耗材」，库存商品分「在售款」「预售款」「滞销款」                                                           </a:t>
                      </a:r>
                      <a:endParaRPr lang="zh-CN" altLang="en-US" sz="500" b="0" i="0" u="none" strike="noStrike" dirty="0">
                        <a:solidFill>
                          <a:srgbClr val="000000"/>
                        </a:solidFill>
                        <a:effectLst/>
                        <a:latin typeface="等线" panose="02010600030101010101" pitchFamily="2" charset="-122"/>
                        <a:ea typeface="等线" panose="02010600030101010101" pitchFamily="2" charset="-122"/>
                      </a:endParaRPr>
                    </a:p>
                  </a:txBody>
                  <a:tcPr marL="4635" marR="4635" marT="4635"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40745811"/>
                  </a:ext>
                </a:extLst>
              </a:tr>
            </a:tbl>
          </a:graphicData>
        </a:graphic>
      </p:graphicFrame>
      <p:sp>
        <p:nvSpPr>
          <p:cNvPr id="5" name="文本框 4">
            <a:extLst>
              <a:ext uri="{FF2B5EF4-FFF2-40B4-BE49-F238E27FC236}">
                <a16:creationId xmlns:a16="http://schemas.microsoft.com/office/drawing/2014/main" id="{6577241A-68FE-4B9D-B378-4D3F0EB29241}"/>
              </a:ext>
            </a:extLst>
          </p:cNvPr>
          <p:cNvSpPr txBox="1"/>
          <p:nvPr/>
        </p:nvSpPr>
        <p:spPr>
          <a:xfrm>
            <a:off x="3702" y="85458"/>
            <a:ext cx="2563906" cy="461665"/>
          </a:xfrm>
          <a:prstGeom prst="rect">
            <a:avLst/>
          </a:prstGeom>
          <a:solidFill>
            <a:srgbClr val="FFFF00"/>
          </a:solidFill>
        </p:spPr>
        <p:txBody>
          <a:bodyPr wrap="square" rtlCol="0">
            <a:spAutoFit/>
          </a:bodyPr>
          <a:lstStyle/>
          <a:p>
            <a:r>
              <a:rPr lang="zh-CN" altLang="en-US" sz="2400" b="1" dirty="0">
                <a:solidFill>
                  <a:srgbClr val="FF0000"/>
                </a:solidFill>
              </a:rPr>
              <a:t>原材料台账</a:t>
            </a:r>
            <a:r>
              <a:rPr lang="en-US" altLang="zh-CN" sz="2400" b="1" dirty="0">
                <a:solidFill>
                  <a:srgbClr val="FF0000"/>
                </a:solidFill>
              </a:rPr>
              <a:t>2-5</a:t>
            </a:r>
            <a:endParaRPr lang="zh-CN" altLang="en-US" sz="2400" b="1" dirty="0">
              <a:solidFill>
                <a:srgbClr val="FF0000"/>
              </a:solidFill>
            </a:endParaRPr>
          </a:p>
        </p:txBody>
      </p:sp>
    </p:spTree>
    <p:extLst>
      <p:ext uri="{BB962C8B-B14F-4D97-AF65-F5344CB8AC3E}">
        <p14:creationId xmlns:p14="http://schemas.microsoft.com/office/powerpoint/2010/main" val="1209940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CD54959-B363-4236-85FD-A852F1A16BCB}"/>
              </a:ext>
            </a:extLst>
          </p:cNvPr>
          <p:cNvSpPr txBox="1"/>
          <p:nvPr/>
        </p:nvSpPr>
        <p:spPr>
          <a:xfrm>
            <a:off x="551384" y="117768"/>
            <a:ext cx="4608512" cy="461665"/>
          </a:xfrm>
          <a:prstGeom prst="rect">
            <a:avLst/>
          </a:prstGeom>
          <a:solidFill>
            <a:srgbClr val="FFFF00"/>
          </a:solidFill>
        </p:spPr>
        <p:txBody>
          <a:bodyPr wrap="square" rtlCol="0">
            <a:spAutoFit/>
          </a:bodyPr>
          <a:lstStyle/>
          <a:p>
            <a:r>
              <a:rPr lang="zh-CN" altLang="en-US" sz="2400" b="1" dirty="0">
                <a:solidFill>
                  <a:srgbClr val="FF0000"/>
                </a:solidFill>
              </a:rPr>
              <a:t>租赁资产台账</a:t>
            </a:r>
            <a:r>
              <a:rPr lang="en-US" altLang="zh-CN" sz="2400" b="1" dirty="0">
                <a:solidFill>
                  <a:srgbClr val="FF0000"/>
                </a:solidFill>
              </a:rPr>
              <a:t>2-6-1</a:t>
            </a:r>
            <a:r>
              <a:rPr lang="zh-CN" altLang="en-US" sz="2400" b="1" dirty="0">
                <a:solidFill>
                  <a:srgbClr val="FF0000"/>
                </a:solidFill>
              </a:rPr>
              <a:t>：长期房租</a:t>
            </a:r>
          </a:p>
        </p:txBody>
      </p:sp>
      <p:graphicFrame>
        <p:nvGraphicFramePr>
          <p:cNvPr id="5" name="表格 4">
            <a:extLst>
              <a:ext uri="{FF2B5EF4-FFF2-40B4-BE49-F238E27FC236}">
                <a16:creationId xmlns:a16="http://schemas.microsoft.com/office/drawing/2014/main" id="{30D0A8B4-DE27-46F1-BF34-969E2F1C77A1}"/>
              </a:ext>
            </a:extLst>
          </p:cNvPr>
          <p:cNvGraphicFramePr>
            <a:graphicFrameLocks noGrp="1"/>
          </p:cNvGraphicFramePr>
          <p:nvPr>
            <p:extLst>
              <p:ext uri="{D42A27DB-BD31-4B8C-83A1-F6EECF244321}">
                <p14:modId xmlns:p14="http://schemas.microsoft.com/office/powerpoint/2010/main" val="1547834974"/>
              </p:ext>
            </p:extLst>
          </p:nvPr>
        </p:nvGraphicFramePr>
        <p:xfrm>
          <a:off x="119336" y="764704"/>
          <a:ext cx="5760638" cy="5744695"/>
        </p:xfrm>
        <a:graphic>
          <a:graphicData uri="http://schemas.openxmlformats.org/drawingml/2006/table">
            <a:tbl>
              <a:tblPr>
                <a:tableStyleId>{5C22544A-7EE6-4342-B048-85BDC9FD1C3A}</a:tableStyleId>
              </a:tblPr>
              <a:tblGrid>
                <a:gridCol w="632864">
                  <a:extLst>
                    <a:ext uri="{9D8B030D-6E8A-4147-A177-3AD203B41FA5}">
                      <a16:colId xmlns:a16="http://schemas.microsoft.com/office/drawing/2014/main" val="2062308058"/>
                    </a:ext>
                  </a:extLst>
                </a:gridCol>
                <a:gridCol w="428461">
                  <a:extLst>
                    <a:ext uri="{9D8B030D-6E8A-4147-A177-3AD203B41FA5}">
                      <a16:colId xmlns:a16="http://schemas.microsoft.com/office/drawing/2014/main" val="1017115581"/>
                    </a:ext>
                  </a:extLst>
                </a:gridCol>
                <a:gridCol w="558178">
                  <a:extLst>
                    <a:ext uri="{9D8B030D-6E8A-4147-A177-3AD203B41FA5}">
                      <a16:colId xmlns:a16="http://schemas.microsoft.com/office/drawing/2014/main" val="757024608"/>
                    </a:ext>
                  </a:extLst>
                </a:gridCol>
                <a:gridCol w="633847">
                  <a:extLst>
                    <a:ext uri="{9D8B030D-6E8A-4147-A177-3AD203B41FA5}">
                      <a16:colId xmlns:a16="http://schemas.microsoft.com/office/drawing/2014/main" val="1917647434"/>
                    </a:ext>
                  </a:extLst>
                </a:gridCol>
                <a:gridCol w="628934">
                  <a:extLst>
                    <a:ext uri="{9D8B030D-6E8A-4147-A177-3AD203B41FA5}">
                      <a16:colId xmlns:a16="http://schemas.microsoft.com/office/drawing/2014/main" val="482995627"/>
                    </a:ext>
                  </a:extLst>
                </a:gridCol>
                <a:gridCol w="664311">
                  <a:extLst>
                    <a:ext uri="{9D8B030D-6E8A-4147-A177-3AD203B41FA5}">
                      <a16:colId xmlns:a16="http://schemas.microsoft.com/office/drawing/2014/main" val="3928352748"/>
                    </a:ext>
                  </a:extLst>
                </a:gridCol>
                <a:gridCol w="664311">
                  <a:extLst>
                    <a:ext uri="{9D8B030D-6E8A-4147-A177-3AD203B41FA5}">
                      <a16:colId xmlns:a16="http://schemas.microsoft.com/office/drawing/2014/main" val="1522994108"/>
                    </a:ext>
                  </a:extLst>
                </a:gridCol>
                <a:gridCol w="628934">
                  <a:extLst>
                    <a:ext uri="{9D8B030D-6E8A-4147-A177-3AD203B41FA5}">
                      <a16:colId xmlns:a16="http://schemas.microsoft.com/office/drawing/2014/main" val="2885101371"/>
                    </a:ext>
                  </a:extLst>
                </a:gridCol>
                <a:gridCol w="499216">
                  <a:extLst>
                    <a:ext uri="{9D8B030D-6E8A-4147-A177-3AD203B41FA5}">
                      <a16:colId xmlns:a16="http://schemas.microsoft.com/office/drawing/2014/main" val="1790095652"/>
                    </a:ext>
                  </a:extLst>
                </a:gridCol>
                <a:gridCol w="421582">
                  <a:extLst>
                    <a:ext uri="{9D8B030D-6E8A-4147-A177-3AD203B41FA5}">
                      <a16:colId xmlns:a16="http://schemas.microsoft.com/office/drawing/2014/main" val="3004488392"/>
                    </a:ext>
                  </a:extLst>
                </a:gridCol>
              </a:tblGrid>
              <a:tr h="273689">
                <a:tc gridSpan="4">
                  <a:txBody>
                    <a:bodyPr/>
                    <a:lstStyle/>
                    <a:p>
                      <a:pPr algn="ctr" fontAlgn="ctr"/>
                      <a:r>
                        <a:rPr lang="zh-CN" altLang="en-US" sz="700" u="none" strike="noStrike" dirty="0">
                          <a:effectLst/>
                        </a:rPr>
                        <a:t>使用权资产</a:t>
                      </a:r>
                      <a:r>
                        <a:rPr lang="en-US" altLang="zh-CN" sz="700" u="none" strike="noStrike" dirty="0">
                          <a:effectLst/>
                        </a:rPr>
                        <a:t>-</a:t>
                      </a:r>
                      <a:r>
                        <a:rPr lang="zh-CN" altLang="en-US" sz="700" u="none" strike="noStrike" dirty="0">
                          <a:effectLst/>
                        </a:rPr>
                        <a:t>房屋及建筑物初始入账价值（办公室房租））</a:t>
                      </a:r>
                      <a:endParaRPr lang="zh-CN" altLang="en-US" sz="700" b="1" i="0" u="none" strike="noStrike" dirty="0">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579572017"/>
                  </a:ext>
                </a:extLst>
              </a:tr>
              <a:tr h="144386">
                <a:tc>
                  <a:txBody>
                    <a:bodyPr/>
                    <a:lstStyle/>
                    <a:p>
                      <a:pPr algn="ctr" fontAlgn="ctr"/>
                      <a:r>
                        <a:rPr lang="zh-CN" altLang="en-US" sz="500" u="none" strike="noStrike">
                          <a:effectLst/>
                        </a:rPr>
                        <a:t>序号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内容</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金额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4253889618"/>
                  </a:ext>
                </a:extLst>
              </a:tr>
              <a:tr h="212270">
                <a:tc>
                  <a:txBody>
                    <a:bodyPr/>
                    <a:lstStyle/>
                    <a:p>
                      <a:pPr algn="ctr" fontAlgn="ctr"/>
                      <a:r>
                        <a:rPr lang="en-US" altLang="zh-CN" sz="500" u="none" strike="noStrike">
                          <a:effectLst/>
                        </a:rPr>
                        <a:t>1</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租赁负债的初始记录金额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             </a:t>
                      </a:r>
                      <a:r>
                        <a:rPr lang="en-US" altLang="zh-CN" sz="500" u="none" strike="noStrike">
                          <a:effectLst/>
                        </a:rPr>
                        <a:t>1,148,488.42 </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dirty="0">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653250040"/>
                  </a:ext>
                </a:extLst>
              </a:tr>
              <a:tr h="100648">
                <a:tc>
                  <a:txBody>
                    <a:bodyPr/>
                    <a:lstStyle/>
                    <a:p>
                      <a:pPr algn="ctr" fontAlgn="ctr"/>
                      <a:r>
                        <a:rPr lang="en-US" altLang="zh-CN" sz="500" u="none" strike="noStrike">
                          <a:effectLst/>
                        </a:rPr>
                        <a:t>2</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租赁开始日（之前）支付的租赁付款额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　</a:t>
                      </a: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075126877"/>
                  </a:ext>
                </a:extLst>
              </a:tr>
              <a:tr h="144386">
                <a:tc>
                  <a:txBody>
                    <a:bodyPr/>
                    <a:lstStyle/>
                    <a:p>
                      <a:pPr algn="ctr" fontAlgn="ctr"/>
                      <a:r>
                        <a:rPr lang="en-US" altLang="zh-CN" sz="500" u="none" strike="noStrike">
                          <a:effectLst/>
                        </a:rPr>
                        <a:t>3</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初始直接费用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　</a:t>
                      </a: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620768991"/>
                  </a:ext>
                </a:extLst>
              </a:tr>
              <a:tr h="144386">
                <a:tc>
                  <a:txBody>
                    <a:bodyPr/>
                    <a:lstStyle/>
                    <a:p>
                      <a:pPr algn="ctr" fontAlgn="ctr"/>
                      <a:r>
                        <a:rPr lang="en-US" altLang="zh-CN" sz="500" u="none" strike="noStrike">
                          <a:effectLst/>
                        </a:rPr>
                        <a:t>4</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预计负债</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　</a:t>
                      </a: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743762439"/>
                  </a:ext>
                </a:extLst>
              </a:tr>
              <a:tr h="212270">
                <a:tc>
                  <a:txBody>
                    <a:bodyPr/>
                    <a:lstStyle/>
                    <a:p>
                      <a:pPr algn="ctr" fontAlgn="ctr"/>
                      <a:r>
                        <a:rPr lang="zh-CN" altLang="en-US" sz="500" u="none" strike="noStrike">
                          <a:effectLst/>
                        </a:rPr>
                        <a:t>　</a:t>
                      </a: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合计</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             </a:t>
                      </a:r>
                      <a:r>
                        <a:rPr lang="en-US" altLang="zh-CN" sz="500" u="none" strike="noStrike">
                          <a:effectLst/>
                        </a:rPr>
                        <a:t>1,148,488.42 </a:t>
                      </a:r>
                      <a:endParaRPr lang="en-US" altLang="zh-CN"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81622242"/>
                  </a:ext>
                </a:extLst>
              </a:tr>
              <a:tr h="108829">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endParaRPr lang="zh-CN" altLang="en-US" sz="500" b="0" i="0" u="none" strike="noStrike">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353363960"/>
                  </a:ext>
                </a:extLst>
              </a:tr>
              <a:tr h="414842">
                <a:tc gridSpan="10">
                  <a:txBody>
                    <a:bodyPr/>
                    <a:lstStyle/>
                    <a:p>
                      <a:pPr algn="ctr" fontAlgn="ctr"/>
                      <a:r>
                        <a:rPr lang="zh-CN" altLang="en-US" sz="700" u="none" strike="noStrike">
                          <a:effectLst/>
                        </a:rPr>
                        <a:t>使用权资产每期摊销表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90366549"/>
                  </a:ext>
                </a:extLst>
              </a:tr>
              <a:tr h="273689">
                <a:tc rowSpan="2">
                  <a:txBody>
                    <a:bodyPr/>
                    <a:lstStyle/>
                    <a:p>
                      <a:pPr algn="ctr" fontAlgn="ctr"/>
                      <a:r>
                        <a:rPr lang="zh-CN" altLang="en-US" sz="500" u="none" strike="noStrike">
                          <a:effectLst/>
                        </a:rPr>
                        <a:t>期数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rowSpan="2">
                  <a:txBody>
                    <a:bodyPr/>
                    <a:lstStyle/>
                    <a:p>
                      <a:pPr algn="ctr"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rowSpan="2">
                  <a:txBody>
                    <a:bodyPr/>
                    <a:lstStyle/>
                    <a:p>
                      <a:pPr algn="ctr" fontAlgn="ctr"/>
                      <a:r>
                        <a:rPr lang="zh-CN" altLang="en-US" sz="500" u="none" strike="noStrike">
                          <a:effectLst/>
                        </a:rPr>
                        <a:t>使用权资产</a:t>
                      </a:r>
                      <a:r>
                        <a:rPr lang="en-US" altLang="zh-CN" sz="500" u="none" strike="noStrike">
                          <a:effectLst/>
                        </a:rPr>
                        <a:t>-</a:t>
                      </a:r>
                      <a:r>
                        <a:rPr lang="zh-CN" altLang="en-US" sz="500" u="none" strike="noStrike">
                          <a:effectLst/>
                        </a:rPr>
                        <a:t>房屋及建筑物</a:t>
                      </a:r>
                      <a:br>
                        <a:rPr lang="zh-CN" altLang="en-US" sz="500" u="none" strike="noStrike">
                          <a:effectLst/>
                        </a:rPr>
                      </a:br>
                      <a:r>
                        <a:rPr lang="zh-CN" altLang="en-US" sz="500" u="none" strike="noStrike">
                          <a:effectLst/>
                        </a:rPr>
                        <a:t>期初余额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租赁负债</a:t>
                      </a:r>
                      <a:br>
                        <a:rPr lang="zh-CN" altLang="en-US" sz="500" u="none" strike="noStrike">
                          <a:effectLst/>
                        </a:rPr>
                      </a:br>
                      <a:r>
                        <a:rPr lang="zh-CN" altLang="en-US" sz="500" u="none" strike="noStrike">
                          <a:effectLst/>
                        </a:rPr>
                        <a:t>期初余额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gridSpan="2">
                  <a:txBody>
                    <a:bodyPr/>
                    <a:lstStyle/>
                    <a:p>
                      <a:pPr algn="ctr" fontAlgn="ctr"/>
                      <a:r>
                        <a:rPr lang="zh-CN" altLang="en-US" sz="500" u="none" strike="noStrike">
                          <a:effectLst/>
                        </a:rPr>
                        <a:t>租赁负债</a:t>
                      </a:r>
                      <a:br>
                        <a:rPr lang="zh-CN" altLang="en-US" sz="500" u="none" strike="noStrike">
                          <a:effectLst/>
                        </a:rPr>
                      </a:br>
                      <a:r>
                        <a:rPr lang="en-US" altLang="zh-CN" sz="500" u="none" strike="noStrike">
                          <a:effectLst/>
                        </a:rPr>
                        <a:t>-</a:t>
                      </a:r>
                      <a:r>
                        <a:rPr lang="zh-CN" altLang="en-US" sz="500" u="none" strike="noStrike">
                          <a:effectLst/>
                        </a:rPr>
                        <a:t>未确认融资费用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hMerge="1">
                  <a:txBody>
                    <a:bodyPr/>
                    <a:lstStyle/>
                    <a:p>
                      <a:endParaRPr lang="zh-CN" altLang="en-US"/>
                    </a:p>
                  </a:txBody>
                  <a:tcPr/>
                </a:tc>
                <a:tc>
                  <a:txBody>
                    <a:bodyPr/>
                    <a:lstStyle/>
                    <a:p>
                      <a:pPr algn="ctr" fontAlgn="ctr"/>
                      <a:r>
                        <a:rPr lang="zh-CN" altLang="en-US" sz="500" u="none" strike="noStrike">
                          <a:effectLst/>
                        </a:rPr>
                        <a:t>租赁负债</a:t>
                      </a:r>
                      <a:br>
                        <a:rPr lang="zh-CN" altLang="en-US" sz="500" u="none" strike="noStrike">
                          <a:effectLst/>
                        </a:rPr>
                      </a:br>
                      <a:r>
                        <a:rPr lang="en-US" altLang="zh-CN" sz="500" u="none" strike="noStrike">
                          <a:effectLst/>
                        </a:rPr>
                        <a:t>-</a:t>
                      </a:r>
                      <a:r>
                        <a:rPr lang="zh-CN" altLang="en-US" sz="500" u="none" strike="noStrike">
                          <a:effectLst/>
                        </a:rPr>
                        <a:t>租赁付款额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财务费用</a:t>
                      </a:r>
                      <a:br>
                        <a:rPr lang="zh-CN" altLang="en-US" sz="500" u="none" strike="noStrike">
                          <a:effectLst/>
                        </a:rPr>
                      </a:br>
                      <a:r>
                        <a:rPr lang="en-US" altLang="zh-CN" sz="500" u="none" strike="noStrike">
                          <a:effectLst/>
                        </a:rPr>
                        <a:t>-</a:t>
                      </a:r>
                      <a:r>
                        <a:rPr lang="zh-CN" altLang="en-US" sz="500" u="none" strike="noStrike">
                          <a:effectLst/>
                        </a:rPr>
                        <a:t>租赁负债利息</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管理费用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rowSpan="2">
                  <a:txBody>
                    <a:bodyPr/>
                    <a:lstStyle/>
                    <a:p>
                      <a:pPr algn="ctr" fontAlgn="ctr"/>
                      <a:r>
                        <a:rPr lang="zh-CN" altLang="en-US" sz="500" u="none" strike="noStrike">
                          <a:effectLst/>
                        </a:rPr>
                        <a:t>备注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700412652"/>
                  </a:ext>
                </a:extLst>
              </a:tr>
              <a:tr h="50248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u="none" strike="noStrike">
                          <a:effectLst/>
                        </a:rPr>
                        <a:t>长沙永祺房地产开发有限公司</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长沙永祺房地产开发有限公司</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合计</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长沙永祺房地产开发有限公司</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长沙永祺房地产开发有限公司</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500" u="none" strike="noStrike">
                          <a:effectLst/>
                        </a:rPr>
                        <a:t>房屋租金</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vMerge="1">
                  <a:txBody>
                    <a:bodyPr/>
                    <a:lstStyle/>
                    <a:p>
                      <a:endParaRPr lang="zh-CN" altLang="en-US"/>
                    </a:p>
                  </a:txBody>
                  <a:tcPr/>
                </a:tc>
                <a:extLst>
                  <a:ext uri="{0D108BD9-81ED-4DB2-BD59-A6C34878D82A}">
                    <a16:rowId xmlns:a16="http://schemas.microsoft.com/office/drawing/2014/main" val="3515762135"/>
                  </a:ext>
                </a:extLst>
              </a:tr>
              <a:tr h="286978">
                <a:tc>
                  <a:txBody>
                    <a:bodyPr/>
                    <a:lstStyle/>
                    <a:p>
                      <a:pPr algn="ctr" fontAlgn="ctr"/>
                      <a:r>
                        <a:rPr lang="en-US" altLang="zh-CN" sz="500" u="none" strike="noStrike">
                          <a:effectLst/>
                        </a:rPr>
                        <a:t>1</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2025</a:t>
                      </a:r>
                      <a:r>
                        <a:rPr lang="zh-CN" altLang="en-US" sz="700" u="none" strike="noStrike">
                          <a:effectLst/>
                        </a:rPr>
                        <a:t>年</a:t>
                      </a:r>
                      <a:r>
                        <a:rPr lang="en-US" altLang="zh-CN" sz="700" u="none" strike="noStrike">
                          <a:effectLst/>
                        </a:rPr>
                        <a:t>8</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1,148,488.42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1,148,488.42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57,263.58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98,832.00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1679209550"/>
                  </a:ext>
                </a:extLst>
              </a:tr>
              <a:tr h="286978">
                <a:tc>
                  <a:txBody>
                    <a:bodyPr/>
                    <a:lstStyle/>
                    <a:p>
                      <a:pPr algn="ctr" fontAlgn="ctr"/>
                      <a:r>
                        <a:rPr lang="en-US" altLang="zh-CN" sz="500" u="none" strike="noStrike">
                          <a:effectLst/>
                        </a:rPr>
                        <a:t>2</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2025</a:t>
                      </a:r>
                      <a:r>
                        <a:rPr lang="zh-CN" altLang="en-US" sz="700" u="none" strike="noStrike">
                          <a:effectLst/>
                        </a:rPr>
                        <a:t>年</a:t>
                      </a:r>
                      <a:r>
                        <a:rPr lang="en-US" altLang="zh-CN" sz="700" u="none" strike="noStrike">
                          <a:effectLst/>
                        </a:rPr>
                        <a:t>9</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1,116,585.96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1,148,488.42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57,263.58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645155494"/>
                  </a:ext>
                </a:extLst>
              </a:tr>
              <a:tr h="286978">
                <a:tc>
                  <a:txBody>
                    <a:bodyPr/>
                    <a:lstStyle/>
                    <a:p>
                      <a:pPr algn="ctr" fontAlgn="ctr"/>
                      <a:r>
                        <a:rPr lang="en-US" altLang="zh-CN" sz="500" u="none" strike="noStrike">
                          <a:effectLst/>
                        </a:rPr>
                        <a:t>3</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2025</a:t>
                      </a:r>
                      <a:r>
                        <a:rPr lang="zh-CN" altLang="en-US" sz="700" u="none" strike="noStrike">
                          <a:effectLst/>
                        </a:rPr>
                        <a:t>年</a:t>
                      </a:r>
                      <a:r>
                        <a:rPr lang="en-US" altLang="zh-CN" sz="700" u="none" strike="noStrike">
                          <a:effectLst/>
                        </a:rPr>
                        <a:t>10</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1,084,683.51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1,148,488.42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57,263.58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1680887852"/>
                  </a:ext>
                </a:extLst>
              </a:tr>
              <a:tr h="286978">
                <a:tc>
                  <a:txBody>
                    <a:bodyPr/>
                    <a:lstStyle/>
                    <a:p>
                      <a:pPr algn="ctr" fontAlgn="ctr"/>
                      <a:r>
                        <a:rPr lang="en-US" altLang="zh-CN" sz="500" u="none" strike="noStrike">
                          <a:effectLst/>
                        </a:rPr>
                        <a:t>4</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2025</a:t>
                      </a:r>
                      <a:r>
                        <a:rPr lang="zh-CN" altLang="en-US" sz="700" u="none" strike="noStrike">
                          <a:effectLst/>
                        </a:rPr>
                        <a:t>年</a:t>
                      </a:r>
                      <a:r>
                        <a:rPr lang="en-US" altLang="zh-CN" sz="700" u="none" strike="noStrike">
                          <a:effectLst/>
                        </a:rPr>
                        <a:t>11</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1,052,781.05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1,049,656.42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47,957.84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98,832.00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9,305.74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1843283091"/>
                  </a:ext>
                </a:extLst>
              </a:tr>
              <a:tr h="286978">
                <a:tc>
                  <a:txBody>
                    <a:bodyPr/>
                    <a:lstStyle/>
                    <a:p>
                      <a:pPr algn="ctr" fontAlgn="ctr"/>
                      <a:r>
                        <a:rPr lang="en-US" altLang="zh-CN" sz="500" u="none" strike="noStrike">
                          <a:effectLst/>
                        </a:rPr>
                        <a:t>5</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2025</a:t>
                      </a:r>
                      <a:r>
                        <a:rPr lang="zh-CN" altLang="en-US" sz="700" u="none" strike="noStrike">
                          <a:effectLst/>
                        </a:rPr>
                        <a:t>年</a:t>
                      </a:r>
                      <a:r>
                        <a:rPr lang="en-US" altLang="zh-CN" sz="700" u="none" strike="noStrike">
                          <a:effectLst/>
                        </a:rPr>
                        <a:t>12</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1,020,878.60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1,058,962.16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47,957.84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040830679"/>
                  </a:ext>
                </a:extLst>
              </a:tr>
              <a:tr h="286978">
                <a:tc>
                  <a:txBody>
                    <a:bodyPr/>
                    <a:lstStyle/>
                    <a:p>
                      <a:pPr algn="ctr" fontAlgn="ctr"/>
                      <a:r>
                        <a:rPr lang="en-US" altLang="zh-CN" sz="500" u="none" strike="noStrike">
                          <a:effectLst/>
                        </a:rPr>
                        <a:t>6</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1</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988,976.14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1,058,962.16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47,957.84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089481614"/>
                  </a:ext>
                </a:extLst>
              </a:tr>
              <a:tr h="286978">
                <a:tc>
                  <a:txBody>
                    <a:bodyPr/>
                    <a:lstStyle/>
                    <a:p>
                      <a:pPr algn="ctr" fontAlgn="ctr"/>
                      <a:r>
                        <a:rPr lang="en-US" altLang="zh-CN" sz="500" u="none" strike="noStrike">
                          <a:effectLst/>
                        </a:rPr>
                        <a:t>7</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2</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957,073.68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960,130.16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39,445.79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98,832.00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8,512.05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57600163"/>
                  </a:ext>
                </a:extLst>
              </a:tr>
              <a:tr h="286978">
                <a:tc>
                  <a:txBody>
                    <a:bodyPr/>
                    <a:lstStyle/>
                    <a:p>
                      <a:pPr algn="ctr" fontAlgn="ctr"/>
                      <a:r>
                        <a:rPr lang="en-US" altLang="zh-CN" sz="500" u="none" strike="noStrike">
                          <a:effectLst/>
                        </a:rPr>
                        <a:t>8</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3</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925,171.23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968,642.21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39,445.79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038209015"/>
                  </a:ext>
                </a:extLst>
              </a:tr>
              <a:tr h="286978">
                <a:tc>
                  <a:txBody>
                    <a:bodyPr/>
                    <a:lstStyle/>
                    <a:p>
                      <a:pPr algn="ctr" fontAlgn="ctr"/>
                      <a:r>
                        <a:rPr lang="en-US" altLang="zh-CN" sz="500" u="none" strike="noStrike">
                          <a:effectLst/>
                        </a:rPr>
                        <a:t>9</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4</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893,268.77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968,642.21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39,445.79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834535038"/>
                  </a:ext>
                </a:extLst>
              </a:tr>
              <a:tr h="286978">
                <a:tc>
                  <a:txBody>
                    <a:bodyPr/>
                    <a:lstStyle/>
                    <a:p>
                      <a:pPr algn="ctr" fontAlgn="ctr"/>
                      <a:r>
                        <a:rPr lang="en-US" altLang="zh-CN" sz="500" u="none" strike="noStrike">
                          <a:effectLst/>
                        </a:rPr>
                        <a:t>10</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5</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861,366.32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869,810.21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31,734.47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98,832.00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7,711.32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2264146327"/>
                  </a:ext>
                </a:extLst>
              </a:tr>
              <a:tr h="286978">
                <a:tc>
                  <a:txBody>
                    <a:bodyPr/>
                    <a:lstStyle/>
                    <a:p>
                      <a:pPr algn="ctr" fontAlgn="ctr"/>
                      <a:r>
                        <a:rPr lang="en-US" altLang="zh-CN" sz="500" u="none" strike="noStrike">
                          <a:effectLst/>
                        </a:rPr>
                        <a:t>11</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6</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829,463.86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877,521.53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31,734.47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a:effectLst/>
                        </a:rPr>
                        <a:t>    </a:t>
                      </a:r>
                      <a:r>
                        <a:rPr lang="en-US" altLang="zh-CN" sz="700" u="none" strike="noStrike">
                          <a:effectLst/>
                        </a:rPr>
                        <a:t>31,902.46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4310" marR="4310" marT="4310" marB="0" anchor="ctr"/>
                </a:tc>
                <a:tc>
                  <a:txBody>
                    <a:bodyPr/>
                    <a:lstStyle/>
                    <a:p>
                      <a:pPr algn="ctr" fontAlgn="ctr"/>
                      <a:r>
                        <a:rPr lang="zh-CN" altLang="en-US" sz="700" u="none" strike="noStrike" dirty="0">
                          <a:effectLst/>
                        </a:rPr>
                        <a:t>　</a:t>
                      </a:r>
                      <a:endParaRPr lang="zh-CN" altLang="en-US" sz="700" b="0" i="0" u="none" strike="noStrike" dirty="0">
                        <a:solidFill>
                          <a:srgbClr val="000000"/>
                        </a:solidFill>
                        <a:effectLst/>
                        <a:latin typeface="宋体" panose="02010600030101010101" pitchFamily="2" charset="-122"/>
                        <a:ea typeface="宋体" panose="02010600030101010101" pitchFamily="2" charset="-122"/>
                      </a:endParaRPr>
                    </a:p>
                  </a:txBody>
                  <a:tcPr marL="4310" marR="4310" marT="4310" marB="0" anchor="ctr"/>
                </a:tc>
                <a:extLst>
                  <a:ext uri="{0D108BD9-81ED-4DB2-BD59-A6C34878D82A}">
                    <a16:rowId xmlns:a16="http://schemas.microsoft.com/office/drawing/2014/main" val="3919326564"/>
                  </a:ext>
                </a:extLst>
              </a:tr>
            </a:tbl>
          </a:graphicData>
        </a:graphic>
      </p:graphicFrame>
      <p:sp>
        <p:nvSpPr>
          <p:cNvPr id="7" name="文本框 6">
            <a:extLst>
              <a:ext uri="{FF2B5EF4-FFF2-40B4-BE49-F238E27FC236}">
                <a16:creationId xmlns:a16="http://schemas.microsoft.com/office/drawing/2014/main" id="{F6A52BC3-F8D6-44A5-BB46-4795258930FA}"/>
              </a:ext>
            </a:extLst>
          </p:cNvPr>
          <p:cNvSpPr txBox="1"/>
          <p:nvPr/>
        </p:nvSpPr>
        <p:spPr>
          <a:xfrm>
            <a:off x="5447928" y="65407"/>
            <a:ext cx="6649852" cy="461665"/>
          </a:xfrm>
          <a:prstGeom prst="rect">
            <a:avLst/>
          </a:prstGeom>
          <a:solidFill>
            <a:srgbClr val="FFFF00"/>
          </a:solidFill>
        </p:spPr>
        <p:txBody>
          <a:bodyPr wrap="square" rtlCol="0">
            <a:spAutoFit/>
          </a:bodyPr>
          <a:lstStyle/>
          <a:p>
            <a:r>
              <a:rPr lang="zh-CN" altLang="en-US" sz="2400" b="1" dirty="0">
                <a:solidFill>
                  <a:srgbClr val="FF0000"/>
                </a:solidFill>
              </a:rPr>
              <a:t>租赁资产台账</a:t>
            </a:r>
            <a:r>
              <a:rPr lang="en-US" altLang="zh-CN" sz="2400" b="1" dirty="0">
                <a:solidFill>
                  <a:srgbClr val="FF0000"/>
                </a:solidFill>
              </a:rPr>
              <a:t>2-6-2</a:t>
            </a:r>
            <a:r>
              <a:rPr lang="zh-CN" altLang="en-US" sz="2400" b="1" dirty="0">
                <a:solidFill>
                  <a:srgbClr val="FF0000"/>
                </a:solidFill>
              </a:rPr>
              <a:t>：短期租入资产（设备</a:t>
            </a:r>
            <a:r>
              <a:rPr lang="en-US" altLang="zh-CN" sz="2400" b="1" dirty="0">
                <a:solidFill>
                  <a:srgbClr val="FF0000"/>
                </a:solidFill>
              </a:rPr>
              <a:t>/</a:t>
            </a:r>
            <a:r>
              <a:rPr lang="zh-CN" altLang="en-US" sz="2400" b="1" dirty="0">
                <a:solidFill>
                  <a:srgbClr val="FF0000"/>
                </a:solidFill>
              </a:rPr>
              <a:t>其他）</a:t>
            </a:r>
          </a:p>
        </p:txBody>
      </p:sp>
      <p:graphicFrame>
        <p:nvGraphicFramePr>
          <p:cNvPr id="8" name="表格 7">
            <a:extLst>
              <a:ext uri="{FF2B5EF4-FFF2-40B4-BE49-F238E27FC236}">
                <a16:creationId xmlns:a16="http://schemas.microsoft.com/office/drawing/2014/main" id="{88FB611F-34FE-4518-9644-3CF032AE6BA0}"/>
              </a:ext>
            </a:extLst>
          </p:cNvPr>
          <p:cNvGraphicFramePr>
            <a:graphicFrameLocks noGrp="1"/>
          </p:cNvGraphicFramePr>
          <p:nvPr>
            <p:extLst>
              <p:ext uri="{D42A27DB-BD31-4B8C-83A1-F6EECF244321}">
                <p14:modId xmlns:p14="http://schemas.microsoft.com/office/powerpoint/2010/main" val="1510827715"/>
              </p:ext>
            </p:extLst>
          </p:nvPr>
        </p:nvGraphicFramePr>
        <p:xfrm>
          <a:off x="6096000" y="764704"/>
          <a:ext cx="5909392" cy="5744696"/>
        </p:xfrm>
        <a:graphic>
          <a:graphicData uri="http://schemas.openxmlformats.org/drawingml/2006/table">
            <a:tbl>
              <a:tblPr>
                <a:tableStyleId>{5C22544A-7EE6-4342-B048-85BDC9FD1C3A}</a:tableStyleId>
              </a:tblPr>
              <a:tblGrid>
                <a:gridCol w="185147">
                  <a:extLst>
                    <a:ext uri="{9D8B030D-6E8A-4147-A177-3AD203B41FA5}">
                      <a16:colId xmlns:a16="http://schemas.microsoft.com/office/drawing/2014/main" val="1505325321"/>
                    </a:ext>
                  </a:extLst>
                </a:gridCol>
                <a:gridCol w="549270">
                  <a:extLst>
                    <a:ext uri="{9D8B030D-6E8A-4147-A177-3AD203B41FA5}">
                      <a16:colId xmlns:a16="http://schemas.microsoft.com/office/drawing/2014/main" val="2041531043"/>
                    </a:ext>
                  </a:extLst>
                </a:gridCol>
                <a:gridCol w="476755">
                  <a:extLst>
                    <a:ext uri="{9D8B030D-6E8A-4147-A177-3AD203B41FA5}">
                      <a16:colId xmlns:a16="http://schemas.microsoft.com/office/drawing/2014/main" val="1106478951"/>
                    </a:ext>
                  </a:extLst>
                </a:gridCol>
                <a:gridCol w="847049">
                  <a:extLst>
                    <a:ext uri="{9D8B030D-6E8A-4147-A177-3AD203B41FA5}">
                      <a16:colId xmlns:a16="http://schemas.microsoft.com/office/drawing/2014/main" val="540967882"/>
                    </a:ext>
                  </a:extLst>
                </a:gridCol>
                <a:gridCol w="691216">
                  <a:extLst>
                    <a:ext uri="{9D8B030D-6E8A-4147-A177-3AD203B41FA5}">
                      <a16:colId xmlns:a16="http://schemas.microsoft.com/office/drawing/2014/main" val="1166125501"/>
                    </a:ext>
                  </a:extLst>
                </a:gridCol>
                <a:gridCol w="327093">
                  <a:extLst>
                    <a:ext uri="{9D8B030D-6E8A-4147-A177-3AD203B41FA5}">
                      <a16:colId xmlns:a16="http://schemas.microsoft.com/office/drawing/2014/main" val="2337406619"/>
                    </a:ext>
                  </a:extLst>
                </a:gridCol>
                <a:gridCol w="327093">
                  <a:extLst>
                    <a:ext uri="{9D8B030D-6E8A-4147-A177-3AD203B41FA5}">
                      <a16:colId xmlns:a16="http://schemas.microsoft.com/office/drawing/2014/main" val="583435272"/>
                    </a:ext>
                  </a:extLst>
                </a:gridCol>
                <a:gridCol w="419667">
                  <a:extLst>
                    <a:ext uri="{9D8B030D-6E8A-4147-A177-3AD203B41FA5}">
                      <a16:colId xmlns:a16="http://schemas.microsoft.com/office/drawing/2014/main" val="802769734"/>
                    </a:ext>
                  </a:extLst>
                </a:gridCol>
                <a:gridCol w="365666">
                  <a:extLst>
                    <a:ext uri="{9D8B030D-6E8A-4147-A177-3AD203B41FA5}">
                      <a16:colId xmlns:a16="http://schemas.microsoft.com/office/drawing/2014/main" val="4074364627"/>
                    </a:ext>
                  </a:extLst>
                </a:gridCol>
                <a:gridCol w="376466">
                  <a:extLst>
                    <a:ext uri="{9D8B030D-6E8A-4147-A177-3AD203B41FA5}">
                      <a16:colId xmlns:a16="http://schemas.microsoft.com/office/drawing/2014/main" val="2688044742"/>
                    </a:ext>
                  </a:extLst>
                </a:gridCol>
                <a:gridCol w="635202">
                  <a:extLst>
                    <a:ext uri="{9D8B030D-6E8A-4147-A177-3AD203B41FA5}">
                      <a16:colId xmlns:a16="http://schemas.microsoft.com/office/drawing/2014/main" val="3928912277"/>
                    </a:ext>
                  </a:extLst>
                </a:gridCol>
                <a:gridCol w="36066">
                  <a:extLst>
                    <a:ext uri="{9D8B030D-6E8A-4147-A177-3AD203B41FA5}">
                      <a16:colId xmlns:a16="http://schemas.microsoft.com/office/drawing/2014/main" val="1483124678"/>
                    </a:ext>
                  </a:extLst>
                </a:gridCol>
                <a:gridCol w="339437">
                  <a:extLst>
                    <a:ext uri="{9D8B030D-6E8A-4147-A177-3AD203B41FA5}">
                      <a16:colId xmlns:a16="http://schemas.microsoft.com/office/drawing/2014/main" val="3254727488"/>
                    </a:ext>
                  </a:extLst>
                </a:gridCol>
                <a:gridCol w="333265">
                  <a:extLst>
                    <a:ext uri="{9D8B030D-6E8A-4147-A177-3AD203B41FA5}">
                      <a16:colId xmlns:a16="http://schemas.microsoft.com/office/drawing/2014/main" val="2438055772"/>
                    </a:ext>
                  </a:extLst>
                </a:gridCol>
              </a:tblGrid>
              <a:tr h="682696">
                <a:tc gridSpan="14">
                  <a:txBody>
                    <a:bodyPr/>
                    <a:lstStyle/>
                    <a:p>
                      <a:pPr algn="ctr" fontAlgn="ctr"/>
                      <a:r>
                        <a:rPr lang="zh-CN" altLang="en-US" sz="800" u="none" strike="noStrike" dirty="0">
                          <a:effectLst/>
                        </a:rPr>
                        <a:t>租入财产</a:t>
                      </a:r>
                      <a:r>
                        <a:rPr lang="en-US" altLang="zh-CN" sz="800" u="none" strike="noStrike" dirty="0">
                          <a:effectLst/>
                        </a:rPr>
                        <a:t>/</a:t>
                      </a:r>
                      <a:r>
                        <a:rPr lang="zh-CN" altLang="en-US" sz="800" u="none" strike="noStrike" dirty="0">
                          <a:effectLst/>
                        </a:rPr>
                        <a:t>物质</a:t>
                      </a:r>
                      <a:r>
                        <a:rPr lang="en-US" altLang="zh-CN" sz="800" u="none" strike="noStrike" dirty="0">
                          <a:effectLst/>
                        </a:rPr>
                        <a:t>/</a:t>
                      </a:r>
                      <a:r>
                        <a:rPr lang="zh-CN" altLang="en-US" sz="800" u="none" strike="noStrike" dirty="0">
                          <a:effectLst/>
                        </a:rPr>
                        <a:t>资产台账（短期</a:t>
                      </a:r>
                      <a:r>
                        <a:rPr lang="en-US" altLang="zh-CN" sz="800" u="none" strike="noStrike" dirty="0">
                          <a:effectLst/>
                        </a:rPr>
                        <a:t>/</a:t>
                      </a:r>
                      <a:r>
                        <a:rPr lang="zh-CN" altLang="en-US" sz="800" u="none" strike="noStrike" dirty="0">
                          <a:effectLst/>
                        </a:rPr>
                        <a:t>设备</a:t>
                      </a:r>
                      <a:r>
                        <a:rPr lang="en-US" altLang="zh-CN" sz="800" u="none" strike="noStrike" dirty="0">
                          <a:effectLst/>
                        </a:rPr>
                        <a:t>/</a:t>
                      </a:r>
                      <a:r>
                        <a:rPr lang="zh-CN" altLang="en-US" sz="800" u="none" strike="noStrike" dirty="0">
                          <a:effectLst/>
                        </a:rPr>
                        <a:t>其他）</a:t>
                      </a:r>
                      <a:endParaRPr lang="zh-CN" altLang="en-US" sz="800" b="1" i="0" u="none" strike="noStrike" dirty="0">
                        <a:effectLst/>
                        <a:latin typeface="宋体" panose="02010600030101010101" pitchFamily="2" charset="-122"/>
                        <a:ea typeface="宋体" panose="02010600030101010101" pitchFamily="2" charset="-122"/>
                      </a:endParaRPr>
                    </a:p>
                  </a:txBody>
                  <a:tcPr marL="5333" marR="5333" marT="53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00141377"/>
                  </a:ext>
                </a:extLst>
              </a:tr>
              <a:tr h="682696">
                <a:tc gridSpan="4">
                  <a:txBody>
                    <a:bodyPr/>
                    <a:lstStyle/>
                    <a:p>
                      <a:pPr algn="ctr" fontAlgn="ctr"/>
                      <a:r>
                        <a:rPr lang="zh-CN" altLang="en-US" sz="700" u="none" strike="noStrike" dirty="0">
                          <a:effectLst/>
                        </a:rPr>
                        <a:t>台账统计期间：</a:t>
                      </a:r>
                      <a:r>
                        <a:rPr lang="en-US" altLang="zh-CN" sz="700" u="none" strike="noStrike" dirty="0">
                          <a:effectLst/>
                        </a:rPr>
                        <a:t>________</a:t>
                      </a:r>
                      <a:r>
                        <a:rPr lang="zh-CN" altLang="en-US" sz="700" u="none" strike="noStrike" dirty="0">
                          <a:effectLst/>
                        </a:rPr>
                        <a:t>年</a:t>
                      </a:r>
                      <a:r>
                        <a:rPr lang="en-US" altLang="zh-CN" sz="700" u="none" strike="noStrike" dirty="0">
                          <a:effectLst/>
                        </a:rPr>
                        <a:t>________</a:t>
                      </a:r>
                      <a:r>
                        <a:rPr lang="zh-CN" altLang="en-US" sz="700" u="none" strike="noStrike" dirty="0">
                          <a:effectLst/>
                        </a:rPr>
                        <a:t>月</a:t>
                      </a:r>
                      <a:r>
                        <a:rPr lang="en-US" altLang="zh-CN" sz="700" u="none" strike="noStrike" dirty="0">
                          <a:effectLst/>
                        </a:rPr>
                        <a:t>________</a:t>
                      </a:r>
                      <a:r>
                        <a:rPr lang="zh-CN" altLang="en-US" sz="700" u="none" strike="noStrike" dirty="0">
                          <a:effectLst/>
                        </a:rPr>
                        <a:t>日</a:t>
                      </a:r>
                      <a:endParaRPr lang="zh-CN" altLang="en-US" sz="700" b="0" i="0" u="none" strike="noStrike" dirty="0">
                        <a:effectLst/>
                        <a:latin typeface="宋体" panose="02010600030101010101" pitchFamily="2" charset="-122"/>
                        <a:ea typeface="宋体" panose="02010600030101010101" pitchFamily="2" charset="-122"/>
                      </a:endParaRPr>
                    </a:p>
                  </a:txBody>
                  <a:tcPr marL="5333" marR="5333" marT="53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700" u="none" strike="noStrike">
                          <a:effectLst/>
                        </a:rPr>
                        <a:t>制表人：</a:t>
                      </a:r>
                      <a:r>
                        <a:rPr lang="en-US" altLang="zh-CN" sz="700" u="none" strike="noStrike">
                          <a:effectLst/>
                        </a:rPr>
                        <a:t>________________________</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6">
                  <a:txBody>
                    <a:bodyPr/>
                    <a:lstStyle/>
                    <a:p>
                      <a:pPr algn="ctr" fontAlgn="ctr"/>
                      <a:r>
                        <a:rPr lang="zh-CN" altLang="en-US" sz="700" u="none" strike="noStrike">
                          <a:effectLst/>
                        </a:rPr>
                        <a:t>复核人：</a:t>
                      </a:r>
                      <a:r>
                        <a:rPr lang="en-US" altLang="zh-CN" sz="700" u="none" strike="noStrike">
                          <a:effectLst/>
                        </a:rPr>
                        <a:t>________________________</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71454219"/>
                  </a:ext>
                </a:extLst>
              </a:tr>
              <a:tr h="965824">
                <a:tc>
                  <a:txBody>
                    <a:bodyPr/>
                    <a:lstStyle/>
                    <a:p>
                      <a:pPr algn="ctr" fontAlgn="ctr"/>
                      <a:r>
                        <a:rPr lang="zh-CN" altLang="en-US" sz="700" u="none" strike="noStrike">
                          <a:effectLst/>
                        </a:rPr>
                        <a:t>序号</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租入资产名称</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租赁起止日期</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租赁单位</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租赁合同名称</a:t>
                      </a:r>
                      <a:r>
                        <a:rPr lang="en-US" altLang="zh-CN" sz="700" u="none" strike="noStrike">
                          <a:effectLst/>
                        </a:rPr>
                        <a:t>/</a:t>
                      </a:r>
                      <a:r>
                        <a:rPr lang="zh-CN" altLang="en-US" sz="700" u="none" strike="noStrike">
                          <a:effectLst/>
                        </a:rPr>
                        <a:t>编码</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计量单位</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租入数量</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租入金额</a:t>
                      </a:r>
                      <a:r>
                        <a:rPr lang="zh-CN" altLang="en-US" sz="600" u="none" strike="noStrike">
                          <a:effectLst/>
                        </a:rPr>
                        <a:t>（单位 </a:t>
                      </a:r>
                      <a:r>
                        <a:rPr lang="en-US" altLang="zh-CN" sz="600" u="none" strike="noStrike">
                          <a:effectLst/>
                        </a:rPr>
                        <a:t>/</a:t>
                      </a:r>
                      <a:r>
                        <a:rPr lang="zh-CN" altLang="en-US" sz="600" u="none" strike="noStrike">
                          <a:effectLst/>
                        </a:rPr>
                        <a:t>元）</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存放地点</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使用部门</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使用人</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归还日期</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经办人</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备注</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997161385"/>
                  </a:ext>
                </a:extLst>
              </a:tr>
              <a:tr h="682696">
                <a:tc>
                  <a:txBody>
                    <a:bodyPr/>
                    <a:lstStyle/>
                    <a:p>
                      <a:pPr algn="ctr" fontAlgn="ctr"/>
                      <a:r>
                        <a:rPr lang="en-US" altLang="zh-CN" sz="700" u="none" strike="noStrike">
                          <a:effectLst/>
                        </a:rPr>
                        <a:t>1</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打印机</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1561778582"/>
                  </a:ext>
                </a:extLst>
              </a:tr>
              <a:tr h="682696">
                <a:tc>
                  <a:txBody>
                    <a:bodyPr/>
                    <a:lstStyle/>
                    <a:p>
                      <a:pPr algn="ctr" fontAlgn="ctr"/>
                      <a:r>
                        <a:rPr lang="en-US" altLang="zh-CN" sz="700" u="none" strike="noStrike">
                          <a:effectLst/>
                        </a:rPr>
                        <a:t>2</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1943277346"/>
                  </a:ext>
                </a:extLst>
              </a:tr>
              <a:tr h="682696">
                <a:tc>
                  <a:txBody>
                    <a:bodyPr/>
                    <a:lstStyle/>
                    <a:p>
                      <a:pPr algn="ctr" fontAlgn="ctr"/>
                      <a:r>
                        <a:rPr lang="en-US" altLang="zh-CN" sz="700" u="none" strike="noStrike">
                          <a:effectLst/>
                        </a:rPr>
                        <a:t>3</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2138233797"/>
                  </a:ext>
                </a:extLst>
              </a:tr>
              <a:tr h="682696">
                <a:tc>
                  <a:txBody>
                    <a:bodyPr/>
                    <a:lstStyle/>
                    <a:p>
                      <a:pPr algn="ctr" fontAlgn="ctr"/>
                      <a:r>
                        <a:rPr lang="en-US" altLang="zh-CN" sz="700" u="none" strike="noStrike">
                          <a:effectLst/>
                        </a:rPr>
                        <a:t>…</a:t>
                      </a:r>
                      <a:endParaRPr lang="en-US" altLang="zh-CN"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4121904719"/>
                  </a:ext>
                </a:extLst>
              </a:tr>
              <a:tr h="682696">
                <a:tc>
                  <a:txBody>
                    <a:bodyPr/>
                    <a:lstStyle/>
                    <a:p>
                      <a:pPr algn="ctr" fontAlgn="ctr"/>
                      <a:r>
                        <a:rPr lang="zh-CN" altLang="en-US" sz="700" u="none" strike="noStrike">
                          <a:effectLst/>
                        </a:rPr>
                        <a:t>合计</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a:effectLst/>
                        </a:rPr>
                        <a:t>　</a:t>
                      </a:r>
                      <a:endParaRPr lang="zh-CN" altLang="en-US" sz="700" b="0" i="0" u="none" strike="noStrike">
                        <a:effectLst/>
                        <a:latin typeface="宋体" panose="02010600030101010101" pitchFamily="2" charset="-122"/>
                        <a:ea typeface="宋体" panose="02010600030101010101" pitchFamily="2" charset="-122"/>
                      </a:endParaRPr>
                    </a:p>
                  </a:txBody>
                  <a:tcPr marL="5333" marR="5333" marT="5333" marB="0" anchor="ctr"/>
                </a:tc>
                <a:tc>
                  <a:txBody>
                    <a:bodyPr/>
                    <a:lstStyle/>
                    <a:p>
                      <a:pPr algn="ctr" fontAlgn="ctr"/>
                      <a:r>
                        <a:rPr lang="zh-CN" altLang="en-US" sz="700" u="none" strike="noStrike" dirty="0">
                          <a:effectLst/>
                        </a:rPr>
                        <a:t>　</a:t>
                      </a:r>
                      <a:endParaRPr lang="zh-CN" altLang="en-US" sz="700" b="0" i="0" u="none" strike="noStrike" dirty="0">
                        <a:effectLst/>
                        <a:latin typeface="宋体" panose="02010600030101010101" pitchFamily="2" charset="-122"/>
                        <a:ea typeface="宋体" panose="02010600030101010101" pitchFamily="2" charset="-122"/>
                      </a:endParaRPr>
                    </a:p>
                  </a:txBody>
                  <a:tcPr marL="5333" marR="5333" marT="5333" marB="0" anchor="ctr"/>
                </a:tc>
                <a:extLst>
                  <a:ext uri="{0D108BD9-81ED-4DB2-BD59-A6C34878D82A}">
                    <a16:rowId xmlns:a16="http://schemas.microsoft.com/office/drawing/2014/main" val="82209003"/>
                  </a:ext>
                </a:extLst>
              </a:tr>
            </a:tbl>
          </a:graphicData>
        </a:graphic>
      </p:graphicFrame>
    </p:spTree>
    <p:extLst>
      <p:ext uri="{BB962C8B-B14F-4D97-AF65-F5344CB8AC3E}">
        <p14:creationId xmlns:p14="http://schemas.microsoft.com/office/powerpoint/2010/main" val="113472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E1F4F364-70BB-4C69-BBF2-3A8C3BB337C3}"/>
              </a:ext>
            </a:extLst>
          </p:cNvPr>
          <p:cNvGraphicFramePr>
            <a:graphicFrameLocks noGrp="1"/>
          </p:cNvGraphicFramePr>
          <p:nvPr>
            <p:extLst>
              <p:ext uri="{D42A27DB-BD31-4B8C-83A1-F6EECF244321}">
                <p14:modId xmlns:p14="http://schemas.microsoft.com/office/powerpoint/2010/main" val="4227855065"/>
              </p:ext>
            </p:extLst>
          </p:nvPr>
        </p:nvGraphicFramePr>
        <p:xfrm>
          <a:off x="1847528" y="656694"/>
          <a:ext cx="9649070" cy="5544611"/>
        </p:xfrm>
        <a:graphic>
          <a:graphicData uri="http://schemas.openxmlformats.org/drawingml/2006/table">
            <a:tbl>
              <a:tblPr>
                <a:tableStyleId>{5C22544A-7EE6-4342-B048-85BDC9FD1C3A}</a:tableStyleId>
              </a:tblPr>
              <a:tblGrid>
                <a:gridCol w="592091">
                  <a:extLst>
                    <a:ext uri="{9D8B030D-6E8A-4147-A177-3AD203B41FA5}">
                      <a16:colId xmlns:a16="http://schemas.microsoft.com/office/drawing/2014/main" val="2609619852"/>
                    </a:ext>
                  </a:extLst>
                </a:gridCol>
                <a:gridCol w="602126">
                  <a:extLst>
                    <a:ext uri="{9D8B030D-6E8A-4147-A177-3AD203B41FA5}">
                      <a16:colId xmlns:a16="http://schemas.microsoft.com/office/drawing/2014/main" val="3380309620"/>
                    </a:ext>
                  </a:extLst>
                </a:gridCol>
                <a:gridCol w="632232">
                  <a:extLst>
                    <a:ext uri="{9D8B030D-6E8A-4147-A177-3AD203B41FA5}">
                      <a16:colId xmlns:a16="http://schemas.microsoft.com/office/drawing/2014/main" val="1401478185"/>
                    </a:ext>
                  </a:extLst>
                </a:gridCol>
                <a:gridCol w="564493">
                  <a:extLst>
                    <a:ext uri="{9D8B030D-6E8A-4147-A177-3AD203B41FA5}">
                      <a16:colId xmlns:a16="http://schemas.microsoft.com/office/drawing/2014/main" val="2463644914"/>
                    </a:ext>
                  </a:extLst>
                </a:gridCol>
                <a:gridCol w="444067">
                  <a:extLst>
                    <a:ext uri="{9D8B030D-6E8A-4147-A177-3AD203B41FA5}">
                      <a16:colId xmlns:a16="http://schemas.microsoft.com/office/drawing/2014/main" val="523672357"/>
                    </a:ext>
                  </a:extLst>
                </a:gridCol>
                <a:gridCol w="624706">
                  <a:extLst>
                    <a:ext uri="{9D8B030D-6E8A-4147-A177-3AD203B41FA5}">
                      <a16:colId xmlns:a16="http://schemas.microsoft.com/office/drawing/2014/main" val="3724241333"/>
                    </a:ext>
                  </a:extLst>
                </a:gridCol>
                <a:gridCol w="531878">
                  <a:extLst>
                    <a:ext uri="{9D8B030D-6E8A-4147-A177-3AD203B41FA5}">
                      <a16:colId xmlns:a16="http://schemas.microsoft.com/office/drawing/2014/main" val="2299067693"/>
                    </a:ext>
                  </a:extLst>
                </a:gridCol>
                <a:gridCol w="531878">
                  <a:extLst>
                    <a:ext uri="{9D8B030D-6E8A-4147-A177-3AD203B41FA5}">
                      <a16:colId xmlns:a16="http://schemas.microsoft.com/office/drawing/2014/main" val="3749151573"/>
                    </a:ext>
                  </a:extLst>
                </a:gridCol>
                <a:gridCol w="531878">
                  <a:extLst>
                    <a:ext uri="{9D8B030D-6E8A-4147-A177-3AD203B41FA5}">
                      <a16:colId xmlns:a16="http://schemas.microsoft.com/office/drawing/2014/main" val="3703846393"/>
                    </a:ext>
                  </a:extLst>
                </a:gridCol>
                <a:gridCol w="531878">
                  <a:extLst>
                    <a:ext uri="{9D8B030D-6E8A-4147-A177-3AD203B41FA5}">
                      <a16:colId xmlns:a16="http://schemas.microsoft.com/office/drawing/2014/main" val="1676501302"/>
                    </a:ext>
                  </a:extLst>
                </a:gridCol>
                <a:gridCol w="531878">
                  <a:extLst>
                    <a:ext uri="{9D8B030D-6E8A-4147-A177-3AD203B41FA5}">
                      <a16:colId xmlns:a16="http://schemas.microsoft.com/office/drawing/2014/main" val="1376319868"/>
                    </a:ext>
                  </a:extLst>
                </a:gridCol>
                <a:gridCol w="531878">
                  <a:extLst>
                    <a:ext uri="{9D8B030D-6E8A-4147-A177-3AD203B41FA5}">
                      <a16:colId xmlns:a16="http://schemas.microsoft.com/office/drawing/2014/main" val="3880985353"/>
                    </a:ext>
                  </a:extLst>
                </a:gridCol>
                <a:gridCol w="531878">
                  <a:extLst>
                    <a:ext uri="{9D8B030D-6E8A-4147-A177-3AD203B41FA5}">
                      <a16:colId xmlns:a16="http://schemas.microsoft.com/office/drawing/2014/main" val="3061643503"/>
                    </a:ext>
                  </a:extLst>
                </a:gridCol>
                <a:gridCol w="526861">
                  <a:extLst>
                    <a:ext uri="{9D8B030D-6E8A-4147-A177-3AD203B41FA5}">
                      <a16:colId xmlns:a16="http://schemas.microsoft.com/office/drawing/2014/main" val="2513394271"/>
                    </a:ext>
                  </a:extLst>
                </a:gridCol>
                <a:gridCol w="592091">
                  <a:extLst>
                    <a:ext uri="{9D8B030D-6E8A-4147-A177-3AD203B41FA5}">
                      <a16:colId xmlns:a16="http://schemas.microsoft.com/office/drawing/2014/main" val="758441678"/>
                    </a:ext>
                  </a:extLst>
                </a:gridCol>
                <a:gridCol w="587073">
                  <a:extLst>
                    <a:ext uri="{9D8B030D-6E8A-4147-A177-3AD203B41FA5}">
                      <a16:colId xmlns:a16="http://schemas.microsoft.com/office/drawing/2014/main" val="227399610"/>
                    </a:ext>
                  </a:extLst>
                </a:gridCol>
                <a:gridCol w="760184">
                  <a:extLst>
                    <a:ext uri="{9D8B030D-6E8A-4147-A177-3AD203B41FA5}">
                      <a16:colId xmlns:a16="http://schemas.microsoft.com/office/drawing/2014/main" val="1448402416"/>
                    </a:ext>
                  </a:extLst>
                </a:gridCol>
              </a:tblGrid>
              <a:tr h="395160">
                <a:tc gridSpan="17">
                  <a:txBody>
                    <a:bodyPr/>
                    <a:lstStyle/>
                    <a:p>
                      <a:pPr algn="ctr" fontAlgn="ctr"/>
                      <a:r>
                        <a:rPr lang="zh-CN" altLang="en-US" sz="800" u="none" strike="noStrike">
                          <a:effectLst/>
                        </a:rPr>
                        <a:t>存货库龄分析表</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84734234"/>
                  </a:ext>
                </a:extLst>
              </a:tr>
              <a:tr h="296741">
                <a:tc gridSpan="4">
                  <a:txBody>
                    <a:bodyPr/>
                    <a:lstStyle/>
                    <a:p>
                      <a:pPr algn="l" fontAlgn="ctr"/>
                      <a:r>
                        <a:rPr lang="zh-CN" altLang="en-US" sz="600" u="none" strike="noStrike">
                          <a:effectLst/>
                        </a:rPr>
                        <a:t>台账统计期间：</a:t>
                      </a:r>
                      <a:r>
                        <a:rPr lang="en-US" altLang="zh-CN" sz="600" u="none" strike="noStrike">
                          <a:effectLst/>
                        </a:rPr>
                        <a:t>_________</a:t>
                      </a:r>
                      <a:r>
                        <a:rPr lang="zh-CN" altLang="en-US" sz="600" u="none" strike="noStrike">
                          <a:effectLst/>
                        </a:rPr>
                        <a:t>年</a:t>
                      </a:r>
                      <a:r>
                        <a:rPr lang="en-US" altLang="zh-CN" sz="600" u="none" strike="noStrike">
                          <a:effectLst/>
                        </a:rPr>
                        <a:t>_________</a:t>
                      </a:r>
                      <a:r>
                        <a:rPr lang="zh-CN" altLang="en-US" sz="600" u="none" strike="noStrike">
                          <a:effectLst/>
                        </a:rPr>
                        <a:t>月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5300" marR="5300" marT="53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600" u="none" strike="noStrike">
                          <a:effectLst/>
                        </a:rPr>
                        <a:t>所属仓库：</a:t>
                      </a:r>
                      <a:r>
                        <a:rPr lang="en-US" altLang="zh-CN" sz="600" u="none" strike="noStrike">
                          <a:effectLst/>
                        </a:rPr>
                        <a:t>_______________________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5300" marR="5300" marT="53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600" u="none" strike="noStrike">
                          <a:effectLst/>
                        </a:rPr>
                        <a:t>物料大类：原材料</a:t>
                      </a:r>
                      <a:r>
                        <a:rPr lang="en-US" altLang="zh-CN" sz="600" u="none" strike="noStrike">
                          <a:effectLst/>
                        </a:rPr>
                        <a:t>/</a:t>
                      </a:r>
                      <a:r>
                        <a:rPr lang="zh-CN" altLang="en-US" sz="600" u="none" strike="noStrike">
                          <a:effectLst/>
                        </a:rPr>
                        <a:t>库存商品</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5300" marR="5300" marT="53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600" u="none" strike="noStrike">
                          <a:effectLst/>
                        </a:rPr>
                        <a:t>制表人：</a:t>
                      </a:r>
                      <a:r>
                        <a:rPr lang="en-US" altLang="zh-CN" sz="600" u="none" strike="noStrike">
                          <a:effectLst/>
                        </a:rPr>
                        <a:t>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5300" marR="5300" marT="530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81562599"/>
                  </a:ext>
                </a:extLst>
              </a:tr>
              <a:tr h="217116">
                <a:tc rowSpan="2">
                  <a:txBody>
                    <a:bodyPr/>
                    <a:lstStyle/>
                    <a:p>
                      <a:pPr algn="ctr" fontAlgn="ctr"/>
                      <a:r>
                        <a:rPr lang="zh-CN" altLang="en-US" sz="600" u="none" strike="noStrike">
                          <a:effectLst/>
                        </a:rPr>
                        <a:t>库别</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存货名称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存货编号</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规格型号</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单位</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购进</a:t>
                      </a:r>
                      <a:r>
                        <a:rPr lang="en-US" altLang="zh-CN" sz="600" u="none" strike="noStrike">
                          <a:effectLst/>
                        </a:rPr>
                        <a:t>/</a:t>
                      </a:r>
                      <a:r>
                        <a:rPr lang="zh-CN" altLang="en-US" sz="600" u="none" strike="noStrike">
                          <a:effectLst/>
                        </a:rPr>
                        <a:t>生产</a:t>
                      </a:r>
                      <a:br>
                        <a:rPr lang="zh-CN" altLang="en-US" sz="600" u="none" strike="noStrike">
                          <a:effectLst/>
                        </a:rPr>
                      </a:br>
                      <a:r>
                        <a:rPr lang="zh-CN" altLang="en-US" sz="600" u="none" strike="noStrike">
                          <a:effectLst/>
                        </a:rPr>
                        <a:t>日期</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gridSpan="2">
                  <a:txBody>
                    <a:bodyPr/>
                    <a:lstStyle/>
                    <a:p>
                      <a:pPr algn="ctr" fontAlgn="ctr"/>
                      <a:r>
                        <a:rPr lang="en-US" altLang="zh-CN" sz="600" u="none" strike="noStrike" dirty="0">
                          <a:effectLst/>
                        </a:rPr>
                        <a:t>30</a:t>
                      </a:r>
                      <a:r>
                        <a:rPr lang="zh-CN" altLang="en-US" sz="600" u="none" strike="noStrike" dirty="0">
                          <a:effectLst/>
                        </a:rPr>
                        <a:t>天以内</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hMerge="1">
                  <a:txBody>
                    <a:bodyPr/>
                    <a:lstStyle/>
                    <a:p>
                      <a:endParaRPr lang="zh-CN" altLang="en-US"/>
                    </a:p>
                  </a:txBody>
                  <a:tcPr/>
                </a:tc>
                <a:tc gridSpan="2">
                  <a:txBody>
                    <a:bodyPr/>
                    <a:lstStyle/>
                    <a:p>
                      <a:pPr algn="ctr" fontAlgn="ctr"/>
                      <a:r>
                        <a:rPr lang="en-US" altLang="zh-CN" sz="600" u="none" strike="noStrike">
                          <a:effectLst/>
                        </a:rPr>
                        <a:t>30~90</a:t>
                      </a:r>
                      <a:r>
                        <a:rPr lang="zh-CN" altLang="en-US" sz="600" u="none" strike="noStrike">
                          <a:effectLst/>
                        </a:rPr>
                        <a:t>天</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hMerge="1">
                  <a:txBody>
                    <a:bodyPr/>
                    <a:lstStyle/>
                    <a:p>
                      <a:endParaRPr lang="zh-CN" altLang="en-US"/>
                    </a:p>
                  </a:txBody>
                  <a:tcPr/>
                </a:tc>
                <a:tc gridSpan="2">
                  <a:txBody>
                    <a:bodyPr/>
                    <a:lstStyle/>
                    <a:p>
                      <a:pPr algn="ctr" fontAlgn="ctr"/>
                      <a:r>
                        <a:rPr lang="en-US" altLang="zh-CN" sz="600" u="none" strike="noStrike">
                          <a:effectLst/>
                        </a:rPr>
                        <a:t>90~180</a:t>
                      </a:r>
                      <a:r>
                        <a:rPr lang="zh-CN" altLang="en-US" sz="600" u="none" strike="noStrike">
                          <a:effectLst/>
                        </a:rPr>
                        <a:t>天</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hMerge="1">
                  <a:txBody>
                    <a:bodyPr/>
                    <a:lstStyle/>
                    <a:p>
                      <a:endParaRPr lang="zh-CN" altLang="en-US"/>
                    </a:p>
                  </a:txBody>
                  <a:tcPr/>
                </a:tc>
                <a:tc gridSpan="2">
                  <a:txBody>
                    <a:bodyPr/>
                    <a:lstStyle/>
                    <a:p>
                      <a:pPr algn="ctr" fontAlgn="ctr"/>
                      <a:r>
                        <a:rPr lang="en-US" altLang="zh-CN" sz="600" u="none" strike="noStrike">
                          <a:effectLst/>
                        </a:rPr>
                        <a:t>180</a:t>
                      </a:r>
                      <a:r>
                        <a:rPr lang="zh-CN" altLang="en-US" sz="600" u="none" strike="noStrike">
                          <a:effectLst/>
                        </a:rPr>
                        <a:t>天以上</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hMerge="1">
                  <a:txBody>
                    <a:bodyPr/>
                    <a:lstStyle/>
                    <a:p>
                      <a:endParaRPr lang="zh-CN" altLang="en-US"/>
                    </a:p>
                  </a:txBody>
                  <a:tcPr/>
                </a:tc>
                <a:tc rowSpan="2">
                  <a:txBody>
                    <a:bodyPr/>
                    <a:lstStyle/>
                    <a:p>
                      <a:pPr algn="ctr" fontAlgn="ctr"/>
                      <a:r>
                        <a:rPr lang="zh-CN" altLang="en-US" sz="600" u="none" strike="noStrike">
                          <a:effectLst/>
                        </a:rPr>
                        <a:t>金额合计（元）</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原因分析</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rowSpan="2">
                  <a:txBody>
                    <a:bodyPr/>
                    <a:lstStyle/>
                    <a:p>
                      <a:pPr algn="ctr" fontAlgn="ctr"/>
                      <a:r>
                        <a:rPr lang="zh-CN" altLang="en-US" sz="600" u="none" strike="noStrike">
                          <a:effectLst/>
                        </a:rPr>
                        <a:t>整改计划</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4057208743"/>
                  </a:ext>
                </a:extLst>
              </a:tr>
              <a:tr h="24678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600" u="none" strike="noStrike">
                          <a:effectLst/>
                        </a:rPr>
                        <a:t>库存数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库存金额</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库存金额</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库存金额</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库存金额</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222308384"/>
                  </a:ext>
                </a:extLst>
              </a:tr>
              <a:tr h="258165">
                <a:tc rowSpan="6">
                  <a:txBody>
                    <a:bodyPr/>
                    <a:lstStyle/>
                    <a:p>
                      <a:pPr algn="ctr" fontAlgn="ctr"/>
                      <a:r>
                        <a:rPr lang="zh-CN" altLang="en-US" sz="600" u="none" strike="noStrike">
                          <a:effectLst/>
                        </a:rPr>
                        <a:t>原材料库</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原材料</a:t>
                      </a:r>
                      <a:r>
                        <a:rPr lang="en-US" altLang="zh-CN" sz="600" u="none" strike="noStrike">
                          <a:effectLst/>
                        </a:rPr>
                        <a:t>1</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931874917"/>
                  </a:ext>
                </a:extLst>
              </a:tr>
              <a:tr h="258165">
                <a:tc vMerge="1">
                  <a:txBody>
                    <a:bodyPr/>
                    <a:lstStyle/>
                    <a:p>
                      <a:endParaRPr lang="zh-CN" altLang="en-US"/>
                    </a:p>
                  </a:txBody>
                  <a:tcPr/>
                </a:tc>
                <a:tc>
                  <a:txBody>
                    <a:bodyPr/>
                    <a:lstStyle/>
                    <a:p>
                      <a:pPr algn="ctr" fontAlgn="ctr"/>
                      <a:r>
                        <a:rPr lang="zh-CN" altLang="en-US" sz="600" u="none" strike="noStrike">
                          <a:effectLst/>
                        </a:rPr>
                        <a:t>原材料</a:t>
                      </a:r>
                      <a:r>
                        <a:rPr lang="en-US" altLang="zh-CN" sz="600" u="none" strike="noStrike">
                          <a:effectLst/>
                        </a:rPr>
                        <a:t>2</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3183021936"/>
                  </a:ext>
                </a:extLst>
              </a:tr>
              <a:tr h="258165">
                <a:tc vMerge="1">
                  <a:txBody>
                    <a:bodyPr/>
                    <a:lstStyle/>
                    <a:p>
                      <a:endParaRPr lang="zh-CN" altLang="en-US"/>
                    </a:p>
                  </a:txBody>
                  <a:tcPr/>
                </a:tc>
                <a:tc>
                  <a:txBody>
                    <a:bodyPr/>
                    <a:lstStyle/>
                    <a:p>
                      <a:pPr algn="ctr" fontAlgn="ctr"/>
                      <a:r>
                        <a:rPr lang="zh-CN" altLang="en-US" sz="600" u="none" strike="noStrike">
                          <a:effectLst/>
                        </a:rPr>
                        <a:t>原材料</a:t>
                      </a:r>
                      <a:r>
                        <a:rPr lang="en-US" altLang="zh-CN" sz="600" u="none" strike="noStrike">
                          <a:effectLst/>
                        </a:rPr>
                        <a:t>3</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501760871"/>
                  </a:ext>
                </a:extLst>
              </a:tr>
              <a:tr h="258165">
                <a:tc vMerge="1">
                  <a:txBody>
                    <a:bodyPr/>
                    <a:lstStyle/>
                    <a:p>
                      <a:endParaRPr lang="zh-CN" altLang="en-US"/>
                    </a:p>
                  </a:txBody>
                  <a:tcPr/>
                </a:tc>
                <a:tc>
                  <a:txBody>
                    <a:bodyPr/>
                    <a:lstStyle/>
                    <a:p>
                      <a:pPr algn="ctr" fontAlgn="ctr"/>
                      <a:r>
                        <a:rPr lang="zh-CN" altLang="en-US" sz="600" u="none" strike="noStrike">
                          <a:effectLst/>
                        </a:rPr>
                        <a:t>原材料</a:t>
                      </a:r>
                      <a:r>
                        <a:rPr lang="en-US" altLang="zh-CN" sz="600" u="none" strike="noStrike">
                          <a:effectLst/>
                        </a:rPr>
                        <a:t>4</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3511998712"/>
                  </a:ext>
                </a:extLst>
              </a:tr>
              <a:tr h="258165">
                <a:tc vMerge="1">
                  <a:txBody>
                    <a:bodyPr/>
                    <a:lstStyle/>
                    <a:p>
                      <a:endParaRPr lang="zh-CN" altLang="en-US"/>
                    </a:p>
                  </a:txBody>
                  <a:tcPr/>
                </a:tc>
                <a:tc>
                  <a:txBody>
                    <a:bodyPr/>
                    <a:lstStyle/>
                    <a:p>
                      <a:pPr algn="ctr" fontAlgn="ctr"/>
                      <a:r>
                        <a:rPr lang="zh-CN" altLang="en-US" sz="600" u="none" strike="noStrike">
                          <a:effectLst/>
                        </a:rPr>
                        <a:t>原材料</a:t>
                      </a:r>
                      <a:r>
                        <a:rPr lang="en-US" altLang="zh-CN" sz="600" u="none" strike="noStrike">
                          <a:effectLst/>
                        </a:rPr>
                        <a:t>5</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489181654"/>
                  </a:ext>
                </a:extLst>
              </a:tr>
              <a:tr h="258165">
                <a:tc vMerge="1">
                  <a:txBody>
                    <a:bodyPr/>
                    <a:lstStyle/>
                    <a:p>
                      <a:endParaRPr lang="zh-CN" altLang="en-US"/>
                    </a:p>
                  </a:txBody>
                  <a:tcPr/>
                </a:tc>
                <a:tc>
                  <a:txBody>
                    <a:bodyPr/>
                    <a:lstStyle/>
                    <a:p>
                      <a:pPr algn="ctr" fontAlgn="ctr"/>
                      <a:r>
                        <a:rPr lang="en-US" altLang="zh-CN" sz="600" u="none" strike="noStrike">
                          <a:effectLst/>
                        </a:rPr>
                        <a:t>.......</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417994569"/>
                  </a:ext>
                </a:extLst>
              </a:tr>
              <a:tr h="258165">
                <a:tc rowSpan="6">
                  <a:txBody>
                    <a:bodyPr/>
                    <a:lstStyle/>
                    <a:p>
                      <a:pPr algn="ctr" fontAlgn="ctr"/>
                      <a:r>
                        <a:rPr lang="zh-CN" altLang="en-US" sz="600" u="none" strike="noStrike">
                          <a:effectLst/>
                        </a:rPr>
                        <a:t>成品库</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库存商品</a:t>
                      </a:r>
                      <a:r>
                        <a:rPr lang="en-US" altLang="zh-CN" sz="600" u="none" strike="noStrike">
                          <a:effectLst/>
                        </a:rPr>
                        <a:t>1</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115520106"/>
                  </a:ext>
                </a:extLst>
              </a:tr>
              <a:tr h="258165">
                <a:tc vMerge="1">
                  <a:txBody>
                    <a:bodyPr/>
                    <a:lstStyle/>
                    <a:p>
                      <a:endParaRPr lang="zh-CN" altLang="en-US"/>
                    </a:p>
                  </a:txBody>
                  <a:tcPr/>
                </a:tc>
                <a:tc>
                  <a:txBody>
                    <a:bodyPr/>
                    <a:lstStyle/>
                    <a:p>
                      <a:pPr algn="ctr" fontAlgn="ctr"/>
                      <a:r>
                        <a:rPr lang="zh-CN" altLang="en-US" sz="600" u="none" strike="noStrike">
                          <a:effectLst/>
                        </a:rPr>
                        <a:t>库存商品</a:t>
                      </a:r>
                      <a:r>
                        <a:rPr lang="en-US" altLang="zh-CN" sz="600" u="none" strike="noStrike">
                          <a:effectLst/>
                        </a:rPr>
                        <a:t>2</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748591769"/>
                  </a:ext>
                </a:extLst>
              </a:tr>
              <a:tr h="258165">
                <a:tc vMerge="1">
                  <a:txBody>
                    <a:bodyPr/>
                    <a:lstStyle/>
                    <a:p>
                      <a:endParaRPr lang="zh-CN" altLang="en-US"/>
                    </a:p>
                  </a:txBody>
                  <a:tcPr/>
                </a:tc>
                <a:tc>
                  <a:txBody>
                    <a:bodyPr/>
                    <a:lstStyle/>
                    <a:p>
                      <a:pPr algn="ctr" fontAlgn="ctr"/>
                      <a:r>
                        <a:rPr lang="zh-CN" altLang="en-US" sz="600" u="none" strike="noStrike">
                          <a:effectLst/>
                        </a:rPr>
                        <a:t>库存商品</a:t>
                      </a:r>
                      <a:r>
                        <a:rPr lang="en-US" altLang="zh-CN" sz="600" u="none" strike="noStrike">
                          <a:effectLst/>
                        </a:rPr>
                        <a:t>3</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7931071"/>
                  </a:ext>
                </a:extLst>
              </a:tr>
              <a:tr h="258165">
                <a:tc vMerge="1">
                  <a:txBody>
                    <a:bodyPr/>
                    <a:lstStyle/>
                    <a:p>
                      <a:endParaRPr lang="zh-CN" altLang="en-US"/>
                    </a:p>
                  </a:txBody>
                  <a:tcPr/>
                </a:tc>
                <a:tc>
                  <a:txBody>
                    <a:bodyPr/>
                    <a:lstStyle/>
                    <a:p>
                      <a:pPr algn="ctr" fontAlgn="ctr"/>
                      <a:r>
                        <a:rPr lang="zh-CN" altLang="en-US" sz="600" u="none" strike="noStrike">
                          <a:effectLst/>
                        </a:rPr>
                        <a:t>库存商品</a:t>
                      </a:r>
                      <a:r>
                        <a:rPr lang="en-US" altLang="zh-CN" sz="600" u="none" strike="noStrike">
                          <a:effectLst/>
                        </a:rPr>
                        <a:t>4</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1801782434"/>
                  </a:ext>
                </a:extLst>
              </a:tr>
              <a:tr h="258165">
                <a:tc vMerge="1">
                  <a:txBody>
                    <a:bodyPr/>
                    <a:lstStyle/>
                    <a:p>
                      <a:endParaRPr lang="zh-CN" altLang="en-US"/>
                    </a:p>
                  </a:txBody>
                  <a:tcPr/>
                </a:tc>
                <a:tc>
                  <a:txBody>
                    <a:bodyPr/>
                    <a:lstStyle/>
                    <a:p>
                      <a:pPr algn="ctr" fontAlgn="ctr"/>
                      <a:r>
                        <a:rPr lang="zh-CN" altLang="en-US" sz="600" u="none" strike="noStrike">
                          <a:effectLst/>
                        </a:rPr>
                        <a:t>库存商品</a:t>
                      </a:r>
                      <a:r>
                        <a:rPr lang="en-US" altLang="zh-CN" sz="600" u="none" strike="noStrike">
                          <a:effectLst/>
                        </a:rPr>
                        <a:t>5</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1786076237"/>
                  </a:ext>
                </a:extLst>
              </a:tr>
              <a:tr h="258165">
                <a:tc vMerge="1">
                  <a:txBody>
                    <a:bodyPr/>
                    <a:lstStyle/>
                    <a:p>
                      <a:endParaRPr lang="zh-CN" altLang="en-US"/>
                    </a:p>
                  </a:txBody>
                  <a:tcPr/>
                </a:tc>
                <a:tc>
                  <a:txBody>
                    <a:bodyPr/>
                    <a:lstStyle/>
                    <a:p>
                      <a:pPr algn="ctr" fontAlgn="ctr"/>
                      <a:r>
                        <a:rPr lang="en-US" altLang="zh-CN" sz="600" u="none" strike="noStrike">
                          <a:effectLst/>
                        </a:rPr>
                        <a:t>.......</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073394700"/>
                  </a:ext>
                </a:extLst>
              </a:tr>
              <a:tr h="258165">
                <a:tc rowSpan="5">
                  <a:txBody>
                    <a:bodyPr/>
                    <a:lstStyle/>
                    <a:p>
                      <a:pPr algn="ctr" fontAlgn="ctr"/>
                      <a:r>
                        <a:rPr lang="zh-CN" altLang="en-US" sz="600" u="none" strike="noStrike">
                          <a:effectLst/>
                        </a:rPr>
                        <a:t>其他库</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周转材料</a:t>
                      </a:r>
                      <a:r>
                        <a:rPr lang="en-US" altLang="zh-CN" sz="600" u="none" strike="noStrike">
                          <a:effectLst/>
                        </a:rPr>
                        <a:t>1</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603118740"/>
                  </a:ext>
                </a:extLst>
              </a:tr>
              <a:tr h="258165">
                <a:tc vMerge="1">
                  <a:txBody>
                    <a:bodyPr/>
                    <a:lstStyle/>
                    <a:p>
                      <a:endParaRPr lang="zh-CN" altLang="en-US"/>
                    </a:p>
                  </a:txBody>
                  <a:tcPr/>
                </a:tc>
                <a:tc>
                  <a:txBody>
                    <a:bodyPr/>
                    <a:lstStyle/>
                    <a:p>
                      <a:pPr algn="ctr" fontAlgn="ctr"/>
                      <a:r>
                        <a:rPr lang="zh-CN" altLang="en-US" sz="600" u="none" strike="noStrike">
                          <a:effectLst/>
                        </a:rPr>
                        <a:t>周转材料</a:t>
                      </a:r>
                      <a:r>
                        <a:rPr lang="en-US" altLang="zh-CN" sz="600" u="none" strike="noStrike">
                          <a:effectLst/>
                        </a:rPr>
                        <a:t>2</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4135194181"/>
                  </a:ext>
                </a:extLst>
              </a:tr>
              <a:tr h="258165">
                <a:tc vMerge="1">
                  <a:txBody>
                    <a:bodyPr/>
                    <a:lstStyle/>
                    <a:p>
                      <a:endParaRPr lang="zh-CN" altLang="en-US"/>
                    </a:p>
                  </a:txBody>
                  <a:tcPr/>
                </a:tc>
                <a:tc>
                  <a:txBody>
                    <a:bodyPr/>
                    <a:lstStyle/>
                    <a:p>
                      <a:pPr algn="ctr" fontAlgn="ctr"/>
                      <a:r>
                        <a:rPr lang="zh-CN" altLang="en-US" sz="600" u="none" strike="noStrike">
                          <a:effectLst/>
                        </a:rPr>
                        <a:t>周转材料</a:t>
                      </a:r>
                      <a:r>
                        <a:rPr lang="en-US" altLang="zh-CN" sz="600" u="none" strike="noStrike">
                          <a:effectLst/>
                        </a:rPr>
                        <a:t>3</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3945347460"/>
                  </a:ext>
                </a:extLst>
              </a:tr>
              <a:tr h="258165">
                <a:tc vMerge="1">
                  <a:txBody>
                    <a:bodyPr/>
                    <a:lstStyle/>
                    <a:p>
                      <a:endParaRPr lang="zh-CN" altLang="en-US"/>
                    </a:p>
                  </a:txBody>
                  <a:tcPr/>
                </a:tc>
                <a:tc>
                  <a:txBody>
                    <a:bodyPr/>
                    <a:lstStyle/>
                    <a:p>
                      <a:pPr algn="ctr" fontAlgn="ctr"/>
                      <a:r>
                        <a:rPr lang="zh-CN" altLang="en-US" sz="600" u="none" strike="noStrike">
                          <a:effectLst/>
                        </a:rPr>
                        <a:t>周转材料</a:t>
                      </a:r>
                      <a:r>
                        <a:rPr lang="en-US" altLang="zh-CN" sz="600" u="none" strike="noStrike">
                          <a:effectLst/>
                        </a:rPr>
                        <a:t>4</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1702445393"/>
                  </a:ext>
                </a:extLst>
              </a:tr>
              <a:tr h="258165">
                <a:tc vMerge="1">
                  <a:txBody>
                    <a:bodyPr/>
                    <a:lstStyle/>
                    <a:p>
                      <a:endParaRPr lang="zh-CN" altLang="en-US"/>
                    </a:p>
                  </a:txBody>
                  <a:tcPr/>
                </a:tc>
                <a:tc>
                  <a:txBody>
                    <a:bodyPr/>
                    <a:lstStyle/>
                    <a:p>
                      <a:pPr algn="ctr" fontAlgn="ctr"/>
                      <a:r>
                        <a:rPr lang="en-US" altLang="zh-CN" sz="600" u="none" strike="noStrike">
                          <a:effectLst/>
                        </a:rPr>
                        <a:t>.......</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tc>
                  <a:txBody>
                    <a:bodyPr/>
                    <a:lstStyle/>
                    <a:p>
                      <a:pPr algn="l" fontAlgn="ctr"/>
                      <a:r>
                        <a:rPr lang="zh-CN" altLang="en-US" sz="600" u="none" strike="noStrike" dirty="0">
                          <a:effectLst/>
                        </a:rPr>
                        <a:t>　</a:t>
                      </a:r>
                      <a:endParaRPr lang="zh-CN" altLang="en-US" sz="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300" marR="5300" marT="5300" marB="0" anchor="ctr"/>
                </a:tc>
                <a:extLst>
                  <a:ext uri="{0D108BD9-81ED-4DB2-BD59-A6C34878D82A}">
                    <a16:rowId xmlns:a16="http://schemas.microsoft.com/office/drawing/2014/main" val="2266667828"/>
                  </a:ext>
                </a:extLst>
              </a:tr>
            </a:tbl>
          </a:graphicData>
        </a:graphic>
      </p:graphicFrame>
      <p:sp>
        <p:nvSpPr>
          <p:cNvPr id="5" name="文本框 4">
            <a:extLst>
              <a:ext uri="{FF2B5EF4-FFF2-40B4-BE49-F238E27FC236}">
                <a16:creationId xmlns:a16="http://schemas.microsoft.com/office/drawing/2014/main" id="{85B39AC7-007A-46AD-8182-689D9B9E3776}"/>
              </a:ext>
            </a:extLst>
          </p:cNvPr>
          <p:cNvSpPr txBox="1"/>
          <p:nvPr/>
        </p:nvSpPr>
        <p:spPr>
          <a:xfrm>
            <a:off x="191344" y="87015"/>
            <a:ext cx="3096344" cy="461665"/>
          </a:xfrm>
          <a:prstGeom prst="rect">
            <a:avLst/>
          </a:prstGeom>
          <a:solidFill>
            <a:srgbClr val="FFFF00"/>
          </a:solidFill>
        </p:spPr>
        <p:txBody>
          <a:bodyPr wrap="square" rtlCol="0">
            <a:spAutoFit/>
          </a:bodyPr>
          <a:lstStyle/>
          <a:p>
            <a:r>
              <a:rPr lang="zh-CN" altLang="en-US" sz="2400" b="1" dirty="0">
                <a:solidFill>
                  <a:srgbClr val="FF0000"/>
                </a:solidFill>
              </a:rPr>
              <a:t>存货库龄分析表</a:t>
            </a:r>
            <a:r>
              <a:rPr lang="en-US" altLang="zh-CN" sz="2400" b="1" dirty="0">
                <a:solidFill>
                  <a:srgbClr val="FF0000"/>
                </a:solidFill>
              </a:rPr>
              <a:t>2-7</a:t>
            </a:r>
            <a:endParaRPr lang="zh-CN" altLang="en-US" sz="2400" b="1" dirty="0">
              <a:solidFill>
                <a:srgbClr val="FF0000"/>
              </a:solidFill>
            </a:endParaRPr>
          </a:p>
        </p:txBody>
      </p:sp>
    </p:spTree>
    <p:extLst>
      <p:ext uri="{BB962C8B-B14F-4D97-AF65-F5344CB8AC3E}">
        <p14:creationId xmlns:p14="http://schemas.microsoft.com/office/powerpoint/2010/main" val="3532367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7DF251F-7B5E-431A-A481-DD24482D6A84}"/>
              </a:ext>
            </a:extLst>
          </p:cNvPr>
          <p:cNvSpPr txBox="1"/>
          <p:nvPr/>
        </p:nvSpPr>
        <p:spPr>
          <a:xfrm>
            <a:off x="1703512" y="85198"/>
            <a:ext cx="3096344" cy="461665"/>
          </a:xfrm>
          <a:prstGeom prst="rect">
            <a:avLst/>
          </a:prstGeom>
          <a:solidFill>
            <a:srgbClr val="FFFF00"/>
          </a:solidFill>
        </p:spPr>
        <p:txBody>
          <a:bodyPr wrap="square" rtlCol="0">
            <a:spAutoFit/>
          </a:bodyPr>
          <a:lstStyle/>
          <a:p>
            <a:r>
              <a:rPr lang="zh-CN" altLang="en-US" sz="2400" b="1" dirty="0">
                <a:solidFill>
                  <a:srgbClr val="FF0000"/>
                </a:solidFill>
              </a:rPr>
              <a:t>固定资产盘点表</a:t>
            </a:r>
            <a:r>
              <a:rPr lang="en-US" altLang="zh-CN" sz="2400" b="1" dirty="0">
                <a:solidFill>
                  <a:srgbClr val="FF0000"/>
                </a:solidFill>
              </a:rPr>
              <a:t>2-8-1</a:t>
            </a:r>
            <a:endParaRPr lang="zh-CN" altLang="en-US" sz="2400" b="1" dirty="0">
              <a:solidFill>
                <a:srgbClr val="FF0000"/>
              </a:solidFill>
            </a:endParaRPr>
          </a:p>
        </p:txBody>
      </p:sp>
      <p:graphicFrame>
        <p:nvGraphicFramePr>
          <p:cNvPr id="5" name="表格 4">
            <a:extLst>
              <a:ext uri="{FF2B5EF4-FFF2-40B4-BE49-F238E27FC236}">
                <a16:creationId xmlns:a16="http://schemas.microsoft.com/office/drawing/2014/main" id="{DFDD3230-A6DD-45EC-AAFE-AF076345FD2D}"/>
              </a:ext>
            </a:extLst>
          </p:cNvPr>
          <p:cNvGraphicFramePr>
            <a:graphicFrameLocks noGrp="1"/>
          </p:cNvGraphicFramePr>
          <p:nvPr>
            <p:extLst>
              <p:ext uri="{D42A27DB-BD31-4B8C-83A1-F6EECF244321}">
                <p14:modId xmlns:p14="http://schemas.microsoft.com/office/powerpoint/2010/main" val="2997350720"/>
              </p:ext>
            </p:extLst>
          </p:nvPr>
        </p:nvGraphicFramePr>
        <p:xfrm>
          <a:off x="119337" y="548680"/>
          <a:ext cx="6551091" cy="5688631"/>
        </p:xfrm>
        <a:graphic>
          <a:graphicData uri="http://schemas.openxmlformats.org/drawingml/2006/table">
            <a:tbl>
              <a:tblPr>
                <a:tableStyleId>{5C22544A-7EE6-4342-B048-85BDC9FD1C3A}</a:tableStyleId>
              </a:tblPr>
              <a:tblGrid>
                <a:gridCol w="442452">
                  <a:extLst>
                    <a:ext uri="{9D8B030D-6E8A-4147-A177-3AD203B41FA5}">
                      <a16:colId xmlns:a16="http://schemas.microsoft.com/office/drawing/2014/main" val="842241308"/>
                    </a:ext>
                  </a:extLst>
                </a:gridCol>
                <a:gridCol w="442452">
                  <a:extLst>
                    <a:ext uri="{9D8B030D-6E8A-4147-A177-3AD203B41FA5}">
                      <a16:colId xmlns:a16="http://schemas.microsoft.com/office/drawing/2014/main" val="3618344791"/>
                    </a:ext>
                  </a:extLst>
                </a:gridCol>
                <a:gridCol w="442452">
                  <a:extLst>
                    <a:ext uri="{9D8B030D-6E8A-4147-A177-3AD203B41FA5}">
                      <a16:colId xmlns:a16="http://schemas.microsoft.com/office/drawing/2014/main" val="3165756536"/>
                    </a:ext>
                  </a:extLst>
                </a:gridCol>
                <a:gridCol w="442452">
                  <a:extLst>
                    <a:ext uri="{9D8B030D-6E8A-4147-A177-3AD203B41FA5}">
                      <a16:colId xmlns:a16="http://schemas.microsoft.com/office/drawing/2014/main" val="2351319147"/>
                    </a:ext>
                  </a:extLst>
                </a:gridCol>
                <a:gridCol w="442452">
                  <a:extLst>
                    <a:ext uri="{9D8B030D-6E8A-4147-A177-3AD203B41FA5}">
                      <a16:colId xmlns:a16="http://schemas.microsoft.com/office/drawing/2014/main" val="1519844240"/>
                    </a:ext>
                  </a:extLst>
                </a:gridCol>
                <a:gridCol w="442452">
                  <a:extLst>
                    <a:ext uri="{9D8B030D-6E8A-4147-A177-3AD203B41FA5}">
                      <a16:colId xmlns:a16="http://schemas.microsoft.com/office/drawing/2014/main" val="719228868"/>
                    </a:ext>
                  </a:extLst>
                </a:gridCol>
                <a:gridCol w="442452">
                  <a:extLst>
                    <a:ext uri="{9D8B030D-6E8A-4147-A177-3AD203B41FA5}">
                      <a16:colId xmlns:a16="http://schemas.microsoft.com/office/drawing/2014/main" val="402859196"/>
                    </a:ext>
                  </a:extLst>
                </a:gridCol>
                <a:gridCol w="442452">
                  <a:extLst>
                    <a:ext uri="{9D8B030D-6E8A-4147-A177-3AD203B41FA5}">
                      <a16:colId xmlns:a16="http://schemas.microsoft.com/office/drawing/2014/main" val="3175599458"/>
                    </a:ext>
                  </a:extLst>
                </a:gridCol>
                <a:gridCol w="481399">
                  <a:extLst>
                    <a:ext uri="{9D8B030D-6E8A-4147-A177-3AD203B41FA5}">
                      <a16:colId xmlns:a16="http://schemas.microsoft.com/office/drawing/2014/main" val="2238000834"/>
                    </a:ext>
                  </a:extLst>
                </a:gridCol>
                <a:gridCol w="380134">
                  <a:extLst>
                    <a:ext uri="{9D8B030D-6E8A-4147-A177-3AD203B41FA5}">
                      <a16:colId xmlns:a16="http://schemas.microsoft.com/office/drawing/2014/main" val="3144078653"/>
                    </a:ext>
                  </a:extLst>
                </a:gridCol>
                <a:gridCol w="442452">
                  <a:extLst>
                    <a:ext uri="{9D8B030D-6E8A-4147-A177-3AD203B41FA5}">
                      <a16:colId xmlns:a16="http://schemas.microsoft.com/office/drawing/2014/main" val="241689158"/>
                    </a:ext>
                  </a:extLst>
                </a:gridCol>
                <a:gridCol w="442452">
                  <a:extLst>
                    <a:ext uri="{9D8B030D-6E8A-4147-A177-3AD203B41FA5}">
                      <a16:colId xmlns:a16="http://schemas.microsoft.com/office/drawing/2014/main" val="3443463400"/>
                    </a:ext>
                  </a:extLst>
                </a:gridCol>
                <a:gridCol w="380134">
                  <a:extLst>
                    <a:ext uri="{9D8B030D-6E8A-4147-A177-3AD203B41FA5}">
                      <a16:colId xmlns:a16="http://schemas.microsoft.com/office/drawing/2014/main" val="4027669305"/>
                    </a:ext>
                  </a:extLst>
                </a:gridCol>
                <a:gridCol w="442452">
                  <a:extLst>
                    <a:ext uri="{9D8B030D-6E8A-4147-A177-3AD203B41FA5}">
                      <a16:colId xmlns:a16="http://schemas.microsoft.com/office/drawing/2014/main" val="2184219962"/>
                    </a:ext>
                  </a:extLst>
                </a:gridCol>
                <a:gridCol w="442452">
                  <a:extLst>
                    <a:ext uri="{9D8B030D-6E8A-4147-A177-3AD203B41FA5}">
                      <a16:colId xmlns:a16="http://schemas.microsoft.com/office/drawing/2014/main" val="1256453299"/>
                    </a:ext>
                  </a:extLst>
                </a:gridCol>
              </a:tblGrid>
              <a:tr h="385004">
                <a:tc gridSpan="15">
                  <a:txBody>
                    <a:bodyPr/>
                    <a:lstStyle/>
                    <a:p>
                      <a:pPr algn="ctr" fontAlgn="ctr"/>
                      <a:r>
                        <a:rPr lang="zh-CN" altLang="en-US" sz="700" u="none" strike="noStrike" dirty="0">
                          <a:effectLst/>
                        </a:rPr>
                        <a:t>固定资产盘点表</a:t>
                      </a:r>
                      <a:endParaRPr lang="zh-CN" altLang="en-US" sz="700" b="1" i="0" u="none" strike="noStrike" dirty="0">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33798579"/>
                  </a:ext>
                </a:extLst>
              </a:tr>
              <a:tr h="385004">
                <a:tc gridSpan="4">
                  <a:txBody>
                    <a:bodyPr/>
                    <a:lstStyle/>
                    <a:p>
                      <a:pPr algn="l" fontAlgn="ctr"/>
                      <a:r>
                        <a:rPr lang="zh-CN" altLang="en-US" sz="600" u="none" strike="noStrike">
                          <a:effectLst/>
                        </a:rPr>
                        <a:t>盘点期间： </a:t>
                      </a:r>
                      <a:r>
                        <a:rPr lang="en-US" altLang="zh-CN" sz="600" u="none" strike="noStrike">
                          <a:effectLst/>
                        </a:rPr>
                        <a:t>__</a:t>
                      </a:r>
                      <a:r>
                        <a:rPr lang="zh-CN" altLang="en-US" sz="600" u="none" strike="noStrike">
                          <a:effectLst/>
                        </a:rPr>
                        <a:t>年</a:t>
                      </a:r>
                      <a:r>
                        <a:rPr lang="en-US" altLang="zh-CN" sz="600" u="none" strike="noStrike">
                          <a:effectLst/>
                        </a:rPr>
                        <a:t>__ </a:t>
                      </a:r>
                      <a:r>
                        <a:rPr lang="zh-CN" altLang="en-US" sz="600" u="none" strike="noStrike">
                          <a:effectLst/>
                        </a:rPr>
                        <a:t>月</a:t>
                      </a:r>
                      <a:r>
                        <a:rPr lang="en-US" altLang="zh-CN" sz="600" u="none" strike="noStrike">
                          <a:effectLst/>
                        </a:rPr>
                        <a:t>__</a:t>
                      </a:r>
                      <a:r>
                        <a:rPr lang="zh-CN" altLang="en-US" sz="600" u="none" strike="noStrike">
                          <a:effectLst/>
                        </a:rPr>
                        <a:t>日 至 </a:t>
                      </a:r>
                      <a:r>
                        <a:rPr lang="en-US" altLang="zh-CN" sz="600" u="none" strike="noStrike">
                          <a:effectLst/>
                        </a:rPr>
                        <a:t>__</a:t>
                      </a:r>
                      <a:r>
                        <a:rPr lang="zh-CN" altLang="en-US" sz="600" u="none" strike="noStrike">
                          <a:effectLst/>
                        </a:rPr>
                        <a:t>年</a:t>
                      </a:r>
                      <a:r>
                        <a:rPr lang="en-US" altLang="zh-CN" sz="600" u="none" strike="noStrike">
                          <a:effectLst/>
                        </a:rPr>
                        <a:t>__</a:t>
                      </a:r>
                      <a:r>
                        <a:rPr lang="zh-CN" altLang="en-US" sz="600" u="none" strike="noStrike">
                          <a:effectLst/>
                        </a:rPr>
                        <a:t>月</a:t>
                      </a:r>
                      <a:r>
                        <a:rPr lang="en-US" altLang="zh-CN" sz="600" u="none" strike="noStrike">
                          <a:effectLst/>
                        </a:rPr>
                        <a:t>__</a:t>
                      </a:r>
                      <a:r>
                        <a:rPr lang="zh-CN" altLang="en-US" sz="600" u="none" strike="noStrike">
                          <a:effectLst/>
                        </a:rPr>
                        <a:t>日</a:t>
                      </a:r>
                      <a:endParaRPr lang="zh-CN" altLang="en-US" sz="600" b="0" i="0" u="none" strike="noStrike">
                        <a:solidFill>
                          <a:srgbClr val="000000"/>
                        </a:solidFill>
                        <a:effectLst/>
                        <a:latin typeface="Arial" panose="020B0604020202020204" pitchFamily="34" charset="0"/>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盘点基准日：</a:t>
                      </a:r>
                      <a:r>
                        <a:rPr lang="en-US" altLang="zh-CN" sz="600" u="none" strike="noStrike">
                          <a:effectLst/>
                        </a:rPr>
                        <a:t>__</a:t>
                      </a:r>
                      <a:r>
                        <a:rPr lang="zh-CN" altLang="en-US" sz="600" u="none" strike="noStrike">
                          <a:effectLst/>
                        </a:rPr>
                        <a:t>年</a:t>
                      </a:r>
                      <a:r>
                        <a:rPr lang="en-US" altLang="zh-CN" sz="600" u="none" strike="noStrike">
                          <a:effectLst/>
                        </a:rPr>
                        <a:t>__</a:t>
                      </a:r>
                      <a:r>
                        <a:rPr lang="zh-CN" altLang="en-US" sz="600" u="none" strike="noStrike">
                          <a:effectLst/>
                        </a:rPr>
                        <a:t>月</a:t>
                      </a:r>
                      <a:r>
                        <a:rPr lang="en-US" altLang="zh-CN" sz="600" u="none" strike="noStrike">
                          <a:effectLst/>
                        </a:rPr>
                        <a:t>__</a:t>
                      </a:r>
                      <a:r>
                        <a:rPr lang="zh-CN" altLang="en-US" sz="600" u="none" strike="noStrike">
                          <a:effectLst/>
                        </a:rPr>
                        <a:t>日</a:t>
                      </a:r>
                      <a:endParaRPr lang="zh-CN" altLang="en-US" sz="600" b="0" i="0" u="none" strike="noStrike">
                        <a:solidFill>
                          <a:srgbClr val="000000"/>
                        </a:solidFill>
                        <a:effectLst/>
                        <a:latin typeface="Arial" panose="020B0604020202020204" pitchFamily="34" charset="0"/>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600" u="none" strike="noStrike">
                          <a:effectLst/>
                        </a:rPr>
                        <a:t>盘点部门：</a:t>
                      </a:r>
                      <a:r>
                        <a:rPr lang="en-US" altLang="zh-CN" sz="600" u="none" strike="noStrike">
                          <a:effectLst/>
                        </a:rPr>
                        <a:t>________</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851" marR="4851" marT="4851" marB="0" anchor="ctr"/>
                </a:tc>
                <a:tc hMerge="1">
                  <a:txBody>
                    <a:bodyPr/>
                    <a:lstStyle/>
                    <a:p>
                      <a:endParaRPr lang="zh-CN" altLang="en-US"/>
                    </a:p>
                  </a:txBody>
                  <a:tcPr/>
                </a:tc>
                <a:tc gridSpan="3">
                  <a:txBody>
                    <a:bodyPr/>
                    <a:lstStyle/>
                    <a:p>
                      <a:pPr algn="l" fontAlgn="ctr"/>
                      <a:r>
                        <a:rPr lang="zh-CN" altLang="en-US" sz="600" u="none" strike="noStrike">
                          <a:effectLst/>
                        </a:rPr>
                        <a:t>盘点人：</a:t>
                      </a:r>
                      <a:r>
                        <a:rPr lang="en-US" altLang="zh-CN" sz="600" u="none" strike="noStrike">
                          <a:effectLst/>
                        </a:rPr>
                        <a:t>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复核人：</a:t>
                      </a:r>
                      <a:r>
                        <a:rPr lang="en-US" altLang="zh-CN" sz="600" u="none" strike="noStrike">
                          <a:effectLst/>
                        </a:rPr>
                        <a:t>____________________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30652643"/>
                  </a:ext>
                </a:extLst>
              </a:tr>
              <a:tr h="385004">
                <a:tc>
                  <a:txBody>
                    <a:bodyPr/>
                    <a:lstStyle/>
                    <a:p>
                      <a:pPr algn="ctr" fontAlgn="ctr"/>
                      <a:r>
                        <a:rPr lang="zh-CN" altLang="en-US" sz="600" u="none" strike="noStrike">
                          <a:effectLst/>
                        </a:rPr>
                        <a:t>序号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资产编号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资产名称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规格型号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品牌 </a:t>
                      </a:r>
                      <a:r>
                        <a:rPr lang="en-US" altLang="zh-CN" sz="600" u="none" strike="noStrike">
                          <a:effectLst/>
                        </a:rPr>
                        <a:t>/ </a:t>
                      </a:r>
                      <a:r>
                        <a:rPr lang="zh-CN" altLang="en-US" sz="600" u="none" strike="noStrike">
                          <a:effectLst/>
                        </a:rPr>
                        <a:t>出厂编号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资产类别</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使用部门</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存放地点</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账面结存数量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实盘数量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盘盈数量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盘亏数量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差异原因说明</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拟处理意见</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备注</a:t>
                      </a:r>
                      <a:r>
                        <a:rPr lang="en-US" altLang="zh-CN" sz="600" u="none" strike="noStrike">
                          <a:effectLst/>
                        </a:rPr>
                        <a:t>/</a:t>
                      </a:r>
                      <a:r>
                        <a:rPr lang="zh-CN" altLang="en-US" sz="600" u="none" strike="noStrike">
                          <a:effectLst/>
                        </a:rPr>
                        <a:t>管理员</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1050025957"/>
                  </a:ext>
                </a:extLst>
              </a:tr>
              <a:tr h="385004">
                <a:tc>
                  <a:txBody>
                    <a:bodyPr/>
                    <a:lstStyle/>
                    <a:p>
                      <a:pPr algn="ctr" fontAlgn="ctr"/>
                      <a:r>
                        <a:rPr lang="en-US" altLang="zh-CN" sz="600" u="none" strike="noStrike">
                          <a:effectLst/>
                        </a:rPr>
                        <a:t>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3187527160"/>
                  </a:ext>
                </a:extLst>
              </a:tr>
              <a:tr h="385004">
                <a:tc>
                  <a:txBody>
                    <a:bodyPr/>
                    <a:lstStyle/>
                    <a:p>
                      <a:pPr algn="ctr" fontAlgn="ctr"/>
                      <a:r>
                        <a:rPr lang="en-US" altLang="zh-CN" sz="600" u="none" strike="noStrike">
                          <a:effectLst/>
                        </a:rPr>
                        <a:t>2</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1939954094"/>
                  </a:ext>
                </a:extLst>
              </a:tr>
              <a:tr h="385004">
                <a:tc>
                  <a:txBody>
                    <a:bodyPr/>
                    <a:lstStyle/>
                    <a:p>
                      <a:pPr algn="ctr" fontAlgn="ctr"/>
                      <a:r>
                        <a:rPr lang="en-US" altLang="zh-CN" sz="600" u="none" strike="noStrike">
                          <a:effectLst/>
                        </a:rPr>
                        <a:t>3</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dirty="0">
                          <a:effectLst/>
                        </a:rPr>
                        <a:t>　</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2172483863"/>
                  </a:ext>
                </a:extLst>
              </a:tr>
              <a:tr h="385004">
                <a:tc>
                  <a:txBody>
                    <a:bodyPr/>
                    <a:lstStyle/>
                    <a:p>
                      <a:pPr algn="ctr" fontAlgn="ctr"/>
                      <a:r>
                        <a:rPr lang="en-US" altLang="zh-CN" sz="600" u="none" strike="noStrike">
                          <a:effectLst/>
                        </a:rPr>
                        <a:t>4</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dirty="0">
                          <a:effectLst/>
                        </a:rPr>
                        <a:t>　</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3296832413"/>
                  </a:ext>
                </a:extLst>
              </a:tr>
              <a:tr h="385004">
                <a:tc>
                  <a:txBody>
                    <a:bodyPr/>
                    <a:lstStyle/>
                    <a:p>
                      <a:pPr algn="ctr" fontAlgn="ctr"/>
                      <a:r>
                        <a:rPr lang="en-US" altLang="zh-CN" sz="600" u="none" strike="noStrike">
                          <a:effectLst/>
                        </a:rPr>
                        <a:t>5</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2906985158"/>
                  </a:ext>
                </a:extLst>
              </a:tr>
              <a:tr h="385004">
                <a:tc>
                  <a:txBody>
                    <a:bodyPr/>
                    <a:lstStyle/>
                    <a:p>
                      <a:pPr algn="ctr" fontAlgn="ctr"/>
                      <a:r>
                        <a:rPr lang="zh-CN" altLang="en-US" sz="600" u="none" strike="noStrike">
                          <a:effectLst/>
                        </a:rPr>
                        <a:t>合计</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extLst>
                  <a:ext uri="{0D108BD9-81ED-4DB2-BD59-A6C34878D82A}">
                    <a16:rowId xmlns:a16="http://schemas.microsoft.com/office/drawing/2014/main" val="3891911357"/>
                  </a:ext>
                </a:extLst>
              </a:tr>
              <a:tr h="385004">
                <a:tc rowSpan="3" gridSpan="2">
                  <a:txBody>
                    <a:bodyPr/>
                    <a:lstStyle/>
                    <a:p>
                      <a:pPr algn="ctr" fontAlgn="ctr"/>
                      <a:r>
                        <a:rPr lang="zh-CN" altLang="en-US" sz="600" u="none" strike="noStrike">
                          <a:effectLst/>
                        </a:rPr>
                        <a:t>固定资产盘点差异审批</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rowSpan="3" hMerge="1">
                  <a:txBody>
                    <a:bodyPr/>
                    <a:lstStyle/>
                    <a:p>
                      <a:endParaRPr lang="zh-CN" altLang="en-US"/>
                    </a:p>
                  </a:txBody>
                  <a:tcPr/>
                </a:tc>
                <a:tc gridSpan="3">
                  <a:txBody>
                    <a:bodyPr/>
                    <a:lstStyle/>
                    <a:p>
                      <a:pPr algn="ctr" fontAlgn="ctr"/>
                      <a:r>
                        <a:rPr lang="zh-CN" altLang="en-US" sz="600" u="none" strike="noStrike">
                          <a:effectLst/>
                        </a:rPr>
                        <a:t>盘盈盘亏汇总</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gridSpan="10">
                  <a:txBody>
                    <a:bodyPr/>
                    <a:lstStyle/>
                    <a:p>
                      <a:pPr algn="l" fontAlgn="ctr"/>
                      <a:r>
                        <a:rPr lang="zh-CN" altLang="en-US" sz="600" u="none" strike="noStrike">
                          <a:effectLst/>
                        </a:rPr>
                        <a:t>账面资产总数：</a:t>
                      </a:r>
                      <a:r>
                        <a:rPr lang="en-US" altLang="zh-CN" sz="600" u="none" strike="noStrike">
                          <a:effectLst/>
                        </a:rPr>
                        <a:t>______________ </a:t>
                      </a:r>
                      <a:r>
                        <a:rPr lang="zh-CN" altLang="en-US" sz="600" u="none" strike="noStrike">
                          <a:effectLst/>
                        </a:rPr>
                        <a:t>； 实盘资产总数量：</a:t>
                      </a:r>
                      <a:r>
                        <a:rPr lang="en-US" altLang="zh-CN" sz="600" u="none" strike="noStrike">
                          <a:effectLst/>
                        </a:rPr>
                        <a:t>______________</a:t>
                      </a:r>
                      <a:r>
                        <a:rPr lang="zh-CN" altLang="en-US" sz="600" u="none" strike="noStrike">
                          <a:effectLst/>
                        </a:rPr>
                        <a:t>；盘盈合计：</a:t>
                      </a:r>
                      <a:r>
                        <a:rPr lang="en-US" altLang="zh-CN" sz="600" u="none" strike="noStrike">
                          <a:effectLst/>
                        </a:rPr>
                        <a:t>______________</a:t>
                      </a:r>
                      <a:r>
                        <a:rPr lang="zh-CN" altLang="en-US" sz="600" u="none" strike="noStrike">
                          <a:effectLst/>
                        </a:rPr>
                        <a:t>； 盘亏合计：</a:t>
                      </a:r>
                      <a:r>
                        <a:rPr lang="en-US" altLang="zh-CN" sz="600" u="none" strike="noStrike">
                          <a:effectLst/>
                        </a:rPr>
                        <a:t>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44564293"/>
                  </a:ext>
                </a:extLst>
              </a:tr>
              <a:tr h="385004">
                <a:tc gridSpan="2" vMerge="1">
                  <a:txBody>
                    <a:bodyPr/>
                    <a:lstStyle/>
                    <a:p>
                      <a:endParaRPr lang="zh-CN" altLang="en-US"/>
                    </a:p>
                  </a:txBody>
                  <a:tcPr/>
                </a:tc>
                <a:tc hMerge="1" vMerge="1">
                  <a:txBody>
                    <a:bodyPr/>
                    <a:lstStyle/>
                    <a:p>
                      <a:endParaRPr lang="zh-CN" altLang="en-US"/>
                    </a:p>
                  </a:txBody>
                  <a:tcPr/>
                </a:tc>
                <a:tc gridSpan="3">
                  <a:txBody>
                    <a:bodyPr/>
                    <a:lstStyle/>
                    <a:p>
                      <a:pPr algn="ctr" fontAlgn="ctr"/>
                      <a:r>
                        <a:rPr lang="zh-CN" altLang="en-US" sz="600" u="none" strike="noStrike">
                          <a:effectLst/>
                        </a:rPr>
                        <a:t>差异处理审批意见</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gridSpan="10">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87406260"/>
                  </a:ext>
                </a:extLst>
              </a:tr>
              <a:tr h="369289">
                <a:tc gridSpan="2" vMerge="1">
                  <a:txBody>
                    <a:bodyPr/>
                    <a:lstStyle/>
                    <a:p>
                      <a:endParaRPr lang="zh-CN" altLang="en-US"/>
                    </a:p>
                  </a:txBody>
                  <a:tcPr/>
                </a:tc>
                <a:tc hMerge="1" vMerge="1">
                  <a:txBody>
                    <a:bodyPr/>
                    <a:lstStyle/>
                    <a:p>
                      <a:endParaRPr lang="zh-CN" altLang="en-US"/>
                    </a:p>
                  </a:txBody>
                  <a:tcPr/>
                </a:tc>
                <a:tc gridSpan="5">
                  <a:txBody>
                    <a:bodyPr/>
                    <a:lstStyle/>
                    <a:p>
                      <a:pPr algn="l" fontAlgn="ctr"/>
                      <a:r>
                        <a:rPr lang="zh-CN" altLang="en-US" sz="600" u="none" strike="noStrike">
                          <a:effectLst/>
                        </a:rPr>
                        <a:t>资产管理部门负责人签字：                          日期：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600" u="none" strike="noStrike">
                          <a:effectLst/>
                        </a:rPr>
                        <a:t>财务部门复核签字：                日期：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600" u="none" strike="noStrike">
                          <a:effectLst/>
                        </a:rPr>
                        <a:t>管理层终审审批：                          日期：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79703151"/>
                  </a:ext>
                </a:extLst>
              </a:tr>
              <a:tr h="1084298">
                <a:tc gridSpan="15">
                  <a:txBody>
                    <a:bodyPr/>
                    <a:lstStyle/>
                    <a:p>
                      <a:pPr algn="l" fontAlgn="ctr"/>
                      <a:r>
                        <a:rPr lang="zh-CN" altLang="en-US" sz="600" u="none" strike="noStrike" dirty="0">
                          <a:effectLst/>
                        </a:rPr>
                        <a:t>盘点表填写与使用核心规范</a:t>
                      </a:r>
                      <a:br>
                        <a:rPr lang="zh-CN" altLang="en-US" sz="600" u="none" strike="noStrike" dirty="0">
                          <a:effectLst/>
                        </a:rPr>
                      </a:br>
                      <a:r>
                        <a:rPr lang="zh-CN" altLang="en-US" sz="600" u="none" strike="noStrike" dirty="0">
                          <a:effectLst/>
                        </a:rPr>
                        <a:t>盘点基准日要求：必须与财务结账日保持一致，确保盘点数据与总账、台账账面数据完全匹配，避免跨期数据差异。</a:t>
                      </a:r>
                      <a:br>
                        <a:rPr lang="zh-CN" altLang="en-US" sz="600" u="none" strike="noStrike" dirty="0">
                          <a:effectLst/>
                        </a:rPr>
                      </a:br>
                      <a:r>
                        <a:rPr lang="zh-CN" altLang="en-US" sz="600" u="none" strike="noStrike" dirty="0">
                          <a:effectLst/>
                        </a:rPr>
                        <a:t>实盘要求：必须采用实地盘点法，逐一清点实物，严禁以账代盘、估数填报；盘点过程需双人在场，盘点人、监盘人共同签字确认。</a:t>
                      </a:r>
                      <a:br>
                        <a:rPr lang="zh-CN" altLang="en-US" sz="600" u="none" strike="noStrike" dirty="0">
                          <a:effectLst/>
                        </a:rPr>
                      </a:br>
                      <a:r>
                        <a:rPr lang="zh-CN" altLang="en-US" sz="600" u="none" strike="noStrike" dirty="0">
                          <a:effectLst/>
                        </a:rPr>
                        <a:t>差异处理规则：盘盈盘亏必须逐一写明差异原因，区分「计量差错、自然损耗、管理不善、意外损毁、未达账项」等不同类型，按公司审批流程完成审批后，财务方可进行账务处理。</a:t>
                      </a:r>
                      <a:br>
                        <a:rPr lang="zh-CN" altLang="en-US" sz="600" u="none" strike="noStrike" dirty="0">
                          <a:effectLst/>
                        </a:rPr>
                      </a:br>
                      <a:r>
                        <a:rPr lang="zh-CN" altLang="en-US" sz="600" u="none" strike="noStrike" dirty="0">
                          <a:effectLst/>
                        </a:rPr>
                        <a:t>归档要求：盘点表需连续编号，一式三联（仓库 </a:t>
                      </a:r>
                      <a:r>
                        <a:rPr lang="en-US" altLang="zh-CN" sz="600" u="none" strike="noStrike" dirty="0">
                          <a:effectLst/>
                        </a:rPr>
                        <a:t>/ </a:t>
                      </a:r>
                      <a:r>
                        <a:rPr lang="zh-CN" altLang="en-US" sz="600" u="none" strike="noStrike" dirty="0">
                          <a:effectLst/>
                        </a:rPr>
                        <a:t>资产管理部门联、财务联、审批留存联），签字齐全后与差异审批单、账务处理凭证一同归档，保存期限不低于 </a:t>
                      </a:r>
                      <a:r>
                        <a:rPr lang="en-US" altLang="zh-CN" sz="600" u="none" strike="noStrike" dirty="0">
                          <a:effectLst/>
                        </a:rPr>
                        <a:t>3 </a:t>
                      </a:r>
                      <a:r>
                        <a:rPr lang="zh-CN" altLang="en-US" sz="600" u="none" strike="noStrike" dirty="0">
                          <a:effectLst/>
                        </a:rPr>
                        <a:t>年。</a:t>
                      </a:r>
                      <a:br>
                        <a:rPr lang="zh-CN" altLang="en-US" sz="600" u="none" strike="noStrike" dirty="0">
                          <a:effectLst/>
                        </a:rPr>
                      </a:br>
                      <a:r>
                        <a:rPr lang="en-US" altLang="zh-CN" sz="600" u="none" strike="noStrike" dirty="0">
                          <a:effectLst/>
                        </a:rPr>
                        <a:t>Excel </a:t>
                      </a:r>
                      <a:r>
                        <a:rPr lang="zh-CN" altLang="en-US" sz="600" u="none" strike="noStrike" dirty="0">
                          <a:effectLst/>
                        </a:rPr>
                        <a:t>优化技巧：复制到 </a:t>
                      </a:r>
                      <a:r>
                        <a:rPr lang="en-US" altLang="zh-CN" sz="600" u="none" strike="noStrike" dirty="0">
                          <a:effectLst/>
                        </a:rPr>
                        <a:t>Excel </a:t>
                      </a:r>
                      <a:r>
                        <a:rPr lang="zh-CN" altLang="en-US" sz="600" u="none" strike="noStrike" dirty="0">
                          <a:effectLst/>
                        </a:rPr>
                        <a:t>后，可对「数量、金额」列设置数值格式，对表头行设置冻结窗格，按资产 </a:t>
                      </a:r>
                      <a:r>
                        <a:rPr lang="en-US" altLang="zh-CN" sz="600" u="none" strike="noStrike" dirty="0">
                          <a:effectLst/>
                        </a:rPr>
                        <a:t>/ </a:t>
                      </a:r>
                      <a:r>
                        <a:rPr lang="zh-CN" altLang="en-US" sz="600" u="none" strike="noStrike" dirty="0">
                          <a:effectLst/>
                        </a:rPr>
                        <a:t>物料类别拆分 </a:t>
                      </a:r>
                      <a:r>
                        <a:rPr lang="en-US" altLang="zh-CN" sz="600" u="none" strike="noStrike" dirty="0">
                          <a:effectLst/>
                        </a:rPr>
                        <a:t>sheet </a:t>
                      </a:r>
                      <a:r>
                        <a:rPr lang="zh-CN" altLang="en-US" sz="600" u="none" strike="noStrike" dirty="0">
                          <a:effectLst/>
                        </a:rPr>
                        <a:t>页，提升盘点效率。</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851" marR="4851" marT="485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48132557"/>
                  </a:ext>
                </a:extLst>
              </a:tr>
            </a:tbl>
          </a:graphicData>
        </a:graphic>
      </p:graphicFrame>
      <p:graphicFrame>
        <p:nvGraphicFramePr>
          <p:cNvPr id="6" name="表格 5">
            <a:extLst>
              <a:ext uri="{FF2B5EF4-FFF2-40B4-BE49-F238E27FC236}">
                <a16:creationId xmlns:a16="http://schemas.microsoft.com/office/drawing/2014/main" id="{F0373DAE-9F18-4A9E-A9FB-760548818917}"/>
              </a:ext>
            </a:extLst>
          </p:cNvPr>
          <p:cNvGraphicFramePr>
            <a:graphicFrameLocks noGrp="1"/>
          </p:cNvGraphicFramePr>
          <p:nvPr>
            <p:extLst>
              <p:ext uri="{D42A27DB-BD31-4B8C-83A1-F6EECF244321}">
                <p14:modId xmlns:p14="http://schemas.microsoft.com/office/powerpoint/2010/main" val="1782996135"/>
              </p:ext>
            </p:extLst>
          </p:nvPr>
        </p:nvGraphicFramePr>
        <p:xfrm>
          <a:off x="6720404" y="548680"/>
          <a:ext cx="5352260" cy="5688627"/>
        </p:xfrm>
        <a:graphic>
          <a:graphicData uri="http://schemas.openxmlformats.org/drawingml/2006/table">
            <a:tbl>
              <a:tblPr>
                <a:tableStyleId>{5C22544A-7EE6-4342-B048-85BDC9FD1C3A}</a:tableStyleId>
              </a:tblPr>
              <a:tblGrid>
                <a:gridCol w="178529">
                  <a:extLst>
                    <a:ext uri="{9D8B030D-6E8A-4147-A177-3AD203B41FA5}">
                      <a16:colId xmlns:a16="http://schemas.microsoft.com/office/drawing/2014/main" val="1834346681"/>
                    </a:ext>
                  </a:extLst>
                </a:gridCol>
                <a:gridCol w="332934">
                  <a:extLst>
                    <a:ext uri="{9D8B030D-6E8A-4147-A177-3AD203B41FA5}">
                      <a16:colId xmlns:a16="http://schemas.microsoft.com/office/drawing/2014/main" val="1785885"/>
                    </a:ext>
                  </a:extLst>
                </a:gridCol>
                <a:gridCol w="323283">
                  <a:extLst>
                    <a:ext uri="{9D8B030D-6E8A-4147-A177-3AD203B41FA5}">
                      <a16:colId xmlns:a16="http://schemas.microsoft.com/office/drawing/2014/main" val="1143709004"/>
                    </a:ext>
                  </a:extLst>
                </a:gridCol>
                <a:gridCol w="342583">
                  <a:extLst>
                    <a:ext uri="{9D8B030D-6E8A-4147-A177-3AD203B41FA5}">
                      <a16:colId xmlns:a16="http://schemas.microsoft.com/office/drawing/2014/main" val="1757273695"/>
                    </a:ext>
                  </a:extLst>
                </a:gridCol>
                <a:gridCol w="342583">
                  <a:extLst>
                    <a:ext uri="{9D8B030D-6E8A-4147-A177-3AD203B41FA5}">
                      <a16:colId xmlns:a16="http://schemas.microsoft.com/office/drawing/2014/main" val="1598822395"/>
                    </a:ext>
                  </a:extLst>
                </a:gridCol>
                <a:gridCol w="342583">
                  <a:extLst>
                    <a:ext uri="{9D8B030D-6E8A-4147-A177-3AD203B41FA5}">
                      <a16:colId xmlns:a16="http://schemas.microsoft.com/office/drawing/2014/main" val="84166214"/>
                    </a:ext>
                  </a:extLst>
                </a:gridCol>
                <a:gridCol w="371534">
                  <a:extLst>
                    <a:ext uri="{9D8B030D-6E8A-4147-A177-3AD203B41FA5}">
                      <a16:colId xmlns:a16="http://schemas.microsoft.com/office/drawing/2014/main" val="3969548255"/>
                    </a:ext>
                  </a:extLst>
                </a:gridCol>
                <a:gridCol w="342583">
                  <a:extLst>
                    <a:ext uri="{9D8B030D-6E8A-4147-A177-3AD203B41FA5}">
                      <a16:colId xmlns:a16="http://schemas.microsoft.com/office/drawing/2014/main" val="2095167767"/>
                    </a:ext>
                  </a:extLst>
                </a:gridCol>
                <a:gridCol w="372740">
                  <a:extLst>
                    <a:ext uri="{9D8B030D-6E8A-4147-A177-3AD203B41FA5}">
                      <a16:colId xmlns:a16="http://schemas.microsoft.com/office/drawing/2014/main" val="979391247"/>
                    </a:ext>
                  </a:extLst>
                </a:gridCol>
                <a:gridCol w="294332">
                  <a:extLst>
                    <a:ext uri="{9D8B030D-6E8A-4147-A177-3AD203B41FA5}">
                      <a16:colId xmlns:a16="http://schemas.microsoft.com/office/drawing/2014/main" val="3518621802"/>
                    </a:ext>
                  </a:extLst>
                </a:gridCol>
                <a:gridCol w="342583">
                  <a:extLst>
                    <a:ext uri="{9D8B030D-6E8A-4147-A177-3AD203B41FA5}">
                      <a16:colId xmlns:a16="http://schemas.microsoft.com/office/drawing/2014/main" val="999144765"/>
                    </a:ext>
                  </a:extLst>
                </a:gridCol>
                <a:gridCol w="342583">
                  <a:extLst>
                    <a:ext uri="{9D8B030D-6E8A-4147-A177-3AD203B41FA5}">
                      <a16:colId xmlns:a16="http://schemas.microsoft.com/office/drawing/2014/main" val="419567309"/>
                    </a:ext>
                  </a:extLst>
                </a:gridCol>
                <a:gridCol w="357059">
                  <a:extLst>
                    <a:ext uri="{9D8B030D-6E8A-4147-A177-3AD203B41FA5}">
                      <a16:colId xmlns:a16="http://schemas.microsoft.com/office/drawing/2014/main" val="1868143186"/>
                    </a:ext>
                  </a:extLst>
                </a:gridCol>
                <a:gridCol w="381185">
                  <a:extLst>
                    <a:ext uri="{9D8B030D-6E8A-4147-A177-3AD203B41FA5}">
                      <a16:colId xmlns:a16="http://schemas.microsoft.com/office/drawing/2014/main" val="3630788664"/>
                    </a:ext>
                  </a:extLst>
                </a:gridCol>
                <a:gridCol w="342583">
                  <a:extLst>
                    <a:ext uri="{9D8B030D-6E8A-4147-A177-3AD203B41FA5}">
                      <a16:colId xmlns:a16="http://schemas.microsoft.com/office/drawing/2014/main" val="985943690"/>
                    </a:ext>
                  </a:extLst>
                </a:gridCol>
                <a:gridCol w="342583">
                  <a:extLst>
                    <a:ext uri="{9D8B030D-6E8A-4147-A177-3AD203B41FA5}">
                      <a16:colId xmlns:a16="http://schemas.microsoft.com/office/drawing/2014/main" val="2105657395"/>
                    </a:ext>
                  </a:extLst>
                </a:gridCol>
              </a:tblGrid>
              <a:tr h="332666">
                <a:tc gridSpan="15">
                  <a:txBody>
                    <a:bodyPr/>
                    <a:lstStyle/>
                    <a:p>
                      <a:pPr algn="ctr" fontAlgn="ctr"/>
                      <a:r>
                        <a:rPr lang="zh-CN" altLang="en-US" sz="700" u="none" strike="noStrike">
                          <a:effectLst/>
                        </a:rPr>
                        <a:t>存货盘点表（原材料 </a:t>
                      </a:r>
                      <a:r>
                        <a:rPr lang="en-US" altLang="zh-CN" sz="700" u="none" strike="noStrike">
                          <a:effectLst/>
                        </a:rPr>
                        <a:t>/ </a:t>
                      </a:r>
                      <a:r>
                        <a:rPr lang="zh-CN" altLang="en-US" sz="700" u="none" strike="noStrike">
                          <a:effectLst/>
                        </a:rPr>
                        <a:t>库存商品 </a:t>
                      </a:r>
                      <a:r>
                        <a:rPr lang="en-US" altLang="zh-CN" sz="700" u="none" strike="noStrike">
                          <a:effectLst/>
                        </a:rPr>
                        <a:t>/ </a:t>
                      </a:r>
                      <a:r>
                        <a:rPr lang="zh-CN" altLang="en-US" sz="700" u="none" strike="noStrike">
                          <a:effectLst/>
                        </a:rPr>
                        <a:t>低值易耗品通用）</a:t>
                      </a:r>
                      <a:endParaRPr lang="zh-CN" altLang="en-US" sz="700" b="1"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3669179351"/>
                  </a:ext>
                </a:extLst>
              </a:tr>
              <a:tr h="332666">
                <a:tc gridSpan="3">
                  <a:txBody>
                    <a:bodyPr/>
                    <a:lstStyle/>
                    <a:p>
                      <a:pPr algn="l" fontAlgn="ctr"/>
                      <a:r>
                        <a:rPr lang="zh-CN" altLang="en-US" sz="600" u="none" strike="noStrike">
                          <a:effectLst/>
                        </a:rPr>
                        <a:t>盘点仓库</a:t>
                      </a:r>
                      <a:r>
                        <a:rPr lang="zh-CN" altLang="en-US" sz="500" u="none" strike="noStrike">
                          <a:effectLst/>
                        </a:rPr>
                        <a:t>： </a:t>
                      </a:r>
                      <a:r>
                        <a:rPr lang="en-US" altLang="zh-CN" sz="600" u="none" strike="noStrike">
                          <a:effectLst/>
                        </a:rPr>
                        <a:t>_____________</a:t>
                      </a:r>
                      <a:endParaRPr lang="en-US" altLang="zh-CN" sz="600" b="0" i="0" u="none" strike="noStrike">
                        <a:solidFill>
                          <a:srgbClr val="000000"/>
                        </a:solidFill>
                        <a:effectLst/>
                        <a:latin typeface="Arial" panose="020B0604020202020204" pitchFamily="34" charset="0"/>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600" u="none" strike="noStrike">
                          <a:effectLst/>
                        </a:rPr>
                        <a:t>物料大类：□原材料 □库存商品 □低值易耗品 □其他</a:t>
                      </a:r>
                      <a:endParaRPr lang="zh-CN" altLang="en-US" sz="600" b="0" i="0" u="none" strike="noStrike">
                        <a:solidFill>
                          <a:srgbClr val="000000"/>
                        </a:solidFill>
                        <a:effectLst/>
                        <a:latin typeface="Arial" panose="020B0604020202020204" pitchFamily="34" charset="0"/>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盘点基准日：</a:t>
                      </a:r>
                      <a:r>
                        <a:rPr lang="en-US" altLang="zh-CN" sz="600" u="none" strike="noStrike">
                          <a:effectLst/>
                        </a:rPr>
                        <a:t>__</a:t>
                      </a:r>
                      <a:r>
                        <a:rPr lang="zh-CN" altLang="en-US" sz="600" u="none" strike="noStrike">
                          <a:effectLst/>
                        </a:rPr>
                        <a:t>年</a:t>
                      </a:r>
                      <a:r>
                        <a:rPr lang="en-US" altLang="zh-CN" sz="600" u="none" strike="noStrike">
                          <a:effectLst/>
                        </a:rPr>
                        <a:t>__</a:t>
                      </a:r>
                      <a:r>
                        <a:rPr lang="zh-CN" altLang="en-US" sz="600" u="none" strike="noStrike">
                          <a:effectLst/>
                        </a:rPr>
                        <a:t>月</a:t>
                      </a:r>
                      <a:r>
                        <a:rPr lang="en-US" altLang="zh-CN" sz="600" u="none" strike="noStrike">
                          <a:effectLst/>
                        </a:rPr>
                        <a:t>__</a:t>
                      </a:r>
                      <a:r>
                        <a:rPr lang="zh-CN" altLang="en-US" sz="600" u="none" strike="noStrike">
                          <a:effectLst/>
                        </a:rPr>
                        <a:t>日</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600" u="none" strike="noStrike">
                          <a:effectLst/>
                        </a:rPr>
                        <a:t>盘点人：</a:t>
                      </a:r>
                      <a:r>
                        <a:rPr lang="en-US" altLang="zh-CN" sz="600" u="none" strike="noStrike">
                          <a:effectLst/>
                        </a:rPr>
                        <a:t>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gridSpan="2">
                  <a:txBody>
                    <a:bodyPr/>
                    <a:lstStyle/>
                    <a:p>
                      <a:pPr algn="l" fontAlgn="ctr"/>
                      <a:r>
                        <a:rPr lang="zh-CN" altLang="en-US" sz="600" u="none" strike="noStrike">
                          <a:effectLst/>
                        </a:rPr>
                        <a:t>监盘人：</a:t>
                      </a:r>
                      <a:r>
                        <a:rPr lang="en-US" altLang="zh-CN" sz="600" u="none" strike="noStrike">
                          <a:effectLst/>
                        </a:rPr>
                        <a:t>________________</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3705211140"/>
                  </a:ext>
                </a:extLst>
              </a:tr>
              <a:tr h="276867">
                <a:tc>
                  <a:txBody>
                    <a:bodyPr/>
                    <a:lstStyle/>
                    <a:p>
                      <a:pPr algn="ctr" fontAlgn="ctr"/>
                      <a:r>
                        <a:rPr lang="zh-CN" altLang="en-US" sz="600" u="none" strike="noStrike">
                          <a:effectLst/>
                        </a:rPr>
                        <a:t>序号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物料 </a:t>
                      </a:r>
                      <a:r>
                        <a:rPr lang="en-US" altLang="zh-CN" sz="600" u="none" strike="noStrike">
                          <a:effectLst/>
                        </a:rPr>
                        <a:t>/ </a:t>
                      </a:r>
                      <a:r>
                        <a:rPr lang="zh-CN" altLang="en-US" sz="600" u="none" strike="noStrike">
                          <a:effectLst/>
                        </a:rPr>
                        <a:t>商品编码</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物料 </a:t>
                      </a:r>
                      <a:r>
                        <a:rPr lang="en-US" altLang="zh-CN" sz="600" u="none" strike="noStrike">
                          <a:effectLst/>
                        </a:rPr>
                        <a:t>/ </a:t>
                      </a:r>
                      <a:r>
                        <a:rPr lang="zh-CN" altLang="en-US" sz="600" u="none" strike="noStrike">
                          <a:effectLst/>
                        </a:rPr>
                        <a:t>商品名称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规格型号</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计量单位</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存放货位</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账面结存数量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实盘数量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盘盈数量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盘亏数量</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单位成本</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盘盈总金额</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盘亏总金额</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差异原因说明</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拟处理意见</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备注</a:t>
                      </a:r>
                      <a:r>
                        <a:rPr lang="en-US" altLang="zh-CN" sz="600" u="none" strike="noStrike">
                          <a:effectLst/>
                        </a:rPr>
                        <a:t>/</a:t>
                      </a:r>
                      <a:r>
                        <a:rPr lang="zh-CN" altLang="en-US" sz="600" u="none" strike="noStrike">
                          <a:effectLst/>
                        </a:rPr>
                        <a:t>管理员</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1670280080"/>
                  </a:ext>
                </a:extLst>
              </a:tr>
              <a:tr h="332666">
                <a:tc>
                  <a:txBody>
                    <a:bodyPr/>
                    <a:lstStyle/>
                    <a:p>
                      <a:pPr algn="ctr" fontAlgn="ctr"/>
                      <a:r>
                        <a:rPr lang="en-US" altLang="zh-CN" sz="600" u="none" strike="noStrike">
                          <a:effectLst/>
                        </a:rPr>
                        <a:t>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2307495224"/>
                  </a:ext>
                </a:extLst>
              </a:tr>
              <a:tr h="332666">
                <a:tc>
                  <a:txBody>
                    <a:bodyPr/>
                    <a:lstStyle/>
                    <a:p>
                      <a:pPr algn="ctr" fontAlgn="ctr"/>
                      <a:r>
                        <a:rPr lang="en-US" altLang="zh-CN" sz="600" u="none" strike="noStrike">
                          <a:effectLst/>
                        </a:rPr>
                        <a:t>2</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1489244349"/>
                  </a:ext>
                </a:extLst>
              </a:tr>
              <a:tr h="332666">
                <a:tc>
                  <a:txBody>
                    <a:bodyPr/>
                    <a:lstStyle/>
                    <a:p>
                      <a:pPr algn="ctr" fontAlgn="ctr"/>
                      <a:r>
                        <a:rPr lang="en-US" altLang="zh-CN" sz="600" u="none" strike="noStrike">
                          <a:effectLst/>
                        </a:rPr>
                        <a:t>3</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1736463124"/>
                  </a:ext>
                </a:extLst>
              </a:tr>
              <a:tr h="332666">
                <a:tc>
                  <a:txBody>
                    <a:bodyPr/>
                    <a:lstStyle/>
                    <a:p>
                      <a:pPr algn="ctr" fontAlgn="ctr"/>
                      <a:r>
                        <a:rPr lang="en-US" altLang="zh-CN" sz="600" u="none" strike="noStrike">
                          <a:effectLst/>
                        </a:rPr>
                        <a:t>4</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1065091972"/>
                  </a:ext>
                </a:extLst>
              </a:tr>
              <a:tr h="332666">
                <a:tc>
                  <a:txBody>
                    <a:bodyPr/>
                    <a:lstStyle/>
                    <a:p>
                      <a:pPr algn="ctr" fontAlgn="ctr"/>
                      <a:r>
                        <a:rPr lang="en-US" altLang="zh-CN" sz="600" u="none" strike="noStrike">
                          <a:effectLst/>
                        </a:rPr>
                        <a:t>5</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2863505333"/>
                  </a:ext>
                </a:extLst>
              </a:tr>
              <a:tr h="332666">
                <a:tc>
                  <a:txBody>
                    <a:bodyPr/>
                    <a:lstStyle/>
                    <a:p>
                      <a:pPr algn="ctr" fontAlgn="ctr"/>
                      <a:r>
                        <a:rPr lang="zh-CN" altLang="en-US" sz="600" u="none" strike="noStrike">
                          <a:effectLst/>
                        </a:rPr>
                        <a:t>合计</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dirty="0">
                          <a:effectLst/>
                        </a:rPr>
                        <a:t>　</a:t>
                      </a: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en-US" altLang="zh-CN" sz="600" u="none" strike="noStrike">
                          <a:effectLst/>
                        </a:rPr>
                        <a:t>—</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3595772865"/>
                  </a:ext>
                </a:extLst>
              </a:tr>
              <a:tr h="332666">
                <a:tc rowSpan="4" gridSpan="2">
                  <a:txBody>
                    <a:bodyPr/>
                    <a:lstStyle/>
                    <a:p>
                      <a:pPr algn="ctr" fontAlgn="ctr"/>
                      <a:r>
                        <a:rPr lang="zh-CN" altLang="en-US" sz="600" u="none" strike="noStrike">
                          <a:effectLst/>
                        </a:rPr>
                        <a:t>存货盘点差异审批</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rowSpan="4" hMerge="1">
                  <a:txBody>
                    <a:bodyPr/>
                    <a:lstStyle/>
                    <a:p>
                      <a:endParaRPr lang="zh-CN" altLang="en-US"/>
                    </a:p>
                  </a:txBody>
                  <a:tcPr/>
                </a:tc>
                <a:tc gridSpan="3">
                  <a:txBody>
                    <a:bodyPr/>
                    <a:lstStyle/>
                    <a:p>
                      <a:pPr algn="ctr" fontAlgn="ctr"/>
                      <a:r>
                        <a:rPr lang="zh-CN" altLang="en-US" sz="500" u="none" strike="noStrike">
                          <a:effectLst/>
                        </a:rPr>
                        <a:t>盘盈盘亏汇总</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11">
                  <a:txBody>
                    <a:bodyPr/>
                    <a:lstStyle/>
                    <a:p>
                      <a:pPr algn="l" fontAlgn="ctr"/>
                      <a:r>
                        <a:rPr lang="zh-CN" altLang="en-US" sz="500" u="none" strike="noStrike">
                          <a:effectLst/>
                        </a:rPr>
                        <a:t>账面结存总金额：</a:t>
                      </a:r>
                      <a:r>
                        <a:rPr lang="en-US" altLang="zh-CN" sz="500" u="none" strike="noStrike">
                          <a:effectLst/>
                        </a:rPr>
                        <a:t>______________ </a:t>
                      </a:r>
                      <a:r>
                        <a:rPr lang="zh-CN" altLang="en-US" sz="500" u="none" strike="noStrike">
                          <a:effectLst/>
                        </a:rPr>
                        <a:t>； 实盘总金额：</a:t>
                      </a:r>
                      <a:r>
                        <a:rPr lang="en-US" altLang="zh-CN" sz="500" u="none" strike="noStrike">
                          <a:effectLst/>
                        </a:rPr>
                        <a:t>______________</a:t>
                      </a:r>
                      <a:r>
                        <a:rPr lang="zh-CN" altLang="en-US" sz="500" u="none" strike="noStrike">
                          <a:effectLst/>
                        </a:rPr>
                        <a:t>；盘盈总金额：</a:t>
                      </a:r>
                      <a:r>
                        <a:rPr lang="en-US" altLang="zh-CN" sz="500" u="none" strike="noStrike">
                          <a:effectLst/>
                        </a:rPr>
                        <a:t>______________</a:t>
                      </a:r>
                      <a:r>
                        <a:rPr lang="zh-CN" altLang="en-US" sz="500" u="none" strike="noStrike">
                          <a:effectLst/>
                        </a:rPr>
                        <a:t>； 盘亏总金额：</a:t>
                      </a:r>
                      <a:r>
                        <a:rPr lang="en-US" altLang="zh-CN" sz="500" u="none" strike="noStrike">
                          <a:effectLst/>
                        </a:rPr>
                        <a:t>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61564628"/>
                  </a:ext>
                </a:extLst>
              </a:tr>
              <a:tr h="332666">
                <a:tc gridSpan="2" vMerge="1">
                  <a:txBody>
                    <a:bodyPr/>
                    <a:lstStyle/>
                    <a:p>
                      <a:endParaRPr lang="zh-CN" altLang="en-US"/>
                    </a:p>
                  </a:txBody>
                  <a:tcPr/>
                </a:tc>
                <a:tc hMerge="1" vMerge="1">
                  <a:txBody>
                    <a:bodyPr/>
                    <a:lstStyle/>
                    <a:p>
                      <a:endParaRPr lang="zh-CN" altLang="en-US"/>
                    </a:p>
                  </a:txBody>
                  <a:tcPr/>
                </a:tc>
                <a:tc gridSpan="3">
                  <a:txBody>
                    <a:bodyPr/>
                    <a:lstStyle/>
                    <a:p>
                      <a:pPr algn="ctr" fontAlgn="ctr"/>
                      <a:r>
                        <a:rPr lang="zh-CN" altLang="en-US" sz="500" u="none" strike="noStrike">
                          <a:effectLst/>
                        </a:rPr>
                        <a:t>差异处理审批意见</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11">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39337412"/>
                  </a:ext>
                </a:extLst>
              </a:tr>
              <a:tr h="332666">
                <a:tc gridSpan="2" vMerge="1">
                  <a:txBody>
                    <a:bodyPr/>
                    <a:lstStyle/>
                    <a:p>
                      <a:endParaRPr lang="zh-CN" altLang="en-US"/>
                    </a:p>
                  </a:txBody>
                  <a:tcPr/>
                </a:tc>
                <a:tc hMerge="1" vMerge="1">
                  <a:txBody>
                    <a:bodyPr/>
                    <a:lstStyle/>
                    <a:p>
                      <a:endParaRPr lang="zh-CN" altLang="en-US"/>
                    </a:p>
                  </a:txBody>
                  <a:tcPr/>
                </a:tc>
                <a:tc gridSpan="3">
                  <a:txBody>
                    <a:bodyPr/>
                    <a:lstStyle/>
                    <a:p>
                      <a:pPr algn="l" fontAlgn="ctr"/>
                      <a:r>
                        <a:rPr lang="zh-CN" altLang="en-US" sz="500" u="none" strike="noStrike">
                          <a:effectLst/>
                        </a:rPr>
                        <a:t>仓库负责人签字：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采购 </a:t>
                      </a:r>
                      <a:r>
                        <a:rPr lang="en-US" altLang="zh-CN" sz="500" u="none" strike="noStrike">
                          <a:effectLst/>
                        </a:rPr>
                        <a:t>/ </a:t>
                      </a:r>
                      <a:r>
                        <a:rPr lang="zh-CN" altLang="en-US" sz="500" u="none" strike="noStrike">
                          <a:effectLst/>
                        </a:rPr>
                        <a:t>销售部门复核签字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财务部门成本核对签字：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管理层终审审批：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97565236"/>
                  </a:ext>
                </a:extLst>
              </a:tr>
              <a:tr h="332666">
                <a:tc gridSpan="2" vMerge="1">
                  <a:txBody>
                    <a:bodyPr/>
                    <a:lstStyle/>
                    <a:p>
                      <a:endParaRPr lang="zh-CN" altLang="en-US"/>
                    </a:p>
                  </a:txBody>
                  <a:tcPr/>
                </a:tc>
                <a:tc hMerge="1" vMerge="1">
                  <a:txBody>
                    <a:bodyPr/>
                    <a:lstStyle/>
                    <a:p>
                      <a:endParaRPr lang="zh-CN" altLang="en-US"/>
                    </a:p>
                  </a:txBody>
                  <a:tcPr/>
                </a:tc>
                <a:tc gridSpan="3">
                  <a:txBody>
                    <a:bodyPr/>
                    <a:lstStyle/>
                    <a:p>
                      <a:pPr algn="l" fontAlgn="ctr"/>
                      <a:r>
                        <a:rPr lang="zh-CN" altLang="en-US" sz="600" u="none" strike="noStrike">
                          <a:effectLst/>
                        </a:rPr>
                        <a:t>日期：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47261156"/>
                  </a:ext>
                </a:extLst>
              </a:tr>
              <a:tr h="1087102">
                <a:tc gridSpan="16">
                  <a:txBody>
                    <a:bodyPr/>
                    <a:lstStyle/>
                    <a:p>
                      <a:pPr algn="l" fontAlgn="ctr"/>
                      <a:r>
                        <a:rPr lang="zh-CN" altLang="en-US" sz="600" u="none" strike="noStrike">
                          <a:effectLst/>
                        </a:rPr>
                        <a:t>盘点表填写与使用核心规范</a:t>
                      </a:r>
                      <a:br>
                        <a:rPr lang="zh-CN" altLang="en-US" sz="600" u="none" strike="noStrike">
                          <a:effectLst/>
                        </a:rPr>
                      </a:br>
                      <a:r>
                        <a:rPr lang="zh-CN" altLang="en-US" sz="600" u="none" strike="noStrike">
                          <a:effectLst/>
                        </a:rPr>
                        <a:t>盘点基准日要求：必须与财务结账日保持一致，确保盘点数据与总账、台账账面数据完全匹配，避免跨期数据差异。</a:t>
                      </a:r>
                      <a:br>
                        <a:rPr lang="zh-CN" altLang="en-US" sz="600" u="none" strike="noStrike">
                          <a:effectLst/>
                        </a:rPr>
                      </a:br>
                      <a:r>
                        <a:rPr lang="zh-CN" altLang="en-US" sz="600" u="none" strike="noStrike">
                          <a:effectLst/>
                        </a:rPr>
                        <a:t>实盘要求：必须采用实地盘点法，逐一清点实物，严禁以账代盘、估数填报；盘点过程需双人在场，盘点人、监盘人共同签字确认。</a:t>
                      </a:r>
                      <a:br>
                        <a:rPr lang="zh-CN" altLang="en-US" sz="600" u="none" strike="noStrike">
                          <a:effectLst/>
                        </a:rPr>
                      </a:br>
                      <a:r>
                        <a:rPr lang="zh-CN" altLang="en-US" sz="600" u="none" strike="noStrike">
                          <a:effectLst/>
                        </a:rPr>
                        <a:t>差异处理规则：盘盈盘亏必须逐一写明差异原因，区分「计量差错、自然损耗、管理不善、意外损毁、未达账项」等不同类型，按公司审批流程完成审批后，财务方可进行账务处理。</a:t>
                      </a:r>
                      <a:br>
                        <a:rPr lang="zh-CN" altLang="en-US" sz="600" u="none" strike="noStrike">
                          <a:effectLst/>
                        </a:rPr>
                      </a:br>
                      <a:r>
                        <a:rPr lang="zh-CN" altLang="en-US" sz="600" u="none" strike="noStrike">
                          <a:effectLst/>
                        </a:rPr>
                        <a:t>归档要求：盘点表需连续编号，一式三联（仓库 </a:t>
                      </a:r>
                      <a:r>
                        <a:rPr lang="en-US" altLang="zh-CN" sz="600" u="none" strike="noStrike">
                          <a:effectLst/>
                        </a:rPr>
                        <a:t>/ </a:t>
                      </a:r>
                      <a:r>
                        <a:rPr lang="zh-CN" altLang="en-US" sz="600" u="none" strike="noStrike">
                          <a:effectLst/>
                        </a:rPr>
                        <a:t>资产管理部门联、财务联、审批留存联），签字齐全后与差异审批单、账务处理凭证一同归档，保存期限不低于 </a:t>
                      </a:r>
                      <a:r>
                        <a:rPr lang="en-US" altLang="zh-CN" sz="600" u="none" strike="noStrike">
                          <a:effectLst/>
                        </a:rPr>
                        <a:t>3 </a:t>
                      </a:r>
                      <a:r>
                        <a:rPr lang="zh-CN" altLang="en-US" sz="600" u="none" strike="noStrike">
                          <a:effectLst/>
                        </a:rPr>
                        <a:t>年。</a:t>
                      </a:r>
                      <a:br>
                        <a:rPr lang="zh-CN" altLang="en-US" sz="600" u="none" strike="noStrike">
                          <a:effectLst/>
                        </a:rPr>
                      </a:br>
                      <a:r>
                        <a:rPr lang="en-US" altLang="zh-CN" sz="600" u="none" strike="noStrike">
                          <a:effectLst/>
                        </a:rPr>
                        <a:t>Excel </a:t>
                      </a:r>
                      <a:r>
                        <a:rPr lang="zh-CN" altLang="en-US" sz="600" u="none" strike="noStrike">
                          <a:effectLst/>
                        </a:rPr>
                        <a:t>优化技巧：复制到 </a:t>
                      </a:r>
                      <a:r>
                        <a:rPr lang="en-US" altLang="zh-CN" sz="600" u="none" strike="noStrike">
                          <a:effectLst/>
                        </a:rPr>
                        <a:t>Excel </a:t>
                      </a:r>
                      <a:r>
                        <a:rPr lang="zh-CN" altLang="en-US" sz="600" u="none" strike="noStrike">
                          <a:effectLst/>
                        </a:rPr>
                        <a:t>后，可对「数量、金额」列设置数值格式，对表头行设置冻结窗格，按资产 </a:t>
                      </a:r>
                      <a:r>
                        <a:rPr lang="en-US" altLang="zh-CN" sz="600" u="none" strike="noStrike">
                          <a:effectLst/>
                        </a:rPr>
                        <a:t>/ </a:t>
                      </a:r>
                      <a:r>
                        <a:rPr lang="zh-CN" altLang="en-US" sz="600" u="none" strike="noStrike">
                          <a:effectLst/>
                        </a:rPr>
                        <a:t>物料类别拆分 </a:t>
                      </a:r>
                      <a:r>
                        <a:rPr lang="en-US" altLang="zh-CN" sz="600" u="none" strike="noStrike">
                          <a:effectLst/>
                        </a:rPr>
                        <a:t>sheet </a:t>
                      </a:r>
                      <a:r>
                        <a:rPr lang="zh-CN" altLang="en-US" sz="600" u="none" strike="noStrike">
                          <a:effectLst/>
                        </a:rPr>
                        <a:t>页，提升盘点效率。</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08201998"/>
                  </a:ext>
                </a:extLst>
              </a:tr>
              <a:tr h="332666">
                <a:tc>
                  <a:txBody>
                    <a:bodyPr/>
                    <a:lstStyle/>
                    <a:p>
                      <a:pPr algn="ctr" fontAlgn="ct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l" fontAlgn="ct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597" marR="4597" marT="4597" marB="0" anchor="ctr"/>
                </a:tc>
                <a:tc>
                  <a:txBody>
                    <a:bodyPr/>
                    <a:lstStyle/>
                    <a:p>
                      <a:pPr algn="ctr" fontAlgn="ctr"/>
                      <a:endParaRPr lang="zh-CN" altLang="en-US" sz="600" b="0" i="0" u="none" strike="noStrike" dirty="0">
                        <a:solidFill>
                          <a:srgbClr val="000000"/>
                        </a:solidFill>
                        <a:effectLst/>
                        <a:latin typeface="等线" panose="02010600030101010101" pitchFamily="2" charset="-122"/>
                        <a:ea typeface="等线" panose="02010600030101010101" pitchFamily="2" charset="-122"/>
                      </a:endParaRPr>
                    </a:p>
                  </a:txBody>
                  <a:tcPr marL="4597" marR="4597" marT="4597" marB="0" anchor="ctr"/>
                </a:tc>
                <a:extLst>
                  <a:ext uri="{0D108BD9-81ED-4DB2-BD59-A6C34878D82A}">
                    <a16:rowId xmlns:a16="http://schemas.microsoft.com/office/drawing/2014/main" val="1688148467"/>
                  </a:ext>
                </a:extLst>
              </a:tr>
            </a:tbl>
          </a:graphicData>
        </a:graphic>
      </p:graphicFrame>
      <p:sp>
        <p:nvSpPr>
          <p:cNvPr id="7" name="文本框 6">
            <a:extLst>
              <a:ext uri="{FF2B5EF4-FFF2-40B4-BE49-F238E27FC236}">
                <a16:creationId xmlns:a16="http://schemas.microsoft.com/office/drawing/2014/main" id="{C94677B3-1080-4F28-93BC-3F409733FDBF}"/>
              </a:ext>
            </a:extLst>
          </p:cNvPr>
          <p:cNvSpPr txBox="1"/>
          <p:nvPr/>
        </p:nvSpPr>
        <p:spPr>
          <a:xfrm>
            <a:off x="7848362" y="85198"/>
            <a:ext cx="3096344" cy="461665"/>
          </a:xfrm>
          <a:prstGeom prst="rect">
            <a:avLst/>
          </a:prstGeom>
          <a:solidFill>
            <a:srgbClr val="FFFF00"/>
          </a:solidFill>
        </p:spPr>
        <p:txBody>
          <a:bodyPr wrap="square" rtlCol="0">
            <a:spAutoFit/>
          </a:bodyPr>
          <a:lstStyle/>
          <a:p>
            <a:r>
              <a:rPr lang="zh-CN" altLang="en-US" sz="2400" b="1" dirty="0">
                <a:solidFill>
                  <a:srgbClr val="FF0000"/>
                </a:solidFill>
              </a:rPr>
              <a:t>存货盘点表</a:t>
            </a:r>
            <a:r>
              <a:rPr lang="en-US" altLang="zh-CN" sz="2400" b="1" dirty="0">
                <a:solidFill>
                  <a:srgbClr val="FF0000"/>
                </a:solidFill>
              </a:rPr>
              <a:t>2-8-2</a:t>
            </a:r>
            <a:endParaRPr lang="zh-CN" altLang="en-US" sz="2400" b="1" dirty="0">
              <a:solidFill>
                <a:srgbClr val="FF0000"/>
              </a:solidFill>
            </a:endParaRPr>
          </a:p>
        </p:txBody>
      </p:sp>
    </p:spTree>
    <p:extLst>
      <p:ext uri="{BB962C8B-B14F-4D97-AF65-F5344CB8AC3E}">
        <p14:creationId xmlns:p14="http://schemas.microsoft.com/office/powerpoint/2010/main" val="3670843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CD49079F-C3CC-4EED-B7FA-9A4F3D4A0418}"/>
              </a:ext>
            </a:extLst>
          </p:cNvPr>
          <p:cNvGraphicFramePr>
            <a:graphicFrameLocks noGrp="1"/>
          </p:cNvGraphicFramePr>
          <p:nvPr>
            <p:extLst>
              <p:ext uri="{D42A27DB-BD31-4B8C-83A1-F6EECF244321}">
                <p14:modId xmlns:p14="http://schemas.microsoft.com/office/powerpoint/2010/main" val="1822245486"/>
              </p:ext>
            </p:extLst>
          </p:nvPr>
        </p:nvGraphicFramePr>
        <p:xfrm>
          <a:off x="1847528" y="496234"/>
          <a:ext cx="9735541" cy="5955210"/>
        </p:xfrm>
        <a:graphic>
          <a:graphicData uri="http://schemas.openxmlformats.org/drawingml/2006/table">
            <a:tbl>
              <a:tblPr>
                <a:tableStyleId>{5C22544A-7EE6-4342-B048-85BDC9FD1C3A}</a:tableStyleId>
              </a:tblPr>
              <a:tblGrid>
                <a:gridCol w="597728">
                  <a:extLst>
                    <a:ext uri="{9D8B030D-6E8A-4147-A177-3AD203B41FA5}">
                      <a16:colId xmlns:a16="http://schemas.microsoft.com/office/drawing/2014/main" val="10863619"/>
                    </a:ext>
                  </a:extLst>
                </a:gridCol>
                <a:gridCol w="925892">
                  <a:extLst>
                    <a:ext uri="{9D8B030D-6E8A-4147-A177-3AD203B41FA5}">
                      <a16:colId xmlns:a16="http://schemas.microsoft.com/office/drawing/2014/main" val="1757347066"/>
                    </a:ext>
                  </a:extLst>
                </a:gridCol>
                <a:gridCol w="1406417">
                  <a:extLst>
                    <a:ext uri="{9D8B030D-6E8A-4147-A177-3AD203B41FA5}">
                      <a16:colId xmlns:a16="http://schemas.microsoft.com/office/drawing/2014/main" val="1588470732"/>
                    </a:ext>
                  </a:extLst>
                </a:gridCol>
                <a:gridCol w="1015747">
                  <a:extLst>
                    <a:ext uri="{9D8B030D-6E8A-4147-A177-3AD203B41FA5}">
                      <a16:colId xmlns:a16="http://schemas.microsoft.com/office/drawing/2014/main" val="752677310"/>
                    </a:ext>
                  </a:extLst>
                </a:gridCol>
                <a:gridCol w="984494">
                  <a:extLst>
                    <a:ext uri="{9D8B030D-6E8A-4147-A177-3AD203B41FA5}">
                      <a16:colId xmlns:a16="http://schemas.microsoft.com/office/drawing/2014/main" val="948156182"/>
                    </a:ext>
                  </a:extLst>
                </a:gridCol>
                <a:gridCol w="1187642">
                  <a:extLst>
                    <a:ext uri="{9D8B030D-6E8A-4147-A177-3AD203B41FA5}">
                      <a16:colId xmlns:a16="http://schemas.microsoft.com/office/drawing/2014/main" val="2748968803"/>
                    </a:ext>
                  </a:extLst>
                </a:gridCol>
                <a:gridCol w="1156388">
                  <a:extLst>
                    <a:ext uri="{9D8B030D-6E8A-4147-A177-3AD203B41FA5}">
                      <a16:colId xmlns:a16="http://schemas.microsoft.com/office/drawing/2014/main" val="1582590117"/>
                    </a:ext>
                  </a:extLst>
                </a:gridCol>
                <a:gridCol w="1113415">
                  <a:extLst>
                    <a:ext uri="{9D8B030D-6E8A-4147-A177-3AD203B41FA5}">
                      <a16:colId xmlns:a16="http://schemas.microsoft.com/office/drawing/2014/main" val="3833081320"/>
                    </a:ext>
                  </a:extLst>
                </a:gridCol>
                <a:gridCol w="1347818">
                  <a:extLst>
                    <a:ext uri="{9D8B030D-6E8A-4147-A177-3AD203B41FA5}">
                      <a16:colId xmlns:a16="http://schemas.microsoft.com/office/drawing/2014/main" val="261683485"/>
                    </a:ext>
                  </a:extLst>
                </a:gridCol>
              </a:tblGrid>
              <a:tr h="389606">
                <a:tc gridSpan="9">
                  <a:txBody>
                    <a:bodyPr/>
                    <a:lstStyle/>
                    <a:p>
                      <a:pPr algn="ctr" fontAlgn="ctr"/>
                      <a:r>
                        <a:rPr lang="zh-CN" altLang="en-US" sz="1000" u="none" strike="noStrike" dirty="0">
                          <a:effectLst/>
                        </a:rPr>
                        <a:t>商品</a:t>
                      </a:r>
                      <a:r>
                        <a:rPr lang="en-US" altLang="zh-CN" sz="1000" u="none" strike="noStrike" dirty="0">
                          <a:effectLst/>
                        </a:rPr>
                        <a:t>/</a:t>
                      </a:r>
                      <a:r>
                        <a:rPr lang="zh-CN" altLang="en-US" sz="1000" u="none" strike="noStrike" dirty="0">
                          <a:effectLst/>
                        </a:rPr>
                        <a:t>材料报废申请单</a:t>
                      </a:r>
                      <a:endParaRPr lang="zh-CN" altLang="en-US" sz="1000" b="1" i="0" u="none" strike="noStrike" dirty="0">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63791430"/>
                  </a:ext>
                </a:extLst>
              </a:tr>
              <a:tr h="360747">
                <a:tc gridSpan="3">
                  <a:txBody>
                    <a:bodyPr/>
                    <a:lstStyle/>
                    <a:p>
                      <a:pPr algn="l" fontAlgn="ctr"/>
                      <a:r>
                        <a:rPr lang="zh-CN" altLang="en-US" sz="900" u="none" strike="noStrike">
                          <a:effectLst/>
                        </a:rPr>
                        <a:t>申请单号：</a:t>
                      </a:r>
                      <a:r>
                        <a:rPr lang="en-US" altLang="zh-CN" sz="900" u="none" strike="noStrike">
                          <a:effectLst/>
                        </a:rPr>
                        <a:t>___________________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900" u="none" strike="noStrike">
                          <a:effectLst/>
                        </a:rPr>
                        <a:t>申请部门：</a:t>
                      </a:r>
                      <a:r>
                        <a:rPr lang="en-US" altLang="zh-CN" sz="900" u="none" strike="noStrike">
                          <a:effectLst/>
                        </a:rPr>
                        <a:t>___________________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900" u="none" strike="noStrike">
                          <a:effectLst/>
                        </a:rPr>
                        <a:t>申请日期：</a:t>
                      </a:r>
                      <a:r>
                        <a:rPr lang="en-US" altLang="zh-CN" sz="900" u="none" strike="noStrike">
                          <a:effectLst/>
                        </a:rPr>
                        <a:t>__________________________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73527498"/>
                  </a:ext>
                </a:extLst>
              </a:tr>
              <a:tr h="360747">
                <a:tc gridSpan="3">
                  <a:txBody>
                    <a:bodyPr/>
                    <a:lstStyle/>
                    <a:p>
                      <a:pPr algn="l" fontAlgn="ctr"/>
                      <a:r>
                        <a:rPr lang="zh-CN" altLang="en-US" sz="900" u="none" strike="noStrike">
                          <a:effectLst/>
                        </a:rPr>
                        <a:t>申请人：</a:t>
                      </a:r>
                      <a:r>
                        <a:rPr lang="en-US" altLang="zh-CN" sz="900" u="none" strike="noStrike">
                          <a:effectLst/>
                        </a:rPr>
                        <a:t>___________________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900" u="none" strike="noStrike">
                          <a:effectLst/>
                        </a:rPr>
                        <a:t>所属仓库：</a:t>
                      </a:r>
                      <a:r>
                        <a:rPr lang="en-US" altLang="zh-CN" sz="900" u="none" strike="noStrike">
                          <a:effectLst/>
                        </a:rPr>
                        <a:t>___________________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900" u="none" strike="noStrike">
                          <a:effectLst/>
                        </a:rPr>
                        <a:t>对应原入库验收单号：</a:t>
                      </a:r>
                      <a:r>
                        <a:rPr lang="en-US" altLang="zh-CN" sz="900" u="none" strike="noStrike">
                          <a:effectLst/>
                        </a:rPr>
                        <a:t>________________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17184635"/>
                  </a:ext>
                </a:extLst>
              </a:tr>
              <a:tr h="360747">
                <a:tc>
                  <a:txBody>
                    <a:bodyPr/>
                    <a:lstStyle/>
                    <a:p>
                      <a:pPr algn="ctr" fontAlgn="ctr"/>
                      <a:r>
                        <a:rPr lang="zh-CN" altLang="en-US" sz="900" u="none" strike="noStrike">
                          <a:effectLst/>
                        </a:rPr>
                        <a:t>序号</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物料编号</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物料名称</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规格型号</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计量单位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拟报废数量</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账面单位成本</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报废材料账面总成本</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900" u="none" strike="noStrike">
                          <a:effectLst/>
                        </a:rPr>
                        <a:t>存放货位</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extLst>
                  <a:ext uri="{0D108BD9-81ED-4DB2-BD59-A6C34878D82A}">
                    <a16:rowId xmlns:a16="http://schemas.microsoft.com/office/drawing/2014/main" val="4004255164"/>
                  </a:ext>
                </a:extLst>
              </a:tr>
              <a:tr h="360747">
                <a:tc>
                  <a:txBody>
                    <a:bodyPr/>
                    <a:lstStyle/>
                    <a:p>
                      <a:pPr algn="ctr" fontAlgn="ctr"/>
                      <a:r>
                        <a:rPr lang="en-US" altLang="zh-CN" sz="900" u="none" strike="noStrike">
                          <a:effectLst/>
                        </a:rPr>
                        <a:t>1</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extLst>
                  <a:ext uri="{0D108BD9-81ED-4DB2-BD59-A6C34878D82A}">
                    <a16:rowId xmlns:a16="http://schemas.microsoft.com/office/drawing/2014/main" val="2078843934"/>
                  </a:ext>
                </a:extLst>
              </a:tr>
              <a:tr h="360747">
                <a:tc>
                  <a:txBody>
                    <a:bodyPr/>
                    <a:lstStyle/>
                    <a:p>
                      <a:pPr algn="ctr" fontAlgn="ctr"/>
                      <a:r>
                        <a:rPr lang="en-US" altLang="zh-CN" sz="900" u="none" strike="noStrike">
                          <a:effectLst/>
                        </a:rPr>
                        <a:t>2</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dirty="0">
                          <a:effectLst/>
                        </a:rPr>
                        <a:t>　</a:t>
                      </a:r>
                      <a:endParaRPr lang="zh-CN" altLang="en-US" sz="900" b="0" i="0" u="none" strike="noStrike" dirty="0">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extLst>
                  <a:ext uri="{0D108BD9-81ED-4DB2-BD59-A6C34878D82A}">
                    <a16:rowId xmlns:a16="http://schemas.microsoft.com/office/drawing/2014/main" val="2866082034"/>
                  </a:ext>
                </a:extLst>
              </a:tr>
              <a:tr h="360747">
                <a:tc>
                  <a:txBody>
                    <a:bodyPr/>
                    <a:lstStyle/>
                    <a:p>
                      <a:pPr algn="ctr" fontAlgn="ctr"/>
                      <a:r>
                        <a:rPr lang="en-US" altLang="zh-CN" sz="900" u="none" strike="noStrike">
                          <a:effectLst/>
                        </a:rPr>
                        <a:t>3</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extLst>
                  <a:ext uri="{0D108BD9-81ED-4DB2-BD59-A6C34878D82A}">
                    <a16:rowId xmlns:a16="http://schemas.microsoft.com/office/drawing/2014/main" val="2356167555"/>
                  </a:ext>
                </a:extLst>
              </a:tr>
              <a:tr h="360747">
                <a:tc>
                  <a:txBody>
                    <a:bodyPr/>
                    <a:lstStyle/>
                    <a:p>
                      <a:pPr algn="ctr" fontAlgn="ctr"/>
                      <a:r>
                        <a:rPr lang="en-US" altLang="zh-CN" sz="900" u="none" strike="noStrike">
                          <a:effectLst/>
                        </a:rPr>
                        <a:t>4</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extLst>
                  <a:ext uri="{0D108BD9-81ED-4DB2-BD59-A6C34878D82A}">
                    <a16:rowId xmlns:a16="http://schemas.microsoft.com/office/drawing/2014/main" val="369804509"/>
                  </a:ext>
                </a:extLst>
              </a:tr>
              <a:tr h="360747">
                <a:tc>
                  <a:txBody>
                    <a:bodyPr/>
                    <a:lstStyle/>
                    <a:p>
                      <a:pPr algn="ctr" fontAlgn="ctr"/>
                      <a:r>
                        <a:rPr lang="en-US" altLang="zh-CN" sz="900" u="none" strike="noStrike">
                          <a:effectLst/>
                        </a:rPr>
                        <a:t>5</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a:txBody>
                    <a:bodyPr/>
                    <a:lstStyle/>
                    <a:p>
                      <a:pPr algn="ctr" fontAlgn="ctr"/>
                      <a:r>
                        <a:rPr lang="zh-CN" altLang="en-US" sz="900" u="none" strike="noStrike">
                          <a:effectLst/>
                        </a:rPr>
                        <a:t>　</a:t>
                      </a:r>
                      <a:endParaRPr lang="zh-CN" altLang="en-US"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extLst>
                  <a:ext uri="{0D108BD9-81ED-4DB2-BD59-A6C34878D82A}">
                    <a16:rowId xmlns:a16="http://schemas.microsoft.com/office/drawing/2014/main" val="2444590363"/>
                  </a:ext>
                </a:extLst>
              </a:tr>
              <a:tr h="360747">
                <a:tc gridSpan="2">
                  <a:txBody>
                    <a:bodyPr/>
                    <a:lstStyle/>
                    <a:p>
                      <a:pPr algn="ctr" fontAlgn="ctr"/>
                      <a:r>
                        <a:rPr lang="zh-CN" altLang="en-US" sz="900" u="none" strike="noStrike">
                          <a:effectLst/>
                        </a:rPr>
                        <a:t>合计报废总成本</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900" u="none" strike="noStrike">
                          <a:effectLst/>
                        </a:rPr>
                        <a:t>金额小写</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2">
                  <a:txBody>
                    <a:bodyPr/>
                    <a:lstStyle/>
                    <a:p>
                      <a:pPr algn="l" fontAlgn="ctr"/>
                      <a:r>
                        <a:rPr lang="zh-CN" altLang="en-US" sz="900" u="none" strike="noStrike">
                          <a:effectLst/>
                        </a:rPr>
                        <a:t>￥</a:t>
                      </a:r>
                      <a:r>
                        <a:rPr lang="en-US" altLang="zh-CN" sz="900" u="none" strike="noStrike">
                          <a:effectLst/>
                        </a:rPr>
                        <a:t>________________ </a:t>
                      </a:r>
                      <a:endParaRPr lang="en-US" altLang="zh-CN" sz="900" b="1"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900" u="none" strike="noStrike">
                          <a:effectLst/>
                        </a:rPr>
                        <a:t>金额大写</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3">
                  <a:txBody>
                    <a:bodyPr/>
                    <a:lstStyle/>
                    <a:p>
                      <a:pPr algn="l" fontAlgn="ctr"/>
                      <a:r>
                        <a:rPr lang="zh-CN" altLang="en-US" sz="900" u="none" strike="noStrike">
                          <a:effectLst/>
                        </a:rPr>
                        <a:t>人民币</a:t>
                      </a:r>
                      <a:r>
                        <a:rPr lang="en-US" altLang="zh-CN" sz="900" u="none" strike="noStrike">
                          <a:effectLst/>
                        </a:rPr>
                        <a:t>_________________</a:t>
                      </a:r>
                      <a:endParaRPr lang="en-US" altLang="zh-CN" sz="900" b="1"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37435768"/>
                  </a:ext>
                </a:extLst>
              </a:tr>
              <a:tr h="515146">
                <a:tc gridSpan="2">
                  <a:txBody>
                    <a:bodyPr/>
                    <a:lstStyle/>
                    <a:p>
                      <a:pPr algn="ctr" fontAlgn="ctr"/>
                      <a:r>
                        <a:rPr lang="zh-CN" altLang="en-US" sz="900" u="none" strike="noStrike">
                          <a:effectLst/>
                        </a:rPr>
                        <a:t>报废原因勾选及详述</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gridSpan="3">
                  <a:txBody>
                    <a:bodyPr/>
                    <a:lstStyle/>
                    <a:p>
                      <a:pPr algn="l" fontAlgn="ctr"/>
                      <a:r>
                        <a:rPr lang="zh-CN" altLang="en-US" sz="900" u="none" strike="noStrike">
                          <a:effectLst/>
                        </a:rPr>
                        <a:t>□过期失效  □受潮</a:t>
                      </a:r>
                      <a:r>
                        <a:rPr lang="en-US" altLang="zh-CN" sz="900" u="none" strike="noStrike">
                          <a:effectLst/>
                        </a:rPr>
                        <a:t>/</a:t>
                      </a:r>
                      <a:r>
                        <a:rPr lang="zh-CN" altLang="en-US" sz="900" u="none" strike="noStrike">
                          <a:effectLst/>
                        </a:rPr>
                        <a:t>破损毁损  □工艺变更不再领用  □质检不合格无法使用  □积压呆滞无使用计划□意外损坏  □其他原因：</a:t>
                      </a:r>
                      <a:r>
                        <a:rPr lang="en-US" altLang="zh-CN" sz="900" u="none" strike="noStrike">
                          <a:effectLst/>
                        </a:rPr>
                        <a:t>____</a:t>
                      </a:r>
                      <a:r>
                        <a:rPr lang="zh-CN" altLang="en-US" sz="900" u="none" strike="noStrike">
                          <a:effectLst/>
                        </a:rPr>
                        <a:t>详细情况说明：</a:t>
                      </a:r>
                      <a:r>
                        <a:rPr lang="en-US" altLang="zh-CN" sz="900" u="none" strike="noStrike">
                          <a:effectLst/>
                        </a:rPr>
                        <a:t>_____________________</a:t>
                      </a:r>
                      <a:endParaRPr lang="en-US" altLang="zh-CN" sz="900" b="0" i="0" u="none" strike="noStrike">
                        <a:solidFill>
                          <a:srgbClr val="000000"/>
                        </a:solidFill>
                        <a:effectLst/>
                        <a:latin typeface="Times New Roman" panose="02020603050405020304" pitchFamily="18" charset="0"/>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900" u="none" strike="noStrike">
                          <a:effectLst/>
                        </a:rPr>
                        <a:t>处置方式</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3">
                  <a:txBody>
                    <a:bodyPr/>
                    <a:lstStyle/>
                    <a:p>
                      <a:pPr algn="l" fontAlgn="ctr"/>
                      <a:r>
                        <a:rPr lang="zh-CN" altLang="en-US" sz="900" u="none" strike="noStrike">
                          <a:effectLst/>
                        </a:rPr>
                        <a:t>□集中销毁报废  □折价变卖处理  □拆分可用零件回收  □退回供应商  □其他：</a:t>
                      </a:r>
                      <a:r>
                        <a:rPr lang="en-US" altLang="zh-CN" sz="900" u="none" strike="noStrike">
                          <a:effectLst/>
                        </a:rPr>
                        <a:t>_________</a:t>
                      </a:r>
                      <a:r>
                        <a:rPr lang="zh-CN" altLang="en-US" sz="900" u="none" strike="noStrike">
                          <a:effectLst/>
                        </a:rPr>
                        <a:t>预估处置收入：￥</a:t>
                      </a:r>
                      <a:r>
                        <a:rPr lang="en-US" altLang="zh-CN" sz="900" u="none" strike="noStrike">
                          <a:effectLst/>
                        </a:rPr>
                        <a:t>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03667939"/>
                  </a:ext>
                </a:extLst>
              </a:tr>
              <a:tr h="360747">
                <a:tc gridSpan="2">
                  <a:txBody>
                    <a:bodyPr/>
                    <a:lstStyle/>
                    <a:p>
                      <a:pPr algn="ctr" fontAlgn="ctr"/>
                      <a:r>
                        <a:rPr lang="zh-CN" altLang="en-US" sz="1000" u="none" strike="noStrike">
                          <a:effectLst/>
                        </a:rPr>
                        <a:t>岗位签字 </a:t>
                      </a:r>
                      <a:endParaRPr lang="zh-CN" altLang="en-US" sz="10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1000" u="none" strike="noStrike">
                          <a:effectLst/>
                        </a:rPr>
                        <a:t>签字</a:t>
                      </a:r>
                      <a:endParaRPr lang="zh-CN" altLang="en-US" sz="10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日期</a:t>
                      </a:r>
                      <a:endParaRPr lang="zh-CN" altLang="en-US" sz="10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审批意见</a:t>
                      </a:r>
                      <a:endParaRPr lang="zh-CN" altLang="en-US" sz="10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4">
                  <a:txBody>
                    <a:bodyPr/>
                    <a:lstStyle/>
                    <a:p>
                      <a:pPr algn="ctr" fontAlgn="ctr"/>
                      <a:r>
                        <a:rPr lang="zh-CN" altLang="en-US" sz="900" u="none" strike="noStrike">
                          <a:effectLst/>
                        </a:rPr>
                        <a:t>财务与仓库（办结回填）</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44056185"/>
                  </a:ext>
                </a:extLst>
              </a:tr>
              <a:tr h="360747">
                <a:tc gridSpan="2">
                  <a:txBody>
                    <a:bodyPr/>
                    <a:lstStyle/>
                    <a:p>
                      <a:pPr algn="ctr" fontAlgn="ctr"/>
                      <a:r>
                        <a:rPr lang="zh-CN" altLang="en-US" sz="1000" u="none" strike="noStrike">
                          <a:effectLst/>
                        </a:rPr>
                        <a:t>使用部门负责人</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4">
                  <a:txBody>
                    <a:bodyPr/>
                    <a:lstStyle/>
                    <a:p>
                      <a:pPr algn="l" fontAlgn="ctr"/>
                      <a:r>
                        <a:rPr lang="zh-CN" altLang="en-US" sz="900" u="none" strike="noStrike">
                          <a:effectLst/>
                        </a:rPr>
                        <a:t>实际处置收入：￥</a:t>
                      </a:r>
                      <a:r>
                        <a:rPr lang="en-US" altLang="zh-CN" sz="900" u="none" strike="noStrike">
                          <a:effectLst/>
                        </a:rPr>
                        <a:t>________ </a:t>
                      </a:r>
                      <a:r>
                        <a:rPr lang="zh-CN" altLang="en-US" sz="900" u="none" strike="noStrike">
                          <a:effectLst/>
                        </a:rPr>
                        <a:t>实际处置费用：￥</a:t>
                      </a:r>
                      <a:r>
                        <a:rPr lang="en-US" altLang="zh-CN" sz="900" u="none" strike="noStrike">
                          <a:effectLst/>
                        </a:rPr>
                        <a:t>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68849230"/>
                  </a:ext>
                </a:extLst>
              </a:tr>
              <a:tr h="360747">
                <a:tc gridSpan="2">
                  <a:txBody>
                    <a:bodyPr/>
                    <a:lstStyle/>
                    <a:p>
                      <a:pPr algn="ctr" fontAlgn="ctr"/>
                      <a:r>
                        <a:rPr lang="zh-CN" altLang="en-US" sz="1000" u="none" strike="noStrike">
                          <a:effectLst/>
                        </a:rPr>
                        <a:t>资产管理</a:t>
                      </a:r>
                      <a:r>
                        <a:rPr lang="en-US" altLang="zh-CN" sz="1000" u="none" strike="noStrike">
                          <a:effectLst/>
                        </a:rPr>
                        <a:t>/</a:t>
                      </a:r>
                      <a:r>
                        <a:rPr lang="zh-CN" altLang="en-US" sz="1000" u="none" strike="noStrike">
                          <a:effectLst/>
                        </a:rPr>
                        <a:t>行政部核验</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4">
                  <a:txBody>
                    <a:bodyPr/>
                    <a:lstStyle/>
                    <a:p>
                      <a:pPr algn="l" fontAlgn="ctr"/>
                      <a:r>
                        <a:rPr lang="zh-CN" altLang="en-US" sz="900" u="none" strike="noStrike">
                          <a:effectLst/>
                        </a:rPr>
                        <a:t>清理净损益：□净收益￥</a:t>
                      </a:r>
                      <a:r>
                        <a:rPr lang="en-US" altLang="zh-CN" sz="900" u="none" strike="noStrike">
                          <a:effectLst/>
                        </a:rPr>
                        <a:t>__________ □</a:t>
                      </a:r>
                      <a:r>
                        <a:rPr lang="zh-CN" altLang="en-US" sz="900" u="none" strike="noStrike">
                          <a:effectLst/>
                        </a:rPr>
                        <a:t>净损失￥</a:t>
                      </a:r>
                      <a:r>
                        <a:rPr lang="en-US" altLang="zh-CN" sz="900" u="none" strike="noStrike">
                          <a:effectLst/>
                        </a:rPr>
                        <a:t>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29012716"/>
                  </a:ext>
                </a:extLst>
              </a:tr>
              <a:tr h="360747">
                <a:tc gridSpan="2">
                  <a:txBody>
                    <a:bodyPr/>
                    <a:lstStyle/>
                    <a:p>
                      <a:pPr algn="ctr" fontAlgn="ctr"/>
                      <a:r>
                        <a:rPr lang="zh-CN" altLang="en-US" sz="1000" u="none" strike="noStrike">
                          <a:effectLst/>
                        </a:rPr>
                        <a:t>财务复核账面数据</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4">
                  <a:txBody>
                    <a:bodyPr/>
                    <a:lstStyle/>
                    <a:p>
                      <a:pPr algn="l" fontAlgn="ctr"/>
                      <a:r>
                        <a:rPr lang="zh-CN" altLang="en-US" sz="900" u="none" strike="noStrike">
                          <a:effectLst/>
                        </a:rPr>
                        <a:t>库存出库凭证号：</a:t>
                      </a:r>
                      <a:r>
                        <a:rPr lang="en-US" altLang="zh-CN" sz="900" u="none" strike="noStrike">
                          <a:effectLst/>
                        </a:rPr>
                        <a:t>________ </a:t>
                      </a:r>
                      <a:r>
                        <a:rPr lang="zh-CN" altLang="en-US" sz="900" u="none" strike="noStrike">
                          <a:effectLst/>
                        </a:rPr>
                        <a:t>台账注销经办人：</a:t>
                      </a:r>
                      <a:r>
                        <a:rPr lang="en-US" altLang="zh-CN" sz="900" u="none" strike="noStrike">
                          <a:effectLst/>
                        </a:rPr>
                        <a:t>________ </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08255345"/>
                  </a:ext>
                </a:extLst>
              </a:tr>
              <a:tr h="360747">
                <a:tc gridSpan="2">
                  <a:txBody>
                    <a:bodyPr/>
                    <a:lstStyle/>
                    <a:p>
                      <a:pPr algn="ctr" fontAlgn="ctr"/>
                      <a:r>
                        <a:rPr lang="zh-CN" altLang="en-US" sz="1000" u="none" strike="noStrike">
                          <a:effectLst/>
                        </a:rPr>
                        <a:t>管理层终审审批</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8197" marR="8197" marT="8197" marB="0" anchor="ctr"/>
                </a:tc>
                <a:tc gridSpan="4">
                  <a:txBody>
                    <a:bodyPr/>
                    <a:lstStyle/>
                    <a:p>
                      <a:pPr algn="l" fontAlgn="ctr"/>
                      <a:r>
                        <a:rPr lang="zh-CN" altLang="en-US" sz="900" u="none" strike="noStrike" dirty="0">
                          <a:effectLst/>
                        </a:rPr>
                        <a:t>办结日期：</a:t>
                      </a:r>
                      <a:r>
                        <a:rPr lang="en-US" altLang="zh-CN" sz="900" u="none" strike="noStrike" dirty="0">
                          <a:effectLst/>
                        </a:rPr>
                        <a:t>______</a:t>
                      </a:r>
                      <a:r>
                        <a:rPr lang="zh-CN" altLang="en-US" sz="900" u="none" strike="noStrike" dirty="0">
                          <a:effectLst/>
                        </a:rPr>
                        <a:t>年</a:t>
                      </a:r>
                      <a:r>
                        <a:rPr lang="en-US" altLang="zh-CN" sz="900" u="none" strike="noStrike" dirty="0">
                          <a:effectLst/>
                        </a:rPr>
                        <a:t>______</a:t>
                      </a:r>
                      <a:r>
                        <a:rPr lang="zh-CN" altLang="en-US" sz="900" u="none" strike="noStrike" dirty="0">
                          <a:effectLst/>
                        </a:rPr>
                        <a:t>月</a:t>
                      </a:r>
                      <a:r>
                        <a:rPr lang="en-US" altLang="zh-CN" sz="900" u="none" strike="noStrike" dirty="0">
                          <a:effectLst/>
                        </a:rPr>
                        <a:t>______</a:t>
                      </a:r>
                      <a:r>
                        <a:rPr lang="zh-CN" altLang="en-US" sz="900" u="none" strike="noStrike" dirty="0">
                          <a:effectLst/>
                        </a:rPr>
                        <a:t>日</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8197" marR="8197" marT="819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22124881"/>
                  </a:ext>
                </a:extLst>
              </a:tr>
            </a:tbl>
          </a:graphicData>
        </a:graphic>
      </p:graphicFrame>
      <p:sp>
        <p:nvSpPr>
          <p:cNvPr id="5" name="文本框 4">
            <a:extLst>
              <a:ext uri="{FF2B5EF4-FFF2-40B4-BE49-F238E27FC236}">
                <a16:creationId xmlns:a16="http://schemas.microsoft.com/office/drawing/2014/main" id="{79608E02-1EF7-4EFD-9908-B1AA5505F0AA}"/>
              </a:ext>
            </a:extLst>
          </p:cNvPr>
          <p:cNvSpPr txBox="1"/>
          <p:nvPr/>
        </p:nvSpPr>
        <p:spPr>
          <a:xfrm>
            <a:off x="119336" y="34570"/>
            <a:ext cx="4392488" cy="461665"/>
          </a:xfrm>
          <a:prstGeom prst="rect">
            <a:avLst/>
          </a:prstGeom>
          <a:solidFill>
            <a:srgbClr val="FFFF00"/>
          </a:solidFill>
        </p:spPr>
        <p:txBody>
          <a:bodyPr wrap="square" rtlCol="0">
            <a:spAutoFit/>
          </a:bodyPr>
          <a:lstStyle/>
          <a:p>
            <a:r>
              <a:rPr lang="zh-CN" altLang="en-US" sz="2400" u="none" strike="noStrike" dirty="0">
                <a:effectLst/>
              </a:rPr>
              <a:t>商品</a:t>
            </a:r>
            <a:r>
              <a:rPr lang="en-US" altLang="zh-CN" sz="2400" u="none" strike="noStrike" dirty="0">
                <a:effectLst/>
              </a:rPr>
              <a:t>/</a:t>
            </a:r>
            <a:r>
              <a:rPr lang="zh-CN" altLang="en-US" sz="2400" u="none" strike="noStrike" dirty="0">
                <a:effectLst/>
              </a:rPr>
              <a:t>材料报废申请单</a:t>
            </a:r>
            <a:r>
              <a:rPr lang="en-US" altLang="zh-CN" sz="2400" b="1" dirty="0">
                <a:solidFill>
                  <a:srgbClr val="FF0000"/>
                </a:solidFill>
              </a:rPr>
              <a:t>2-9</a:t>
            </a:r>
            <a:endParaRPr lang="zh-CN" altLang="en-US" sz="2400" b="1" dirty="0">
              <a:solidFill>
                <a:srgbClr val="FF0000"/>
              </a:solidFill>
            </a:endParaRPr>
          </a:p>
        </p:txBody>
      </p:sp>
    </p:spTree>
    <p:extLst>
      <p:ext uri="{BB962C8B-B14F-4D97-AF65-F5344CB8AC3E}">
        <p14:creationId xmlns:p14="http://schemas.microsoft.com/office/powerpoint/2010/main" val="3520799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7F8F03C-F317-4B70-8F18-BB06D690BD76}"/>
              </a:ext>
            </a:extLst>
          </p:cNvPr>
          <p:cNvGraphicFramePr>
            <a:graphicFrameLocks noGrp="1"/>
          </p:cNvGraphicFramePr>
          <p:nvPr>
            <p:extLst>
              <p:ext uri="{D42A27DB-BD31-4B8C-83A1-F6EECF244321}">
                <p14:modId xmlns:p14="http://schemas.microsoft.com/office/powerpoint/2010/main" val="2577497529"/>
              </p:ext>
            </p:extLst>
          </p:nvPr>
        </p:nvGraphicFramePr>
        <p:xfrm>
          <a:off x="1703512" y="548680"/>
          <a:ext cx="10225135" cy="5944424"/>
        </p:xfrm>
        <a:graphic>
          <a:graphicData uri="http://schemas.openxmlformats.org/drawingml/2006/table">
            <a:tbl>
              <a:tblPr>
                <a:tableStyleId>{5C22544A-7EE6-4342-B048-85BDC9FD1C3A}</a:tableStyleId>
              </a:tblPr>
              <a:tblGrid>
                <a:gridCol w="2928122">
                  <a:extLst>
                    <a:ext uri="{9D8B030D-6E8A-4147-A177-3AD203B41FA5}">
                      <a16:colId xmlns:a16="http://schemas.microsoft.com/office/drawing/2014/main" val="1974845601"/>
                    </a:ext>
                  </a:extLst>
                </a:gridCol>
                <a:gridCol w="2928122">
                  <a:extLst>
                    <a:ext uri="{9D8B030D-6E8A-4147-A177-3AD203B41FA5}">
                      <a16:colId xmlns:a16="http://schemas.microsoft.com/office/drawing/2014/main" val="1927392682"/>
                    </a:ext>
                  </a:extLst>
                </a:gridCol>
                <a:gridCol w="1251106">
                  <a:extLst>
                    <a:ext uri="{9D8B030D-6E8A-4147-A177-3AD203B41FA5}">
                      <a16:colId xmlns:a16="http://schemas.microsoft.com/office/drawing/2014/main" val="1395904221"/>
                    </a:ext>
                  </a:extLst>
                </a:gridCol>
                <a:gridCol w="1011532">
                  <a:extLst>
                    <a:ext uri="{9D8B030D-6E8A-4147-A177-3AD203B41FA5}">
                      <a16:colId xmlns:a16="http://schemas.microsoft.com/office/drawing/2014/main" val="54012474"/>
                    </a:ext>
                  </a:extLst>
                </a:gridCol>
                <a:gridCol w="678793">
                  <a:extLst>
                    <a:ext uri="{9D8B030D-6E8A-4147-A177-3AD203B41FA5}">
                      <a16:colId xmlns:a16="http://schemas.microsoft.com/office/drawing/2014/main" val="620246497"/>
                    </a:ext>
                  </a:extLst>
                </a:gridCol>
                <a:gridCol w="1427460">
                  <a:extLst>
                    <a:ext uri="{9D8B030D-6E8A-4147-A177-3AD203B41FA5}">
                      <a16:colId xmlns:a16="http://schemas.microsoft.com/office/drawing/2014/main" val="3881033310"/>
                    </a:ext>
                  </a:extLst>
                </a:gridCol>
              </a:tblGrid>
              <a:tr h="455636">
                <a:tc gridSpan="6">
                  <a:txBody>
                    <a:bodyPr/>
                    <a:lstStyle/>
                    <a:p>
                      <a:pPr algn="ctr" fontAlgn="ctr"/>
                      <a:r>
                        <a:rPr lang="zh-CN" altLang="en-US" sz="1100" u="none" strike="noStrike" dirty="0">
                          <a:effectLst/>
                        </a:rPr>
                        <a:t>固定资产报废</a:t>
                      </a:r>
                      <a:r>
                        <a:rPr lang="en-US" altLang="zh-CN" sz="1100" u="none" strike="noStrike" dirty="0">
                          <a:effectLst/>
                        </a:rPr>
                        <a:t>/</a:t>
                      </a:r>
                      <a:r>
                        <a:rPr lang="zh-CN" altLang="en-US" sz="1100" u="none" strike="noStrike" dirty="0">
                          <a:effectLst/>
                        </a:rPr>
                        <a:t>清理申请单</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94182413"/>
                  </a:ext>
                </a:extLst>
              </a:tr>
              <a:tr h="455636">
                <a:tc gridSpan="2">
                  <a:txBody>
                    <a:bodyPr/>
                    <a:lstStyle/>
                    <a:p>
                      <a:pPr algn="l" fontAlgn="ctr"/>
                      <a:r>
                        <a:rPr lang="zh-CN" altLang="en-US" sz="1000" u="none" strike="noStrike" dirty="0">
                          <a:effectLst/>
                        </a:rPr>
                        <a:t>申请单号：</a:t>
                      </a:r>
                      <a:r>
                        <a:rPr lang="en-US" altLang="zh-CN" sz="1000" u="none" strike="noStrike" dirty="0">
                          <a:effectLst/>
                        </a:rPr>
                        <a:t>_________________________________</a:t>
                      </a:r>
                      <a:endParaRPr lang="en-US" altLang="zh-CN" sz="1000" b="0" i="0" u="none" strike="noStrike" dirty="0">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gridSpan="4">
                  <a:txBody>
                    <a:bodyPr/>
                    <a:lstStyle/>
                    <a:p>
                      <a:pPr algn="l" fontAlgn="ctr"/>
                      <a:r>
                        <a:rPr lang="zh-CN" altLang="en-US" sz="1000" u="none" strike="noStrike">
                          <a:effectLst/>
                        </a:rPr>
                        <a:t>申请日期：</a:t>
                      </a:r>
                      <a:r>
                        <a:rPr lang="en-US" altLang="zh-CN" sz="1000" u="none" strike="noStrike">
                          <a:effectLst/>
                        </a:rPr>
                        <a:t>_____</a:t>
                      </a:r>
                      <a:r>
                        <a:rPr lang="zh-CN" altLang="en-US" sz="1000" u="none" strike="noStrike">
                          <a:effectLst/>
                        </a:rPr>
                        <a:t>年</a:t>
                      </a:r>
                      <a:r>
                        <a:rPr lang="en-US" altLang="zh-CN" sz="1000" u="none" strike="noStrike">
                          <a:effectLst/>
                        </a:rPr>
                        <a:t>______</a:t>
                      </a:r>
                      <a:r>
                        <a:rPr lang="zh-CN" altLang="en-US" sz="1000" u="none" strike="noStrike">
                          <a:effectLst/>
                        </a:rPr>
                        <a:t>月</a:t>
                      </a:r>
                      <a:r>
                        <a:rPr lang="en-US" altLang="zh-CN" sz="1000" u="none" strike="noStrike">
                          <a:effectLst/>
                        </a:rPr>
                        <a:t>____ </a:t>
                      </a:r>
                      <a:r>
                        <a:rPr lang="zh-CN" altLang="en-US" sz="1000" u="none" strike="noStrike">
                          <a:effectLst/>
                        </a:rPr>
                        <a:t>日</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65670397"/>
                  </a:ext>
                </a:extLst>
              </a:tr>
              <a:tr h="455636">
                <a:tc gridSpan="2">
                  <a:txBody>
                    <a:bodyPr/>
                    <a:lstStyle/>
                    <a:p>
                      <a:pPr algn="l" fontAlgn="ctr"/>
                      <a:r>
                        <a:rPr lang="zh-CN" altLang="en-US" sz="1000" u="none" strike="noStrike">
                          <a:effectLst/>
                        </a:rPr>
                        <a:t>申请部门：</a:t>
                      </a:r>
                      <a:r>
                        <a:rPr lang="en-US" altLang="zh-CN" sz="1000" u="none" strike="noStrike">
                          <a:effectLst/>
                        </a:rPr>
                        <a:t>__________________________________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gridSpan="4">
                  <a:txBody>
                    <a:bodyPr/>
                    <a:lstStyle/>
                    <a:p>
                      <a:pPr algn="l" fontAlgn="ctr"/>
                      <a:r>
                        <a:rPr lang="zh-CN" altLang="en-US" sz="1000" u="none" strike="noStrike">
                          <a:effectLst/>
                        </a:rPr>
                        <a:t>申请人：</a:t>
                      </a:r>
                      <a:r>
                        <a:rPr lang="en-US" altLang="zh-CN" sz="1000" u="none" strike="noStrike">
                          <a:effectLst/>
                        </a:rPr>
                        <a:t>_____________________ </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57556566"/>
                  </a:ext>
                </a:extLst>
              </a:tr>
              <a:tr h="455636">
                <a:tc>
                  <a:txBody>
                    <a:bodyPr/>
                    <a:lstStyle/>
                    <a:p>
                      <a:pPr algn="ctr" fontAlgn="ctr"/>
                      <a:r>
                        <a:rPr lang="zh-CN" altLang="en-US" sz="1000" u="none" strike="noStrike">
                          <a:effectLst/>
                        </a:rPr>
                        <a:t>资产基础信息</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内容填写栏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岗位签字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签字</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日期</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审批意见</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extLst>
                  <a:ext uri="{0D108BD9-81ED-4DB2-BD59-A6C34878D82A}">
                    <a16:rowId xmlns:a16="http://schemas.microsoft.com/office/drawing/2014/main" val="1687983739"/>
                  </a:ext>
                </a:extLst>
              </a:tr>
              <a:tr h="455636">
                <a:tc>
                  <a:txBody>
                    <a:bodyPr/>
                    <a:lstStyle/>
                    <a:p>
                      <a:pPr algn="ctr" fontAlgn="ctr"/>
                      <a:r>
                        <a:rPr lang="zh-CN" altLang="en-US" sz="1000" u="none" strike="noStrike">
                          <a:effectLst/>
                        </a:rPr>
                        <a:t>资产名称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使用部门负责人</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extLst>
                  <a:ext uri="{0D108BD9-81ED-4DB2-BD59-A6C34878D82A}">
                    <a16:rowId xmlns:a16="http://schemas.microsoft.com/office/drawing/2014/main" val="3930700474"/>
                  </a:ext>
                </a:extLst>
              </a:tr>
              <a:tr h="455636">
                <a:tc>
                  <a:txBody>
                    <a:bodyPr/>
                    <a:lstStyle/>
                    <a:p>
                      <a:pPr algn="ctr" fontAlgn="ctr"/>
                      <a:r>
                        <a:rPr lang="zh-CN" altLang="en-US" sz="1000" u="none" strike="noStrike">
                          <a:effectLst/>
                        </a:rPr>
                        <a:t>资产类别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l" fontAlgn="ctr"/>
                      <a:r>
                        <a:rPr lang="zh-CN" altLang="en-US" sz="1000" u="none" strike="noStrike">
                          <a:effectLst/>
                        </a:rPr>
                        <a:t> □电子设备 □机器设备 □运输设备          □办公家具 □其他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资产管理</a:t>
                      </a:r>
                      <a:r>
                        <a:rPr lang="en-US" altLang="zh-CN" sz="1000" u="none" strike="noStrike">
                          <a:effectLst/>
                        </a:rPr>
                        <a:t>/</a:t>
                      </a:r>
                      <a:r>
                        <a:rPr lang="zh-CN" altLang="en-US" sz="1000" u="none" strike="noStrike">
                          <a:effectLst/>
                        </a:rPr>
                        <a:t>行政部核验</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extLst>
                  <a:ext uri="{0D108BD9-81ED-4DB2-BD59-A6C34878D82A}">
                    <a16:rowId xmlns:a16="http://schemas.microsoft.com/office/drawing/2014/main" val="3848818994"/>
                  </a:ext>
                </a:extLst>
              </a:tr>
              <a:tr h="455636">
                <a:tc gridSpan="2">
                  <a:txBody>
                    <a:bodyPr/>
                    <a:lstStyle/>
                    <a:p>
                      <a:pPr algn="l" fontAlgn="ctr"/>
                      <a:r>
                        <a:rPr lang="zh-CN" altLang="en-US" sz="1000" u="none" strike="noStrike">
                          <a:effectLst/>
                        </a:rPr>
                        <a:t>购置日期</a:t>
                      </a:r>
                      <a:r>
                        <a:rPr lang="en-US" altLang="zh-CN" sz="1000" u="none" strike="noStrike">
                          <a:effectLst/>
                        </a:rPr>
                        <a:t>_________   </a:t>
                      </a:r>
                      <a:r>
                        <a:rPr lang="zh-CN" altLang="en-US" sz="1000" u="none" strike="noStrike">
                          <a:effectLst/>
                        </a:rPr>
                        <a:t>购置数量</a:t>
                      </a:r>
                      <a:r>
                        <a:rPr lang="en-US" altLang="zh-CN" sz="1000" u="none" strike="noStrike">
                          <a:effectLst/>
                        </a:rPr>
                        <a:t>_________  </a:t>
                      </a:r>
                      <a:r>
                        <a:rPr lang="zh-CN" altLang="en-US" sz="1000" u="none" strike="noStrike">
                          <a:effectLst/>
                        </a:rPr>
                        <a:t>规格型号 </a:t>
                      </a:r>
                      <a:r>
                        <a:rPr lang="en-US" altLang="zh-CN" sz="1000" u="none" strike="noStrike">
                          <a:effectLst/>
                        </a:rPr>
                        <a:t>___________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a:txBody>
                    <a:bodyPr/>
                    <a:lstStyle/>
                    <a:p>
                      <a:pPr algn="ctr" fontAlgn="ctr"/>
                      <a:r>
                        <a:rPr lang="zh-CN" altLang="en-US" sz="1000" u="none" strike="noStrike">
                          <a:effectLst/>
                        </a:rPr>
                        <a:t>财务复核账面数据</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extLst>
                  <a:ext uri="{0D108BD9-81ED-4DB2-BD59-A6C34878D82A}">
                    <a16:rowId xmlns:a16="http://schemas.microsoft.com/office/drawing/2014/main" val="2041057371"/>
                  </a:ext>
                </a:extLst>
              </a:tr>
              <a:tr h="455636">
                <a:tc gridSpan="2">
                  <a:txBody>
                    <a:bodyPr/>
                    <a:lstStyle/>
                    <a:p>
                      <a:pPr algn="l" fontAlgn="ctr"/>
                      <a:r>
                        <a:rPr lang="zh-CN" altLang="en-US" sz="1000" u="none" strike="noStrike">
                          <a:effectLst/>
                        </a:rPr>
                        <a:t>原值</a:t>
                      </a:r>
                      <a:r>
                        <a:rPr lang="en-US" altLang="zh-CN" sz="1000" u="none" strike="noStrike">
                          <a:effectLst/>
                        </a:rPr>
                        <a:t>______________  </a:t>
                      </a:r>
                      <a:r>
                        <a:rPr lang="zh-CN" altLang="en-US" sz="1000" u="none" strike="noStrike">
                          <a:effectLst/>
                        </a:rPr>
                        <a:t>净值</a:t>
                      </a:r>
                      <a:r>
                        <a:rPr lang="en-US" altLang="zh-CN" sz="1000" u="none" strike="noStrike">
                          <a:effectLst/>
                        </a:rPr>
                        <a:t>______________   </a:t>
                      </a:r>
                      <a:r>
                        <a:rPr lang="zh-CN" altLang="en-US" sz="1000" u="none" strike="noStrike">
                          <a:effectLst/>
                        </a:rPr>
                        <a:t>已提折旧</a:t>
                      </a:r>
                      <a:r>
                        <a:rPr lang="en-US" altLang="zh-CN" sz="1000" u="none" strike="noStrike">
                          <a:effectLst/>
                        </a:rPr>
                        <a:t>__________   </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a:txBody>
                    <a:bodyPr/>
                    <a:lstStyle/>
                    <a:p>
                      <a:pPr algn="ctr" fontAlgn="ctr"/>
                      <a:r>
                        <a:rPr lang="zh-CN" altLang="en-US" sz="1000" u="none" strike="noStrike">
                          <a:effectLst/>
                        </a:rPr>
                        <a:t>管理层终审审批</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ctr"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extLst>
                  <a:ext uri="{0D108BD9-81ED-4DB2-BD59-A6C34878D82A}">
                    <a16:rowId xmlns:a16="http://schemas.microsoft.com/office/drawing/2014/main" val="57114410"/>
                  </a:ext>
                </a:extLst>
              </a:tr>
              <a:tr h="455636">
                <a:tc>
                  <a:txBody>
                    <a:bodyPr/>
                    <a:lstStyle/>
                    <a:p>
                      <a:pPr algn="ctr" fontAlgn="ctr"/>
                      <a:r>
                        <a:rPr lang="zh-CN" altLang="en-US" sz="1000" u="none" strike="noStrike">
                          <a:effectLst/>
                        </a:rPr>
                        <a:t>原供应商</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l" fontAlgn="ctr"/>
                      <a:r>
                        <a:rPr lang="zh-CN" altLang="en-US" sz="1000" u="none" strike="noStrike">
                          <a:effectLst/>
                        </a:rPr>
                        <a:t>　</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gridSpan="4">
                  <a:txBody>
                    <a:bodyPr/>
                    <a:lstStyle/>
                    <a:p>
                      <a:pPr algn="ctr" fontAlgn="ctr"/>
                      <a:r>
                        <a:rPr lang="zh-CN" altLang="en-US" sz="1000" u="none" strike="noStrike">
                          <a:effectLst/>
                        </a:rPr>
                        <a:t>清理完成财务回填（财务填写）                                                     </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17970737"/>
                  </a:ext>
                </a:extLst>
              </a:tr>
              <a:tr h="455636">
                <a:tc rowSpan="2">
                  <a:txBody>
                    <a:bodyPr/>
                    <a:lstStyle/>
                    <a:p>
                      <a:pPr algn="ctr" fontAlgn="ctr"/>
                      <a:r>
                        <a:rPr lang="zh-CN" altLang="en-US" sz="1000" u="none" strike="noStrike">
                          <a:effectLst/>
                        </a:rPr>
                        <a:t>报废原因勾选</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rowSpan="2">
                  <a:txBody>
                    <a:bodyPr/>
                    <a:lstStyle/>
                    <a:p>
                      <a:pPr algn="l" fontAlgn="ctr"/>
                      <a:r>
                        <a:rPr lang="zh-CN" altLang="en-US" sz="1000" u="none" strike="noStrike">
                          <a:effectLst/>
                        </a:rPr>
                        <a:t>□老化无法维修  □损坏故障维修成本过高   □技术淘汰不再使用  □意外损毁              □丢失盘亏  □其他</a:t>
                      </a:r>
                      <a:r>
                        <a:rPr lang="en-US" altLang="zh-CN" sz="1000" u="none" strike="noStrike">
                          <a:effectLst/>
                        </a:rPr>
                        <a:t>_______                                     </a:t>
                      </a:r>
                      <a:r>
                        <a:rPr lang="zh-CN" altLang="en-US" sz="1000" u="none" strike="noStrike">
                          <a:effectLst/>
                        </a:rPr>
                        <a:t>原因详细说明：</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gridSpan="4">
                  <a:txBody>
                    <a:bodyPr/>
                    <a:lstStyle/>
                    <a:p>
                      <a:pPr algn="l" fontAlgn="ctr"/>
                      <a:r>
                        <a:rPr lang="zh-CN" altLang="en-US" sz="1000" u="none" strike="noStrike">
                          <a:effectLst/>
                        </a:rPr>
                        <a:t>实际残值收入：￥</a:t>
                      </a:r>
                      <a:r>
                        <a:rPr lang="en-US" altLang="zh-CN" sz="1000" u="none" strike="noStrike">
                          <a:effectLst/>
                        </a:rPr>
                        <a:t>____________  </a:t>
                      </a:r>
                      <a:r>
                        <a:rPr lang="zh-CN" altLang="en-US" sz="1000" u="none" strike="noStrike">
                          <a:effectLst/>
                        </a:rPr>
                        <a:t>实际清理费用：￥</a:t>
                      </a:r>
                      <a:r>
                        <a:rPr lang="en-US" altLang="zh-CN" sz="1000" u="none" strike="noStrike">
                          <a:effectLst/>
                        </a:rPr>
                        <a:t>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68152742"/>
                  </a:ext>
                </a:extLst>
              </a:tr>
              <a:tr h="455636">
                <a:tc vMerge="1">
                  <a:txBody>
                    <a:bodyPr/>
                    <a:lstStyle/>
                    <a:p>
                      <a:endParaRPr lang="zh-CN" altLang="en-US"/>
                    </a:p>
                  </a:txBody>
                  <a:tcPr/>
                </a:tc>
                <a:tc vMerge="1">
                  <a:txBody>
                    <a:bodyPr/>
                    <a:lstStyle/>
                    <a:p>
                      <a:endParaRPr lang="zh-CN" altLang="en-US"/>
                    </a:p>
                  </a:txBody>
                  <a:tcPr/>
                </a:tc>
                <a:tc gridSpan="4">
                  <a:txBody>
                    <a:bodyPr/>
                    <a:lstStyle/>
                    <a:p>
                      <a:pPr algn="l" fontAlgn="ctr"/>
                      <a:r>
                        <a:rPr lang="zh-CN" altLang="en-US" sz="1000" u="none" strike="noStrike">
                          <a:effectLst/>
                        </a:rPr>
                        <a:t>清理净损益：□净收益￥</a:t>
                      </a:r>
                      <a:r>
                        <a:rPr lang="en-US" altLang="zh-CN" sz="1000" u="none" strike="noStrike">
                          <a:effectLst/>
                        </a:rPr>
                        <a:t>__________ □</a:t>
                      </a:r>
                      <a:r>
                        <a:rPr lang="zh-CN" altLang="en-US" sz="1000" u="none" strike="noStrike">
                          <a:effectLst/>
                        </a:rPr>
                        <a:t>净损失￥</a:t>
                      </a:r>
                      <a:r>
                        <a:rPr lang="en-US" altLang="zh-CN" sz="1000" u="none" strike="noStrike">
                          <a:effectLst/>
                        </a:rPr>
                        <a:t>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61024755"/>
                  </a:ext>
                </a:extLst>
              </a:tr>
              <a:tr h="476792">
                <a:tc rowSpan="2">
                  <a:txBody>
                    <a:bodyPr/>
                    <a:lstStyle/>
                    <a:p>
                      <a:pPr algn="ctr" fontAlgn="ctr"/>
                      <a:r>
                        <a:rPr lang="zh-CN" altLang="en-US" sz="1000" u="none" strike="noStrike">
                          <a:effectLst/>
                        </a:rPr>
                        <a:t>资产处置方式</a:t>
                      </a:r>
                      <a:endParaRPr lang="zh-CN" altLang="en-US" sz="1000" b="1"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a:txBody>
                    <a:bodyPr/>
                    <a:lstStyle/>
                    <a:p>
                      <a:pPr algn="l" fontAlgn="ctr"/>
                      <a:r>
                        <a:rPr lang="zh-CN" altLang="en-US" sz="1000" u="none" strike="noStrike">
                          <a:effectLst/>
                        </a:rPr>
                        <a:t>□直接报废销毁  □折价变卖  □废品出售  □无偿赠送  □回收零部件利用</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gridSpan="4">
                  <a:txBody>
                    <a:bodyPr/>
                    <a:lstStyle/>
                    <a:p>
                      <a:pPr algn="l" fontAlgn="ctr"/>
                      <a:r>
                        <a:rPr lang="zh-CN" altLang="en-US" sz="1000" u="none" strike="noStrike">
                          <a:effectLst/>
                        </a:rPr>
                        <a:t>固定资产清理凭证号：</a:t>
                      </a:r>
                      <a:r>
                        <a:rPr lang="en-US" altLang="zh-CN" sz="1000" u="none" strike="noStrike">
                          <a:effectLst/>
                        </a:rPr>
                        <a:t>________________</a:t>
                      </a:r>
                      <a:endParaRPr lang="en-US" altLang="zh-CN"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14706192"/>
                  </a:ext>
                </a:extLst>
              </a:tr>
              <a:tr h="455636">
                <a:tc vMerge="1">
                  <a:txBody>
                    <a:bodyPr/>
                    <a:lstStyle/>
                    <a:p>
                      <a:endParaRPr lang="zh-CN" altLang="en-US"/>
                    </a:p>
                  </a:txBody>
                  <a:tcPr/>
                </a:tc>
                <a:tc>
                  <a:txBody>
                    <a:bodyPr/>
                    <a:lstStyle/>
                    <a:p>
                      <a:pPr algn="l" fontAlgn="ctr"/>
                      <a:r>
                        <a:rPr lang="zh-CN" altLang="en-US" sz="1000" u="none" strike="noStrike">
                          <a:effectLst/>
                        </a:rPr>
                        <a:t>预估残值收入：￥</a:t>
                      </a:r>
                      <a:r>
                        <a:rPr lang="en-US" altLang="zh-CN" sz="1000" u="none" strike="noStrike">
                          <a:effectLst/>
                        </a:rPr>
                        <a:t>_______________                              </a:t>
                      </a:r>
                      <a:r>
                        <a:rPr lang="zh-CN" altLang="en-US" sz="1000" u="none" strike="noStrike">
                          <a:effectLst/>
                        </a:rPr>
                        <a:t>预计清理费用：￥</a:t>
                      </a:r>
                      <a:r>
                        <a:rPr lang="en-US" altLang="zh-CN" sz="1000" u="none" strike="noStrike">
                          <a:effectLst/>
                        </a:rPr>
                        <a:t>_______________</a:t>
                      </a:r>
                      <a:endParaRPr lang="zh-CN" altLang="en-US" sz="1000" b="0" i="0" u="none" strike="noStrike">
                        <a:solidFill>
                          <a:srgbClr val="000000"/>
                        </a:solidFill>
                        <a:effectLst/>
                        <a:latin typeface="等线" panose="02010600030101010101" pitchFamily="2" charset="-122"/>
                        <a:ea typeface="等线" panose="02010600030101010101" pitchFamily="2" charset="-122"/>
                      </a:endParaRPr>
                    </a:p>
                  </a:txBody>
                  <a:tcPr marL="7644" marR="7644" marT="7644" marB="0" anchor="ctr"/>
                </a:tc>
                <a:tc gridSpan="4">
                  <a:txBody>
                    <a:bodyPr/>
                    <a:lstStyle/>
                    <a:p>
                      <a:pPr algn="l" fontAlgn="ctr"/>
                      <a:r>
                        <a:rPr lang="zh-CN" altLang="en-US" sz="1000" u="none" strike="noStrike" dirty="0">
                          <a:effectLst/>
                        </a:rPr>
                        <a:t>资产台账注销登记人：</a:t>
                      </a:r>
                      <a:r>
                        <a:rPr lang="en-US" altLang="zh-CN" sz="1000" u="none" strike="noStrike" dirty="0">
                          <a:effectLst/>
                        </a:rPr>
                        <a:t>________________</a:t>
                      </a:r>
                      <a:endParaRPr lang="en-US" altLang="zh-CN" sz="1000" b="0" i="0" u="none" strike="noStrike" dirty="0">
                        <a:solidFill>
                          <a:srgbClr val="000000"/>
                        </a:solidFill>
                        <a:effectLst/>
                        <a:latin typeface="等线" panose="02010600030101010101" pitchFamily="2" charset="-122"/>
                        <a:ea typeface="等线" panose="02010600030101010101" pitchFamily="2" charset="-122"/>
                      </a:endParaRPr>
                    </a:p>
                  </a:txBody>
                  <a:tcPr marL="7644" marR="7644" marT="76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2922746"/>
                  </a:ext>
                </a:extLst>
              </a:tr>
            </a:tbl>
          </a:graphicData>
        </a:graphic>
      </p:graphicFrame>
      <p:sp>
        <p:nvSpPr>
          <p:cNvPr id="5" name="文本框 4">
            <a:extLst>
              <a:ext uri="{FF2B5EF4-FFF2-40B4-BE49-F238E27FC236}">
                <a16:creationId xmlns:a16="http://schemas.microsoft.com/office/drawing/2014/main" id="{8903CB80-9E34-487A-BD8C-497F9BFC849A}"/>
              </a:ext>
            </a:extLst>
          </p:cNvPr>
          <p:cNvSpPr txBox="1"/>
          <p:nvPr/>
        </p:nvSpPr>
        <p:spPr>
          <a:xfrm>
            <a:off x="119336" y="34570"/>
            <a:ext cx="4392488" cy="461665"/>
          </a:xfrm>
          <a:prstGeom prst="rect">
            <a:avLst/>
          </a:prstGeom>
          <a:solidFill>
            <a:srgbClr val="FFFF00"/>
          </a:solidFill>
        </p:spPr>
        <p:txBody>
          <a:bodyPr wrap="square" rtlCol="0">
            <a:spAutoFit/>
          </a:bodyPr>
          <a:lstStyle/>
          <a:p>
            <a:r>
              <a:rPr lang="zh-CN" altLang="en-US" sz="2400" u="none" strike="noStrike" dirty="0">
                <a:effectLst/>
              </a:rPr>
              <a:t>商品</a:t>
            </a:r>
            <a:r>
              <a:rPr lang="en-US" altLang="zh-CN" sz="2400" u="none" strike="noStrike" dirty="0">
                <a:effectLst/>
              </a:rPr>
              <a:t>/</a:t>
            </a:r>
            <a:r>
              <a:rPr lang="zh-CN" altLang="en-US" sz="2400" u="none" strike="noStrike" dirty="0">
                <a:effectLst/>
              </a:rPr>
              <a:t>材料报废申请单</a:t>
            </a:r>
            <a:r>
              <a:rPr lang="en-US" altLang="zh-CN" sz="2400" b="1" dirty="0">
                <a:solidFill>
                  <a:srgbClr val="FF0000"/>
                </a:solidFill>
              </a:rPr>
              <a:t>2-10</a:t>
            </a:r>
            <a:endParaRPr lang="zh-CN" altLang="en-US" sz="2400" b="1" dirty="0">
              <a:solidFill>
                <a:srgbClr val="FF0000"/>
              </a:solidFill>
            </a:endParaRPr>
          </a:p>
        </p:txBody>
      </p:sp>
    </p:spTree>
    <p:extLst>
      <p:ext uri="{BB962C8B-B14F-4D97-AF65-F5344CB8AC3E}">
        <p14:creationId xmlns:p14="http://schemas.microsoft.com/office/powerpoint/2010/main" val="1966973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3DFCA0A-E632-4781-AEAE-CC8441A30788}"/>
              </a:ext>
            </a:extLst>
          </p:cNvPr>
          <p:cNvPicPr>
            <a:picLocks noChangeAspect="1"/>
          </p:cNvPicPr>
          <p:nvPr/>
        </p:nvPicPr>
        <p:blipFill>
          <a:blip r:embed="rId2"/>
          <a:stretch>
            <a:fillRect/>
          </a:stretch>
        </p:blipFill>
        <p:spPr>
          <a:xfrm>
            <a:off x="2830687" y="1512206"/>
            <a:ext cx="9228016" cy="5095425"/>
          </a:xfrm>
          <a:prstGeom prst="rect">
            <a:avLst/>
          </a:prstGeom>
        </p:spPr>
      </p:pic>
      <p:pic>
        <p:nvPicPr>
          <p:cNvPr id="11" name="图片 10">
            <a:extLst>
              <a:ext uri="{FF2B5EF4-FFF2-40B4-BE49-F238E27FC236}">
                <a16:creationId xmlns:a16="http://schemas.microsoft.com/office/drawing/2014/main" id="{3B594634-F6A0-4B9A-B2DA-304A8EB638A3}"/>
              </a:ext>
            </a:extLst>
          </p:cNvPr>
          <p:cNvPicPr>
            <a:picLocks noChangeAspect="1"/>
          </p:cNvPicPr>
          <p:nvPr/>
        </p:nvPicPr>
        <p:blipFill>
          <a:blip r:embed="rId3"/>
          <a:stretch>
            <a:fillRect/>
          </a:stretch>
        </p:blipFill>
        <p:spPr>
          <a:xfrm>
            <a:off x="8236258" y="693813"/>
            <a:ext cx="2036240" cy="674322"/>
          </a:xfrm>
          <a:prstGeom prst="rect">
            <a:avLst/>
          </a:prstGeom>
        </p:spPr>
      </p:pic>
      <p:sp>
        <p:nvSpPr>
          <p:cNvPr id="3" name="object 3"/>
          <p:cNvSpPr txBox="1"/>
          <p:nvPr/>
        </p:nvSpPr>
        <p:spPr>
          <a:xfrm>
            <a:off x="7608168" y="823465"/>
            <a:ext cx="5051742" cy="423193"/>
          </a:xfrm>
          <a:prstGeom prst="rect">
            <a:avLst/>
          </a:prstGeom>
        </p:spPr>
        <p:txBody>
          <a:bodyPr vert="horz" wrap="square" lIns="0" tIns="0" rIns="0" bIns="0" rtlCol="0">
            <a:spAutoFit/>
          </a:bodyPr>
          <a:lstStyle/>
          <a:p>
            <a:pPr marL="879157" marR="0">
              <a:lnSpc>
                <a:spcPts val="3339"/>
              </a:lnSpc>
              <a:spcBef>
                <a:spcPts val="1972"/>
              </a:spcBef>
              <a:spcAft>
                <a:spcPts val="0"/>
              </a:spcAft>
            </a:pPr>
            <a:r>
              <a:rPr lang="zh-CN" altLang="en-US" sz="3200" b="1" dirty="0">
                <a:solidFill>
                  <a:srgbClr val="000099"/>
                </a:solidFill>
                <a:latin typeface="+mn-ea"/>
                <a:cs typeface="OAKHCI+MicrosoftYaHei-Bold"/>
              </a:rPr>
              <a:t>流程设计</a:t>
            </a:r>
          </a:p>
        </p:txBody>
      </p:sp>
      <p:sp>
        <p:nvSpPr>
          <p:cNvPr id="4" name="object 4"/>
          <p:cNvSpPr txBox="1"/>
          <p:nvPr/>
        </p:nvSpPr>
        <p:spPr>
          <a:xfrm>
            <a:off x="610510" y="1873422"/>
            <a:ext cx="1924612" cy="4372992"/>
          </a:xfrm>
          <a:prstGeom prst="rect">
            <a:avLst/>
          </a:prstGeom>
        </p:spPr>
        <p:txBody>
          <a:bodyPr vert="horz" wrap="square" lIns="0" tIns="0" rIns="0" bIns="0" rtlCol="0">
            <a:spAutoFit/>
          </a:bodyPr>
          <a:lstStyle/>
          <a:p>
            <a:pPr marL="76" marR="0">
              <a:lnSpc>
                <a:spcPts val="2500"/>
              </a:lnSpc>
              <a:spcBef>
                <a:spcPts val="0"/>
              </a:spcBef>
              <a:spcAft>
                <a:spcPts val="0"/>
              </a:spcAft>
            </a:pPr>
            <a:r>
              <a:rPr sz="2400" b="1" dirty="0">
                <a:solidFill>
                  <a:srgbClr val="000099"/>
                </a:solidFill>
                <a:highlight>
                  <a:srgbClr val="FFFF00"/>
                </a:highlight>
                <a:latin typeface="PKMLHR+MicrosoftYaHei"/>
                <a:cs typeface="PKMLHR+MicrosoftYaHei"/>
              </a:rPr>
              <a:t>1</a:t>
            </a:r>
            <a:r>
              <a:rPr lang="zh-CN" altLang="en-US" sz="2400" b="1" dirty="0">
                <a:solidFill>
                  <a:srgbClr val="000099"/>
                </a:solidFill>
                <a:highlight>
                  <a:srgbClr val="FFFF00"/>
                </a:highlight>
                <a:latin typeface="PKMLHR+MicrosoftYaHei"/>
                <a:cs typeface="PKMLHR+MicrosoftYaHei"/>
              </a:rPr>
              <a:t>合同书</a:t>
            </a:r>
            <a:endParaRPr lang="en-US" altLang="zh-CN" sz="2400" b="1" dirty="0">
              <a:solidFill>
                <a:srgbClr val="000099"/>
              </a:solidFill>
              <a:highlight>
                <a:srgbClr val="FFFF00"/>
              </a:highlight>
              <a:latin typeface="PKMLHR+MicrosoftYaHei"/>
              <a:cs typeface="PKMLHR+MicrosoftYaHei"/>
            </a:endParaRPr>
          </a:p>
          <a:p>
            <a:pPr marL="76" marR="0">
              <a:lnSpc>
                <a:spcPts val="2500"/>
              </a:lnSpc>
              <a:spcBef>
                <a:spcPts val="0"/>
              </a:spcBef>
              <a:spcAft>
                <a:spcPts val="0"/>
              </a:spcAft>
            </a:pPr>
            <a:endParaRPr sz="2400" b="1" dirty="0">
              <a:solidFill>
                <a:srgbClr val="000099"/>
              </a:solidFill>
              <a:highlight>
                <a:srgbClr val="FFFF00"/>
              </a:highlight>
              <a:latin typeface="PKMLHR+MicrosoftYaHei"/>
              <a:cs typeface="PKMLHR+MicrosoftYaHei"/>
            </a:endParaRPr>
          </a:p>
          <a:p>
            <a:pPr marL="0" marR="0">
              <a:lnSpc>
                <a:spcPts val="2500"/>
              </a:lnSpc>
              <a:spcBef>
                <a:spcPts val="2918"/>
              </a:spcBef>
              <a:spcAft>
                <a:spcPts val="0"/>
              </a:spcAft>
            </a:pPr>
            <a:r>
              <a:rPr sz="2400" b="1" dirty="0">
                <a:solidFill>
                  <a:srgbClr val="000099"/>
                </a:solidFill>
                <a:highlight>
                  <a:srgbClr val="FFFF00"/>
                </a:highlight>
                <a:latin typeface="PKMLHR+MicrosoftYaHei"/>
                <a:cs typeface="PKMLHR+MicrosoftYaHei"/>
              </a:rPr>
              <a:t>2</a:t>
            </a:r>
            <a:r>
              <a:rPr lang="zh-CN" altLang="en-US" sz="2400" b="1" dirty="0">
                <a:solidFill>
                  <a:srgbClr val="000099"/>
                </a:solidFill>
                <a:highlight>
                  <a:srgbClr val="FFFF00"/>
                </a:highlight>
                <a:latin typeface="PKMLHR+MicrosoftYaHei"/>
                <a:cs typeface="PKMLHR+MicrosoftYaHei"/>
              </a:rPr>
              <a:t>订单申请</a:t>
            </a:r>
            <a:endParaRPr sz="2400" b="1" dirty="0">
              <a:solidFill>
                <a:srgbClr val="000099"/>
              </a:solidFill>
              <a:highlight>
                <a:srgbClr val="FFFF00"/>
              </a:highlight>
              <a:latin typeface="PKMLHR+MicrosoftYaHei"/>
              <a:cs typeface="PKMLHR+MicrosoftYaHei"/>
            </a:endParaRPr>
          </a:p>
          <a:p>
            <a:pPr marL="76" marR="0">
              <a:lnSpc>
                <a:spcPts val="2500"/>
              </a:lnSpc>
              <a:spcBef>
                <a:spcPts val="2979"/>
              </a:spcBef>
              <a:spcAft>
                <a:spcPts val="0"/>
              </a:spcAft>
            </a:pPr>
            <a:r>
              <a:rPr sz="2400" b="1" dirty="0">
                <a:solidFill>
                  <a:srgbClr val="000099"/>
                </a:solidFill>
                <a:highlight>
                  <a:srgbClr val="FFFF00"/>
                </a:highlight>
                <a:latin typeface="PKMLHR+MicrosoftYaHei"/>
                <a:cs typeface="PKMLHR+MicrosoftYaHei"/>
              </a:rPr>
              <a:t>3</a:t>
            </a:r>
            <a:r>
              <a:rPr lang="zh-CN" altLang="en-US" sz="2400" b="1" dirty="0">
                <a:solidFill>
                  <a:srgbClr val="000099"/>
                </a:solidFill>
                <a:highlight>
                  <a:srgbClr val="FFFF00"/>
                </a:highlight>
                <a:latin typeface="PKMLHR+MicrosoftYaHei"/>
                <a:cs typeface="PKMLHR+MicrosoftYaHei"/>
              </a:rPr>
              <a:t>销售出库</a:t>
            </a:r>
            <a:r>
              <a:rPr lang="en-US" altLang="zh-CN" sz="2400" b="1" dirty="0">
                <a:solidFill>
                  <a:srgbClr val="000099"/>
                </a:solidFill>
                <a:highlight>
                  <a:srgbClr val="FFFF00"/>
                </a:highlight>
                <a:latin typeface="PKMLHR+MicrosoftYaHei"/>
                <a:cs typeface="PKMLHR+MicrosoftYaHei"/>
              </a:rPr>
              <a:t>/  </a:t>
            </a:r>
            <a:r>
              <a:rPr lang="zh-CN" altLang="en-US" sz="2400" b="1" dirty="0">
                <a:solidFill>
                  <a:srgbClr val="000099"/>
                </a:solidFill>
                <a:highlight>
                  <a:srgbClr val="FFFF00"/>
                </a:highlight>
                <a:latin typeface="PKMLHR+MicrosoftYaHei"/>
                <a:cs typeface="PKMLHR+MicrosoftYaHei"/>
              </a:rPr>
              <a:t>内部领用</a:t>
            </a:r>
            <a:r>
              <a:rPr lang="en-US" altLang="zh-CN" sz="2400" b="1" dirty="0">
                <a:solidFill>
                  <a:srgbClr val="000099"/>
                </a:solidFill>
                <a:highlight>
                  <a:srgbClr val="FFFF00"/>
                </a:highlight>
                <a:latin typeface="PKMLHR+MicrosoftYaHei"/>
                <a:cs typeface="PKMLHR+MicrosoftYaHei"/>
              </a:rPr>
              <a:t>/   </a:t>
            </a:r>
            <a:r>
              <a:rPr lang="zh-CN" altLang="en-US" sz="2400" b="1" dirty="0">
                <a:solidFill>
                  <a:srgbClr val="000099"/>
                </a:solidFill>
                <a:highlight>
                  <a:srgbClr val="FFFF00"/>
                </a:highlight>
                <a:latin typeface="PKMLHR+MicrosoftYaHei"/>
                <a:cs typeface="PKMLHR+MicrosoftYaHei"/>
              </a:rPr>
              <a:t>项目交付</a:t>
            </a:r>
            <a:r>
              <a:rPr lang="en-US" altLang="zh-CN" sz="2400" b="1" dirty="0">
                <a:solidFill>
                  <a:srgbClr val="000099"/>
                </a:solidFill>
                <a:highlight>
                  <a:srgbClr val="FFFF00"/>
                </a:highlight>
                <a:latin typeface="PKMLHR+MicrosoftYaHei"/>
                <a:cs typeface="PKMLHR+MicrosoftYaHei"/>
              </a:rPr>
              <a:t>/    </a:t>
            </a:r>
            <a:r>
              <a:rPr lang="zh-CN" altLang="en-US" sz="2400" b="1" dirty="0">
                <a:solidFill>
                  <a:srgbClr val="000099"/>
                </a:solidFill>
                <a:highlight>
                  <a:srgbClr val="FFFF00"/>
                </a:highlight>
                <a:latin typeface="PKMLHR+MicrosoftYaHei"/>
                <a:cs typeface="PKMLHR+MicrosoftYaHei"/>
              </a:rPr>
              <a:t>客户验收入库</a:t>
            </a:r>
            <a:endParaRPr lang="en-US" altLang="zh-CN" sz="2400" b="1" dirty="0">
              <a:solidFill>
                <a:srgbClr val="000099"/>
              </a:solidFill>
              <a:highlight>
                <a:srgbClr val="FFFF00"/>
              </a:highlight>
              <a:latin typeface="PKMLHR+MicrosoftYaHei"/>
              <a:cs typeface="PKMLHR+MicrosoftYaHei"/>
            </a:endParaRPr>
          </a:p>
          <a:p>
            <a:pPr marL="76" marR="0">
              <a:lnSpc>
                <a:spcPts val="2500"/>
              </a:lnSpc>
              <a:spcBef>
                <a:spcPts val="2979"/>
              </a:spcBef>
              <a:spcAft>
                <a:spcPts val="0"/>
              </a:spcAft>
            </a:pPr>
            <a:endParaRPr lang="en-US" altLang="zh-CN" sz="2400" b="1" dirty="0">
              <a:solidFill>
                <a:srgbClr val="000099"/>
              </a:solidFill>
              <a:highlight>
                <a:srgbClr val="FFFF00"/>
              </a:highlight>
              <a:latin typeface="PKMLHR+MicrosoftYaHei"/>
              <a:cs typeface="PKMLHR+MicrosoftYaHei"/>
            </a:endParaRPr>
          </a:p>
          <a:p>
            <a:pPr marL="0" marR="0">
              <a:lnSpc>
                <a:spcPts val="2500"/>
              </a:lnSpc>
              <a:spcBef>
                <a:spcPts val="2731"/>
              </a:spcBef>
              <a:spcAft>
                <a:spcPts val="0"/>
              </a:spcAft>
            </a:pPr>
            <a:r>
              <a:rPr lang="en-US" altLang="zh-CN" sz="2400" b="1" dirty="0">
                <a:solidFill>
                  <a:srgbClr val="000099"/>
                </a:solidFill>
                <a:highlight>
                  <a:srgbClr val="FFFF00"/>
                </a:highlight>
                <a:latin typeface="PKMLHR+MicrosoftYaHei"/>
                <a:cs typeface="PKMLHR+MicrosoftYaHei"/>
              </a:rPr>
              <a:t>4</a:t>
            </a:r>
            <a:r>
              <a:rPr lang="zh-CN" altLang="en-US" sz="2400" b="1" dirty="0">
                <a:solidFill>
                  <a:srgbClr val="000099"/>
                </a:solidFill>
                <a:highlight>
                  <a:srgbClr val="FFFF00"/>
                </a:highlight>
                <a:latin typeface="PKMLHR+MicrosoftYaHei"/>
                <a:cs typeface="PKMLHR+MicrosoftYaHei"/>
              </a:rPr>
              <a:t>、对外开票</a:t>
            </a:r>
            <a:endParaRPr sz="2400" b="1" dirty="0">
              <a:solidFill>
                <a:srgbClr val="000099"/>
              </a:solidFill>
              <a:highlight>
                <a:srgbClr val="FFFF00"/>
              </a:highlight>
              <a:latin typeface="PKMLHR+MicrosoftYaHei"/>
              <a:cs typeface="PKMLHR+MicrosoftYaHei"/>
            </a:endParaRPr>
          </a:p>
        </p:txBody>
      </p:sp>
      <p:sp>
        <p:nvSpPr>
          <p:cNvPr id="5" name="object 5"/>
          <p:cNvSpPr txBox="1"/>
          <p:nvPr/>
        </p:nvSpPr>
        <p:spPr>
          <a:xfrm>
            <a:off x="3121968" y="1840728"/>
            <a:ext cx="9080231" cy="5334794"/>
          </a:xfrm>
          <a:prstGeom prst="rect">
            <a:avLst/>
          </a:prstGeom>
        </p:spPr>
        <p:txBody>
          <a:bodyPr vert="horz" wrap="square" lIns="0" tIns="0" rIns="0" bIns="0" rtlCol="0">
            <a:spAutoFit/>
          </a:bodyPr>
          <a:lstStyle/>
          <a:p>
            <a:pPr marL="0" marR="0">
              <a:lnSpc>
                <a:spcPts val="2500"/>
              </a:lnSpc>
              <a:spcBef>
                <a:spcPts val="2924"/>
              </a:spcBef>
              <a:spcAft>
                <a:spcPts val="0"/>
              </a:spcAft>
            </a:pPr>
            <a:r>
              <a:rPr lang="zh-CN" altLang="en-US" sz="2400" dirty="0">
                <a:solidFill>
                  <a:srgbClr val="FF0000"/>
                </a:solidFill>
                <a:highlight>
                  <a:srgbClr val="FFFF00"/>
                </a:highlight>
                <a:latin typeface="PKMLHR+MicrosoftYaHei"/>
                <a:cs typeface="PKMLHR+MicrosoftYaHei"/>
              </a:rPr>
              <a:t>销售合同：发票条款、金额内容、收款方式、合同份数</a:t>
            </a:r>
            <a:endParaRPr lang="en-US" sz="2400" dirty="0">
              <a:solidFill>
                <a:srgbClr val="FF0000"/>
              </a:solidFill>
              <a:highlight>
                <a:srgbClr val="FFFF00"/>
              </a:highlight>
              <a:latin typeface="PKMLHR+MicrosoftYaHei"/>
              <a:cs typeface="PKMLHR+MicrosoftYaHei"/>
            </a:endParaRPr>
          </a:p>
          <a:p>
            <a:pPr marL="0" marR="0">
              <a:lnSpc>
                <a:spcPts val="2500"/>
              </a:lnSpc>
              <a:spcBef>
                <a:spcPts val="2924"/>
              </a:spcBef>
              <a:spcAft>
                <a:spcPts val="0"/>
              </a:spcAft>
            </a:pPr>
            <a:r>
              <a:rPr lang="zh-CN" altLang="en-US" sz="2400" dirty="0">
                <a:solidFill>
                  <a:srgbClr val="FF0000"/>
                </a:solidFill>
                <a:highlight>
                  <a:srgbClr val="FFFF00"/>
                </a:highlight>
                <a:latin typeface="PKMLHR+MicrosoftYaHei"/>
                <a:cs typeface="PKMLHR+MicrosoftYaHei"/>
              </a:rPr>
              <a:t>销售订单：客户信息</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产品</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服务内容、规格型号、数量、价格，拟发货</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履约周期</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结算方式</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预付条款</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质保金</a:t>
            </a:r>
            <a:endParaRPr sz="2400" dirty="0">
              <a:solidFill>
                <a:srgbClr val="FF0000"/>
              </a:solidFill>
              <a:highlight>
                <a:srgbClr val="FFFF00"/>
              </a:highlight>
              <a:latin typeface="PKMLHR+MicrosoftYaHei"/>
              <a:cs typeface="PKMLHR+MicrosoftYaHei"/>
            </a:endParaRPr>
          </a:p>
          <a:p>
            <a:pPr marL="0" marR="0">
              <a:lnSpc>
                <a:spcPts val="2500"/>
              </a:lnSpc>
              <a:spcBef>
                <a:spcPts val="2736"/>
              </a:spcBef>
              <a:spcAft>
                <a:spcPts val="0"/>
              </a:spcAft>
            </a:pPr>
            <a:r>
              <a:rPr lang="zh-CN" altLang="en-US" sz="2400" dirty="0">
                <a:solidFill>
                  <a:srgbClr val="FF0000"/>
                </a:solidFill>
                <a:highlight>
                  <a:srgbClr val="FFFF00"/>
                </a:highlight>
                <a:latin typeface="PKMLHR+MicrosoftYaHei"/>
                <a:cs typeface="PKMLHR+MicrosoftYaHei"/>
              </a:rPr>
              <a:t>产品销售出库单：成品</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设备销售出库专用</a:t>
            </a:r>
            <a:endParaRPr lang="en-US" altLang="zh-CN" sz="2400" dirty="0">
              <a:solidFill>
                <a:srgbClr val="FF0000"/>
              </a:solidFill>
              <a:highlight>
                <a:srgbClr val="FFFF00"/>
              </a:highlight>
              <a:latin typeface="PKMLHR+MicrosoftYaHei"/>
              <a:cs typeface="PKMLHR+MicrosoftYaHei"/>
            </a:endParaRPr>
          </a:p>
          <a:p>
            <a:pPr marL="0" marR="0">
              <a:lnSpc>
                <a:spcPts val="2500"/>
              </a:lnSpc>
              <a:spcBef>
                <a:spcPts val="2736"/>
              </a:spcBef>
              <a:spcAft>
                <a:spcPts val="0"/>
              </a:spcAft>
            </a:pPr>
            <a:r>
              <a:rPr lang="zh-CN" altLang="en-US" sz="2400" dirty="0">
                <a:solidFill>
                  <a:srgbClr val="FF0000"/>
                </a:solidFill>
                <a:highlight>
                  <a:srgbClr val="FFFF00"/>
                </a:highlight>
                <a:latin typeface="PKMLHR+MicrosoftYaHei"/>
                <a:cs typeface="PKMLHR+MicrosoftYaHei"/>
              </a:rPr>
              <a:t>材料领用出库单：内部生产 </a:t>
            </a:r>
            <a:r>
              <a:rPr lang="en-US" altLang="zh-CN" sz="2400" dirty="0">
                <a:solidFill>
                  <a:srgbClr val="FF0000"/>
                </a:solidFill>
                <a:highlight>
                  <a:srgbClr val="FFFF00"/>
                </a:highlight>
                <a:latin typeface="PKMLHR+MicrosoftYaHei"/>
                <a:cs typeface="PKMLHR+MicrosoftYaHei"/>
              </a:rPr>
              <a:t>/ </a:t>
            </a:r>
            <a:r>
              <a:rPr lang="zh-CN" altLang="en-US" sz="2400" dirty="0">
                <a:solidFill>
                  <a:srgbClr val="FF0000"/>
                </a:solidFill>
                <a:highlight>
                  <a:srgbClr val="FFFF00"/>
                </a:highlight>
                <a:latin typeface="PKMLHR+MicrosoftYaHei"/>
                <a:cs typeface="PKMLHR+MicrosoftYaHei"/>
              </a:rPr>
              <a:t>研发 </a:t>
            </a:r>
            <a:r>
              <a:rPr lang="en-US" altLang="zh-CN" sz="2400" dirty="0">
                <a:solidFill>
                  <a:srgbClr val="FF0000"/>
                </a:solidFill>
                <a:highlight>
                  <a:srgbClr val="FFFF00"/>
                </a:highlight>
                <a:latin typeface="PKMLHR+MicrosoftYaHei"/>
                <a:cs typeface="PKMLHR+MicrosoftYaHei"/>
              </a:rPr>
              <a:t>/ </a:t>
            </a:r>
            <a:r>
              <a:rPr lang="zh-CN" altLang="en-US" sz="2400" dirty="0">
                <a:solidFill>
                  <a:srgbClr val="FF0000"/>
                </a:solidFill>
                <a:highlight>
                  <a:srgbClr val="FFFF00"/>
                </a:highlight>
                <a:latin typeface="PKMLHR+MicrosoftYaHei"/>
                <a:cs typeface="PKMLHR+MicrosoftYaHei"/>
              </a:rPr>
              <a:t>办公领用专用</a:t>
            </a:r>
            <a:endParaRPr lang="en-US" altLang="zh-CN" sz="2400" dirty="0">
              <a:solidFill>
                <a:srgbClr val="FF0000"/>
              </a:solidFill>
              <a:highlight>
                <a:srgbClr val="FFFF00"/>
              </a:highlight>
              <a:latin typeface="PKMLHR+MicrosoftYaHei"/>
              <a:cs typeface="PKMLHR+MicrosoftYaHei"/>
            </a:endParaRPr>
          </a:p>
          <a:p>
            <a:pPr marL="0" marR="0">
              <a:lnSpc>
                <a:spcPts val="2500"/>
              </a:lnSpc>
              <a:spcBef>
                <a:spcPts val="2736"/>
              </a:spcBef>
              <a:spcAft>
                <a:spcPts val="0"/>
              </a:spcAft>
            </a:pPr>
            <a:r>
              <a:rPr lang="zh-CN" altLang="en-US" sz="2400" dirty="0">
                <a:solidFill>
                  <a:srgbClr val="FF0000"/>
                </a:solidFill>
                <a:highlight>
                  <a:srgbClr val="FFFF00"/>
                </a:highlight>
                <a:latin typeface="PKMLHR+MicrosoftYaHei"/>
                <a:cs typeface="PKMLHR+MicrosoftYaHei"/>
              </a:rPr>
              <a:t>项目履约交付结算单：技术服务</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软件集成等项目专用</a:t>
            </a:r>
            <a:endParaRPr lang="en-US" altLang="zh-CN" sz="2400" dirty="0">
              <a:solidFill>
                <a:srgbClr val="FF0000"/>
              </a:solidFill>
              <a:highlight>
                <a:srgbClr val="FFFF00"/>
              </a:highlight>
              <a:latin typeface="PKMLHR+MicrosoftYaHei"/>
              <a:cs typeface="PKMLHR+MicrosoftYaHei"/>
            </a:endParaRPr>
          </a:p>
          <a:p>
            <a:pPr>
              <a:lnSpc>
                <a:spcPts val="2500"/>
              </a:lnSpc>
              <a:spcBef>
                <a:spcPts val="2736"/>
              </a:spcBef>
            </a:pPr>
            <a:r>
              <a:rPr lang="zh-CN" altLang="en-US" sz="2400" dirty="0">
                <a:solidFill>
                  <a:srgbClr val="FF0000"/>
                </a:solidFill>
                <a:highlight>
                  <a:srgbClr val="FFFF00"/>
                </a:highlight>
                <a:latin typeface="PKMLHR+MicrosoftYaHei"/>
                <a:cs typeface="PKMLHR+MicrosoftYaHei"/>
              </a:rPr>
              <a:t>发票开具申请单：按合同和出库单</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履约进度交付开具发票</a:t>
            </a:r>
            <a:endParaRPr lang="en-US" altLang="zh-CN" sz="2400" dirty="0">
              <a:solidFill>
                <a:srgbClr val="FF0000"/>
              </a:solidFill>
              <a:highlight>
                <a:srgbClr val="FFFF00"/>
              </a:highlight>
              <a:latin typeface="PKMLHR+MicrosoftYaHei"/>
              <a:cs typeface="PKMLHR+MicrosoftYaHei"/>
            </a:endParaRPr>
          </a:p>
          <a:p>
            <a:pPr>
              <a:lnSpc>
                <a:spcPts val="2500"/>
              </a:lnSpc>
              <a:spcBef>
                <a:spcPts val="2736"/>
              </a:spcBef>
            </a:pPr>
            <a:r>
              <a:rPr lang="zh-CN" altLang="en-US" sz="2400" dirty="0">
                <a:solidFill>
                  <a:srgbClr val="FF0000"/>
                </a:solidFill>
                <a:highlight>
                  <a:srgbClr val="FFFF00"/>
                </a:highlight>
                <a:latin typeface="PKMLHR+MicrosoftYaHei"/>
                <a:cs typeface="PKMLHR+MicrosoftYaHei"/>
              </a:rPr>
              <a:t>销项发票管理台账：我方开具给客户的发票</a:t>
            </a:r>
            <a:endParaRPr lang="en-US" altLang="zh-CN" sz="2400" dirty="0">
              <a:solidFill>
                <a:srgbClr val="FF0000"/>
              </a:solidFill>
              <a:highlight>
                <a:srgbClr val="FFFF00"/>
              </a:highlight>
              <a:latin typeface="PKMLHR+MicrosoftYaHei"/>
              <a:cs typeface="PKMLHR+MicrosoftYaHei"/>
            </a:endParaRPr>
          </a:p>
          <a:p>
            <a:pPr>
              <a:lnSpc>
                <a:spcPts val="2500"/>
              </a:lnSpc>
              <a:spcBef>
                <a:spcPts val="2736"/>
              </a:spcBef>
            </a:pPr>
            <a:endParaRPr lang="en-US" altLang="zh-CN" sz="2400" dirty="0">
              <a:solidFill>
                <a:srgbClr val="FF0000"/>
              </a:solidFill>
              <a:highlight>
                <a:srgbClr val="FFFF00"/>
              </a:highlight>
              <a:latin typeface="PKMLHR+MicrosoftYaHei"/>
              <a:cs typeface="PKMLHR+MicrosoftYaHei"/>
            </a:endParaRPr>
          </a:p>
        </p:txBody>
      </p:sp>
      <p:sp>
        <p:nvSpPr>
          <p:cNvPr id="9" name="object 3">
            <a:extLst>
              <a:ext uri="{FF2B5EF4-FFF2-40B4-BE49-F238E27FC236}">
                <a16:creationId xmlns:a16="http://schemas.microsoft.com/office/drawing/2014/main" id="{C8A0B2CD-189E-4204-94DC-3B1EFD1D7914}"/>
              </a:ext>
            </a:extLst>
          </p:cNvPr>
          <p:cNvSpPr txBox="1"/>
          <p:nvPr/>
        </p:nvSpPr>
        <p:spPr>
          <a:xfrm>
            <a:off x="314038" y="203513"/>
            <a:ext cx="2880320" cy="423193"/>
          </a:xfrm>
          <a:prstGeom prst="rect">
            <a:avLst/>
          </a:prstGeom>
        </p:spPr>
        <p:txBody>
          <a:bodyPr vert="horz" wrap="square" lIns="0" tIns="0" rIns="0" bIns="0" rtlCol="0">
            <a:spAutoFit/>
          </a:bodyPr>
          <a:lstStyle/>
          <a:p>
            <a:pPr marL="0" marR="0" lvl="0" indent="0" algn="l" defTabSz="914400" rtl="0" eaLnBrk="1" fontAlgn="auto" latinLnBrk="0" hangingPunct="1">
              <a:lnSpc>
                <a:spcPts val="3339"/>
              </a:lnSpc>
              <a:spcBef>
                <a:spcPts val="0"/>
              </a:spcBef>
              <a:spcAft>
                <a:spcPts val="0"/>
              </a:spcAft>
              <a:buClrTx/>
              <a:buSzTx/>
              <a:buFontTx/>
              <a:buNone/>
              <a:tabLst/>
              <a:defRPr/>
            </a:pPr>
            <a:r>
              <a:rPr kumimoji="0" sz="3200" b="0" i="0" u="none" strike="noStrike" kern="1200" cap="none" spc="0" normalizeH="0" baseline="0" noProof="0" dirty="0" err="1">
                <a:ln>
                  <a:noFill/>
                </a:ln>
                <a:solidFill>
                  <a:srgbClr val="FF0000"/>
                </a:solidFill>
                <a:effectLst/>
                <a:uLnTx/>
                <a:uFillTx/>
                <a:latin typeface="OAKHCI+MicrosoftYaHei-Bold"/>
                <a:ea typeface="+mn-ea"/>
                <a:cs typeface="OAKHCI+MicrosoftYaHei-Bold"/>
              </a:rPr>
              <a:t>财务管控体系</a:t>
            </a:r>
            <a:endParaRPr kumimoji="0" sz="3200" b="0" i="0" u="none" strike="noStrike" kern="1200" cap="none" spc="0" normalizeH="0" baseline="0" noProof="0" dirty="0">
              <a:ln>
                <a:noFill/>
              </a:ln>
              <a:solidFill>
                <a:srgbClr val="FF0000"/>
              </a:solidFill>
              <a:effectLst/>
              <a:uLnTx/>
              <a:uFillTx/>
              <a:latin typeface="OAKHCI+MicrosoftYaHei-Bold"/>
              <a:ea typeface="+mn-ea"/>
              <a:cs typeface="OAKHCI+MicrosoftYaHei-Bold"/>
            </a:endParaRPr>
          </a:p>
        </p:txBody>
      </p:sp>
      <p:pic>
        <p:nvPicPr>
          <p:cNvPr id="13" name="图片 12">
            <a:extLst>
              <a:ext uri="{FF2B5EF4-FFF2-40B4-BE49-F238E27FC236}">
                <a16:creationId xmlns:a16="http://schemas.microsoft.com/office/drawing/2014/main" id="{7EE8BB43-D5DE-473C-AF5B-EE5FF3982F12}"/>
              </a:ext>
            </a:extLst>
          </p:cNvPr>
          <p:cNvPicPr>
            <a:picLocks noChangeAspect="1"/>
          </p:cNvPicPr>
          <p:nvPr/>
        </p:nvPicPr>
        <p:blipFill>
          <a:blip r:embed="rId3"/>
          <a:stretch>
            <a:fillRect/>
          </a:stretch>
        </p:blipFill>
        <p:spPr>
          <a:xfrm>
            <a:off x="839416" y="729981"/>
            <a:ext cx="3043457" cy="674322"/>
          </a:xfrm>
          <a:prstGeom prst="rect">
            <a:avLst/>
          </a:prstGeom>
        </p:spPr>
      </p:pic>
      <p:sp>
        <p:nvSpPr>
          <p:cNvPr id="20" name="object 3">
            <a:extLst>
              <a:ext uri="{FF2B5EF4-FFF2-40B4-BE49-F238E27FC236}">
                <a16:creationId xmlns:a16="http://schemas.microsoft.com/office/drawing/2014/main" id="{001C20A7-300A-4DA7-8E3B-D0172A1E9140}"/>
              </a:ext>
            </a:extLst>
          </p:cNvPr>
          <p:cNvSpPr txBox="1"/>
          <p:nvPr/>
        </p:nvSpPr>
        <p:spPr>
          <a:xfrm>
            <a:off x="239264" y="829934"/>
            <a:ext cx="5051742" cy="423193"/>
          </a:xfrm>
          <a:prstGeom prst="rect">
            <a:avLst/>
          </a:prstGeom>
        </p:spPr>
        <p:txBody>
          <a:bodyPr vert="horz" wrap="square" lIns="0" tIns="0" rIns="0" bIns="0" rtlCol="0">
            <a:spAutoFit/>
          </a:bodyPr>
          <a:lstStyle/>
          <a:p>
            <a:pPr marL="879157" marR="0">
              <a:lnSpc>
                <a:spcPts val="3339"/>
              </a:lnSpc>
              <a:spcBef>
                <a:spcPts val="1972"/>
              </a:spcBef>
              <a:spcAft>
                <a:spcPts val="0"/>
              </a:spcAft>
            </a:pPr>
            <a:r>
              <a:rPr lang="zh-CN" altLang="en-US" sz="3200" b="1" dirty="0">
                <a:solidFill>
                  <a:srgbClr val="000099"/>
                </a:solidFill>
                <a:latin typeface="Berlin Sans FB Demi" panose="020E0802020502020306" pitchFamily="34" charset="0"/>
                <a:cs typeface="OAKHCI+MicrosoftYaHei-Bold"/>
              </a:rPr>
              <a:t>三、销售环节</a:t>
            </a:r>
            <a:endParaRPr sz="3200" b="1" dirty="0">
              <a:solidFill>
                <a:srgbClr val="000099"/>
              </a:solidFill>
              <a:latin typeface="Berlin Sans FB Demi" panose="020E0802020502020306" pitchFamily="34" charset="0"/>
              <a:cs typeface="OAKHCI+MicrosoftYaHei-Bold"/>
            </a:endParaRPr>
          </a:p>
        </p:txBody>
      </p:sp>
      <p:sp>
        <p:nvSpPr>
          <p:cNvPr id="10" name="箭头: 下 9">
            <a:extLst>
              <a:ext uri="{FF2B5EF4-FFF2-40B4-BE49-F238E27FC236}">
                <a16:creationId xmlns:a16="http://schemas.microsoft.com/office/drawing/2014/main" id="{C622EE6A-D6F6-4E01-ABA1-73065B7ED7B5}"/>
              </a:ext>
            </a:extLst>
          </p:cNvPr>
          <p:cNvSpPr/>
          <p:nvPr/>
        </p:nvSpPr>
        <p:spPr>
          <a:xfrm>
            <a:off x="839416" y="2379872"/>
            <a:ext cx="480172" cy="36842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45E95F7E-3C85-417F-969A-E4B4E38C5350}"/>
              </a:ext>
            </a:extLst>
          </p:cNvPr>
          <p:cNvSpPr/>
          <p:nvPr/>
        </p:nvSpPr>
        <p:spPr>
          <a:xfrm>
            <a:off x="839416" y="3246281"/>
            <a:ext cx="480172" cy="24462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6953EE6B-FAC6-4CF2-9B11-C7A22821FE33}"/>
              </a:ext>
            </a:extLst>
          </p:cNvPr>
          <p:cNvSpPr/>
          <p:nvPr/>
        </p:nvSpPr>
        <p:spPr>
          <a:xfrm>
            <a:off x="983432" y="5013176"/>
            <a:ext cx="480172" cy="57606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箭头: 下 1">
            <a:extLst>
              <a:ext uri="{FF2B5EF4-FFF2-40B4-BE49-F238E27FC236}">
                <a16:creationId xmlns:a16="http://schemas.microsoft.com/office/drawing/2014/main" id="{9367C8F9-F544-40D1-8D90-39EA19E11C97}"/>
              </a:ext>
            </a:extLst>
          </p:cNvPr>
          <p:cNvSpPr/>
          <p:nvPr/>
        </p:nvSpPr>
        <p:spPr>
          <a:xfrm>
            <a:off x="3647728" y="2204863"/>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BAE82DF2-A53D-454E-A633-A5C422F6251F}"/>
              </a:ext>
            </a:extLst>
          </p:cNvPr>
          <p:cNvSpPr/>
          <p:nvPr/>
        </p:nvSpPr>
        <p:spPr>
          <a:xfrm>
            <a:off x="3693096" y="3181320"/>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707C845C-25B2-4640-9A87-30810AE3578B}"/>
              </a:ext>
            </a:extLst>
          </p:cNvPr>
          <p:cNvSpPr/>
          <p:nvPr/>
        </p:nvSpPr>
        <p:spPr>
          <a:xfrm>
            <a:off x="3766084" y="5159752"/>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FF90CAAA-D421-463D-AE1C-C337917AC12A}"/>
              </a:ext>
            </a:extLst>
          </p:cNvPr>
          <p:cNvSpPr/>
          <p:nvPr/>
        </p:nvSpPr>
        <p:spPr>
          <a:xfrm>
            <a:off x="3766084" y="5845108"/>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FF3666E8-9A07-4062-84CA-26CF7D531964}"/>
              </a:ext>
            </a:extLst>
          </p:cNvPr>
          <p:cNvSpPr/>
          <p:nvPr/>
        </p:nvSpPr>
        <p:spPr>
          <a:xfrm>
            <a:off x="2063552" y="1841141"/>
            <a:ext cx="432048" cy="391032"/>
          </a:xfrm>
          <a:prstGeom prst="rightArrow">
            <a:avLst>
              <a:gd name="adj1" fmla="val 50000"/>
              <a:gd name="adj2" fmla="val 58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4BD63531-413E-4352-86DD-993624832B82}"/>
              </a:ext>
            </a:extLst>
          </p:cNvPr>
          <p:cNvSpPr/>
          <p:nvPr/>
        </p:nvSpPr>
        <p:spPr>
          <a:xfrm>
            <a:off x="2145120" y="2824875"/>
            <a:ext cx="432048" cy="391032"/>
          </a:xfrm>
          <a:prstGeom prst="rightArrow">
            <a:avLst>
              <a:gd name="adj1" fmla="val 50000"/>
              <a:gd name="adj2" fmla="val 58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058C5C19-710E-4D9F-8D6E-8F92AAF9F8A9}"/>
              </a:ext>
            </a:extLst>
          </p:cNvPr>
          <p:cNvSpPr/>
          <p:nvPr/>
        </p:nvSpPr>
        <p:spPr>
          <a:xfrm>
            <a:off x="2361144" y="3864402"/>
            <a:ext cx="432048" cy="391032"/>
          </a:xfrm>
          <a:prstGeom prst="rightArrow">
            <a:avLst>
              <a:gd name="adj1" fmla="val 50000"/>
              <a:gd name="adj2" fmla="val 58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4AFAACC0-5FCC-46D0-BAA8-4436FFA296FA}"/>
              </a:ext>
            </a:extLst>
          </p:cNvPr>
          <p:cNvSpPr/>
          <p:nvPr/>
        </p:nvSpPr>
        <p:spPr>
          <a:xfrm>
            <a:off x="2356593" y="5862993"/>
            <a:ext cx="432048" cy="391032"/>
          </a:xfrm>
          <a:prstGeom prst="rightArrow">
            <a:avLst>
              <a:gd name="adj1" fmla="val 50000"/>
              <a:gd name="adj2" fmla="val 58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3DFCA0A-E632-4781-AEAE-CC8441A30788}"/>
              </a:ext>
            </a:extLst>
          </p:cNvPr>
          <p:cNvPicPr>
            <a:picLocks noChangeAspect="1"/>
          </p:cNvPicPr>
          <p:nvPr/>
        </p:nvPicPr>
        <p:blipFill>
          <a:blip r:embed="rId2"/>
          <a:stretch>
            <a:fillRect/>
          </a:stretch>
        </p:blipFill>
        <p:spPr>
          <a:xfrm>
            <a:off x="2875656" y="1644928"/>
            <a:ext cx="8944282" cy="3696673"/>
          </a:xfrm>
          <a:prstGeom prst="rect">
            <a:avLst/>
          </a:prstGeom>
        </p:spPr>
      </p:pic>
      <p:sp>
        <p:nvSpPr>
          <p:cNvPr id="4" name="object 4"/>
          <p:cNvSpPr txBox="1"/>
          <p:nvPr/>
        </p:nvSpPr>
        <p:spPr>
          <a:xfrm>
            <a:off x="767408" y="2708920"/>
            <a:ext cx="2036240" cy="987450"/>
          </a:xfrm>
          <a:prstGeom prst="rect">
            <a:avLst/>
          </a:prstGeom>
        </p:spPr>
        <p:txBody>
          <a:bodyPr vert="horz" wrap="square" lIns="0" tIns="0" rIns="0" bIns="0" rtlCol="0">
            <a:spAutoFit/>
          </a:bodyPr>
          <a:lstStyle/>
          <a:p>
            <a:pPr marL="0" marR="0">
              <a:lnSpc>
                <a:spcPts val="2500"/>
              </a:lnSpc>
              <a:spcBef>
                <a:spcPts val="2731"/>
              </a:spcBef>
              <a:spcAft>
                <a:spcPts val="0"/>
              </a:spcAft>
            </a:pPr>
            <a:r>
              <a:rPr lang="en-US" altLang="zh-CN" sz="2400" b="1" dirty="0">
                <a:solidFill>
                  <a:srgbClr val="000099"/>
                </a:solidFill>
                <a:highlight>
                  <a:srgbClr val="FFFF00"/>
                </a:highlight>
                <a:latin typeface="PKMLHR+MicrosoftYaHei"/>
                <a:cs typeface="PKMLHR+MicrosoftYaHei"/>
              </a:rPr>
              <a:t>5</a:t>
            </a:r>
            <a:r>
              <a:rPr lang="zh-CN" altLang="en-US" sz="2400" b="1" dirty="0">
                <a:solidFill>
                  <a:srgbClr val="000099"/>
                </a:solidFill>
                <a:highlight>
                  <a:srgbClr val="FFFF00"/>
                </a:highlight>
                <a:latin typeface="PKMLHR+MicrosoftYaHei"/>
                <a:cs typeface="PKMLHR+MicrosoftYaHei"/>
              </a:rPr>
              <a:t>、预收款</a:t>
            </a:r>
            <a:r>
              <a:rPr lang="en-US" altLang="zh-CN" sz="2400" b="1" dirty="0">
                <a:solidFill>
                  <a:srgbClr val="000099"/>
                </a:solidFill>
                <a:highlight>
                  <a:srgbClr val="FFFF00"/>
                </a:highlight>
                <a:latin typeface="PKMLHR+MicrosoftYaHei"/>
                <a:cs typeface="PKMLHR+MicrosoftYaHei"/>
              </a:rPr>
              <a:t>/ </a:t>
            </a:r>
          </a:p>
          <a:p>
            <a:pPr marL="0" marR="0">
              <a:lnSpc>
                <a:spcPts val="2500"/>
              </a:lnSpc>
              <a:spcBef>
                <a:spcPts val="2731"/>
              </a:spcBef>
              <a:spcAft>
                <a:spcPts val="0"/>
              </a:spcAft>
            </a:pPr>
            <a:r>
              <a:rPr lang="en-US" altLang="zh-CN" sz="2400" b="1" dirty="0">
                <a:solidFill>
                  <a:srgbClr val="000099"/>
                </a:solidFill>
                <a:highlight>
                  <a:srgbClr val="FFFF00"/>
                </a:highlight>
                <a:latin typeface="PKMLHR+MicrosoftYaHei"/>
                <a:cs typeface="PKMLHR+MicrosoftYaHei"/>
              </a:rPr>
              <a:t>    </a:t>
            </a:r>
            <a:r>
              <a:rPr lang="zh-CN" altLang="en-US" sz="2400" b="1" dirty="0">
                <a:solidFill>
                  <a:srgbClr val="000099"/>
                </a:solidFill>
                <a:highlight>
                  <a:srgbClr val="FFFF00"/>
                </a:highlight>
                <a:latin typeface="PKMLHR+MicrosoftYaHei"/>
                <a:cs typeface="PKMLHR+MicrosoftYaHei"/>
              </a:rPr>
              <a:t>应收账款</a:t>
            </a:r>
            <a:endParaRPr sz="2400" b="1" dirty="0">
              <a:solidFill>
                <a:srgbClr val="000099"/>
              </a:solidFill>
              <a:highlight>
                <a:srgbClr val="FFFF00"/>
              </a:highlight>
              <a:latin typeface="PKMLHR+MicrosoftYaHei"/>
              <a:cs typeface="PKMLHR+MicrosoftYaHei"/>
            </a:endParaRPr>
          </a:p>
        </p:txBody>
      </p:sp>
      <p:pic>
        <p:nvPicPr>
          <p:cNvPr id="13" name="图片 12">
            <a:extLst>
              <a:ext uri="{FF2B5EF4-FFF2-40B4-BE49-F238E27FC236}">
                <a16:creationId xmlns:a16="http://schemas.microsoft.com/office/drawing/2014/main" id="{FF74CA58-903F-4194-B0C6-4F3D94F76234}"/>
              </a:ext>
            </a:extLst>
          </p:cNvPr>
          <p:cNvPicPr>
            <a:picLocks noChangeAspect="1"/>
          </p:cNvPicPr>
          <p:nvPr/>
        </p:nvPicPr>
        <p:blipFill>
          <a:blip r:embed="rId3"/>
          <a:stretch>
            <a:fillRect/>
          </a:stretch>
        </p:blipFill>
        <p:spPr>
          <a:xfrm>
            <a:off x="7464152" y="559215"/>
            <a:ext cx="2462697" cy="674322"/>
          </a:xfrm>
          <a:prstGeom prst="rect">
            <a:avLst/>
          </a:prstGeom>
        </p:spPr>
      </p:pic>
      <p:sp>
        <p:nvSpPr>
          <p:cNvPr id="14" name="object 3">
            <a:extLst>
              <a:ext uri="{FF2B5EF4-FFF2-40B4-BE49-F238E27FC236}">
                <a16:creationId xmlns:a16="http://schemas.microsoft.com/office/drawing/2014/main" id="{6D1F1BEF-8B19-4DF2-8D7C-F8C0EB99F245}"/>
              </a:ext>
            </a:extLst>
          </p:cNvPr>
          <p:cNvSpPr txBox="1"/>
          <p:nvPr/>
        </p:nvSpPr>
        <p:spPr>
          <a:xfrm>
            <a:off x="315344" y="158968"/>
            <a:ext cx="2880320" cy="423193"/>
          </a:xfrm>
          <a:prstGeom prst="rect">
            <a:avLst/>
          </a:prstGeom>
        </p:spPr>
        <p:txBody>
          <a:bodyPr vert="horz" wrap="square" lIns="0" tIns="0" rIns="0" bIns="0" rtlCol="0">
            <a:spAutoFit/>
          </a:bodyPr>
          <a:lstStyle/>
          <a:p>
            <a:pPr marL="0" marR="0" lvl="0" indent="0" algn="l" defTabSz="914400" rtl="0" eaLnBrk="1" fontAlgn="auto" latinLnBrk="0" hangingPunct="1">
              <a:lnSpc>
                <a:spcPts val="3339"/>
              </a:lnSpc>
              <a:spcBef>
                <a:spcPts val="0"/>
              </a:spcBef>
              <a:spcAft>
                <a:spcPts val="0"/>
              </a:spcAft>
              <a:buClrTx/>
              <a:buSzTx/>
              <a:buFontTx/>
              <a:buNone/>
              <a:tabLst/>
              <a:defRPr/>
            </a:pPr>
            <a:r>
              <a:rPr kumimoji="0" sz="3200" b="0" i="0" u="none" strike="noStrike" kern="1200" cap="none" spc="0" normalizeH="0" baseline="0" noProof="0" dirty="0" err="1">
                <a:ln>
                  <a:noFill/>
                </a:ln>
                <a:solidFill>
                  <a:srgbClr val="FF0000"/>
                </a:solidFill>
                <a:effectLst/>
                <a:uLnTx/>
                <a:uFillTx/>
                <a:latin typeface="OAKHCI+MicrosoftYaHei-Bold"/>
                <a:ea typeface="+mn-ea"/>
                <a:cs typeface="OAKHCI+MicrosoftYaHei-Bold"/>
              </a:rPr>
              <a:t>财务管控体系</a:t>
            </a:r>
            <a:endParaRPr kumimoji="0" sz="3200" b="0" i="0" u="none" strike="noStrike" kern="1200" cap="none" spc="0" normalizeH="0" baseline="0" noProof="0" dirty="0">
              <a:ln>
                <a:noFill/>
              </a:ln>
              <a:solidFill>
                <a:srgbClr val="FF0000"/>
              </a:solidFill>
              <a:effectLst/>
              <a:uLnTx/>
              <a:uFillTx/>
              <a:latin typeface="OAKHCI+MicrosoftYaHei-Bold"/>
              <a:ea typeface="+mn-ea"/>
              <a:cs typeface="OAKHCI+MicrosoftYaHei-Bold"/>
            </a:endParaRPr>
          </a:p>
        </p:txBody>
      </p:sp>
      <p:pic>
        <p:nvPicPr>
          <p:cNvPr id="15" name="图片 14">
            <a:extLst>
              <a:ext uri="{FF2B5EF4-FFF2-40B4-BE49-F238E27FC236}">
                <a16:creationId xmlns:a16="http://schemas.microsoft.com/office/drawing/2014/main" id="{F0EA2733-12C9-4464-95AB-DAF0519C059B}"/>
              </a:ext>
            </a:extLst>
          </p:cNvPr>
          <p:cNvPicPr>
            <a:picLocks noChangeAspect="1"/>
          </p:cNvPicPr>
          <p:nvPr/>
        </p:nvPicPr>
        <p:blipFill>
          <a:blip r:embed="rId3"/>
          <a:stretch>
            <a:fillRect/>
          </a:stretch>
        </p:blipFill>
        <p:spPr>
          <a:xfrm>
            <a:off x="767408" y="684780"/>
            <a:ext cx="2987637" cy="674322"/>
          </a:xfrm>
          <a:prstGeom prst="rect">
            <a:avLst/>
          </a:prstGeom>
        </p:spPr>
      </p:pic>
      <p:sp>
        <p:nvSpPr>
          <p:cNvPr id="16" name="object 3">
            <a:extLst>
              <a:ext uri="{FF2B5EF4-FFF2-40B4-BE49-F238E27FC236}">
                <a16:creationId xmlns:a16="http://schemas.microsoft.com/office/drawing/2014/main" id="{99FCB102-DC15-4130-9A03-64AD67C8CCD0}"/>
              </a:ext>
            </a:extLst>
          </p:cNvPr>
          <p:cNvSpPr txBox="1"/>
          <p:nvPr/>
        </p:nvSpPr>
        <p:spPr>
          <a:xfrm>
            <a:off x="119336" y="810344"/>
            <a:ext cx="5051742" cy="423193"/>
          </a:xfrm>
          <a:prstGeom prst="rect">
            <a:avLst/>
          </a:prstGeom>
        </p:spPr>
        <p:txBody>
          <a:bodyPr vert="horz" wrap="square" lIns="0" tIns="0" rIns="0" bIns="0" rtlCol="0">
            <a:spAutoFit/>
          </a:bodyPr>
          <a:lstStyle/>
          <a:p>
            <a:pPr marL="879157" marR="0">
              <a:lnSpc>
                <a:spcPts val="3339"/>
              </a:lnSpc>
              <a:spcBef>
                <a:spcPts val="1972"/>
              </a:spcBef>
              <a:spcAft>
                <a:spcPts val="0"/>
              </a:spcAft>
            </a:pPr>
            <a:r>
              <a:rPr lang="zh-CN" altLang="en-US" sz="3200" b="1" dirty="0">
                <a:solidFill>
                  <a:srgbClr val="000099"/>
                </a:solidFill>
                <a:latin typeface="Berlin Sans FB Demi" panose="020E0802020502020306" pitchFamily="34" charset="0"/>
                <a:cs typeface="OAKHCI+MicrosoftYaHei-Bold"/>
              </a:rPr>
              <a:t>三、销售环节</a:t>
            </a:r>
            <a:endParaRPr sz="3200" b="1" dirty="0">
              <a:solidFill>
                <a:srgbClr val="000099"/>
              </a:solidFill>
              <a:latin typeface="Berlin Sans FB Demi" panose="020E0802020502020306" pitchFamily="34" charset="0"/>
              <a:cs typeface="OAKHCI+MicrosoftYaHei-Bold"/>
            </a:endParaRPr>
          </a:p>
        </p:txBody>
      </p:sp>
      <p:sp>
        <p:nvSpPr>
          <p:cNvPr id="17" name="object 3">
            <a:extLst>
              <a:ext uri="{FF2B5EF4-FFF2-40B4-BE49-F238E27FC236}">
                <a16:creationId xmlns:a16="http://schemas.microsoft.com/office/drawing/2014/main" id="{7C753515-D4CD-4F43-8D31-CA2C1982FF15}"/>
              </a:ext>
            </a:extLst>
          </p:cNvPr>
          <p:cNvSpPr txBox="1"/>
          <p:nvPr/>
        </p:nvSpPr>
        <p:spPr>
          <a:xfrm>
            <a:off x="7020922" y="727955"/>
            <a:ext cx="5051742" cy="423193"/>
          </a:xfrm>
          <a:prstGeom prst="rect">
            <a:avLst/>
          </a:prstGeom>
        </p:spPr>
        <p:txBody>
          <a:bodyPr vert="horz" wrap="square" lIns="0" tIns="0" rIns="0" bIns="0" rtlCol="0">
            <a:spAutoFit/>
          </a:bodyPr>
          <a:lstStyle/>
          <a:p>
            <a:pPr marL="879157" marR="0">
              <a:lnSpc>
                <a:spcPts val="3339"/>
              </a:lnSpc>
              <a:spcBef>
                <a:spcPts val="1972"/>
              </a:spcBef>
              <a:spcAft>
                <a:spcPts val="0"/>
              </a:spcAft>
            </a:pPr>
            <a:r>
              <a:rPr lang="zh-CN" altLang="en-US" sz="3200" b="1" dirty="0">
                <a:solidFill>
                  <a:srgbClr val="000099"/>
                </a:solidFill>
                <a:latin typeface="+mn-ea"/>
                <a:cs typeface="OAKHCI+MicrosoftYaHei-Bold"/>
              </a:rPr>
              <a:t>流程设计</a:t>
            </a:r>
          </a:p>
        </p:txBody>
      </p:sp>
      <p:sp>
        <p:nvSpPr>
          <p:cNvPr id="19" name="object 5">
            <a:extLst>
              <a:ext uri="{FF2B5EF4-FFF2-40B4-BE49-F238E27FC236}">
                <a16:creationId xmlns:a16="http://schemas.microsoft.com/office/drawing/2014/main" id="{0C0EC5E1-AC4A-42F0-A064-5895E642E062}"/>
              </a:ext>
            </a:extLst>
          </p:cNvPr>
          <p:cNvSpPr txBox="1"/>
          <p:nvPr/>
        </p:nvSpPr>
        <p:spPr>
          <a:xfrm>
            <a:off x="3111769" y="2235646"/>
            <a:ext cx="9080231" cy="3094822"/>
          </a:xfrm>
          <a:prstGeom prst="rect">
            <a:avLst/>
          </a:prstGeom>
        </p:spPr>
        <p:txBody>
          <a:bodyPr vert="horz" wrap="square" lIns="0" tIns="0" rIns="0" bIns="0" rtlCol="0">
            <a:spAutoFit/>
          </a:bodyPr>
          <a:lstStyle/>
          <a:p>
            <a:pPr marL="0" marR="0">
              <a:lnSpc>
                <a:spcPts val="2500"/>
              </a:lnSpc>
              <a:spcBef>
                <a:spcPts val="2924"/>
              </a:spcBef>
              <a:spcAft>
                <a:spcPts val="0"/>
              </a:spcAft>
            </a:pPr>
            <a:r>
              <a:rPr lang="zh-CN" altLang="en-US" sz="2400" dirty="0">
                <a:solidFill>
                  <a:srgbClr val="FF0000"/>
                </a:solidFill>
                <a:highlight>
                  <a:srgbClr val="FFFF00"/>
                </a:highlight>
                <a:latin typeface="PKMLHR+MicrosoftYaHei"/>
                <a:cs typeface="PKMLHR+MicrosoftYaHei"/>
              </a:rPr>
              <a:t>应收</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预收款项申请单：项目启动资金</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履约进度交付结算款专用</a:t>
            </a:r>
            <a:endParaRPr lang="en-US" altLang="zh-CN" sz="2400" dirty="0">
              <a:solidFill>
                <a:srgbClr val="FF0000"/>
              </a:solidFill>
              <a:highlight>
                <a:srgbClr val="FFFF00"/>
              </a:highlight>
              <a:latin typeface="PKMLHR+MicrosoftYaHei"/>
              <a:cs typeface="PKMLHR+MicrosoftYaHei"/>
            </a:endParaRPr>
          </a:p>
          <a:p>
            <a:pPr marL="0" marR="0">
              <a:lnSpc>
                <a:spcPts val="2500"/>
              </a:lnSpc>
              <a:spcBef>
                <a:spcPts val="2924"/>
              </a:spcBef>
              <a:spcAft>
                <a:spcPts val="0"/>
              </a:spcAft>
            </a:pPr>
            <a:r>
              <a:rPr lang="zh-CN" altLang="en-US" sz="2400" dirty="0">
                <a:solidFill>
                  <a:srgbClr val="FF0000"/>
                </a:solidFill>
                <a:highlight>
                  <a:srgbClr val="FFFF00"/>
                </a:highlight>
                <a:latin typeface="PKMLHR+MicrosoftYaHei"/>
                <a:cs typeface="PKMLHR+MicrosoftYaHei"/>
              </a:rPr>
              <a:t>应收账款台账：销售设备</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材料</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项目结算等全流程应收登记收款</a:t>
            </a:r>
            <a:endParaRPr lang="en-US" altLang="zh-CN" sz="2400" dirty="0">
              <a:solidFill>
                <a:srgbClr val="FF0000"/>
              </a:solidFill>
              <a:highlight>
                <a:srgbClr val="FFFF00"/>
              </a:highlight>
              <a:latin typeface="PKMLHR+MicrosoftYaHei"/>
              <a:cs typeface="PKMLHR+MicrosoftYaHei"/>
            </a:endParaRPr>
          </a:p>
          <a:p>
            <a:pPr marL="0" marR="0">
              <a:lnSpc>
                <a:spcPts val="2500"/>
              </a:lnSpc>
              <a:spcBef>
                <a:spcPts val="2924"/>
              </a:spcBef>
              <a:spcAft>
                <a:spcPts val="0"/>
              </a:spcAft>
            </a:pPr>
            <a:r>
              <a:rPr lang="zh-CN" altLang="en-US" sz="2400" dirty="0">
                <a:solidFill>
                  <a:srgbClr val="FF0000"/>
                </a:solidFill>
                <a:highlight>
                  <a:srgbClr val="FFFF00"/>
                </a:highlight>
                <a:latin typeface="PKMLHR+MicrosoftYaHei"/>
                <a:cs typeface="PKMLHR+MicrosoftYaHei"/>
              </a:rPr>
              <a:t>应收账款账龄分析表：临期应收</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超期未收</a:t>
            </a:r>
            <a:r>
              <a:rPr lang="en-US" altLang="zh-CN" sz="2400" dirty="0">
                <a:solidFill>
                  <a:srgbClr val="FF0000"/>
                </a:solidFill>
                <a:highlight>
                  <a:srgbClr val="FFFF00"/>
                </a:highlight>
                <a:latin typeface="PKMLHR+MicrosoftYaHei"/>
                <a:cs typeface="PKMLHR+MicrosoftYaHei"/>
              </a:rPr>
              <a:t>/</a:t>
            </a:r>
            <a:r>
              <a:rPr lang="zh-CN" altLang="en-US" sz="2400" dirty="0">
                <a:solidFill>
                  <a:srgbClr val="FF0000"/>
                </a:solidFill>
                <a:highlight>
                  <a:srgbClr val="FFFF00"/>
                </a:highlight>
                <a:latin typeface="PKMLHR+MicrosoftYaHei"/>
                <a:cs typeface="PKMLHR+MicrosoftYaHei"/>
              </a:rPr>
              <a:t>坏账等，按期催收</a:t>
            </a:r>
            <a:endParaRPr lang="en-US" altLang="zh-CN" sz="2400" dirty="0">
              <a:solidFill>
                <a:srgbClr val="FF0000"/>
              </a:solidFill>
              <a:highlight>
                <a:srgbClr val="FFFF00"/>
              </a:highlight>
              <a:latin typeface="PKMLHR+MicrosoftYaHei"/>
              <a:cs typeface="PKMLHR+MicrosoftYaHei"/>
            </a:endParaRPr>
          </a:p>
          <a:p>
            <a:pPr>
              <a:lnSpc>
                <a:spcPts val="2500"/>
              </a:lnSpc>
              <a:spcBef>
                <a:spcPts val="2924"/>
              </a:spcBef>
            </a:pPr>
            <a:r>
              <a:rPr lang="zh-CN" altLang="zh-CN" kern="2200" dirty="0">
                <a:solidFill>
                  <a:srgbClr val="FF0000"/>
                </a:solidFill>
                <a:effectLst/>
                <a:highlight>
                  <a:srgbClr val="FFFF00"/>
                </a:highlight>
                <a:latin typeface="Calibri" panose="020F0502020204030204" pitchFamily="34" charset="0"/>
                <a:ea typeface="微软雅黑" panose="020B0503020204020204" pitchFamily="34" charset="-122"/>
                <a:cs typeface="微软雅黑" panose="020B0503020204020204" pitchFamily="34" charset="-122"/>
              </a:rPr>
              <a:t>应 收 账 款 催 收 函</a:t>
            </a:r>
            <a:r>
              <a:rPr lang="zh-CN" altLang="en-US" kern="2200" dirty="0">
                <a:solidFill>
                  <a:srgbClr val="FF0000"/>
                </a:solidFill>
                <a:effectLst/>
                <a:highlight>
                  <a:srgbClr val="FFFF00"/>
                </a:highlight>
                <a:latin typeface="Calibri" panose="020F0502020204030204" pitchFamily="34" charset="0"/>
                <a:ea typeface="微软雅黑" panose="020B0503020204020204" pitchFamily="34" charset="-122"/>
                <a:cs typeface="微软雅黑" panose="020B0503020204020204" pitchFamily="34" charset="-122"/>
              </a:rPr>
              <a:t>：已超期客户、信用失真、偿债能力严重下降，日常催收无效等</a:t>
            </a:r>
            <a:endParaRPr lang="zh-CN" altLang="zh-CN" kern="2200" dirty="0">
              <a:effectLst/>
              <a:highlight>
                <a:srgbClr val="FFFF00"/>
              </a:highlight>
              <a:latin typeface="Calibri" panose="020F0502020204030204" pitchFamily="34" charset="0"/>
              <a:cs typeface="Times New Roman" panose="02020603050405020304" pitchFamily="18" charset="0"/>
            </a:endParaRPr>
          </a:p>
          <a:p>
            <a:pPr marL="0" marR="0">
              <a:lnSpc>
                <a:spcPts val="2500"/>
              </a:lnSpc>
              <a:spcBef>
                <a:spcPts val="2924"/>
              </a:spcBef>
              <a:spcAft>
                <a:spcPts val="0"/>
              </a:spcAft>
            </a:pPr>
            <a:endParaRPr lang="en-US" altLang="zh-CN" sz="2400" dirty="0">
              <a:solidFill>
                <a:srgbClr val="FF0000"/>
              </a:solidFill>
              <a:highlight>
                <a:srgbClr val="FFFF00"/>
              </a:highlight>
              <a:latin typeface="PKMLHR+MicrosoftYaHei"/>
              <a:cs typeface="PKMLHR+MicrosoftYaHei"/>
            </a:endParaRPr>
          </a:p>
        </p:txBody>
      </p:sp>
      <p:sp>
        <p:nvSpPr>
          <p:cNvPr id="10" name="箭头: 下 9">
            <a:extLst>
              <a:ext uri="{FF2B5EF4-FFF2-40B4-BE49-F238E27FC236}">
                <a16:creationId xmlns:a16="http://schemas.microsoft.com/office/drawing/2014/main" id="{123DFE13-6EC2-41E4-BAFA-5CC57975F3DE}"/>
              </a:ext>
            </a:extLst>
          </p:cNvPr>
          <p:cNvSpPr/>
          <p:nvPr/>
        </p:nvSpPr>
        <p:spPr>
          <a:xfrm>
            <a:off x="1199456" y="1787014"/>
            <a:ext cx="480172" cy="819043"/>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箭头: 右 1">
            <a:extLst>
              <a:ext uri="{FF2B5EF4-FFF2-40B4-BE49-F238E27FC236}">
                <a16:creationId xmlns:a16="http://schemas.microsoft.com/office/drawing/2014/main" id="{0F1B1E3D-C5CF-4786-85EB-F872B49FC430}"/>
              </a:ext>
            </a:extLst>
          </p:cNvPr>
          <p:cNvSpPr/>
          <p:nvPr/>
        </p:nvSpPr>
        <p:spPr>
          <a:xfrm>
            <a:off x="2423592" y="2996952"/>
            <a:ext cx="380056"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5734AC9F-813E-442E-AE54-630678018ECD}"/>
              </a:ext>
            </a:extLst>
          </p:cNvPr>
          <p:cNvSpPr/>
          <p:nvPr/>
        </p:nvSpPr>
        <p:spPr>
          <a:xfrm>
            <a:off x="3819656" y="2606057"/>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1E92A0F5-A00F-41DD-80BF-28C9E1ADA240}"/>
              </a:ext>
            </a:extLst>
          </p:cNvPr>
          <p:cNvSpPr/>
          <p:nvPr/>
        </p:nvSpPr>
        <p:spPr>
          <a:xfrm>
            <a:off x="3880378" y="3287544"/>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F8979D5A-74D7-451C-95A5-C3E57B1ACE8A}"/>
              </a:ext>
            </a:extLst>
          </p:cNvPr>
          <p:cNvSpPr/>
          <p:nvPr/>
        </p:nvSpPr>
        <p:spPr>
          <a:xfrm>
            <a:off x="3892141" y="3962713"/>
            <a:ext cx="360040" cy="282911"/>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3826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1C17A62-990D-4444-9E06-1DC7CB488F5E}"/>
              </a:ext>
            </a:extLst>
          </p:cNvPr>
          <p:cNvSpPr txBox="1"/>
          <p:nvPr/>
        </p:nvSpPr>
        <p:spPr>
          <a:xfrm>
            <a:off x="119336" y="188640"/>
            <a:ext cx="2376264" cy="461665"/>
          </a:xfrm>
          <a:prstGeom prst="rect">
            <a:avLst/>
          </a:prstGeom>
          <a:solidFill>
            <a:srgbClr val="FFFF00"/>
          </a:solidFill>
        </p:spPr>
        <p:txBody>
          <a:bodyPr wrap="square" rtlCol="0">
            <a:spAutoFit/>
          </a:bodyPr>
          <a:lstStyle/>
          <a:p>
            <a:r>
              <a:rPr lang="zh-CN" altLang="en-US" sz="2400" b="1" dirty="0">
                <a:solidFill>
                  <a:srgbClr val="FF0000"/>
                </a:solidFill>
              </a:rPr>
              <a:t>销售订单</a:t>
            </a:r>
            <a:r>
              <a:rPr lang="en-US" altLang="zh-CN" sz="2400" b="1" dirty="0">
                <a:solidFill>
                  <a:srgbClr val="FF0000"/>
                </a:solidFill>
              </a:rPr>
              <a:t>3-1</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846DA459-667E-45E3-B9C8-ADB9FD7DAD2E}"/>
              </a:ext>
            </a:extLst>
          </p:cNvPr>
          <p:cNvGraphicFramePr>
            <a:graphicFrameLocks noGrp="1"/>
          </p:cNvGraphicFramePr>
          <p:nvPr>
            <p:extLst>
              <p:ext uri="{D42A27DB-BD31-4B8C-83A1-F6EECF244321}">
                <p14:modId xmlns:p14="http://schemas.microsoft.com/office/powerpoint/2010/main" val="1219391089"/>
              </p:ext>
            </p:extLst>
          </p:nvPr>
        </p:nvGraphicFramePr>
        <p:xfrm>
          <a:off x="2711624" y="188640"/>
          <a:ext cx="9217024" cy="6381325"/>
        </p:xfrm>
        <a:graphic>
          <a:graphicData uri="http://schemas.openxmlformats.org/drawingml/2006/table">
            <a:tbl>
              <a:tblPr>
                <a:tableStyleId>{5C22544A-7EE6-4342-B048-85BDC9FD1C3A}</a:tableStyleId>
              </a:tblPr>
              <a:tblGrid>
                <a:gridCol w="2026217">
                  <a:extLst>
                    <a:ext uri="{9D8B030D-6E8A-4147-A177-3AD203B41FA5}">
                      <a16:colId xmlns:a16="http://schemas.microsoft.com/office/drawing/2014/main" val="1918329233"/>
                    </a:ext>
                  </a:extLst>
                </a:gridCol>
                <a:gridCol w="996129">
                  <a:extLst>
                    <a:ext uri="{9D8B030D-6E8A-4147-A177-3AD203B41FA5}">
                      <a16:colId xmlns:a16="http://schemas.microsoft.com/office/drawing/2014/main" val="2579442792"/>
                    </a:ext>
                  </a:extLst>
                </a:gridCol>
                <a:gridCol w="738608">
                  <a:extLst>
                    <a:ext uri="{9D8B030D-6E8A-4147-A177-3AD203B41FA5}">
                      <a16:colId xmlns:a16="http://schemas.microsoft.com/office/drawing/2014/main" val="3175373577"/>
                    </a:ext>
                  </a:extLst>
                </a:gridCol>
                <a:gridCol w="667859">
                  <a:extLst>
                    <a:ext uri="{9D8B030D-6E8A-4147-A177-3AD203B41FA5}">
                      <a16:colId xmlns:a16="http://schemas.microsoft.com/office/drawing/2014/main" val="983494370"/>
                    </a:ext>
                  </a:extLst>
                </a:gridCol>
                <a:gridCol w="667859">
                  <a:extLst>
                    <a:ext uri="{9D8B030D-6E8A-4147-A177-3AD203B41FA5}">
                      <a16:colId xmlns:a16="http://schemas.microsoft.com/office/drawing/2014/main" val="3276692266"/>
                    </a:ext>
                  </a:extLst>
                </a:gridCol>
                <a:gridCol w="803695">
                  <a:extLst>
                    <a:ext uri="{9D8B030D-6E8A-4147-A177-3AD203B41FA5}">
                      <a16:colId xmlns:a16="http://schemas.microsoft.com/office/drawing/2014/main" val="2302779174"/>
                    </a:ext>
                  </a:extLst>
                </a:gridCol>
                <a:gridCol w="894253">
                  <a:extLst>
                    <a:ext uri="{9D8B030D-6E8A-4147-A177-3AD203B41FA5}">
                      <a16:colId xmlns:a16="http://schemas.microsoft.com/office/drawing/2014/main" val="2684285590"/>
                    </a:ext>
                  </a:extLst>
                </a:gridCol>
                <a:gridCol w="1199882">
                  <a:extLst>
                    <a:ext uri="{9D8B030D-6E8A-4147-A177-3AD203B41FA5}">
                      <a16:colId xmlns:a16="http://schemas.microsoft.com/office/drawing/2014/main" val="625510020"/>
                    </a:ext>
                  </a:extLst>
                </a:gridCol>
                <a:gridCol w="1222522">
                  <a:extLst>
                    <a:ext uri="{9D8B030D-6E8A-4147-A177-3AD203B41FA5}">
                      <a16:colId xmlns:a16="http://schemas.microsoft.com/office/drawing/2014/main" val="2446109323"/>
                    </a:ext>
                  </a:extLst>
                </a:gridCol>
              </a:tblGrid>
              <a:tr h="255253">
                <a:tc gridSpan="8">
                  <a:txBody>
                    <a:bodyPr/>
                    <a:lstStyle/>
                    <a:p>
                      <a:pPr algn="ctr" fontAlgn="ctr"/>
                      <a:r>
                        <a:rPr lang="zh-CN" altLang="en-US" sz="800" u="none" strike="noStrike">
                          <a:effectLst/>
                        </a:rPr>
                        <a:t>销售订单（</a:t>
                      </a:r>
                      <a:r>
                        <a:rPr lang="en-US" altLang="zh-CN" sz="800" u="none" strike="noStrike">
                          <a:effectLst/>
                        </a:rPr>
                        <a:t>SO</a:t>
                      </a:r>
                      <a:r>
                        <a:rPr lang="zh-CN" altLang="en-US" sz="800" u="none" strike="noStrike">
                          <a:effectLst/>
                        </a:rPr>
                        <a:t>）</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927443422"/>
                  </a:ext>
                </a:extLst>
              </a:tr>
              <a:tr h="255253">
                <a:tc>
                  <a:txBody>
                    <a:bodyPr/>
                    <a:lstStyle/>
                    <a:p>
                      <a:pPr algn="l" fontAlgn="ctr"/>
                      <a:r>
                        <a:rPr lang="zh-CN" altLang="en-US" sz="700" u="none" strike="noStrike">
                          <a:effectLst/>
                        </a:rPr>
                        <a:t>销售订单编号：</a:t>
                      </a:r>
                      <a:r>
                        <a:rPr lang="en-US" altLang="zh-CN" sz="700" u="none" strike="noStrike">
                          <a:effectLst/>
                        </a:rPr>
                        <a:t>_____________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600" u="none" strike="noStrike">
                          <a:effectLst/>
                        </a:rPr>
                        <a:t>下单日期：</a:t>
                      </a:r>
                      <a:r>
                        <a:rPr lang="en-US" altLang="zh-CN" sz="600" u="none" strike="noStrike">
                          <a:effectLst/>
                        </a:rPr>
                        <a:t>________</a:t>
                      </a:r>
                      <a:r>
                        <a:rPr lang="zh-CN" altLang="en-US" sz="600" u="none" strike="noStrike">
                          <a:effectLst/>
                        </a:rPr>
                        <a:t>年</a:t>
                      </a:r>
                      <a:r>
                        <a:rPr lang="en-US" altLang="zh-CN" sz="600" u="none" strike="noStrike">
                          <a:effectLst/>
                        </a:rPr>
                        <a:t>______</a:t>
                      </a:r>
                      <a:r>
                        <a:rPr lang="zh-CN" altLang="en-US" sz="600" u="none" strike="noStrike">
                          <a:effectLst/>
                        </a:rPr>
                        <a:t>月</a:t>
                      </a:r>
                      <a:r>
                        <a:rPr lang="en-US" altLang="zh-CN" sz="600" u="none" strike="noStrike">
                          <a:effectLst/>
                        </a:rPr>
                        <a:t>______</a:t>
                      </a:r>
                      <a:r>
                        <a:rPr lang="zh-CN" altLang="en-US" sz="600" u="none" strike="noStrike">
                          <a:effectLst/>
                        </a:rPr>
                        <a:t>日</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Times New Roman" panose="02020603050405020304" pitchFamily="18" charset="0"/>
                        <a:ea typeface="宋体" panose="02010600030101010101" pitchFamily="2" charset="-122"/>
                      </a:endParaRPr>
                    </a:p>
                  </a:txBody>
                  <a:tcPr marL="6263" marR="6263" marT="6263" marB="0" anchor="ctr"/>
                </a:tc>
                <a:extLst>
                  <a:ext uri="{0D108BD9-81ED-4DB2-BD59-A6C34878D82A}">
                    <a16:rowId xmlns:a16="http://schemas.microsoft.com/office/drawing/2014/main" val="3558659298"/>
                  </a:ext>
                </a:extLst>
              </a:tr>
              <a:tr h="255253">
                <a:tc>
                  <a:txBody>
                    <a:bodyPr/>
                    <a:lstStyle/>
                    <a:p>
                      <a:pPr algn="ctr" fontAlgn="ctr"/>
                      <a:r>
                        <a:rPr lang="zh-CN" altLang="en-US" sz="700" u="none" strike="noStrike">
                          <a:effectLst/>
                        </a:rPr>
                        <a:t>客户基础信息</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填写内容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112435766"/>
                  </a:ext>
                </a:extLst>
              </a:tr>
              <a:tr h="255253">
                <a:tc>
                  <a:txBody>
                    <a:bodyPr/>
                    <a:lstStyle/>
                    <a:p>
                      <a:pPr algn="l" fontAlgn="ctr"/>
                      <a:r>
                        <a:rPr lang="zh-CN" altLang="en-US" sz="700" u="none" strike="noStrike">
                          <a:effectLst/>
                        </a:rPr>
                        <a:t>客户全称</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07629483"/>
                  </a:ext>
                </a:extLst>
              </a:tr>
              <a:tr h="255253">
                <a:tc>
                  <a:txBody>
                    <a:bodyPr/>
                    <a:lstStyle/>
                    <a:p>
                      <a:pPr algn="l" fontAlgn="ctr"/>
                      <a:r>
                        <a:rPr lang="zh-CN" altLang="en-US" sz="700" u="none" strike="noStrike">
                          <a:effectLst/>
                        </a:rPr>
                        <a:t>客户联系人及电话</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60749695"/>
                  </a:ext>
                </a:extLst>
              </a:tr>
              <a:tr h="255253">
                <a:tc>
                  <a:txBody>
                    <a:bodyPr/>
                    <a:lstStyle/>
                    <a:p>
                      <a:pPr algn="l" fontAlgn="ctr"/>
                      <a:r>
                        <a:rPr lang="zh-CN" altLang="en-US" sz="700" u="none" strike="noStrike">
                          <a:effectLst/>
                        </a:rPr>
                        <a:t>客户开票信息：税号</a:t>
                      </a:r>
                      <a:r>
                        <a:rPr lang="en-US" altLang="zh-CN" sz="700" u="none" strike="noStrike">
                          <a:effectLst/>
                        </a:rPr>
                        <a:t>/</a:t>
                      </a:r>
                      <a:r>
                        <a:rPr lang="zh-CN" altLang="en-US" sz="700" u="none" strike="noStrike">
                          <a:effectLst/>
                        </a:rPr>
                        <a:t>地址</a:t>
                      </a:r>
                      <a:r>
                        <a:rPr lang="en-US" altLang="zh-CN" sz="700" u="none" strike="noStrike">
                          <a:effectLst/>
                        </a:rPr>
                        <a:t>/</a:t>
                      </a:r>
                      <a:r>
                        <a:rPr lang="zh-CN" altLang="en-US" sz="700" u="none" strike="noStrike">
                          <a:effectLst/>
                        </a:rPr>
                        <a:t>电话</a:t>
                      </a:r>
                      <a:r>
                        <a:rPr lang="en-US" altLang="zh-CN" sz="700" u="none" strike="noStrike">
                          <a:effectLst/>
                        </a:rPr>
                        <a:t>/</a:t>
                      </a:r>
                      <a:r>
                        <a:rPr lang="zh-CN" altLang="en-US" sz="700" u="none" strike="noStrike">
                          <a:effectLst/>
                        </a:rPr>
                        <a:t>开户行及账号</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846356576"/>
                  </a:ext>
                </a:extLst>
              </a:tr>
              <a:tr h="255253">
                <a:tc>
                  <a:txBody>
                    <a:bodyPr/>
                    <a:lstStyle/>
                    <a:p>
                      <a:pPr algn="l" fontAlgn="ctr"/>
                      <a:r>
                        <a:rPr lang="zh-CN" altLang="en-US" sz="700" u="none" strike="noStrike">
                          <a:effectLst/>
                        </a:rPr>
                        <a:t>详细收货地址：门牌号</a:t>
                      </a:r>
                      <a:r>
                        <a:rPr lang="en-US" altLang="zh-CN" sz="700" u="none" strike="noStrike">
                          <a:effectLst/>
                        </a:rPr>
                        <a:t>/</a:t>
                      </a:r>
                      <a:r>
                        <a:rPr lang="zh-CN" altLang="en-US" sz="700" u="none" strike="noStrike">
                          <a:effectLst/>
                        </a:rPr>
                        <a:t>仓库地址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743127479"/>
                  </a:ext>
                </a:extLst>
              </a:tr>
              <a:tr h="255253">
                <a:tc>
                  <a:txBody>
                    <a:bodyPr/>
                    <a:lstStyle/>
                    <a:p>
                      <a:pPr algn="l" fontAlgn="ctr"/>
                      <a:r>
                        <a:rPr lang="zh-CN" altLang="en-US" sz="700" u="none" strike="noStrike">
                          <a:effectLst/>
                        </a:rPr>
                        <a:t>收货人及联系电话</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528255740"/>
                  </a:ext>
                </a:extLst>
              </a:tr>
              <a:tr h="255253">
                <a:tc>
                  <a:txBody>
                    <a:bodyPr/>
                    <a:lstStyle/>
                    <a:p>
                      <a:pPr algn="l" fontAlgn="ctr"/>
                      <a:r>
                        <a:rPr lang="zh-CN" altLang="en-US" sz="700" u="none" strike="noStrike">
                          <a:effectLst/>
                        </a:rPr>
                        <a:t>约定交货期限</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l" fontAlgn="ctr"/>
                      <a:r>
                        <a:rPr lang="en-US" altLang="zh-CN" sz="700" u="none" strike="noStrike">
                          <a:effectLst/>
                        </a:rPr>
                        <a:t>________</a:t>
                      </a:r>
                      <a:r>
                        <a:rPr lang="zh-CN" altLang="en-US" sz="700" u="none" strike="noStrike">
                          <a:effectLst/>
                        </a:rPr>
                        <a:t>年</a:t>
                      </a:r>
                      <a:r>
                        <a:rPr lang="en-US" altLang="zh-CN" sz="700" u="none" strike="noStrike">
                          <a:effectLst/>
                        </a:rPr>
                        <a:t>______</a:t>
                      </a:r>
                      <a:r>
                        <a:rPr lang="zh-CN" altLang="en-US" sz="700" u="none" strike="noStrike">
                          <a:effectLst/>
                        </a:rPr>
                        <a:t>月</a:t>
                      </a:r>
                      <a:r>
                        <a:rPr lang="en-US" altLang="zh-CN" sz="700" u="none" strike="noStrike">
                          <a:effectLst/>
                        </a:rPr>
                        <a:t>______</a:t>
                      </a:r>
                      <a:r>
                        <a:rPr lang="zh-CN" altLang="en-US" sz="700" u="none" strike="noStrike">
                          <a:effectLst/>
                        </a:rPr>
                        <a:t>日前送达</a:t>
                      </a:r>
                      <a:r>
                        <a:rPr lang="en-US" altLang="zh-CN" sz="700" u="none" strike="noStrike">
                          <a:effectLst/>
                        </a:rPr>
                        <a:t>/</a:t>
                      </a:r>
                      <a:r>
                        <a:rPr lang="zh-CN" altLang="en-US" sz="700" u="none" strike="noStrike">
                          <a:effectLst/>
                        </a:rPr>
                        <a:t>完结</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789372574"/>
                  </a:ext>
                </a:extLst>
              </a:tr>
              <a:tr h="255253">
                <a:tc>
                  <a:txBody>
                    <a:bodyPr/>
                    <a:lstStyle/>
                    <a:p>
                      <a:pPr algn="l" fontAlgn="ctr"/>
                      <a:r>
                        <a:rPr lang="zh-CN" altLang="en-US" sz="700" u="none" strike="noStrike">
                          <a:effectLst/>
                        </a:rPr>
                        <a:t>付款条款 </a:t>
                      </a:r>
                      <a:r>
                        <a:rPr lang="en-US" altLang="zh-CN" sz="700" u="none" strike="noStrike">
                          <a:effectLst/>
                        </a:rPr>
                        <a:t>/ </a:t>
                      </a:r>
                      <a:r>
                        <a:rPr lang="zh-CN" altLang="en-US" sz="700" u="none" strike="noStrike">
                          <a:effectLst/>
                        </a:rPr>
                        <a:t>结算账期</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l" fontAlgn="ctr"/>
                      <a:r>
                        <a:rPr lang="zh-CN" altLang="en-US" sz="700" u="none" strike="noStrike">
                          <a:effectLst/>
                        </a:rPr>
                        <a:t>□预付</a:t>
                      </a:r>
                      <a:r>
                        <a:rPr lang="en-US" altLang="zh-CN" sz="700" u="none" strike="noStrike">
                          <a:effectLst/>
                        </a:rPr>
                        <a:t>__% □</a:t>
                      </a:r>
                      <a:r>
                        <a:rPr lang="zh-CN" altLang="en-US" sz="700" u="none" strike="noStrike">
                          <a:effectLst/>
                        </a:rPr>
                        <a:t>货到验收后付款 □月结</a:t>
                      </a:r>
                      <a:r>
                        <a:rPr lang="en-US" altLang="zh-CN" sz="700" u="none" strike="noStrike">
                          <a:effectLst/>
                        </a:rPr>
                        <a:t>__</a:t>
                      </a:r>
                      <a:r>
                        <a:rPr lang="zh-CN" altLang="en-US" sz="700" u="none" strike="noStrike">
                          <a:effectLst/>
                        </a:rPr>
                        <a:t>天 □分期付款：</a:t>
                      </a:r>
                      <a:r>
                        <a:rPr lang="en-US" altLang="zh-CN" sz="700" u="none" strike="noStrike">
                          <a:effectLst/>
                        </a:rPr>
                        <a:t>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154112838"/>
                  </a:ext>
                </a:extLst>
              </a:tr>
              <a:tr h="255253">
                <a:tc>
                  <a:txBody>
                    <a:bodyPr/>
                    <a:lstStyle/>
                    <a:p>
                      <a:pPr algn="l" fontAlgn="ctr"/>
                      <a:r>
                        <a:rPr lang="zh-CN" altLang="en-US" sz="700" u="none" strike="noStrike">
                          <a:effectLst/>
                        </a:rPr>
                        <a:t>运输方式及运费承担</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l" fontAlgn="ctr"/>
                      <a:r>
                        <a:rPr lang="zh-CN" altLang="en-US" sz="700" u="none" strike="noStrike">
                          <a:effectLst/>
                        </a:rPr>
                        <a:t>□我方承担 □客户承担 □物流到付</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727306696"/>
                  </a:ext>
                </a:extLst>
              </a:tr>
              <a:tr h="255253">
                <a:tc>
                  <a:txBody>
                    <a:bodyPr/>
                    <a:lstStyle/>
                    <a:p>
                      <a:pPr algn="l" fontAlgn="ctr"/>
                      <a:r>
                        <a:rPr lang="zh-CN" altLang="en-US" sz="700" u="none" strike="noStrike">
                          <a:effectLst/>
                        </a:rPr>
                        <a:t>其他约定事项：质保</a:t>
                      </a:r>
                      <a:r>
                        <a:rPr lang="en-US" altLang="zh-CN" sz="700" u="none" strike="noStrike">
                          <a:effectLst/>
                        </a:rPr>
                        <a:t>/</a:t>
                      </a:r>
                      <a:r>
                        <a:rPr lang="zh-CN" altLang="en-US" sz="700" u="none" strike="noStrike">
                          <a:effectLst/>
                        </a:rPr>
                        <a:t>售后</a:t>
                      </a:r>
                      <a:r>
                        <a:rPr lang="en-US" altLang="zh-CN" sz="700" u="none" strike="noStrike">
                          <a:effectLst/>
                        </a:rPr>
                        <a:t>/</a:t>
                      </a:r>
                      <a:r>
                        <a:rPr lang="zh-CN" altLang="en-US" sz="700" u="none" strike="noStrike">
                          <a:effectLst/>
                        </a:rPr>
                        <a:t>退换货</a:t>
                      </a:r>
                      <a:r>
                        <a:rPr lang="en-US" altLang="zh-CN" sz="700" u="none" strike="noStrike">
                          <a:effectLst/>
                        </a:rPr>
                        <a:t>/</a:t>
                      </a:r>
                      <a:r>
                        <a:rPr lang="zh-CN" altLang="en-US" sz="700" u="none" strike="noStrike">
                          <a:effectLst/>
                        </a:rPr>
                        <a:t>开票要求等</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7">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983849000"/>
                  </a:ext>
                </a:extLst>
              </a:tr>
              <a:tr h="255253">
                <a:tc gridSpan="8">
                  <a:txBody>
                    <a:bodyPr/>
                    <a:lstStyle/>
                    <a:p>
                      <a:pPr algn="ctr" fontAlgn="ctr"/>
                      <a:r>
                        <a:rPr lang="zh-CN" altLang="en-US" sz="700" u="none" strike="noStrike">
                          <a:effectLst/>
                        </a:rPr>
                        <a:t>销售货品 </a:t>
                      </a:r>
                      <a:r>
                        <a:rPr lang="en-US" altLang="zh-CN" sz="700" u="none" strike="noStrike">
                          <a:effectLst/>
                        </a:rPr>
                        <a:t>/ </a:t>
                      </a:r>
                      <a:r>
                        <a:rPr lang="zh-CN" altLang="en-US" sz="700" u="none" strike="noStrike">
                          <a:effectLst/>
                        </a:rPr>
                        <a:t>服务明细</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273466266"/>
                  </a:ext>
                </a:extLst>
              </a:tr>
              <a:tr h="255253">
                <a:tc>
                  <a:txBody>
                    <a:bodyPr/>
                    <a:lstStyle/>
                    <a:p>
                      <a:pPr algn="ctr" fontAlgn="ctr"/>
                      <a:r>
                        <a:rPr lang="zh-CN" altLang="en-US" sz="700" u="none" strike="noStrike">
                          <a:effectLst/>
                        </a:rPr>
                        <a:t>产品 </a:t>
                      </a:r>
                      <a:r>
                        <a:rPr lang="en-US" altLang="zh-CN" sz="700" u="none" strike="noStrike">
                          <a:effectLst/>
                        </a:rPr>
                        <a:t>/ </a:t>
                      </a:r>
                      <a:r>
                        <a:rPr lang="zh-CN" altLang="en-US" sz="700" u="none" strike="noStrike">
                          <a:effectLst/>
                        </a:rPr>
                        <a:t>服务名称</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规格型号</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单位</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销售数量</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含税单价</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适用税率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含税小计金额</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备注（批次 </a:t>
                      </a:r>
                      <a:r>
                        <a:rPr lang="en-US" altLang="zh-CN" sz="700" u="none" strike="noStrike">
                          <a:effectLst/>
                        </a:rPr>
                        <a:t>/ </a:t>
                      </a:r>
                      <a:r>
                        <a:rPr lang="zh-CN" altLang="en-US" sz="700" u="none" strike="noStrike">
                          <a:effectLst/>
                        </a:rPr>
                        <a:t>质保 </a:t>
                      </a:r>
                      <a:r>
                        <a:rPr lang="en-US" altLang="zh-CN" sz="700" u="none" strike="noStrike">
                          <a:effectLst/>
                        </a:rPr>
                        <a:t>/ </a:t>
                      </a:r>
                      <a:r>
                        <a:rPr lang="zh-CN" altLang="en-US" sz="700" u="none" strike="noStrike">
                          <a:effectLst/>
                        </a:rPr>
                        <a:t>特殊要求）</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18737125"/>
                  </a:ext>
                </a:extLst>
              </a:tr>
              <a:tr h="255253">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081716512"/>
                  </a:ext>
                </a:extLst>
              </a:tr>
              <a:tr h="255253">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444434390"/>
                  </a:ext>
                </a:extLst>
              </a:tr>
              <a:tr h="255253">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040242265"/>
                  </a:ext>
                </a:extLst>
              </a:tr>
              <a:tr h="255253">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1669134728"/>
                  </a:ext>
                </a:extLst>
              </a:tr>
              <a:tr h="255253">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365614413"/>
                  </a:ext>
                </a:extLst>
              </a:tr>
              <a:tr h="255253">
                <a:tc>
                  <a:txBody>
                    <a:bodyPr/>
                    <a:lstStyle/>
                    <a:p>
                      <a:pPr algn="ctr" fontAlgn="ctr"/>
                      <a:r>
                        <a:rPr lang="zh-CN" altLang="en-US" sz="700" u="none" strike="noStrike">
                          <a:effectLst/>
                        </a:rPr>
                        <a:t>合计</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3">
                  <a:txBody>
                    <a:bodyPr/>
                    <a:lstStyle/>
                    <a:p>
                      <a:pPr algn="l" fontAlgn="ctr"/>
                      <a:r>
                        <a:rPr lang="zh-CN" altLang="en-US" sz="700" u="none" strike="noStrike">
                          <a:effectLst/>
                        </a:rPr>
                        <a:t>含税总金额（小写）：￥</a:t>
                      </a:r>
                      <a:r>
                        <a:rPr lang="en-US" altLang="zh-CN" sz="700" u="none" strike="noStrike">
                          <a:effectLst/>
                        </a:rPr>
                        <a:t>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700" u="none" strike="noStrike">
                          <a:effectLst/>
                        </a:rPr>
                        <a:t>含税总金额（大写）：人民币</a:t>
                      </a:r>
                      <a:r>
                        <a:rPr lang="en-US" altLang="zh-CN" sz="700" u="none" strike="noStrike">
                          <a:effectLst/>
                        </a:rPr>
                        <a:t>______________________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897074467"/>
                  </a:ext>
                </a:extLst>
              </a:tr>
              <a:tr h="255253">
                <a:tc gridSpan="8">
                  <a:txBody>
                    <a:bodyPr/>
                    <a:lstStyle/>
                    <a:p>
                      <a:pPr algn="ctr" fontAlgn="ctr"/>
                      <a:r>
                        <a:rPr lang="zh-CN" altLang="en-US" sz="700" u="none" strike="noStrike">
                          <a:effectLst/>
                        </a:rPr>
                        <a:t>双方确认签字</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403616327"/>
                  </a:ext>
                </a:extLst>
              </a:tr>
              <a:tr h="255253">
                <a:tc>
                  <a:txBody>
                    <a:bodyPr/>
                    <a:lstStyle/>
                    <a:p>
                      <a:pPr algn="ctr" fontAlgn="ctr"/>
                      <a:r>
                        <a:rPr lang="zh-CN" altLang="en-US" sz="700" u="none" strike="noStrike">
                          <a:effectLst/>
                        </a:rPr>
                        <a:t>我方（销售方）签字</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签字</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日期</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2">
                  <a:txBody>
                    <a:bodyPr/>
                    <a:lstStyle/>
                    <a:p>
                      <a:pPr algn="ctr" fontAlgn="ctr"/>
                      <a:r>
                        <a:rPr lang="zh-CN" altLang="en-US" sz="700" u="none" strike="noStrike">
                          <a:effectLst/>
                        </a:rPr>
                        <a:t>客户（采购方）确认</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a:txBody>
                    <a:bodyPr/>
                    <a:lstStyle/>
                    <a:p>
                      <a:pPr algn="ctr" fontAlgn="ctr"/>
                      <a:r>
                        <a:rPr lang="zh-CN" altLang="en-US" sz="700" u="none" strike="noStrike">
                          <a:effectLst/>
                        </a:rPr>
                        <a:t>签字 </a:t>
                      </a:r>
                      <a:r>
                        <a:rPr lang="en-US" altLang="zh-CN" sz="700" u="none" strike="noStrike">
                          <a:effectLst/>
                        </a:rPr>
                        <a:t>/ </a:t>
                      </a:r>
                      <a:r>
                        <a:rPr lang="zh-CN" altLang="en-US" sz="700" u="none" strike="noStrike">
                          <a:effectLst/>
                        </a:rPr>
                        <a:t>盖章</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日期</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备注</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655742999"/>
                  </a:ext>
                </a:extLst>
              </a:tr>
              <a:tr h="255253">
                <a:tc>
                  <a:txBody>
                    <a:bodyPr/>
                    <a:lstStyle/>
                    <a:p>
                      <a:pPr algn="ctr" fontAlgn="ctr"/>
                      <a:r>
                        <a:rPr lang="zh-CN" altLang="en-US" sz="700" u="none" strike="noStrike">
                          <a:effectLst/>
                        </a:rPr>
                        <a:t>销售业务员</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2">
                  <a:txBody>
                    <a:bodyPr/>
                    <a:lstStyle/>
                    <a:p>
                      <a:pPr algn="ctr" fontAlgn="ctr"/>
                      <a:r>
                        <a:rPr lang="zh-CN" altLang="en-US" sz="700" u="none" strike="noStrike">
                          <a:effectLst/>
                        </a:rPr>
                        <a:t>客户经办人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898924077"/>
                  </a:ext>
                </a:extLst>
              </a:tr>
              <a:tr h="255253">
                <a:tc>
                  <a:txBody>
                    <a:bodyPr/>
                    <a:lstStyle/>
                    <a:p>
                      <a:pPr algn="ctr" fontAlgn="ctr"/>
                      <a:r>
                        <a:rPr lang="zh-CN" altLang="en-US" sz="700" u="none" strike="noStrike">
                          <a:effectLst/>
                        </a:rPr>
                        <a:t>销售部门负责人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2">
                  <a:txBody>
                    <a:bodyPr/>
                    <a:lstStyle/>
                    <a:p>
                      <a:pPr algn="ctr" fontAlgn="ctr"/>
                      <a:r>
                        <a:rPr lang="zh-CN" altLang="en-US" sz="700" u="none" strike="noStrike">
                          <a:effectLst/>
                        </a:rPr>
                        <a:t>客户加盖公章</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2358884593"/>
                  </a:ext>
                </a:extLst>
              </a:tr>
              <a:tr h="255253">
                <a:tc>
                  <a:txBody>
                    <a:bodyPr/>
                    <a:lstStyle/>
                    <a:p>
                      <a:pPr algn="ctr" fontAlgn="ctr"/>
                      <a:r>
                        <a:rPr lang="zh-CN" altLang="en-US" sz="700" u="none" strike="noStrike">
                          <a:effectLst/>
                        </a:rPr>
                        <a:t>财务备案登记</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gridSpan="2">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hMerge="1">
                  <a:txBody>
                    <a:bodyPr/>
                    <a:lstStyle/>
                    <a:p>
                      <a:endParaRPr lang="zh-CN" altLang="en-US"/>
                    </a:p>
                  </a:txBody>
                  <a:tcP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63" marR="6263" marT="6263" marB="0" anchor="ctr"/>
                </a:tc>
                <a:tc>
                  <a:txBody>
                    <a:bodyPr/>
                    <a:lstStyle/>
                    <a:p>
                      <a:pPr algn="ctr" fontAlgn="ctr"/>
                      <a:endParaRPr lang="zh-CN" altLang="en-US" sz="700" b="0" i="0" u="none" strike="noStrike" dirty="0">
                        <a:solidFill>
                          <a:srgbClr val="000000"/>
                        </a:solidFill>
                        <a:effectLst/>
                        <a:latin typeface="宋体" panose="02010600030101010101" pitchFamily="2" charset="-122"/>
                        <a:ea typeface="宋体" panose="02010600030101010101" pitchFamily="2" charset="-122"/>
                      </a:endParaRPr>
                    </a:p>
                  </a:txBody>
                  <a:tcPr marL="6263" marR="6263" marT="6263" marB="0" anchor="ctr"/>
                </a:tc>
                <a:extLst>
                  <a:ext uri="{0D108BD9-81ED-4DB2-BD59-A6C34878D82A}">
                    <a16:rowId xmlns:a16="http://schemas.microsoft.com/office/drawing/2014/main" val="3598890484"/>
                  </a:ext>
                </a:extLst>
              </a:tr>
            </a:tbl>
          </a:graphicData>
        </a:graphic>
      </p:graphicFrame>
    </p:spTree>
    <p:extLst>
      <p:ext uri="{BB962C8B-B14F-4D97-AF65-F5344CB8AC3E}">
        <p14:creationId xmlns:p14="http://schemas.microsoft.com/office/powerpoint/2010/main" val="503109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8B389DF-232D-48BC-964E-02F552634D8E}"/>
              </a:ext>
            </a:extLst>
          </p:cNvPr>
          <p:cNvSpPr txBox="1"/>
          <p:nvPr/>
        </p:nvSpPr>
        <p:spPr>
          <a:xfrm>
            <a:off x="119336" y="116632"/>
            <a:ext cx="5328592" cy="461665"/>
          </a:xfrm>
          <a:prstGeom prst="rect">
            <a:avLst/>
          </a:prstGeom>
          <a:solidFill>
            <a:srgbClr val="FFFF00"/>
          </a:solidFill>
        </p:spPr>
        <p:txBody>
          <a:bodyPr wrap="square" rtlCol="0">
            <a:spAutoFit/>
          </a:bodyPr>
          <a:lstStyle/>
          <a:p>
            <a:r>
              <a:rPr lang="zh-CN" altLang="en-US" sz="2400" b="1" dirty="0">
                <a:solidFill>
                  <a:srgbClr val="FF0000"/>
                </a:solidFill>
              </a:rPr>
              <a:t>产品销售出库单（对外成品出库）</a:t>
            </a:r>
            <a:r>
              <a:rPr lang="en-US" altLang="zh-CN" sz="2400" b="1" dirty="0">
                <a:solidFill>
                  <a:srgbClr val="FF0000"/>
                </a:solidFill>
              </a:rPr>
              <a:t>3-2</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3AE3F865-4A64-420D-96CC-D46E475C6A80}"/>
              </a:ext>
            </a:extLst>
          </p:cNvPr>
          <p:cNvGraphicFramePr>
            <a:graphicFrameLocks noGrp="1"/>
          </p:cNvGraphicFramePr>
          <p:nvPr>
            <p:extLst>
              <p:ext uri="{D42A27DB-BD31-4B8C-83A1-F6EECF244321}">
                <p14:modId xmlns:p14="http://schemas.microsoft.com/office/powerpoint/2010/main" val="784729044"/>
              </p:ext>
            </p:extLst>
          </p:nvPr>
        </p:nvGraphicFramePr>
        <p:xfrm>
          <a:off x="623392" y="650305"/>
          <a:ext cx="10729188" cy="5731031"/>
        </p:xfrm>
        <a:graphic>
          <a:graphicData uri="http://schemas.openxmlformats.org/drawingml/2006/table">
            <a:tbl>
              <a:tblPr>
                <a:tableStyleId>{5C22544A-7EE6-4342-B048-85BDC9FD1C3A}</a:tableStyleId>
              </a:tblPr>
              <a:tblGrid>
                <a:gridCol w="1921532">
                  <a:extLst>
                    <a:ext uri="{9D8B030D-6E8A-4147-A177-3AD203B41FA5}">
                      <a16:colId xmlns:a16="http://schemas.microsoft.com/office/drawing/2014/main" val="3431097680"/>
                    </a:ext>
                  </a:extLst>
                </a:gridCol>
                <a:gridCol w="1921532">
                  <a:extLst>
                    <a:ext uri="{9D8B030D-6E8A-4147-A177-3AD203B41FA5}">
                      <a16:colId xmlns:a16="http://schemas.microsoft.com/office/drawing/2014/main" val="891025531"/>
                    </a:ext>
                  </a:extLst>
                </a:gridCol>
                <a:gridCol w="261498">
                  <a:extLst>
                    <a:ext uri="{9D8B030D-6E8A-4147-A177-3AD203B41FA5}">
                      <a16:colId xmlns:a16="http://schemas.microsoft.com/office/drawing/2014/main" val="3564743821"/>
                    </a:ext>
                  </a:extLst>
                </a:gridCol>
                <a:gridCol w="565613">
                  <a:extLst>
                    <a:ext uri="{9D8B030D-6E8A-4147-A177-3AD203B41FA5}">
                      <a16:colId xmlns:a16="http://schemas.microsoft.com/office/drawing/2014/main" val="909483210"/>
                    </a:ext>
                  </a:extLst>
                </a:gridCol>
                <a:gridCol w="645029">
                  <a:extLst>
                    <a:ext uri="{9D8B030D-6E8A-4147-A177-3AD203B41FA5}">
                      <a16:colId xmlns:a16="http://schemas.microsoft.com/office/drawing/2014/main" val="4123239977"/>
                    </a:ext>
                  </a:extLst>
                </a:gridCol>
                <a:gridCol w="645029">
                  <a:extLst>
                    <a:ext uri="{9D8B030D-6E8A-4147-A177-3AD203B41FA5}">
                      <a16:colId xmlns:a16="http://schemas.microsoft.com/office/drawing/2014/main" val="1022223865"/>
                    </a:ext>
                  </a:extLst>
                </a:gridCol>
                <a:gridCol w="645029">
                  <a:extLst>
                    <a:ext uri="{9D8B030D-6E8A-4147-A177-3AD203B41FA5}">
                      <a16:colId xmlns:a16="http://schemas.microsoft.com/office/drawing/2014/main" val="530246336"/>
                    </a:ext>
                  </a:extLst>
                </a:gridCol>
                <a:gridCol w="645029">
                  <a:extLst>
                    <a:ext uri="{9D8B030D-6E8A-4147-A177-3AD203B41FA5}">
                      <a16:colId xmlns:a16="http://schemas.microsoft.com/office/drawing/2014/main" val="4111138050"/>
                    </a:ext>
                  </a:extLst>
                </a:gridCol>
                <a:gridCol w="645029">
                  <a:extLst>
                    <a:ext uri="{9D8B030D-6E8A-4147-A177-3AD203B41FA5}">
                      <a16:colId xmlns:a16="http://schemas.microsoft.com/office/drawing/2014/main" val="3428891331"/>
                    </a:ext>
                  </a:extLst>
                </a:gridCol>
                <a:gridCol w="645029">
                  <a:extLst>
                    <a:ext uri="{9D8B030D-6E8A-4147-A177-3AD203B41FA5}">
                      <a16:colId xmlns:a16="http://schemas.microsoft.com/office/drawing/2014/main" val="2910067455"/>
                    </a:ext>
                  </a:extLst>
                </a:gridCol>
                <a:gridCol w="645029">
                  <a:extLst>
                    <a:ext uri="{9D8B030D-6E8A-4147-A177-3AD203B41FA5}">
                      <a16:colId xmlns:a16="http://schemas.microsoft.com/office/drawing/2014/main" val="3229269617"/>
                    </a:ext>
                  </a:extLst>
                </a:gridCol>
                <a:gridCol w="898781">
                  <a:extLst>
                    <a:ext uri="{9D8B030D-6E8A-4147-A177-3AD203B41FA5}">
                      <a16:colId xmlns:a16="http://schemas.microsoft.com/office/drawing/2014/main" val="3610913086"/>
                    </a:ext>
                  </a:extLst>
                </a:gridCol>
                <a:gridCol w="645029">
                  <a:extLst>
                    <a:ext uri="{9D8B030D-6E8A-4147-A177-3AD203B41FA5}">
                      <a16:colId xmlns:a16="http://schemas.microsoft.com/office/drawing/2014/main" val="242411285"/>
                    </a:ext>
                  </a:extLst>
                </a:gridCol>
              </a:tblGrid>
              <a:tr h="336178">
                <a:tc gridSpan="13">
                  <a:txBody>
                    <a:bodyPr/>
                    <a:lstStyle/>
                    <a:p>
                      <a:pPr algn="ctr" fontAlgn="ctr"/>
                      <a:r>
                        <a:rPr lang="zh-CN" altLang="en-US" sz="600" u="none" strike="noStrike">
                          <a:effectLst/>
                        </a:rPr>
                        <a:t>产品销售出库单（成品出库专用）</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12013617"/>
                  </a:ext>
                </a:extLst>
              </a:tr>
              <a:tr h="336178">
                <a:tc>
                  <a:txBody>
                    <a:bodyPr/>
                    <a:lstStyle/>
                    <a:p>
                      <a:pPr algn="l" fontAlgn="ctr"/>
                      <a:r>
                        <a:rPr lang="zh-CN" altLang="en-US" sz="500" u="none" strike="noStrike">
                          <a:effectLst/>
                        </a:rPr>
                        <a:t>出库单号：</a:t>
                      </a:r>
                      <a:r>
                        <a:rPr lang="en-US" altLang="zh-CN" sz="500" u="none" strike="noStrike">
                          <a:effectLst/>
                        </a:rPr>
                        <a:t>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对应销售订单 </a:t>
                      </a:r>
                      <a:r>
                        <a:rPr lang="en-US" altLang="zh-CN" sz="500" u="none" strike="noStrike">
                          <a:effectLst/>
                        </a:rPr>
                        <a:t>SO </a:t>
                      </a:r>
                      <a:r>
                        <a:rPr lang="zh-CN" altLang="en-US" sz="500" u="none" strike="noStrike">
                          <a:effectLst/>
                        </a:rPr>
                        <a:t>号：</a:t>
                      </a:r>
                      <a:r>
                        <a:rPr lang="en-US" altLang="zh-CN" sz="500" u="none" strike="noStrike">
                          <a:effectLst/>
                        </a:rPr>
                        <a:t>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4">
                  <a:txBody>
                    <a:bodyPr/>
                    <a:lstStyle/>
                    <a:p>
                      <a:pPr algn="l" fontAlgn="ctr"/>
                      <a:r>
                        <a:rPr lang="zh-CN" altLang="en-US" sz="500" u="none" strike="noStrike">
                          <a:effectLst/>
                        </a:rPr>
                        <a:t>出库日期：</a:t>
                      </a:r>
                      <a:r>
                        <a:rPr lang="en-US" altLang="zh-CN" sz="500" u="none" strike="noStrike">
                          <a:effectLst/>
                        </a:rPr>
                        <a:t>______</a:t>
                      </a:r>
                      <a:r>
                        <a:rPr lang="zh-CN" altLang="en-US" sz="500" u="none" strike="noStrike">
                          <a:effectLst/>
                        </a:rPr>
                        <a:t>年</a:t>
                      </a:r>
                      <a:r>
                        <a:rPr lang="en-US" altLang="zh-CN" sz="500" u="none" strike="noStrike">
                          <a:effectLst/>
                        </a:rPr>
                        <a:t>______</a:t>
                      </a:r>
                      <a:r>
                        <a:rPr lang="zh-CN" altLang="en-US" sz="500" u="none" strike="noStrike">
                          <a:effectLst/>
                        </a:rPr>
                        <a:t>月</a:t>
                      </a:r>
                      <a:r>
                        <a:rPr lang="en-US" altLang="zh-CN" sz="500" u="none" strike="noStrike">
                          <a:effectLst/>
                        </a:rPr>
                        <a:t>______</a:t>
                      </a:r>
                      <a:r>
                        <a:rPr lang="zh-CN" altLang="en-US" sz="500" u="none" strike="noStrike">
                          <a:effectLst/>
                        </a:rPr>
                        <a:t>日</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 销售业务员：</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gridSpan="2">
                  <a:txBody>
                    <a:bodyPr/>
                    <a:lstStyle/>
                    <a:p>
                      <a:pPr algn="l" fontAlgn="ctr"/>
                      <a:r>
                        <a:rPr lang="zh-CN" altLang="en-US" sz="500" u="none" strike="noStrike">
                          <a:effectLst/>
                        </a:rPr>
                        <a:t>所属仓库：</a:t>
                      </a:r>
                      <a:r>
                        <a:rPr lang="en-US" altLang="zh-CN" sz="500" u="none" strike="noStrike">
                          <a:effectLst/>
                        </a:rPr>
                        <a:t>___________ </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gridSpan="3">
                  <a:txBody>
                    <a:bodyPr/>
                    <a:lstStyle/>
                    <a:p>
                      <a:pPr algn="l" fontAlgn="ctr"/>
                      <a:r>
                        <a:rPr lang="zh-CN" altLang="en-US" sz="500" u="none" strike="noStrike">
                          <a:effectLst/>
                        </a:rPr>
                        <a:t>发货方式：□快递 □物流 □自提 □送货上门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59128857"/>
                  </a:ext>
                </a:extLst>
              </a:tr>
              <a:tr h="336178">
                <a:tc gridSpan="2">
                  <a:txBody>
                    <a:bodyPr/>
                    <a:lstStyle/>
                    <a:p>
                      <a:pPr algn="l" fontAlgn="ctr"/>
                      <a:r>
                        <a:rPr lang="zh-CN" altLang="en-US" sz="500" u="none" strike="noStrike">
                          <a:effectLst/>
                        </a:rPr>
                        <a:t>一、客户收货基础信息</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gridSpan="11">
                  <a:txBody>
                    <a:bodyPr/>
                    <a:lstStyle/>
                    <a:p>
                      <a:pPr algn="l" fontAlgn="ctr"/>
                      <a:r>
                        <a:rPr lang="zh-CN" altLang="en-US" sz="500" u="none" strike="noStrike">
                          <a:effectLst/>
                        </a:rPr>
                        <a:t>二、出库产品明细</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43230483"/>
                  </a:ext>
                </a:extLst>
              </a:tr>
              <a:tr h="336178">
                <a:tc>
                  <a:txBody>
                    <a:bodyPr/>
                    <a:lstStyle/>
                    <a:p>
                      <a:pPr algn="ctr" fontAlgn="ctr"/>
                      <a:r>
                        <a:rPr lang="zh-CN" altLang="en-US" sz="500" u="none" strike="noStrike">
                          <a:effectLst/>
                        </a:rPr>
                        <a:t>项目</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填写内容</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序号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产品名称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规格型号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销售订单应收数量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本次实发出库数量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客户签收数量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含税单价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含税总金额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产品批次 </a:t>
                      </a:r>
                      <a:r>
                        <a:rPr lang="en-US" altLang="zh-CN" sz="500" u="none" strike="noStrike">
                          <a:effectLst/>
                        </a:rPr>
                        <a:t>/ </a:t>
                      </a:r>
                      <a:r>
                        <a:rPr lang="zh-CN" altLang="en-US" sz="500" u="none" strike="noStrike">
                          <a:effectLst/>
                        </a:rPr>
                        <a:t>质保期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备注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553781696"/>
                  </a:ext>
                </a:extLst>
              </a:tr>
              <a:tr h="336178">
                <a:tc>
                  <a:txBody>
                    <a:bodyPr/>
                    <a:lstStyle/>
                    <a:p>
                      <a:pPr algn="l" fontAlgn="ctr"/>
                      <a:r>
                        <a:rPr lang="zh-CN" altLang="en-US" sz="500" u="none" strike="noStrike">
                          <a:effectLst/>
                        </a:rPr>
                        <a:t>客户全称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en-US" altLang="zh-CN" sz="500" u="none" strike="noStrike">
                          <a:effectLst/>
                        </a:rPr>
                        <a:t>1</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3778141720"/>
                  </a:ext>
                </a:extLst>
              </a:tr>
              <a:tr h="336178">
                <a:tc>
                  <a:txBody>
                    <a:bodyPr/>
                    <a:lstStyle/>
                    <a:p>
                      <a:pPr algn="l" fontAlgn="ctr"/>
                      <a:r>
                        <a:rPr lang="zh-CN" altLang="en-US" sz="500" u="none" strike="noStrike">
                          <a:effectLst/>
                        </a:rPr>
                        <a:t>详细收货地址：门牌号</a:t>
                      </a:r>
                      <a:r>
                        <a:rPr lang="en-US" altLang="zh-CN" sz="500" u="none" strike="noStrike">
                          <a:effectLst/>
                        </a:rPr>
                        <a:t>/</a:t>
                      </a:r>
                      <a:r>
                        <a:rPr lang="zh-CN" altLang="en-US" sz="500" u="none" strike="noStrike">
                          <a:effectLst/>
                        </a:rPr>
                        <a:t>仓库地址</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en-US" altLang="zh-CN" sz="500" u="none" strike="noStrike">
                          <a:effectLst/>
                        </a:rPr>
                        <a:t>2</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419776774"/>
                  </a:ext>
                </a:extLst>
              </a:tr>
              <a:tr h="336178">
                <a:tc>
                  <a:txBody>
                    <a:bodyPr/>
                    <a:lstStyle/>
                    <a:p>
                      <a:pPr algn="l" fontAlgn="ctr"/>
                      <a:r>
                        <a:rPr lang="zh-CN" altLang="en-US" sz="500" u="none" strike="noStrike">
                          <a:effectLst/>
                        </a:rPr>
                        <a:t>收货人及联系电话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en-US" altLang="zh-CN" sz="500" u="none" strike="noStrike">
                          <a:effectLst/>
                        </a:rPr>
                        <a:t>3</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4009677122"/>
                  </a:ext>
                </a:extLst>
              </a:tr>
              <a:tr h="336178">
                <a:tc>
                  <a:txBody>
                    <a:bodyPr/>
                    <a:lstStyle/>
                    <a:p>
                      <a:pPr algn="l" fontAlgn="ctr"/>
                      <a:r>
                        <a:rPr lang="zh-CN" altLang="en-US" sz="500" u="none" strike="noStrike">
                          <a:effectLst/>
                        </a:rPr>
                        <a:t>物流单号 </a:t>
                      </a:r>
                      <a:r>
                        <a:rPr lang="en-US" altLang="zh-CN" sz="500" u="none" strike="noStrike">
                          <a:effectLst/>
                        </a:rPr>
                        <a:t>/ </a:t>
                      </a:r>
                      <a:r>
                        <a:rPr lang="zh-CN" altLang="en-US" sz="500" u="none" strike="noStrike">
                          <a:effectLst/>
                        </a:rPr>
                        <a:t>运单号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en-US" altLang="zh-CN" sz="500" u="none" strike="noStrike">
                          <a:effectLst/>
                        </a:rPr>
                        <a:t>4</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33499631"/>
                  </a:ext>
                </a:extLst>
              </a:tr>
              <a:tr h="336178">
                <a:tc>
                  <a:txBody>
                    <a:bodyPr/>
                    <a:lstStyle/>
                    <a:p>
                      <a:pPr algn="l" fontAlgn="ctr"/>
                      <a:r>
                        <a:rPr lang="zh-CN" altLang="en-US" sz="500" u="none" strike="noStrike">
                          <a:effectLst/>
                        </a:rPr>
                        <a:t>约定结算账期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en-US" altLang="zh-CN" sz="500" u="none" strike="noStrike">
                          <a:effectLst/>
                        </a:rPr>
                        <a:t>5</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extLst>
                  <a:ext uri="{0D108BD9-81ED-4DB2-BD59-A6C34878D82A}">
                    <a16:rowId xmlns:a16="http://schemas.microsoft.com/office/drawing/2014/main" val="2166031083"/>
                  </a:ext>
                </a:extLst>
              </a:tr>
              <a:tr h="336178">
                <a:tc>
                  <a:txBody>
                    <a:bodyPr/>
                    <a:lstStyle/>
                    <a:p>
                      <a:pPr algn="l" fontAlgn="ctr"/>
                      <a:r>
                        <a:rPr lang="zh-CN" altLang="en-US" sz="500" u="none" strike="noStrike">
                          <a:effectLst/>
                        </a:rPr>
                        <a:t>开票要求</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□随货附票 □票货分开发 □其他：</a:t>
                      </a:r>
                      <a:r>
                        <a:rPr lang="en-US" altLang="zh-CN" sz="500" u="none" strike="noStrike">
                          <a:effectLst/>
                        </a:rPr>
                        <a:t>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ctr" fontAlgn="ctr"/>
                      <a:r>
                        <a:rPr lang="zh-CN" altLang="en-US" sz="500" u="none" strike="noStrike">
                          <a:effectLst/>
                        </a:rPr>
                        <a:t>合计</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5">
                  <a:txBody>
                    <a:bodyPr/>
                    <a:lstStyle/>
                    <a:p>
                      <a:pPr algn="ctr" fontAlgn="ctr"/>
                      <a:r>
                        <a:rPr lang="zh-CN" altLang="en-US" sz="500" u="none" strike="noStrike">
                          <a:effectLst/>
                        </a:rPr>
                        <a:t>含税总金额（小写）：￥</a:t>
                      </a:r>
                      <a:r>
                        <a:rPr lang="en-US" altLang="zh-CN" sz="500" u="none" strike="noStrike">
                          <a:effectLst/>
                        </a:rPr>
                        <a:t>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ctr" fontAlgn="ctr"/>
                      <a:r>
                        <a:rPr lang="zh-CN" altLang="en-US" sz="500" u="none" strike="noStrike">
                          <a:effectLst/>
                        </a:rPr>
                        <a:t>合计含税总金额（大写）：人民币</a:t>
                      </a:r>
                      <a:r>
                        <a:rPr lang="en-US" altLang="zh-CN" sz="500" u="none" strike="noStrike">
                          <a:effectLst/>
                        </a:rPr>
                        <a:t>________________________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75121810"/>
                  </a:ext>
                </a:extLst>
              </a:tr>
              <a:tr h="336178">
                <a:tc rowSpan="4">
                  <a:txBody>
                    <a:bodyPr/>
                    <a:lstStyle/>
                    <a:p>
                      <a:pPr algn="ctr" fontAlgn="ctr"/>
                      <a:r>
                        <a:rPr lang="zh-CN" altLang="en-US" sz="500" u="none" strike="noStrike">
                          <a:effectLst/>
                        </a:rPr>
                        <a:t>三、验收与签字确认</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a:txBody>
                    <a:bodyPr/>
                    <a:lstStyle/>
                    <a:p>
                      <a:pPr algn="l" fontAlgn="ctr"/>
                      <a:r>
                        <a:rPr lang="zh-CN" altLang="en-US" sz="500" u="none" strike="noStrike">
                          <a:effectLst/>
                        </a:rPr>
                        <a:t>仓库管理员出库核对（账实核对、货单一致）</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4">
                  <a:txBody>
                    <a:bodyPr/>
                    <a:lstStyle/>
                    <a:p>
                      <a:pPr algn="ctr" fontAlgn="ctr"/>
                      <a:r>
                        <a:rPr lang="zh-CN" altLang="en-US" sz="500" u="none" strike="noStrike">
                          <a:effectLst/>
                        </a:rPr>
                        <a:t>销售业务员订单匹配确认</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500" u="none" strike="noStrike">
                          <a:effectLst/>
                        </a:rPr>
                        <a:t>客户 </a:t>
                      </a:r>
                      <a:r>
                        <a:rPr lang="en-US" altLang="zh-CN" sz="500" u="none" strike="noStrike">
                          <a:effectLst/>
                        </a:rPr>
                        <a:t>/ </a:t>
                      </a:r>
                      <a:r>
                        <a:rPr lang="zh-CN" altLang="en-US" sz="500" u="none" strike="noStrike">
                          <a:effectLst/>
                        </a:rPr>
                        <a:t>收货人签收确认（货物完好、数量无误）</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500" u="none" strike="noStrike">
                          <a:effectLst/>
                        </a:rPr>
                        <a:t>财务记账备案（收入、成本结转）</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97230970"/>
                  </a:ext>
                </a:extLst>
              </a:tr>
              <a:tr h="336178">
                <a:tc vMerge="1">
                  <a:txBody>
                    <a:bodyPr/>
                    <a:lstStyle/>
                    <a:p>
                      <a:endParaRPr lang="zh-CN" altLang="en-US"/>
                    </a:p>
                  </a:txBody>
                  <a:tcPr/>
                </a:tc>
                <a:tc>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4">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01338018"/>
                  </a:ext>
                </a:extLst>
              </a:tr>
              <a:tr h="336178">
                <a:tc vMerge="1">
                  <a:txBody>
                    <a:bodyPr/>
                    <a:lstStyle/>
                    <a:p>
                      <a:endParaRPr lang="zh-CN" altLang="en-US"/>
                    </a:p>
                  </a:txBody>
                  <a:tcPr/>
                </a:tc>
                <a:tc>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4">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87744822"/>
                  </a:ext>
                </a:extLst>
              </a:tr>
              <a:tr h="336178">
                <a:tc vMerge="1">
                  <a:txBody>
                    <a:bodyPr/>
                    <a:lstStyle/>
                    <a:p>
                      <a:endParaRPr lang="zh-CN" altLang="en-US"/>
                    </a:p>
                  </a:txBody>
                  <a:tcPr/>
                </a:tc>
                <a:tc>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gridSpan="4">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90600580"/>
                  </a:ext>
                </a:extLst>
              </a:tr>
              <a:tr h="1024539">
                <a:tc gridSpan="13">
                  <a:txBody>
                    <a:bodyPr/>
                    <a:lstStyle/>
                    <a:p>
                      <a:pPr algn="l" fontAlgn="ctr"/>
                      <a:r>
                        <a:rPr lang="zh-CN" altLang="en-US" sz="500" u="none" strike="noStrike" dirty="0">
                          <a:effectLst/>
                        </a:rPr>
                        <a:t>单据使用核心规范：                                                                                                                                                                                                         </a:t>
                      </a:r>
                      <a:r>
                        <a:rPr lang="en-US" altLang="zh-CN" sz="500" u="none" strike="noStrike" dirty="0">
                          <a:effectLst/>
                        </a:rPr>
                        <a:t>1. </a:t>
                      </a:r>
                      <a:r>
                        <a:rPr lang="zh-CN" altLang="en-US" sz="500" u="none" strike="noStrike" dirty="0">
                          <a:effectLst/>
                        </a:rPr>
                        <a:t>订单绑定要求：本出库单必须绑定对应销售订单 </a:t>
                      </a:r>
                      <a:r>
                        <a:rPr lang="en-US" altLang="zh-CN" sz="500" u="none" strike="noStrike" dirty="0">
                          <a:effectLst/>
                        </a:rPr>
                        <a:t>SO </a:t>
                      </a:r>
                      <a:r>
                        <a:rPr lang="zh-CN" altLang="en-US" sz="500" u="none" strike="noStrike" dirty="0">
                          <a:effectLst/>
                        </a:rPr>
                        <a:t>号，出库产品、数量、单价必须与销售订单完全一致，严禁无订单出库、超订单出库。                                                                                              </a:t>
                      </a:r>
                      <a:r>
                        <a:rPr lang="en-US" altLang="zh-CN" sz="500" u="none" strike="noStrike" dirty="0">
                          <a:effectLst/>
                        </a:rPr>
                        <a:t>2. </a:t>
                      </a:r>
                      <a:r>
                        <a:rPr lang="zh-CN" altLang="en-US" sz="500" u="none" strike="noStrike" dirty="0">
                          <a:effectLst/>
                        </a:rPr>
                        <a:t>签收要求：客户签收联是客户确认收货、公司主张回款的核心法律依据，必须由收货人本人签字 </a:t>
                      </a:r>
                      <a:r>
                        <a:rPr lang="en-US" altLang="zh-CN" sz="500" u="none" strike="noStrike" dirty="0">
                          <a:effectLst/>
                        </a:rPr>
                        <a:t>/ </a:t>
                      </a:r>
                      <a:r>
                        <a:rPr lang="zh-CN" altLang="en-US" sz="500" u="none" strike="noStrike" dirty="0">
                          <a:effectLst/>
                        </a:rPr>
                        <a:t>盖章确认，随物流单一同归档保存。                                                                                                  </a:t>
                      </a:r>
                      <a:r>
                        <a:rPr lang="en-US" altLang="zh-CN" sz="500" u="none" strike="noStrike" dirty="0">
                          <a:effectLst/>
                        </a:rPr>
                        <a:t>3. </a:t>
                      </a:r>
                      <a:r>
                        <a:rPr lang="zh-CN" altLang="en-US" sz="500" u="none" strike="noStrike" dirty="0">
                          <a:effectLst/>
                        </a:rPr>
                        <a:t>财务核算要求：本出库单是财务确认销售收入、结转销售成本的核心原始凭证，出库单数据必须与销项发票、应收账款台账完全匹配，确保账证、账实相符。                                                                             </a:t>
                      </a:r>
                      <a:r>
                        <a:rPr lang="en-US" altLang="zh-CN" sz="500" u="none" strike="noStrike" dirty="0">
                          <a:effectLst/>
                        </a:rPr>
                        <a:t>4. </a:t>
                      </a:r>
                      <a:r>
                        <a:rPr lang="zh-CN" altLang="en-US" sz="500" u="none" strike="noStrike" dirty="0">
                          <a:effectLst/>
                        </a:rPr>
                        <a:t>单据管理要求：出库单需连续编号，一式四联（仓库联、销售联、财务联 、客户签收联），签字齐全后方可生效，严禁白条出库、无单发货。                                                                                           </a:t>
                      </a:r>
                      <a:r>
                        <a:rPr lang="en-US" altLang="zh-CN" sz="500" u="none" strike="noStrike" dirty="0">
                          <a:effectLst/>
                        </a:rPr>
                        <a:t>5. </a:t>
                      </a:r>
                      <a:r>
                        <a:rPr lang="zh-CN" altLang="en-US" sz="500" u="none" strike="noStrike" dirty="0">
                          <a:effectLst/>
                        </a:rPr>
                        <a:t>异常处理：如出现出库数量与订单不符、客户拒收、货物破损等异常情况，需在备注栏详细说明，并同步出具</a:t>
                      </a:r>
                      <a:r>
                        <a:rPr lang="en-US" altLang="zh-CN" sz="500" u="none" strike="noStrike" dirty="0">
                          <a:effectLst/>
                        </a:rPr>
                        <a:t>《</a:t>
                      </a:r>
                      <a:r>
                        <a:rPr lang="zh-CN" altLang="en-US" sz="500" u="none" strike="noStrike" dirty="0">
                          <a:effectLst/>
                        </a:rPr>
                        <a:t>出库异常处理单</a:t>
                      </a:r>
                      <a:r>
                        <a:rPr lang="en-US" altLang="zh-CN" sz="500" u="none" strike="noStrike" dirty="0">
                          <a:effectLst/>
                        </a:rPr>
                        <a:t>》</a:t>
                      </a:r>
                      <a:r>
                        <a:rPr lang="zh-CN" altLang="en-US" sz="500" u="none" strike="noStrike" dirty="0">
                          <a:effectLst/>
                        </a:rPr>
                        <a:t>，按审批流程处理。。</a:t>
                      </a:r>
                      <a:endParaRPr lang="zh-CN" altLang="en-US" sz="500" b="0" i="0" u="none" strike="noStrike" dirty="0">
                        <a:solidFill>
                          <a:srgbClr val="000000"/>
                        </a:solidFill>
                        <a:effectLst/>
                        <a:latin typeface="宋体" panose="02010600030101010101" pitchFamily="2" charset="-122"/>
                        <a:ea typeface="宋体" panose="02010600030101010101" pitchFamily="2" charset="-122"/>
                      </a:endParaRPr>
                    </a:p>
                  </a:txBody>
                  <a:tcPr marL="3842" marR="3842" marT="384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19416785"/>
                  </a:ext>
                </a:extLst>
              </a:tr>
            </a:tbl>
          </a:graphicData>
        </a:graphic>
      </p:graphicFrame>
    </p:spTree>
    <p:extLst>
      <p:ext uri="{BB962C8B-B14F-4D97-AF65-F5344CB8AC3E}">
        <p14:creationId xmlns:p14="http://schemas.microsoft.com/office/powerpoint/2010/main" val="1429909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FCE5881-A607-4799-BBD6-5DFBEE3F749C}"/>
              </a:ext>
            </a:extLst>
          </p:cNvPr>
          <p:cNvSpPr txBox="1"/>
          <p:nvPr/>
        </p:nvSpPr>
        <p:spPr>
          <a:xfrm>
            <a:off x="119336" y="116632"/>
            <a:ext cx="5328592" cy="461665"/>
          </a:xfrm>
          <a:prstGeom prst="rect">
            <a:avLst/>
          </a:prstGeom>
          <a:solidFill>
            <a:srgbClr val="FFFF00"/>
          </a:solidFill>
        </p:spPr>
        <p:txBody>
          <a:bodyPr wrap="square" rtlCol="0">
            <a:spAutoFit/>
          </a:bodyPr>
          <a:lstStyle/>
          <a:p>
            <a:r>
              <a:rPr lang="zh-CN" altLang="en-US" sz="2400" b="1" dirty="0">
                <a:solidFill>
                  <a:srgbClr val="FF0000"/>
                </a:solidFill>
              </a:rPr>
              <a:t>材料领用单（内部领用）</a:t>
            </a:r>
            <a:r>
              <a:rPr lang="en-US" altLang="zh-CN" sz="2400" b="1" dirty="0">
                <a:solidFill>
                  <a:srgbClr val="FF0000"/>
                </a:solidFill>
              </a:rPr>
              <a:t>3-3</a:t>
            </a:r>
            <a:endParaRPr lang="zh-CN" altLang="en-US" sz="2400" b="1" dirty="0">
              <a:solidFill>
                <a:srgbClr val="FF0000"/>
              </a:solidFill>
            </a:endParaRPr>
          </a:p>
        </p:txBody>
      </p:sp>
      <p:graphicFrame>
        <p:nvGraphicFramePr>
          <p:cNvPr id="5" name="表格 4">
            <a:extLst>
              <a:ext uri="{FF2B5EF4-FFF2-40B4-BE49-F238E27FC236}">
                <a16:creationId xmlns:a16="http://schemas.microsoft.com/office/drawing/2014/main" id="{BEA3A94D-99DF-463F-A081-E92AC5B8B3AE}"/>
              </a:ext>
            </a:extLst>
          </p:cNvPr>
          <p:cNvGraphicFramePr>
            <a:graphicFrameLocks noGrp="1"/>
          </p:cNvGraphicFramePr>
          <p:nvPr>
            <p:extLst>
              <p:ext uri="{D42A27DB-BD31-4B8C-83A1-F6EECF244321}">
                <p14:modId xmlns:p14="http://schemas.microsoft.com/office/powerpoint/2010/main" val="935545678"/>
              </p:ext>
            </p:extLst>
          </p:nvPr>
        </p:nvGraphicFramePr>
        <p:xfrm>
          <a:off x="839416" y="692696"/>
          <a:ext cx="10945211" cy="5760639"/>
        </p:xfrm>
        <a:graphic>
          <a:graphicData uri="http://schemas.openxmlformats.org/drawingml/2006/table">
            <a:tbl>
              <a:tblPr>
                <a:tableStyleId>{5C22544A-7EE6-4342-B048-85BDC9FD1C3A}</a:tableStyleId>
              </a:tblPr>
              <a:tblGrid>
                <a:gridCol w="2233040">
                  <a:extLst>
                    <a:ext uri="{9D8B030D-6E8A-4147-A177-3AD203B41FA5}">
                      <a16:colId xmlns:a16="http://schemas.microsoft.com/office/drawing/2014/main" val="351033929"/>
                    </a:ext>
                  </a:extLst>
                </a:gridCol>
                <a:gridCol w="2235115">
                  <a:extLst>
                    <a:ext uri="{9D8B030D-6E8A-4147-A177-3AD203B41FA5}">
                      <a16:colId xmlns:a16="http://schemas.microsoft.com/office/drawing/2014/main" val="473468359"/>
                    </a:ext>
                  </a:extLst>
                </a:gridCol>
                <a:gridCol w="581088">
                  <a:extLst>
                    <a:ext uri="{9D8B030D-6E8A-4147-A177-3AD203B41FA5}">
                      <a16:colId xmlns:a16="http://schemas.microsoft.com/office/drawing/2014/main" val="1217857949"/>
                    </a:ext>
                  </a:extLst>
                </a:gridCol>
                <a:gridCol w="581088">
                  <a:extLst>
                    <a:ext uri="{9D8B030D-6E8A-4147-A177-3AD203B41FA5}">
                      <a16:colId xmlns:a16="http://schemas.microsoft.com/office/drawing/2014/main" val="3716379949"/>
                    </a:ext>
                  </a:extLst>
                </a:gridCol>
                <a:gridCol w="581088">
                  <a:extLst>
                    <a:ext uri="{9D8B030D-6E8A-4147-A177-3AD203B41FA5}">
                      <a16:colId xmlns:a16="http://schemas.microsoft.com/office/drawing/2014/main" val="2061968873"/>
                    </a:ext>
                  </a:extLst>
                </a:gridCol>
                <a:gridCol w="581088">
                  <a:extLst>
                    <a:ext uri="{9D8B030D-6E8A-4147-A177-3AD203B41FA5}">
                      <a16:colId xmlns:a16="http://schemas.microsoft.com/office/drawing/2014/main" val="2250490553"/>
                    </a:ext>
                  </a:extLst>
                </a:gridCol>
                <a:gridCol w="581088">
                  <a:extLst>
                    <a:ext uri="{9D8B030D-6E8A-4147-A177-3AD203B41FA5}">
                      <a16:colId xmlns:a16="http://schemas.microsoft.com/office/drawing/2014/main" val="748279691"/>
                    </a:ext>
                  </a:extLst>
                </a:gridCol>
                <a:gridCol w="581088">
                  <a:extLst>
                    <a:ext uri="{9D8B030D-6E8A-4147-A177-3AD203B41FA5}">
                      <a16:colId xmlns:a16="http://schemas.microsoft.com/office/drawing/2014/main" val="2077105992"/>
                    </a:ext>
                  </a:extLst>
                </a:gridCol>
                <a:gridCol w="581088">
                  <a:extLst>
                    <a:ext uri="{9D8B030D-6E8A-4147-A177-3AD203B41FA5}">
                      <a16:colId xmlns:a16="http://schemas.microsoft.com/office/drawing/2014/main" val="3621448195"/>
                    </a:ext>
                  </a:extLst>
                </a:gridCol>
                <a:gridCol w="581088">
                  <a:extLst>
                    <a:ext uri="{9D8B030D-6E8A-4147-A177-3AD203B41FA5}">
                      <a16:colId xmlns:a16="http://schemas.microsoft.com/office/drawing/2014/main" val="2456114613"/>
                    </a:ext>
                  </a:extLst>
                </a:gridCol>
                <a:gridCol w="581088">
                  <a:extLst>
                    <a:ext uri="{9D8B030D-6E8A-4147-A177-3AD203B41FA5}">
                      <a16:colId xmlns:a16="http://schemas.microsoft.com/office/drawing/2014/main" val="3410018793"/>
                    </a:ext>
                  </a:extLst>
                </a:gridCol>
                <a:gridCol w="581088">
                  <a:extLst>
                    <a:ext uri="{9D8B030D-6E8A-4147-A177-3AD203B41FA5}">
                      <a16:colId xmlns:a16="http://schemas.microsoft.com/office/drawing/2014/main" val="3711721782"/>
                    </a:ext>
                  </a:extLst>
                </a:gridCol>
                <a:gridCol w="666176">
                  <a:extLst>
                    <a:ext uri="{9D8B030D-6E8A-4147-A177-3AD203B41FA5}">
                      <a16:colId xmlns:a16="http://schemas.microsoft.com/office/drawing/2014/main" val="3895673124"/>
                    </a:ext>
                  </a:extLst>
                </a:gridCol>
              </a:tblGrid>
              <a:tr h="344386">
                <a:tc gridSpan="13">
                  <a:txBody>
                    <a:bodyPr/>
                    <a:lstStyle/>
                    <a:p>
                      <a:pPr algn="ctr" fontAlgn="ctr"/>
                      <a:r>
                        <a:rPr lang="zh-CN" altLang="en-US" sz="600" u="none" strike="noStrike">
                          <a:effectLst/>
                        </a:rPr>
                        <a:t>材料领用出库单（内部生产 </a:t>
                      </a:r>
                      <a:r>
                        <a:rPr lang="en-US" altLang="zh-CN" sz="600" u="none" strike="noStrike">
                          <a:effectLst/>
                        </a:rPr>
                        <a:t>/ </a:t>
                      </a:r>
                      <a:r>
                        <a:rPr lang="zh-CN" altLang="en-US" sz="600" u="none" strike="noStrike">
                          <a:effectLst/>
                        </a:rPr>
                        <a:t>研发 </a:t>
                      </a:r>
                      <a:r>
                        <a:rPr lang="en-US" altLang="zh-CN" sz="600" u="none" strike="noStrike">
                          <a:effectLst/>
                        </a:rPr>
                        <a:t>/ </a:t>
                      </a:r>
                      <a:r>
                        <a:rPr lang="zh-CN" altLang="en-US" sz="600" u="none" strike="noStrike">
                          <a:effectLst/>
                        </a:rPr>
                        <a:t>办公领用专用）</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58677789"/>
                  </a:ext>
                </a:extLst>
              </a:tr>
              <a:tr h="344386">
                <a:tc>
                  <a:txBody>
                    <a:bodyPr/>
                    <a:lstStyle/>
                    <a:p>
                      <a:pPr algn="l" fontAlgn="ctr"/>
                      <a:r>
                        <a:rPr lang="zh-CN" altLang="en-US" sz="500" u="none" strike="noStrike">
                          <a:effectLst/>
                        </a:rPr>
                        <a:t>领用单号：</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l" fontAlgn="ctr"/>
                      <a:r>
                        <a:rPr lang="zh-CN" altLang="en-US" sz="500" u="none" strike="noStrike">
                          <a:effectLst/>
                        </a:rPr>
                        <a:t>出库日期：</a:t>
                      </a:r>
                      <a:r>
                        <a:rPr lang="en-US" altLang="zh-CN" sz="500" u="none" strike="noStrike">
                          <a:effectLst/>
                        </a:rPr>
                        <a:t>______</a:t>
                      </a:r>
                      <a:r>
                        <a:rPr lang="zh-CN" altLang="en-US" sz="500" u="none" strike="noStrike">
                          <a:effectLst/>
                        </a:rPr>
                        <a:t>年</a:t>
                      </a:r>
                      <a:r>
                        <a:rPr lang="en-US" altLang="zh-CN" sz="500" u="none" strike="noStrike">
                          <a:effectLst/>
                        </a:rPr>
                        <a:t>______</a:t>
                      </a:r>
                      <a:r>
                        <a:rPr lang="zh-CN" altLang="en-US" sz="500" u="none" strike="noStrike">
                          <a:effectLst/>
                        </a:rPr>
                        <a:t>月</a:t>
                      </a:r>
                      <a:r>
                        <a:rPr lang="en-US" altLang="zh-CN" sz="500" u="none" strike="noStrike">
                          <a:effectLst/>
                        </a:rPr>
                        <a:t>______</a:t>
                      </a:r>
                      <a:r>
                        <a:rPr lang="zh-CN" altLang="en-US" sz="500" u="none" strike="noStrike">
                          <a:effectLst/>
                        </a:rPr>
                        <a:t>日</a:t>
                      </a:r>
                      <a:endParaRPr lang="zh-CN" altLang="en-US" sz="500" b="0" i="0" u="none" strike="noStrike">
                        <a:solidFill>
                          <a:srgbClr val="000000"/>
                        </a:solidFill>
                        <a:effectLst/>
                        <a:latin typeface="Arial" panose="020B0604020202020204" pitchFamily="34" charset="0"/>
                        <a:ea typeface="宋体" panose="02010600030101010101" pitchFamily="2" charset="-122"/>
                      </a:endParaRPr>
                    </a:p>
                  </a:txBody>
                  <a:tcPr marL="4196" marR="4196" marT="4196" marB="0" anchor="ctr"/>
                </a:tc>
                <a:tc gridSpan="2">
                  <a:txBody>
                    <a:bodyPr/>
                    <a:lstStyle/>
                    <a:p>
                      <a:pPr algn="l" fontAlgn="ctr"/>
                      <a:r>
                        <a:rPr lang="zh-CN" altLang="en-US" sz="500" u="none" strike="noStrike">
                          <a:effectLst/>
                        </a:rPr>
                        <a:t>领用部门：</a:t>
                      </a:r>
                      <a:r>
                        <a:rPr lang="en-US" altLang="zh-CN" sz="500" u="none" strike="noStrike">
                          <a:effectLst/>
                        </a:rPr>
                        <a:t>__________</a:t>
                      </a:r>
                      <a:endParaRPr lang="en-US" altLang="zh-CN" sz="500" b="0" i="0" u="none" strike="noStrike">
                        <a:solidFill>
                          <a:srgbClr val="000000"/>
                        </a:solidFill>
                        <a:effectLst/>
                        <a:latin typeface="Arial" panose="020B0604020202020204" pitchFamily="34" charset="0"/>
                        <a:ea typeface="宋体" panose="02010600030101010101" pitchFamily="2" charset="-122"/>
                      </a:endParaRPr>
                    </a:p>
                  </a:txBody>
                  <a:tcPr marL="4196" marR="4196" marT="4196" marB="0" anchor="ctr"/>
                </a:tc>
                <a:tc hMerge="1">
                  <a:txBody>
                    <a:bodyPr/>
                    <a:lstStyle/>
                    <a:p>
                      <a:endParaRPr lang="zh-CN" altLang="en-US"/>
                    </a:p>
                  </a:txBody>
                  <a:tcPr/>
                </a:tc>
                <a:tc gridSpan="2">
                  <a:txBody>
                    <a:bodyPr/>
                    <a:lstStyle/>
                    <a:p>
                      <a:pPr algn="l" fontAlgn="ctr"/>
                      <a:r>
                        <a:rPr lang="zh-CN" altLang="en-US" sz="500" u="none" strike="noStrike">
                          <a:effectLst/>
                        </a:rPr>
                        <a:t>领用人：</a:t>
                      </a:r>
                      <a:r>
                        <a:rPr lang="en-US" altLang="zh-CN" sz="500" u="none" strike="noStrike">
                          <a:effectLst/>
                        </a:rPr>
                        <a:t>__________</a:t>
                      </a:r>
                      <a:endParaRPr lang="zh-CN" altLang="en-US" sz="500" b="0" i="0" u="none" strike="noStrike">
                        <a:solidFill>
                          <a:srgbClr val="000000"/>
                        </a:solidFill>
                        <a:effectLst/>
                        <a:latin typeface="Arial" panose="020B0604020202020204" pitchFamily="34" charset="0"/>
                        <a:ea typeface="宋体" panose="02010600030101010101" pitchFamily="2" charset="-122"/>
                      </a:endParaRPr>
                    </a:p>
                  </a:txBody>
                  <a:tcPr marL="4196" marR="4196" marT="4196" marB="0" anchor="ctr"/>
                </a:tc>
                <a:tc hMerge="1">
                  <a:txBody>
                    <a:bodyPr/>
                    <a:lstStyle/>
                    <a:p>
                      <a:endParaRPr lang="zh-CN" altLang="en-US"/>
                    </a:p>
                  </a:txBody>
                  <a:tcPr/>
                </a:tc>
                <a:tc gridSpan="2">
                  <a:txBody>
                    <a:bodyPr/>
                    <a:lstStyle/>
                    <a:p>
                      <a:pPr algn="l" fontAlgn="ctr"/>
                      <a:r>
                        <a:rPr lang="zh-CN" altLang="en-US" sz="500" u="none" strike="noStrike">
                          <a:effectLst/>
                        </a:rPr>
                        <a:t>联系电话：</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gridSpan="2">
                  <a:txBody>
                    <a:bodyPr/>
                    <a:lstStyle/>
                    <a:p>
                      <a:pPr algn="l" fontAlgn="ctr"/>
                      <a:r>
                        <a:rPr lang="zh-CN" altLang="en-US" sz="500" u="none" strike="noStrike">
                          <a:effectLst/>
                        </a:rPr>
                        <a:t>所属仓库：</a:t>
                      </a:r>
                      <a:r>
                        <a:rPr lang="en-US" altLang="zh-CN" sz="500" u="none" strike="noStrike">
                          <a:effectLst/>
                        </a:rPr>
                        <a:t>__________ </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gridSpan="3">
                  <a:txBody>
                    <a:bodyPr/>
                    <a:lstStyle/>
                    <a:p>
                      <a:pPr algn="l" fontAlgn="ctr"/>
                      <a:r>
                        <a:rPr lang="zh-CN" altLang="en-US" sz="500" u="none" strike="noStrike">
                          <a:effectLst/>
                        </a:rPr>
                        <a:t>成本归属项目 </a:t>
                      </a:r>
                      <a:r>
                        <a:rPr lang="en-US" altLang="zh-CN" sz="500" u="none" strike="noStrike">
                          <a:effectLst/>
                        </a:rPr>
                        <a:t>/ </a:t>
                      </a:r>
                      <a:r>
                        <a:rPr lang="zh-CN" altLang="en-US" sz="500" u="none" strike="noStrike">
                          <a:effectLst/>
                        </a:rPr>
                        <a:t>部门：</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14960416"/>
                  </a:ext>
                </a:extLst>
              </a:tr>
              <a:tr h="344386">
                <a:tc gridSpan="2">
                  <a:txBody>
                    <a:bodyPr/>
                    <a:lstStyle/>
                    <a:p>
                      <a:pPr algn="l" fontAlgn="ctr"/>
                      <a:r>
                        <a:rPr lang="zh-CN" altLang="en-US" sz="500" u="none" strike="noStrike">
                          <a:effectLst/>
                        </a:rPr>
                        <a:t>一、领用基础信息</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gridSpan="11">
                  <a:txBody>
                    <a:bodyPr/>
                    <a:lstStyle/>
                    <a:p>
                      <a:pPr algn="l" fontAlgn="ctr"/>
                      <a:r>
                        <a:rPr lang="zh-CN" altLang="en-US" sz="500" u="none" strike="noStrike">
                          <a:effectLst/>
                        </a:rPr>
                        <a:t>二、领用材料明细</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10332634"/>
                  </a:ext>
                </a:extLst>
              </a:tr>
              <a:tr h="344386">
                <a:tc>
                  <a:txBody>
                    <a:bodyPr/>
                    <a:lstStyle/>
                    <a:p>
                      <a:pPr algn="ctr" fontAlgn="ctr"/>
                      <a:r>
                        <a:rPr lang="zh-CN" altLang="en-US" sz="500" u="none" strike="noStrike">
                          <a:effectLst/>
                        </a:rPr>
                        <a:t>项目</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填写内容</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序号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物料编码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材料名称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规格型号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计量单位</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申请领用数量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仓库实发数量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单位成本</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领用总金额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存放货位</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物料批次 </a:t>
                      </a:r>
                      <a:r>
                        <a:rPr lang="en-US" altLang="zh-CN" sz="500" u="none" strike="noStrike">
                          <a:effectLst/>
                        </a:rPr>
                        <a:t>/ </a:t>
                      </a:r>
                      <a:r>
                        <a:rPr lang="zh-CN" altLang="en-US" sz="500" u="none" strike="noStrike">
                          <a:effectLst/>
                        </a:rPr>
                        <a:t>备注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1604111245"/>
                  </a:ext>
                </a:extLst>
              </a:tr>
              <a:tr h="344386">
                <a:tc>
                  <a:txBody>
                    <a:bodyPr/>
                    <a:lstStyle/>
                    <a:p>
                      <a:pPr algn="l" fontAlgn="ctr"/>
                      <a:r>
                        <a:rPr lang="zh-CN" altLang="en-US" sz="500" u="none" strike="noStrike">
                          <a:effectLst/>
                        </a:rPr>
                        <a:t>领用用途</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l" fontAlgn="ctr"/>
                      <a:r>
                        <a:rPr lang="zh-CN" altLang="en-US" sz="500" u="none" strike="noStrike">
                          <a:effectLst/>
                        </a:rPr>
                        <a:t>□生产工单耗用 □研发项目试验 □日常办公领用 □项目专用 □设备维修 □其他：</a:t>
                      </a:r>
                      <a:r>
                        <a:rPr lang="en-US" altLang="zh-CN" sz="500" u="none" strike="noStrike">
                          <a:effectLst/>
                        </a:rPr>
                        <a:t>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en-US" altLang="zh-CN" sz="500" u="none" strike="noStrike">
                          <a:effectLst/>
                        </a:rPr>
                        <a:t>1</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788762335"/>
                  </a:ext>
                </a:extLst>
              </a:tr>
              <a:tr h="344386">
                <a:tc>
                  <a:txBody>
                    <a:bodyPr/>
                    <a:lstStyle/>
                    <a:p>
                      <a:pPr algn="l" fontAlgn="ctr"/>
                      <a:r>
                        <a:rPr lang="zh-CN" altLang="en-US" sz="500" u="none" strike="noStrike">
                          <a:effectLst/>
                        </a:rPr>
                        <a:t>对应生产工单 </a:t>
                      </a:r>
                      <a:r>
                        <a:rPr lang="en-US" altLang="zh-CN" sz="500" u="none" strike="noStrike">
                          <a:effectLst/>
                        </a:rPr>
                        <a:t>/ </a:t>
                      </a:r>
                      <a:r>
                        <a:rPr lang="zh-CN" altLang="en-US" sz="500" u="none" strike="noStrike">
                          <a:effectLst/>
                        </a:rPr>
                        <a:t>研发项目编号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en-US" altLang="zh-CN" sz="500" u="none" strike="noStrike">
                          <a:effectLst/>
                        </a:rPr>
                        <a:t>2</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1468774758"/>
                  </a:ext>
                </a:extLst>
              </a:tr>
              <a:tr h="344386">
                <a:tc>
                  <a:txBody>
                    <a:bodyPr/>
                    <a:lstStyle/>
                    <a:p>
                      <a:pPr algn="l" fontAlgn="ctr"/>
                      <a:r>
                        <a:rPr lang="zh-CN" altLang="en-US" sz="500" u="none" strike="noStrike">
                          <a:effectLst/>
                        </a:rPr>
                        <a:t>需求领用日期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en-US" altLang="zh-CN" sz="500" u="none" strike="noStrike">
                          <a:effectLst/>
                        </a:rPr>
                        <a:t>3</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3767571088"/>
                  </a:ext>
                </a:extLst>
              </a:tr>
              <a:tr h="344386">
                <a:tc>
                  <a:txBody>
                    <a:bodyPr/>
                    <a:lstStyle/>
                    <a:p>
                      <a:pPr algn="l" fontAlgn="ctr"/>
                      <a:r>
                        <a:rPr lang="zh-CN" altLang="en-US" sz="500" u="none" strike="noStrike">
                          <a:effectLst/>
                        </a:rPr>
                        <a:t>物料大类</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l" fontAlgn="ctr"/>
                      <a:r>
                        <a:rPr lang="zh-CN" altLang="en-US" sz="500" u="none" strike="noStrike">
                          <a:effectLst/>
                        </a:rPr>
                        <a:t>□生产主料 □生产辅料 □研发耗材 □办公低值易耗品 □包装材料 □其他</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en-US" altLang="zh-CN" sz="500" u="none" strike="noStrike">
                          <a:effectLst/>
                        </a:rPr>
                        <a:t>4</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1636832731"/>
                  </a:ext>
                </a:extLst>
              </a:tr>
              <a:tr h="344386">
                <a:tc rowSpan="2">
                  <a:txBody>
                    <a:bodyPr/>
                    <a:lstStyle/>
                    <a:p>
                      <a:pPr algn="l" fontAlgn="ctr"/>
                      <a:r>
                        <a:rPr lang="zh-CN" altLang="en-US" sz="500" u="none" strike="noStrike">
                          <a:effectLst/>
                        </a:rPr>
                        <a:t>备注说明</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rowSpan="2">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en-US" altLang="zh-CN" sz="500" u="none" strike="noStrike">
                          <a:effectLst/>
                        </a:rPr>
                        <a:t>5</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extLst>
                  <a:ext uri="{0D108BD9-81ED-4DB2-BD59-A6C34878D82A}">
                    <a16:rowId xmlns:a16="http://schemas.microsoft.com/office/drawing/2014/main" val="66464358"/>
                  </a:ext>
                </a:extLst>
              </a:tr>
              <a:tr h="344386">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u="none" strike="noStrike">
                          <a:effectLst/>
                        </a:rPr>
                        <a:t>合计</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gridSpan="4">
                  <a:txBody>
                    <a:bodyPr/>
                    <a:lstStyle/>
                    <a:p>
                      <a:pPr algn="ctr" fontAlgn="ctr"/>
                      <a:r>
                        <a:rPr lang="zh-CN" altLang="en-US" sz="500" u="none" strike="noStrike">
                          <a:effectLst/>
                        </a:rPr>
                        <a:t>领用总金额（小写）：￥</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6">
                  <a:txBody>
                    <a:bodyPr/>
                    <a:lstStyle/>
                    <a:p>
                      <a:pPr algn="ctr" fontAlgn="ctr"/>
                      <a:r>
                        <a:rPr lang="zh-CN" altLang="en-US" sz="500" u="none" strike="noStrike">
                          <a:effectLst/>
                        </a:rPr>
                        <a:t>领用总金额（大写）：人民币</a:t>
                      </a:r>
                      <a:r>
                        <a:rPr lang="en-US" altLang="zh-CN" sz="500" u="sng" strike="noStrike">
                          <a:effectLst/>
                        </a:rPr>
                        <a:t>_</a:t>
                      </a:r>
                      <a:r>
                        <a:rPr lang="en-US" altLang="zh-CN" sz="500" u="none" strike="noStrike">
                          <a:effectLst/>
                        </a:rPr>
                        <a:t>_______________________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89284552"/>
                  </a:ext>
                </a:extLst>
              </a:tr>
              <a:tr h="344386">
                <a:tc rowSpan="4">
                  <a:txBody>
                    <a:bodyPr/>
                    <a:lstStyle/>
                    <a:p>
                      <a:pPr algn="ctr" fontAlgn="ctr"/>
                      <a:r>
                        <a:rPr lang="zh-CN" altLang="en-US" sz="500" u="none" strike="noStrike">
                          <a:effectLst/>
                        </a:rPr>
                        <a:t>三、审批与签字确认</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a:txBody>
                    <a:bodyPr/>
                    <a:lstStyle/>
                    <a:p>
                      <a:pPr algn="ctr" fontAlgn="ctr"/>
                      <a:r>
                        <a:rPr lang="zh-CN" altLang="en-US" sz="500" u="none" strike="noStrike">
                          <a:effectLst/>
                        </a:rPr>
                        <a:t>领用人（物料需求确认）</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gridSpan="3">
                  <a:txBody>
                    <a:bodyPr/>
                    <a:lstStyle/>
                    <a:p>
                      <a:pPr algn="ctr" fontAlgn="ctr"/>
                      <a:r>
                        <a:rPr lang="zh-CN" altLang="en-US" sz="500" u="none" strike="noStrike">
                          <a:effectLst/>
                        </a:rPr>
                        <a:t>部门负责人审批（领用需求合理性）</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500" u="none" strike="noStrike">
                          <a:effectLst/>
                        </a:rPr>
                        <a:t>项目负责人审批（项目专用领用填写）</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500" u="none" strike="noStrike">
                          <a:effectLst/>
                        </a:rPr>
                        <a:t>仓库管理员（账实核对、物料发料）</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500" u="none" strike="noStrike">
                          <a:effectLst/>
                        </a:rPr>
                        <a:t>财务成本核算备案</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extLst>
                  <a:ext uri="{0D108BD9-81ED-4DB2-BD59-A6C34878D82A}">
                    <a16:rowId xmlns:a16="http://schemas.microsoft.com/office/drawing/2014/main" val="497702983"/>
                  </a:ext>
                </a:extLst>
              </a:tr>
              <a:tr h="344386">
                <a:tc vMerge="1">
                  <a:txBody>
                    <a:bodyPr/>
                    <a:lstStyle/>
                    <a:p>
                      <a:endParaRPr lang="zh-CN" altLang="en-US"/>
                    </a:p>
                  </a:txBody>
                  <a:tcPr/>
                </a:tc>
                <a:tc>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extLst>
                  <a:ext uri="{0D108BD9-81ED-4DB2-BD59-A6C34878D82A}">
                    <a16:rowId xmlns:a16="http://schemas.microsoft.com/office/drawing/2014/main" val="3418951913"/>
                  </a:ext>
                </a:extLst>
              </a:tr>
              <a:tr h="344386">
                <a:tc vMerge="1">
                  <a:txBody>
                    <a:bodyPr/>
                    <a:lstStyle/>
                    <a:p>
                      <a:endParaRPr lang="zh-CN" altLang="en-US"/>
                    </a:p>
                  </a:txBody>
                  <a:tcPr/>
                </a:tc>
                <a:tc>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extLst>
                  <a:ext uri="{0D108BD9-81ED-4DB2-BD59-A6C34878D82A}">
                    <a16:rowId xmlns:a16="http://schemas.microsoft.com/office/drawing/2014/main" val="2585548820"/>
                  </a:ext>
                </a:extLst>
              </a:tr>
              <a:tr h="344386">
                <a:tc vMerge="1">
                  <a:txBody>
                    <a:bodyPr/>
                    <a:lstStyle/>
                    <a:p>
                      <a:endParaRPr lang="zh-CN" altLang="en-US"/>
                    </a:p>
                  </a:txBody>
                  <a:tcPr/>
                </a:tc>
                <a:tc>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extLst>
                  <a:ext uri="{0D108BD9-81ED-4DB2-BD59-A6C34878D82A}">
                    <a16:rowId xmlns:a16="http://schemas.microsoft.com/office/drawing/2014/main" val="14902699"/>
                  </a:ext>
                </a:extLst>
              </a:tr>
              <a:tr h="939235">
                <a:tc gridSpan="13">
                  <a:txBody>
                    <a:bodyPr/>
                    <a:lstStyle/>
                    <a:p>
                      <a:pPr algn="l" fontAlgn="ctr"/>
                      <a:r>
                        <a:rPr lang="zh-CN" altLang="en-US" sz="500" u="none" strike="noStrike" dirty="0">
                          <a:effectLst/>
                        </a:rPr>
                        <a:t>单据使用核心规范</a:t>
                      </a:r>
                      <a:br>
                        <a:rPr lang="zh-CN" altLang="en-US" sz="500" u="none" strike="noStrike" dirty="0">
                          <a:effectLst/>
                        </a:rPr>
                      </a:br>
                      <a:r>
                        <a:rPr lang="en-US" altLang="zh-CN" sz="500" u="none" strike="noStrike" dirty="0">
                          <a:effectLst/>
                        </a:rPr>
                        <a:t>1.</a:t>
                      </a:r>
                      <a:r>
                        <a:rPr lang="zh-CN" altLang="en-US" sz="500" u="none" strike="noStrike" dirty="0">
                          <a:effectLst/>
                        </a:rPr>
                        <a:t>内部使用限定：本单据仅用于公司内部部门领用原材料、耗材、低值易耗品，不得用于对外销售发货，对外销售需使用</a:t>
                      </a:r>
                      <a:r>
                        <a:rPr lang="en-US" altLang="zh-CN" sz="500" u="none" strike="noStrike" dirty="0">
                          <a:effectLst/>
                        </a:rPr>
                        <a:t>《</a:t>
                      </a:r>
                      <a:r>
                        <a:rPr lang="zh-CN" altLang="en-US" sz="500" u="none" strike="noStrike" dirty="0">
                          <a:effectLst/>
                        </a:rPr>
                        <a:t>产品销售出库单</a:t>
                      </a:r>
                      <a:r>
                        <a:rPr lang="en-US" altLang="zh-CN" sz="500" u="none" strike="noStrike" dirty="0">
                          <a:effectLst/>
                        </a:rPr>
                        <a:t>》</a:t>
                      </a:r>
                      <a:r>
                        <a:rPr lang="zh-CN" altLang="en-US" sz="500" u="none" strike="noStrike" dirty="0">
                          <a:effectLst/>
                        </a:rPr>
                        <a:t>。</a:t>
                      </a:r>
                      <a:br>
                        <a:rPr lang="zh-CN" altLang="en-US" sz="500" u="none" strike="noStrike" dirty="0">
                          <a:effectLst/>
                        </a:rPr>
                      </a:br>
                      <a:r>
                        <a:rPr lang="en-US" altLang="zh-CN" sz="500" u="none" strike="noStrike" dirty="0">
                          <a:effectLst/>
                        </a:rPr>
                        <a:t>2.</a:t>
                      </a:r>
                      <a:r>
                        <a:rPr lang="zh-CN" altLang="en-US" sz="500" u="none" strike="noStrike" dirty="0">
                          <a:effectLst/>
                        </a:rPr>
                        <a:t>成本核算要求：必须明确标注领用用途与成本归属，生产领用计入生产成本、研发领用计入研发费用、办公领用计入部门管理费用，是财务成本核算的核心原始凭证。</a:t>
                      </a:r>
                      <a:br>
                        <a:rPr lang="zh-CN" altLang="en-US" sz="500" u="none" strike="noStrike" dirty="0">
                          <a:effectLst/>
                        </a:rPr>
                      </a:br>
                      <a:r>
                        <a:rPr lang="en-US" altLang="zh-CN" sz="500" u="none" strike="noStrike" dirty="0">
                          <a:effectLst/>
                        </a:rPr>
                        <a:t>3.</a:t>
                      </a:r>
                      <a:r>
                        <a:rPr lang="zh-CN" altLang="en-US" sz="500" u="none" strike="noStrike" dirty="0">
                          <a:effectLst/>
                        </a:rPr>
                        <a:t>台账匹配要求：本单据的实发数量、物料信息必须与</a:t>
                      </a:r>
                      <a:r>
                        <a:rPr lang="en-US" altLang="zh-CN" sz="500" u="none" strike="noStrike" dirty="0">
                          <a:effectLst/>
                        </a:rPr>
                        <a:t>《</a:t>
                      </a:r>
                      <a:r>
                        <a:rPr lang="zh-CN" altLang="en-US" sz="500" u="none" strike="noStrike" dirty="0">
                          <a:effectLst/>
                        </a:rPr>
                        <a:t>原材料进销存台账</a:t>
                      </a:r>
                      <a:r>
                        <a:rPr lang="en-US" altLang="zh-CN" sz="500" u="none" strike="noStrike" dirty="0">
                          <a:effectLst/>
                        </a:rPr>
                        <a:t>》</a:t>
                      </a:r>
                      <a:r>
                        <a:rPr lang="zh-CN" altLang="en-US" sz="500" u="none" strike="noStrike" dirty="0">
                          <a:effectLst/>
                        </a:rPr>
                        <a:t>的出库数据完全一致，月末结账前需完成单据与台账的双向核对，确保账证、账实相符。</a:t>
                      </a:r>
                      <a:br>
                        <a:rPr lang="zh-CN" altLang="en-US" sz="500" u="none" strike="noStrike" dirty="0">
                          <a:effectLst/>
                        </a:rPr>
                      </a:br>
                      <a:r>
                        <a:rPr lang="en-US" altLang="zh-CN" sz="500" u="none" strike="noStrike" dirty="0">
                          <a:effectLst/>
                        </a:rPr>
                        <a:t>4.</a:t>
                      </a:r>
                      <a:r>
                        <a:rPr lang="zh-CN" altLang="en-US" sz="500" u="none" strike="noStrike" dirty="0">
                          <a:effectLst/>
                        </a:rPr>
                        <a:t>审批生效规则：需完成全流程审批签字后方可生效发料，严禁无单领用、白条出库、先领用后补单；单据需连续编号，一式三联（仓库联、领用部门联、财务联），分别用于仓库发料、部门留存、财务核算归档。</a:t>
                      </a:r>
                      <a:br>
                        <a:rPr lang="zh-CN" altLang="en-US" sz="500" u="none" strike="noStrike" dirty="0">
                          <a:effectLst/>
                        </a:rPr>
                      </a:br>
                      <a:r>
                        <a:rPr lang="en-US" altLang="zh-CN" sz="500" u="none" strike="noStrike" dirty="0">
                          <a:effectLst/>
                        </a:rPr>
                        <a:t>5.</a:t>
                      </a:r>
                      <a:r>
                        <a:rPr lang="zh-CN" altLang="en-US" sz="500" u="none" strike="noStrike" dirty="0">
                          <a:effectLst/>
                        </a:rPr>
                        <a:t>异常处理规则：如出现领用物料规格不符、数量短缺、质量异常等情况，需在备注栏详细说明，并同步办理退库手续，出具</a:t>
                      </a:r>
                      <a:r>
                        <a:rPr lang="en-US" altLang="zh-CN" sz="500" u="none" strike="noStrike" dirty="0">
                          <a:effectLst/>
                        </a:rPr>
                        <a:t>《</a:t>
                      </a:r>
                      <a:r>
                        <a:rPr lang="zh-CN" altLang="en-US" sz="500" u="none" strike="noStrike" dirty="0">
                          <a:effectLst/>
                        </a:rPr>
                        <a:t>材料退库单</a:t>
                      </a:r>
                      <a:r>
                        <a:rPr lang="en-US" altLang="zh-CN" sz="500" u="none" strike="noStrike" dirty="0">
                          <a:effectLst/>
                        </a:rPr>
                        <a:t>》</a:t>
                      </a:r>
                      <a:r>
                        <a:rPr lang="zh-CN" altLang="en-US" sz="500" u="none" strike="noStrike" dirty="0">
                          <a:effectLst/>
                        </a:rPr>
                        <a:t>，确保库存数据准确。</a:t>
                      </a:r>
                      <a:endParaRPr lang="zh-CN" altLang="en-US" sz="500" b="0" i="0" u="none" strike="noStrike" dirty="0">
                        <a:solidFill>
                          <a:srgbClr val="000000"/>
                        </a:solidFill>
                        <a:effectLst/>
                        <a:latin typeface="宋体" panose="02010600030101010101" pitchFamily="2" charset="-122"/>
                        <a:ea typeface="宋体" panose="02010600030101010101" pitchFamily="2" charset="-122"/>
                      </a:endParaRPr>
                    </a:p>
                  </a:txBody>
                  <a:tcPr marL="4196" marR="4196" marT="419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02942889"/>
                  </a:ext>
                </a:extLst>
              </a:tr>
            </a:tbl>
          </a:graphicData>
        </a:graphic>
      </p:graphicFrame>
    </p:spTree>
    <p:extLst>
      <p:ext uri="{BB962C8B-B14F-4D97-AF65-F5344CB8AC3E}">
        <p14:creationId xmlns:p14="http://schemas.microsoft.com/office/powerpoint/2010/main" val="1869676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F20F372-D350-4A42-AE05-791CD68F5341}"/>
              </a:ext>
            </a:extLst>
          </p:cNvPr>
          <p:cNvSpPr txBox="1"/>
          <p:nvPr/>
        </p:nvSpPr>
        <p:spPr>
          <a:xfrm>
            <a:off x="119336" y="116632"/>
            <a:ext cx="5616624" cy="461665"/>
          </a:xfrm>
          <a:prstGeom prst="rect">
            <a:avLst/>
          </a:prstGeom>
          <a:solidFill>
            <a:srgbClr val="FFFF00"/>
          </a:solidFill>
        </p:spPr>
        <p:txBody>
          <a:bodyPr wrap="square" rtlCol="0">
            <a:spAutoFit/>
          </a:bodyPr>
          <a:lstStyle/>
          <a:p>
            <a:r>
              <a:rPr lang="zh-CN" altLang="en-US" sz="2400" b="1" dirty="0">
                <a:solidFill>
                  <a:srgbClr val="FF0000"/>
                </a:solidFill>
              </a:rPr>
              <a:t>项目履约交付结算单（项目专用）</a:t>
            </a:r>
            <a:r>
              <a:rPr lang="en-US" altLang="zh-CN" sz="2400" b="1" dirty="0">
                <a:solidFill>
                  <a:srgbClr val="FF0000"/>
                </a:solidFill>
              </a:rPr>
              <a:t>3-4</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91FC12A8-8DDB-431A-A09D-25BFCDF140FD}"/>
              </a:ext>
            </a:extLst>
          </p:cNvPr>
          <p:cNvGraphicFramePr>
            <a:graphicFrameLocks noGrp="1"/>
          </p:cNvGraphicFramePr>
          <p:nvPr>
            <p:extLst>
              <p:ext uri="{D42A27DB-BD31-4B8C-83A1-F6EECF244321}">
                <p14:modId xmlns:p14="http://schemas.microsoft.com/office/powerpoint/2010/main" val="2336187505"/>
              </p:ext>
            </p:extLst>
          </p:nvPr>
        </p:nvGraphicFramePr>
        <p:xfrm>
          <a:off x="551384" y="650305"/>
          <a:ext cx="10945216" cy="5659017"/>
        </p:xfrm>
        <a:graphic>
          <a:graphicData uri="http://schemas.openxmlformats.org/drawingml/2006/table">
            <a:tbl>
              <a:tblPr>
                <a:tableStyleId>{5C22544A-7EE6-4342-B048-85BDC9FD1C3A}</a:tableStyleId>
              </a:tblPr>
              <a:tblGrid>
                <a:gridCol w="375158">
                  <a:extLst>
                    <a:ext uri="{9D8B030D-6E8A-4147-A177-3AD203B41FA5}">
                      <a16:colId xmlns:a16="http://schemas.microsoft.com/office/drawing/2014/main" val="409595052"/>
                    </a:ext>
                  </a:extLst>
                </a:gridCol>
                <a:gridCol w="1950818">
                  <a:extLst>
                    <a:ext uri="{9D8B030D-6E8A-4147-A177-3AD203B41FA5}">
                      <a16:colId xmlns:a16="http://schemas.microsoft.com/office/drawing/2014/main" val="2876042358"/>
                    </a:ext>
                  </a:extLst>
                </a:gridCol>
                <a:gridCol w="1375577">
                  <a:extLst>
                    <a:ext uri="{9D8B030D-6E8A-4147-A177-3AD203B41FA5}">
                      <a16:colId xmlns:a16="http://schemas.microsoft.com/office/drawing/2014/main" val="1907413312"/>
                    </a:ext>
                  </a:extLst>
                </a:gridCol>
                <a:gridCol w="412673">
                  <a:extLst>
                    <a:ext uri="{9D8B030D-6E8A-4147-A177-3AD203B41FA5}">
                      <a16:colId xmlns:a16="http://schemas.microsoft.com/office/drawing/2014/main" val="1455292259"/>
                    </a:ext>
                  </a:extLst>
                </a:gridCol>
                <a:gridCol w="437683">
                  <a:extLst>
                    <a:ext uri="{9D8B030D-6E8A-4147-A177-3AD203B41FA5}">
                      <a16:colId xmlns:a16="http://schemas.microsoft.com/office/drawing/2014/main" val="73832812"/>
                    </a:ext>
                  </a:extLst>
                </a:gridCol>
                <a:gridCol w="650273">
                  <a:extLst>
                    <a:ext uri="{9D8B030D-6E8A-4147-A177-3AD203B41FA5}">
                      <a16:colId xmlns:a16="http://schemas.microsoft.com/office/drawing/2014/main" val="3313113515"/>
                    </a:ext>
                  </a:extLst>
                </a:gridCol>
                <a:gridCol w="650273">
                  <a:extLst>
                    <a:ext uri="{9D8B030D-6E8A-4147-A177-3AD203B41FA5}">
                      <a16:colId xmlns:a16="http://schemas.microsoft.com/office/drawing/2014/main" val="1805066303"/>
                    </a:ext>
                  </a:extLst>
                </a:gridCol>
                <a:gridCol w="1075452">
                  <a:extLst>
                    <a:ext uri="{9D8B030D-6E8A-4147-A177-3AD203B41FA5}">
                      <a16:colId xmlns:a16="http://schemas.microsoft.com/office/drawing/2014/main" val="3006723759"/>
                    </a:ext>
                  </a:extLst>
                </a:gridCol>
                <a:gridCol w="950399">
                  <a:extLst>
                    <a:ext uri="{9D8B030D-6E8A-4147-A177-3AD203B41FA5}">
                      <a16:colId xmlns:a16="http://schemas.microsoft.com/office/drawing/2014/main" val="2825795216"/>
                    </a:ext>
                  </a:extLst>
                </a:gridCol>
                <a:gridCol w="887872">
                  <a:extLst>
                    <a:ext uri="{9D8B030D-6E8A-4147-A177-3AD203B41FA5}">
                      <a16:colId xmlns:a16="http://schemas.microsoft.com/office/drawing/2014/main" val="3768597973"/>
                    </a:ext>
                  </a:extLst>
                </a:gridCol>
                <a:gridCol w="912882">
                  <a:extLst>
                    <a:ext uri="{9D8B030D-6E8A-4147-A177-3AD203B41FA5}">
                      <a16:colId xmlns:a16="http://schemas.microsoft.com/office/drawing/2014/main" val="1691923446"/>
                    </a:ext>
                  </a:extLst>
                </a:gridCol>
                <a:gridCol w="590873">
                  <a:extLst>
                    <a:ext uri="{9D8B030D-6E8A-4147-A177-3AD203B41FA5}">
                      <a16:colId xmlns:a16="http://schemas.microsoft.com/office/drawing/2014/main" val="183695899"/>
                    </a:ext>
                  </a:extLst>
                </a:gridCol>
                <a:gridCol w="675283">
                  <a:extLst>
                    <a:ext uri="{9D8B030D-6E8A-4147-A177-3AD203B41FA5}">
                      <a16:colId xmlns:a16="http://schemas.microsoft.com/office/drawing/2014/main" val="987524504"/>
                    </a:ext>
                  </a:extLst>
                </a:gridCol>
              </a:tblGrid>
              <a:tr h="297843">
                <a:tc gridSpan="13">
                  <a:txBody>
                    <a:bodyPr/>
                    <a:lstStyle/>
                    <a:p>
                      <a:pPr algn="ctr" fontAlgn="ctr"/>
                      <a:r>
                        <a:rPr lang="en-US" altLang="zh-CN" sz="700" u="none" strike="noStrike">
                          <a:effectLst/>
                        </a:rPr>
                        <a:t>XXX</a:t>
                      </a:r>
                      <a:r>
                        <a:rPr lang="zh-CN" altLang="en-US" sz="700" u="none" strike="noStrike">
                          <a:effectLst/>
                        </a:rPr>
                        <a:t>项目履约交付结算单</a:t>
                      </a:r>
                      <a:endParaRPr lang="zh-CN" altLang="en-US" sz="700" b="1"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09205871"/>
                  </a:ext>
                </a:extLst>
              </a:tr>
              <a:tr h="297843">
                <a:tc>
                  <a:txBody>
                    <a:bodyPr/>
                    <a:lstStyle/>
                    <a:p>
                      <a:pPr algn="ctr" fontAlgn="ctr"/>
                      <a:r>
                        <a:rPr lang="zh-CN" altLang="en-US" sz="600" u="none" strike="noStrike">
                          <a:effectLst/>
                        </a:rPr>
                        <a:t>序号</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履约内容</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交付清单</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单位</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数量</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合同总额</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本期完工进度</a:t>
                      </a:r>
                      <a:r>
                        <a:rPr lang="en-US" altLang="zh-CN" sz="600" u="none" strike="noStrike">
                          <a:effectLst/>
                        </a:rPr>
                        <a:t>/%</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本期完成情况</a:t>
                      </a:r>
                      <a:br>
                        <a:rPr lang="zh-CN" altLang="en-US" sz="600" u="none" strike="noStrike">
                          <a:effectLst/>
                        </a:rPr>
                      </a:br>
                      <a:r>
                        <a:rPr lang="zh-CN" altLang="en-US" sz="600" u="none" strike="noStrike">
                          <a:effectLst/>
                        </a:rPr>
                        <a:t>金额（元）</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截至上期结算金额（元）</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本次结算金额（元）</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剩余结算金额（元）</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质保金</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备注</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4240185304"/>
                  </a:ext>
                </a:extLst>
              </a:tr>
              <a:tr h="297843">
                <a:tc>
                  <a:txBody>
                    <a:bodyPr/>
                    <a:lstStyle/>
                    <a:p>
                      <a:pPr algn="ctr" fontAlgn="ctr"/>
                      <a:r>
                        <a:rPr lang="en-US" altLang="zh-CN" sz="600" u="none" strike="noStrike">
                          <a:effectLst/>
                        </a:rPr>
                        <a:t>1</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安全生产人机出入管理系统服务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人机管理技术服务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套</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en-US" altLang="zh-CN" sz="600" u="none" strike="noStrike">
                          <a:effectLst/>
                        </a:rPr>
                        <a:t>1.00 </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911968029"/>
                  </a:ext>
                </a:extLst>
              </a:tr>
              <a:tr h="297843">
                <a:tc>
                  <a:txBody>
                    <a:bodyPr/>
                    <a:lstStyle/>
                    <a:p>
                      <a:pPr algn="ctr" fontAlgn="ctr"/>
                      <a:r>
                        <a:rPr lang="en-US" altLang="zh-CN" sz="600" u="none" strike="noStrike">
                          <a:effectLst/>
                        </a:rPr>
                        <a:t>2</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安全生产门柱系统服务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门柱系统技术服务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套</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en-US" altLang="zh-CN" sz="600" u="none" strike="noStrike">
                          <a:effectLst/>
                        </a:rPr>
                        <a:t>1.00 </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2071013832"/>
                  </a:ext>
                </a:extLst>
              </a:tr>
              <a:tr h="297843">
                <a:tc gridSpan="3">
                  <a:txBody>
                    <a:bodyPr/>
                    <a:lstStyle/>
                    <a:p>
                      <a:pPr algn="ctr" fontAlgn="ctr"/>
                      <a:r>
                        <a:rPr lang="zh-CN" altLang="en-US" sz="600" u="none" strike="noStrike">
                          <a:effectLst/>
                        </a:rPr>
                        <a:t>金额小计</a:t>
                      </a:r>
                      <a:r>
                        <a:rPr lang="en-US" altLang="zh-CN" sz="600" u="none" strike="noStrike">
                          <a:effectLst/>
                        </a:rPr>
                        <a:t>1</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2774140222"/>
                  </a:ext>
                </a:extLst>
              </a:tr>
              <a:tr h="297843">
                <a:tc>
                  <a:txBody>
                    <a:bodyPr/>
                    <a:lstStyle/>
                    <a:p>
                      <a:pPr algn="ctr" fontAlgn="ctr"/>
                      <a:r>
                        <a:rPr lang="en-US" altLang="zh-CN" sz="600" u="none" strike="noStrike">
                          <a:effectLst/>
                        </a:rPr>
                        <a:t>1</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技术服务费（设计）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平面图、效果图、施工图、广告设计排版</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en-US" altLang="zh-CN" sz="600" u="none" strike="noStrike">
                          <a:effectLst/>
                        </a:rPr>
                        <a:t>1.00 </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982419826"/>
                  </a:ext>
                </a:extLst>
              </a:tr>
              <a:tr h="297843">
                <a:tc>
                  <a:txBody>
                    <a:bodyPr/>
                    <a:lstStyle/>
                    <a:p>
                      <a:pPr algn="ctr" fontAlgn="ctr"/>
                      <a:r>
                        <a:rPr lang="en-US" altLang="zh-CN" sz="600" u="none" strike="noStrike">
                          <a:effectLst/>
                        </a:rPr>
                        <a:t>2</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技术服务费</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现场技术服务、人员培训、安装调试服务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项</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en-US" altLang="zh-CN" sz="600" u="none" strike="noStrike">
                          <a:effectLst/>
                        </a:rPr>
                        <a:t>1.00 </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FF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213211226"/>
                  </a:ext>
                </a:extLst>
              </a:tr>
              <a:tr h="297843">
                <a:tc>
                  <a:txBody>
                    <a:bodyPr/>
                    <a:lstStyle/>
                    <a:p>
                      <a:pPr algn="ctr" fontAlgn="ctr"/>
                      <a:r>
                        <a:rPr lang="en-US" altLang="zh-CN" sz="600" u="none" strike="noStrike">
                          <a:effectLst/>
                        </a:rPr>
                        <a:t>3</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技术服务费</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安全生产信息化中心整体定制系统技术服务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套</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en-US" altLang="zh-CN" sz="600" u="none" strike="noStrike">
                          <a:effectLst/>
                        </a:rPr>
                        <a:t>1.00 </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707694298"/>
                  </a:ext>
                </a:extLst>
              </a:tr>
              <a:tr h="297843">
                <a:tc gridSpan="3">
                  <a:txBody>
                    <a:bodyPr/>
                    <a:lstStyle/>
                    <a:p>
                      <a:pPr algn="ctr" fontAlgn="ctr"/>
                      <a:r>
                        <a:rPr lang="zh-CN" altLang="en-US" sz="600" u="none" strike="noStrike">
                          <a:effectLst/>
                        </a:rPr>
                        <a:t>金额小计</a:t>
                      </a:r>
                      <a:r>
                        <a:rPr lang="en-US" altLang="zh-CN" sz="600" u="none" strike="noStrike">
                          <a:effectLst/>
                        </a:rPr>
                        <a:t>2</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253706311"/>
                  </a:ext>
                </a:extLst>
              </a:tr>
              <a:tr h="297843">
                <a:tc>
                  <a:txBody>
                    <a:bodyPr/>
                    <a:lstStyle/>
                    <a:p>
                      <a:pPr algn="ctr" fontAlgn="ctr"/>
                      <a:r>
                        <a:rPr lang="en-US" altLang="zh-CN" sz="600" u="none" strike="noStrike">
                          <a:effectLst/>
                        </a:rPr>
                        <a:t>1</a:t>
                      </a:r>
                      <a:endParaRPr lang="en-US" altLang="zh-CN" sz="600" b="0" i="0" u="none" strike="noStrike">
                        <a:solidFill>
                          <a:srgbClr val="000000"/>
                        </a:solidFill>
                        <a:effectLst/>
                        <a:latin typeface="方正小标宋简体"/>
                        <a:ea typeface="宋体" panose="02010600030101010101" pitchFamily="2" charset="-122"/>
                      </a:endParaRPr>
                    </a:p>
                  </a:txBody>
                  <a:tcPr marL="5827" marR="5827" marT="5827" marB="0" anchor="ctr"/>
                </a:tc>
                <a:tc gridSpan="4">
                  <a:txBody>
                    <a:bodyPr/>
                    <a:lstStyle/>
                    <a:p>
                      <a:pPr algn="ctr" fontAlgn="ctr"/>
                      <a:r>
                        <a:rPr lang="zh-CN" altLang="en-US" sz="600" u="none" strike="noStrike">
                          <a:effectLst/>
                        </a:rPr>
                        <a:t>税金（</a:t>
                      </a:r>
                      <a:r>
                        <a:rPr lang="en-US" altLang="zh-CN" sz="600" u="none" strike="noStrike">
                          <a:effectLst/>
                        </a:rPr>
                        <a:t>3%</a:t>
                      </a:r>
                      <a:r>
                        <a:rPr lang="zh-CN" altLang="en-US" sz="600" u="none" strike="noStrike">
                          <a:effectLst/>
                        </a:rPr>
                        <a:t>）</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2108759396"/>
                  </a:ext>
                </a:extLst>
              </a:tr>
              <a:tr h="297843">
                <a:tc gridSpan="5">
                  <a:txBody>
                    <a:bodyPr/>
                    <a:lstStyle/>
                    <a:p>
                      <a:pPr algn="ctr" fontAlgn="ctr"/>
                      <a:r>
                        <a:rPr lang="zh-CN" altLang="en-US" sz="600" u="none" strike="noStrike">
                          <a:effectLst/>
                        </a:rPr>
                        <a:t>总计</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r>
                        <a:rPr lang="zh-CN" altLang="en-US" sz="600" u="sng" strike="noStrike">
                          <a:effectLst/>
                        </a:rPr>
                        <a:t>　</a:t>
                      </a:r>
                      <a:endParaRPr lang="zh-CN" altLang="en-US" sz="600" b="0" i="0" u="sng"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2914724968"/>
                  </a:ext>
                </a:extLst>
              </a:tr>
              <a:tr h="297843">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sng"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950529759"/>
                  </a:ext>
                </a:extLst>
              </a:tr>
              <a:tr h="297843">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gridSpan="2">
                  <a:txBody>
                    <a:bodyPr/>
                    <a:lstStyle/>
                    <a:p>
                      <a:pPr algn="l" fontAlgn="ctr"/>
                      <a:r>
                        <a:rPr lang="zh-CN" altLang="en-US" sz="700" u="none" strike="noStrike">
                          <a:effectLst/>
                        </a:rPr>
                        <a:t>合同编号及名称：</a:t>
                      </a:r>
                      <a:r>
                        <a:rPr lang="en-US" altLang="zh-CN" sz="700" u="none" strike="noStrike">
                          <a:effectLst/>
                        </a:rPr>
                        <a:t>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r>
                        <a:rPr lang="zh-CN" altLang="en-US" sz="700" u="none" strike="noStrike">
                          <a:effectLst/>
                        </a:rPr>
                        <a:t>验收结论：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gridSpan="3">
                  <a:txBody>
                    <a:bodyPr/>
                    <a:lstStyle/>
                    <a:p>
                      <a:pPr algn="l" fontAlgn="ctr"/>
                      <a:r>
                        <a:rPr lang="zh-CN" altLang="en-US" sz="700" u="none" strike="noStrike">
                          <a:effectLst/>
                        </a:rPr>
                        <a:t>□ 合格 □ 已交付全部成果</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extLst>
                  <a:ext uri="{0D108BD9-81ED-4DB2-BD59-A6C34878D82A}">
                    <a16:rowId xmlns:a16="http://schemas.microsoft.com/office/drawing/2014/main" val="3844843780"/>
                  </a:ext>
                </a:extLst>
              </a:tr>
              <a:tr h="297843">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2">
                  <a:txBody>
                    <a:bodyPr/>
                    <a:lstStyle/>
                    <a:p>
                      <a:pPr algn="l" fontAlgn="ctr"/>
                      <a:r>
                        <a:rPr lang="zh-CN" altLang="en-US" sz="700" u="none" strike="noStrike">
                          <a:effectLst/>
                        </a:rPr>
                        <a:t>项目名称：</a:t>
                      </a:r>
                      <a:r>
                        <a:rPr lang="en-US" altLang="zh-CN" sz="700" u="none" strike="noStrike">
                          <a:effectLst/>
                        </a:rPr>
                        <a:t>________________________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3">
                  <a:txBody>
                    <a:bodyPr/>
                    <a:lstStyle/>
                    <a:p>
                      <a:pPr algn="l" fontAlgn="ctr"/>
                      <a:r>
                        <a:rPr lang="zh-CN" altLang="en-US" sz="700" u="none" strike="noStrike">
                          <a:effectLst/>
                        </a:rPr>
                        <a:t>户  名：</a:t>
                      </a:r>
                      <a:r>
                        <a:rPr lang="en-US" altLang="zh-CN" sz="700" u="none" strike="noStrike">
                          <a:effectLst/>
                        </a:rPr>
                        <a:t>________________________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213325767"/>
                  </a:ext>
                </a:extLst>
              </a:tr>
              <a:tr h="297843">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2">
                  <a:txBody>
                    <a:bodyPr/>
                    <a:lstStyle/>
                    <a:p>
                      <a:pPr algn="l" fontAlgn="ctr"/>
                      <a:r>
                        <a:rPr lang="zh-CN" altLang="en-US" sz="700" u="none" strike="noStrike">
                          <a:effectLst/>
                        </a:rPr>
                        <a:t>验收日期：</a:t>
                      </a:r>
                      <a:r>
                        <a:rPr lang="en-US" altLang="zh-CN" sz="700" u="none" strike="noStrike">
                          <a:effectLst/>
                        </a:rPr>
                        <a:t>_____</a:t>
                      </a:r>
                      <a:r>
                        <a:rPr lang="zh-CN" altLang="en-US" sz="700" u="none" strike="noStrike">
                          <a:effectLst/>
                        </a:rPr>
                        <a:t>年</a:t>
                      </a:r>
                      <a:r>
                        <a:rPr lang="en-US" altLang="zh-CN" sz="700" u="none" strike="noStrike">
                          <a:effectLst/>
                        </a:rPr>
                        <a:t>____</a:t>
                      </a:r>
                      <a:r>
                        <a:rPr lang="zh-CN" altLang="en-US" sz="700" u="none" strike="noStrike">
                          <a:effectLst/>
                        </a:rPr>
                        <a:t>月</a:t>
                      </a:r>
                      <a:r>
                        <a:rPr lang="en-US" altLang="zh-CN" sz="700" u="none" strike="noStrike">
                          <a:effectLst/>
                        </a:rPr>
                        <a:t>____</a:t>
                      </a:r>
                      <a:r>
                        <a:rPr lang="zh-CN" altLang="en-US" sz="700" u="none" strike="noStrike">
                          <a:effectLst/>
                        </a:rPr>
                        <a:t>日</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3">
                  <a:txBody>
                    <a:bodyPr/>
                    <a:lstStyle/>
                    <a:p>
                      <a:pPr algn="l" fontAlgn="ctr"/>
                      <a:r>
                        <a:rPr lang="zh-CN" altLang="en-US" sz="700" u="none" strike="noStrike">
                          <a:effectLst/>
                        </a:rPr>
                        <a:t>开户行：</a:t>
                      </a:r>
                      <a:r>
                        <a:rPr lang="en-US" altLang="zh-CN" sz="700" u="none" strike="noStrike">
                          <a:effectLst/>
                        </a:rPr>
                        <a:t>________________________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2262940178"/>
                  </a:ext>
                </a:extLst>
              </a:tr>
              <a:tr h="297843">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gridSpan="2">
                  <a:txBody>
                    <a:bodyPr/>
                    <a:lstStyle/>
                    <a:p>
                      <a:pPr algn="l" fontAlgn="ctr"/>
                      <a:r>
                        <a:rPr lang="zh-CN" altLang="en-US" sz="700" u="none" strike="noStrike">
                          <a:effectLst/>
                        </a:rPr>
                        <a:t>乙方开具：□ 增值税专票  □ 普票</a:t>
                      </a: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hMerge="1">
                  <a:txBody>
                    <a:bodyPr/>
                    <a:lstStyle/>
                    <a:p>
                      <a:endParaRPr lang="zh-CN" altLang="en-US"/>
                    </a:p>
                  </a:txBody>
                  <a:tcP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gridSpan="3">
                  <a:txBody>
                    <a:bodyPr/>
                    <a:lstStyle/>
                    <a:p>
                      <a:pPr algn="l" fontAlgn="ctr"/>
                      <a:r>
                        <a:rPr lang="zh-CN" altLang="en-US" sz="700" u="none" strike="noStrike">
                          <a:effectLst/>
                        </a:rPr>
                        <a:t>账  号：</a:t>
                      </a:r>
                      <a:r>
                        <a:rPr lang="en-US" altLang="zh-CN" sz="700" u="none" strike="noStrike">
                          <a:effectLst/>
                        </a:rPr>
                        <a:t>________________________</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extLst>
                  <a:ext uri="{0D108BD9-81ED-4DB2-BD59-A6C34878D82A}">
                    <a16:rowId xmlns:a16="http://schemas.microsoft.com/office/drawing/2014/main" val="3403621315"/>
                  </a:ext>
                </a:extLst>
              </a:tr>
              <a:tr h="297843">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extLst>
                  <a:ext uri="{0D108BD9-81ED-4DB2-BD59-A6C34878D82A}">
                    <a16:rowId xmlns:a16="http://schemas.microsoft.com/office/drawing/2014/main" val="226196912"/>
                  </a:ext>
                </a:extLst>
              </a:tr>
              <a:tr h="297843">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r>
                        <a:rPr lang="zh-CN" altLang="en-US" sz="700" u="none" strike="noStrike">
                          <a:effectLst/>
                        </a:rPr>
                        <a:t>甲  方（盖章）：</a:t>
                      </a:r>
                      <a:r>
                        <a:rPr lang="en-US" altLang="zh-CN" sz="700" u="none" strike="noStrike">
                          <a:effectLst/>
                        </a:rPr>
                        <a:t>XXXXX</a:t>
                      </a:r>
                      <a:r>
                        <a:rPr lang="zh-CN" altLang="en-US" sz="700" u="none" strike="noStrike">
                          <a:effectLst/>
                        </a:rPr>
                        <a:t>公司</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3">
                  <a:txBody>
                    <a:bodyPr/>
                    <a:lstStyle/>
                    <a:p>
                      <a:pPr algn="l" fontAlgn="ctr"/>
                      <a:r>
                        <a:rPr lang="zh-CN" altLang="en-US" sz="700" u="none" strike="noStrike">
                          <a:effectLst/>
                        </a:rPr>
                        <a:t>乙  方（盖章）：</a:t>
                      </a:r>
                      <a:r>
                        <a:rPr lang="en-US" altLang="zh-CN" sz="700" u="none" strike="noStrike">
                          <a:effectLst/>
                        </a:rPr>
                        <a:t>XXXXX</a:t>
                      </a:r>
                      <a:r>
                        <a:rPr lang="zh-CN" altLang="en-US" sz="700" u="none" strike="noStrike">
                          <a:effectLst/>
                        </a:rPr>
                        <a:t>公司</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extLst>
                  <a:ext uri="{0D108BD9-81ED-4DB2-BD59-A6C34878D82A}">
                    <a16:rowId xmlns:a16="http://schemas.microsoft.com/office/drawing/2014/main" val="42310950"/>
                  </a:ext>
                </a:extLst>
              </a:tr>
              <a:tr h="297843">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r>
                        <a:rPr lang="zh-CN" altLang="en-US" sz="700" u="none" strike="noStrike">
                          <a:effectLst/>
                        </a:rPr>
                        <a:t>经办人（负责人）：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l" fontAlgn="ctr"/>
                      <a:endParaRPr lang="zh-CN" altLang="en-US" sz="600" b="0" i="0" u="none" strike="noStrike">
                        <a:solidFill>
                          <a:srgbClr val="000000"/>
                        </a:solidFill>
                        <a:effectLst/>
                        <a:latin typeface="方正小标宋简体"/>
                        <a:ea typeface="宋体" panose="02010600030101010101" pitchFamily="2" charset="-122"/>
                      </a:endParaRPr>
                    </a:p>
                  </a:txBody>
                  <a:tcPr marL="5827" marR="5827" marT="5827" marB="0" anchor="ctr"/>
                </a:tc>
                <a:tc>
                  <a:txBody>
                    <a:bodyPr/>
                    <a:lstStyle/>
                    <a:p>
                      <a:pPr algn="ctr" fontAlgn="ctr"/>
                      <a:endParaRPr lang="zh-CN" altLang="en-US" sz="700" b="0" i="0" u="none" strike="noStrike">
                        <a:solidFill>
                          <a:srgbClr val="000000"/>
                        </a:solidFill>
                        <a:effectLst/>
                        <a:latin typeface="方正小标宋简体"/>
                        <a:ea typeface="宋体" panose="02010600030101010101" pitchFamily="2" charset="-122"/>
                      </a:endParaRPr>
                    </a:p>
                  </a:txBody>
                  <a:tcPr marL="5827" marR="5827" marT="5827" marB="0" anchor="ctr"/>
                </a:tc>
                <a:tc gridSpan="2">
                  <a:txBody>
                    <a:bodyPr/>
                    <a:lstStyle/>
                    <a:p>
                      <a:pPr algn="l" fontAlgn="ctr"/>
                      <a:r>
                        <a:rPr lang="zh-CN" altLang="en-US" sz="700" u="none" strike="noStrike">
                          <a:effectLst/>
                        </a:rPr>
                        <a:t>经办人（负责人）：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hMerge="1">
                  <a:txBody>
                    <a:bodyPr/>
                    <a:lstStyle/>
                    <a:p>
                      <a:endParaRPr lang="zh-CN" altLang="en-US"/>
                    </a:p>
                  </a:txBody>
                  <a:tcP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27" marR="5827" marT="5827" marB="0" anchor="ctr"/>
                </a:tc>
                <a:tc>
                  <a:txBody>
                    <a:bodyPr/>
                    <a:lstStyle/>
                    <a:p>
                      <a:pPr algn="l" fontAlgn="ctr"/>
                      <a:endParaRPr lang="zh-CN" altLang="en-US" sz="700" b="0" i="0" u="none" strike="noStrike" dirty="0">
                        <a:solidFill>
                          <a:srgbClr val="000000"/>
                        </a:solidFill>
                        <a:effectLst/>
                        <a:latin typeface="宋体" panose="02010600030101010101" pitchFamily="2" charset="-122"/>
                        <a:ea typeface="宋体" panose="02010600030101010101" pitchFamily="2" charset="-122"/>
                      </a:endParaRPr>
                    </a:p>
                  </a:txBody>
                  <a:tcPr marL="5827" marR="5827" marT="5827" marB="0" anchor="ctr"/>
                </a:tc>
                <a:extLst>
                  <a:ext uri="{0D108BD9-81ED-4DB2-BD59-A6C34878D82A}">
                    <a16:rowId xmlns:a16="http://schemas.microsoft.com/office/drawing/2014/main" val="1478555708"/>
                  </a:ext>
                </a:extLst>
              </a:tr>
            </a:tbl>
          </a:graphicData>
        </a:graphic>
      </p:graphicFrame>
    </p:spTree>
    <p:extLst>
      <p:ext uri="{BB962C8B-B14F-4D97-AF65-F5344CB8AC3E}">
        <p14:creationId xmlns:p14="http://schemas.microsoft.com/office/powerpoint/2010/main" val="732450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2A5C0C2-0F19-497D-8627-4DF7EEA9AF38}"/>
              </a:ext>
            </a:extLst>
          </p:cNvPr>
          <p:cNvSpPr txBox="1"/>
          <p:nvPr/>
        </p:nvSpPr>
        <p:spPr>
          <a:xfrm>
            <a:off x="191344" y="116632"/>
            <a:ext cx="5328592" cy="461665"/>
          </a:xfrm>
          <a:prstGeom prst="rect">
            <a:avLst/>
          </a:prstGeom>
          <a:solidFill>
            <a:srgbClr val="FFFF00"/>
          </a:solidFill>
        </p:spPr>
        <p:txBody>
          <a:bodyPr wrap="square" rtlCol="0">
            <a:spAutoFit/>
          </a:bodyPr>
          <a:lstStyle/>
          <a:p>
            <a:r>
              <a:rPr lang="zh-CN" altLang="en-US" sz="2400" b="1" dirty="0">
                <a:solidFill>
                  <a:srgbClr val="FF0000"/>
                </a:solidFill>
              </a:rPr>
              <a:t>发票开具申请单（对外开票）</a:t>
            </a:r>
            <a:r>
              <a:rPr lang="en-US" altLang="zh-CN" sz="2400" b="1" dirty="0">
                <a:solidFill>
                  <a:srgbClr val="FF0000"/>
                </a:solidFill>
              </a:rPr>
              <a:t>3-5</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E64B2CB7-9C98-4044-8660-86431D245605}"/>
              </a:ext>
            </a:extLst>
          </p:cNvPr>
          <p:cNvGraphicFramePr>
            <a:graphicFrameLocks noGrp="1"/>
          </p:cNvGraphicFramePr>
          <p:nvPr>
            <p:extLst>
              <p:ext uri="{D42A27DB-BD31-4B8C-83A1-F6EECF244321}">
                <p14:modId xmlns:p14="http://schemas.microsoft.com/office/powerpoint/2010/main" val="1315674567"/>
              </p:ext>
            </p:extLst>
          </p:nvPr>
        </p:nvGraphicFramePr>
        <p:xfrm>
          <a:off x="1127448" y="663026"/>
          <a:ext cx="10513167" cy="5718305"/>
        </p:xfrm>
        <a:graphic>
          <a:graphicData uri="http://schemas.openxmlformats.org/drawingml/2006/table">
            <a:tbl>
              <a:tblPr>
                <a:tableStyleId>{5C22544A-7EE6-4342-B048-85BDC9FD1C3A}</a:tableStyleId>
              </a:tblPr>
              <a:tblGrid>
                <a:gridCol w="2041629">
                  <a:extLst>
                    <a:ext uri="{9D8B030D-6E8A-4147-A177-3AD203B41FA5}">
                      <a16:colId xmlns:a16="http://schemas.microsoft.com/office/drawing/2014/main" val="4056357047"/>
                    </a:ext>
                  </a:extLst>
                </a:gridCol>
                <a:gridCol w="2043663">
                  <a:extLst>
                    <a:ext uri="{9D8B030D-6E8A-4147-A177-3AD203B41FA5}">
                      <a16:colId xmlns:a16="http://schemas.microsoft.com/office/drawing/2014/main" val="675789800"/>
                    </a:ext>
                  </a:extLst>
                </a:gridCol>
                <a:gridCol w="390432">
                  <a:extLst>
                    <a:ext uri="{9D8B030D-6E8A-4147-A177-3AD203B41FA5}">
                      <a16:colId xmlns:a16="http://schemas.microsoft.com/office/drawing/2014/main" val="4039758355"/>
                    </a:ext>
                  </a:extLst>
                </a:gridCol>
                <a:gridCol w="992345">
                  <a:extLst>
                    <a:ext uri="{9D8B030D-6E8A-4147-A177-3AD203B41FA5}">
                      <a16:colId xmlns:a16="http://schemas.microsoft.com/office/drawing/2014/main" val="542679691"/>
                    </a:ext>
                  </a:extLst>
                </a:gridCol>
                <a:gridCol w="610048">
                  <a:extLst>
                    <a:ext uri="{9D8B030D-6E8A-4147-A177-3AD203B41FA5}">
                      <a16:colId xmlns:a16="http://schemas.microsoft.com/office/drawing/2014/main" val="3525791423"/>
                    </a:ext>
                  </a:extLst>
                </a:gridCol>
                <a:gridCol w="610048">
                  <a:extLst>
                    <a:ext uri="{9D8B030D-6E8A-4147-A177-3AD203B41FA5}">
                      <a16:colId xmlns:a16="http://schemas.microsoft.com/office/drawing/2014/main" val="2297503243"/>
                    </a:ext>
                  </a:extLst>
                </a:gridCol>
                <a:gridCol w="610048">
                  <a:extLst>
                    <a:ext uri="{9D8B030D-6E8A-4147-A177-3AD203B41FA5}">
                      <a16:colId xmlns:a16="http://schemas.microsoft.com/office/drawing/2014/main" val="4255105579"/>
                    </a:ext>
                  </a:extLst>
                </a:gridCol>
                <a:gridCol w="610048">
                  <a:extLst>
                    <a:ext uri="{9D8B030D-6E8A-4147-A177-3AD203B41FA5}">
                      <a16:colId xmlns:a16="http://schemas.microsoft.com/office/drawing/2014/main" val="317643364"/>
                    </a:ext>
                  </a:extLst>
                </a:gridCol>
                <a:gridCol w="610048">
                  <a:extLst>
                    <a:ext uri="{9D8B030D-6E8A-4147-A177-3AD203B41FA5}">
                      <a16:colId xmlns:a16="http://schemas.microsoft.com/office/drawing/2014/main" val="4021990471"/>
                    </a:ext>
                  </a:extLst>
                </a:gridCol>
                <a:gridCol w="610048">
                  <a:extLst>
                    <a:ext uri="{9D8B030D-6E8A-4147-A177-3AD203B41FA5}">
                      <a16:colId xmlns:a16="http://schemas.microsoft.com/office/drawing/2014/main" val="291034511"/>
                    </a:ext>
                  </a:extLst>
                </a:gridCol>
                <a:gridCol w="774762">
                  <a:extLst>
                    <a:ext uri="{9D8B030D-6E8A-4147-A177-3AD203B41FA5}">
                      <a16:colId xmlns:a16="http://schemas.microsoft.com/office/drawing/2014/main" val="1917165023"/>
                    </a:ext>
                  </a:extLst>
                </a:gridCol>
                <a:gridCol w="610048">
                  <a:extLst>
                    <a:ext uri="{9D8B030D-6E8A-4147-A177-3AD203B41FA5}">
                      <a16:colId xmlns:a16="http://schemas.microsoft.com/office/drawing/2014/main" val="3604168632"/>
                    </a:ext>
                  </a:extLst>
                </a:gridCol>
              </a:tblGrid>
              <a:tr h="303946">
                <a:tc gridSpan="12">
                  <a:txBody>
                    <a:bodyPr/>
                    <a:lstStyle/>
                    <a:p>
                      <a:pPr algn="ctr" fontAlgn="ctr"/>
                      <a:r>
                        <a:rPr lang="zh-CN" altLang="en-US" sz="600" u="none" strike="noStrike">
                          <a:effectLst/>
                        </a:rPr>
                        <a:t>发票开具申请单</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75333774"/>
                  </a:ext>
                </a:extLst>
              </a:tr>
              <a:tr h="303946">
                <a:tc>
                  <a:txBody>
                    <a:bodyPr/>
                    <a:lstStyle/>
                    <a:p>
                      <a:pPr algn="l" fontAlgn="ctr"/>
                      <a:r>
                        <a:rPr lang="zh-CN" altLang="en-US" sz="500" u="none" strike="noStrike">
                          <a:effectLst/>
                        </a:rPr>
                        <a:t>申请单号：</a:t>
                      </a:r>
                      <a:r>
                        <a:rPr lang="en-US" altLang="zh-CN" sz="500" u="none" strike="noStrike">
                          <a:effectLst/>
                        </a:rPr>
                        <a:t>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申请日期：</a:t>
                      </a:r>
                      <a:r>
                        <a:rPr lang="en-US" altLang="zh-CN" sz="500" u="none" strike="noStrike">
                          <a:effectLst/>
                        </a:rPr>
                        <a:t>_____</a:t>
                      </a:r>
                      <a:r>
                        <a:rPr lang="zh-CN" altLang="en-US" sz="500" u="none" strike="noStrike">
                          <a:effectLst/>
                        </a:rPr>
                        <a:t>年</a:t>
                      </a:r>
                      <a:r>
                        <a:rPr lang="en-US" altLang="zh-CN" sz="500" u="none" strike="noStrike">
                          <a:effectLst/>
                        </a:rPr>
                        <a:t>____</a:t>
                      </a:r>
                      <a:r>
                        <a:rPr lang="zh-CN" altLang="en-US" sz="500" u="none" strike="noStrike">
                          <a:effectLst/>
                        </a:rPr>
                        <a:t>月</a:t>
                      </a:r>
                      <a:r>
                        <a:rPr lang="en-US" altLang="zh-CN" sz="500" u="none" strike="noStrike">
                          <a:effectLst/>
                        </a:rPr>
                        <a:t>____</a:t>
                      </a:r>
                      <a:r>
                        <a:rPr lang="zh-CN" altLang="en-US" sz="500" u="none" strike="noStrike">
                          <a:effectLst/>
                        </a:rPr>
                        <a:t>日</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3">
                  <a:txBody>
                    <a:bodyPr/>
                    <a:lstStyle/>
                    <a:p>
                      <a:pPr algn="l" fontAlgn="ctr"/>
                      <a:r>
                        <a:rPr lang="zh-CN" altLang="en-US" sz="500" u="none" strike="noStrike">
                          <a:effectLst/>
                        </a:rPr>
                        <a:t>申请部门：</a:t>
                      </a:r>
                      <a:r>
                        <a:rPr lang="en-US" altLang="zh-CN" sz="500" u="none" strike="noStrike">
                          <a:effectLst/>
                        </a:rPr>
                        <a:t>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申请人：</a:t>
                      </a:r>
                      <a:r>
                        <a:rPr lang="en-US" altLang="zh-CN" sz="500" u="none" strike="noStrike">
                          <a:effectLst/>
                        </a:rPr>
                        <a:t>_______________ </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联系电话：</a:t>
                      </a:r>
                      <a:r>
                        <a:rPr lang="en-US" altLang="zh-CN" sz="500" u="none" strike="noStrike">
                          <a:effectLst/>
                        </a:rPr>
                        <a:t>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50913417"/>
                  </a:ext>
                </a:extLst>
              </a:tr>
              <a:tr h="303946">
                <a:tc gridSpan="2">
                  <a:txBody>
                    <a:bodyPr/>
                    <a:lstStyle/>
                    <a:p>
                      <a:pPr algn="l" fontAlgn="ctr"/>
                      <a:r>
                        <a:rPr lang="zh-CN" altLang="en-US" sz="500" u="none" strike="noStrike">
                          <a:effectLst/>
                        </a:rPr>
                        <a:t>一、申请开票基础信息</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gridSpan="10">
                  <a:txBody>
                    <a:bodyPr/>
                    <a:lstStyle/>
                    <a:p>
                      <a:pPr algn="l" fontAlgn="ctr"/>
                      <a:r>
                        <a:rPr lang="zh-CN" altLang="en-US" sz="500" u="none" strike="noStrike">
                          <a:effectLst/>
                        </a:rPr>
                        <a:t>二、申请开票商品 </a:t>
                      </a:r>
                      <a:r>
                        <a:rPr lang="en-US" altLang="zh-CN" sz="500" u="none" strike="noStrike">
                          <a:effectLst/>
                        </a:rPr>
                        <a:t>/ </a:t>
                      </a:r>
                      <a:r>
                        <a:rPr lang="zh-CN" altLang="en-US" sz="500" u="none" strike="noStrike">
                          <a:effectLst/>
                        </a:rPr>
                        <a:t>服务明细</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48678582"/>
                  </a:ext>
                </a:extLst>
              </a:tr>
              <a:tr h="303946">
                <a:tc>
                  <a:txBody>
                    <a:bodyPr/>
                    <a:lstStyle/>
                    <a:p>
                      <a:pPr algn="l" fontAlgn="ctr"/>
                      <a:r>
                        <a:rPr lang="zh-CN" altLang="en-US" sz="500" u="none" strike="noStrike">
                          <a:effectLst/>
                        </a:rPr>
                        <a:t>对应销售订单 </a:t>
                      </a:r>
                      <a:r>
                        <a:rPr lang="en-US" altLang="zh-CN" sz="500" u="none" strike="noStrike">
                          <a:effectLst/>
                        </a:rPr>
                        <a:t>SO </a:t>
                      </a:r>
                      <a:r>
                        <a:rPr lang="zh-CN" altLang="en-US" sz="500" u="none" strike="noStrike">
                          <a:effectLst/>
                        </a:rPr>
                        <a:t>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序号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商品 </a:t>
                      </a:r>
                      <a:r>
                        <a:rPr lang="en-US" altLang="zh-CN" sz="500" u="none" strike="noStrike">
                          <a:effectLst/>
                        </a:rPr>
                        <a:t>/ </a:t>
                      </a:r>
                      <a:r>
                        <a:rPr lang="zh-CN" altLang="en-US" sz="500" u="none" strike="noStrike">
                          <a:effectLst/>
                        </a:rPr>
                        <a:t>服务名称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规格型号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单位</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数量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含税单价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含税总金额</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适用税率 </a:t>
                      </a:r>
                      <a:r>
                        <a:rPr lang="en-US" altLang="zh-CN" sz="500" u="none" strike="noStrike">
                          <a:effectLst/>
                        </a:rPr>
                        <a:t>/ </a:t>
                      </a:r>
                      <a:r>
                        <a:rPr lang="zh-CN" altLang="en-US" sz="500" u="none" strike="noStrike">
                          <a:effectLst/>
                        </a:rPr>
                        <a:t>征收率</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对应出库单 </a:t>
                      </a:r>
                      <a:r>
                        <a:rPr lang="en-US" altLang="zh-CN" sz="500" u="none" strike="noStrike">
                          <a:effectLst/>
                        </a:rPr>
                        <a:t>/ </a:t>
                      </a:r>
                      <a:r>
                        <a:rPr lang="zh-CN" altLang="en-US" sz="500" u="none" strike="noStrike">
                          <a:effectLst/>
                        </a:rPr>
                        <a:t>验收单编号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备注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1318981614"/>
                  </a:ext>
                </a:extLst>
              </a:tr>
              <a:tr h="303946">
                <a:tc>
                  <a:txBody>
                    <a:bodyPr/>
                    <a:lstStyle/>
                    <a:p>
                      <a:pPr algn="l" fontAlgn="ctr"/>
                      <a:r>
                        <a:rPr lang="zh-CN" altLang="en-US" sz="500" u="none" strike="noStrike">
                          <a:effectLst/>
                        </a:rPr>
                        <a:t>客户全称</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1</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1423914137"/>
                  </a:ext>
                </a:extLst>
              </a:tr>
              <a:tr h="303946">
                <a:tc>
                  <a:txBody>
                    <a:bodyPr/>
                    <a:lstStyle/>
                    <a:p>
                      <a:pPr algn="l" fontAlgn="ctr"/>
                      <a:r>
                        <a:rPr lang="zh-CN" altLang="en-US" sz="500" u="none" strike="noStrike">
                          <a:effectLst/>
                        </a:rPr>
                        <a:t>客户完整开票信息：税号</a:t>
                      </a:r>
                      <a:r>
                        <a:rPr lang="en-US" altLang="zh-CN" sz="500" u="none" strike="noStrike">
                          <a:effectLst/>
                        </a:rPr>
                        <a:t>/</a:t>
                      </a:r>
                      <a:r>
                        <a:rPr lang="zh-CN" altLang="en-US" sz="500" u="none" strike="noStrike">
                          <a:effectLst/>
                        </a:rPr>
                        <a:t>地址</a:t>
                      </a:r>
                      <a:r>
                        <a:rPr lang="en-US" altLang="zh-CN" sz="500" u="none" strike="noStrike">
                          <a:effectLst/>
                        </a:rPr>
                        <a:t>/</a:t>
                      </a:r>
                      <a:r>
                        <a:rPr lang="zh-CN" altLang="en-US" sz="500" u="none" strike="noStrike">
                          <a:effectLst/>
                        </a:rPr>
                        <a:t>电话</a:t>
                      </a:r>
                      <a:r>
                        <a:rPr lang="en-US" altLang="zh-CN" sz="500" u="none" strike="noStrike">
                          <a:effectLst/>
                        </a:rPr>
                        <a:t>/</a:t>
                      </a:r>
                      <a:r>
                        <a:rPr lang="zh-CN" altLang="en-US" sz="500" u="none" strike="noStrike">
                          <a:effectLst/>
                        </a:rPr>
                        <a:t>开户行及账号</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2</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2129733251"/>
                  </a:ext>
                </a:extLst>
              </a:tr>
              <a:tr h="303946">
                <a:tc>
                  <a:txBody>
                    <a:bodyPr/>
                    <a:lstStyle/>
                    <a:p>
                      <a:pPr algn="l" fontAlgn="ctr"/>
                      <a:r>
                        <a:rPr lang="zh-CN" altLang="en-US" sz="500" u="none" strike="noStrike">
                          <a:effectLst/>
                        </a:rPr>
                        <a:t>发票类型</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□增值税专用发票 □增值税普通发票 □电子发票</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3</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3890140746"/>
                  </a:ext>
                </a:extLst>
              </a:tr>
              <a:tr h="303946">
                <a:tc>
                  <a:txBody>
                    <a:bodyPr/>
                    <a:lstStyle/>
                    <a:p>
                      <a:pPr algn="l" fontAlgn="ctr"/>
                      <a:r>
                        <a:rPr lang="zh-CN" altLang="en-US" sz="500" u="none" strike="noStrike">
                          <a:effectLst/>
                        </a:rPr>
                        <a:t>开票项目</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□货物销售□软件销售 □加工修理修配劳务 □服务 □不动产 □无形资产</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4</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2745156471"/>
                  </a:ext>
                </a:extLst>
              </a:tr>
              <a:tr h="303946">
                <a:tc>
                  <a:txBody>
                    <a:bodyPr/>
                    <a:lstStyle/>
                    <a:p>
                      <a:pPr algn="l" fontAlgn="ctr"/>
                      <a:r>
                        <a:rPr lang="zh-CN" altLang="en-US" sz="500" u="none" strike="noStrike">
                          <a:effectLst/>
                        </a:rPr>
                        <a:t>开票总金额（含税小写）</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a:t>
                      </a:r>
                      <a:r>
                        <a:rPr lang="en-US" altLang="zh-CN" sz="500" u="none" strike="noStrike">
                          <a:effectLst/>
                        </a:rPr>
                        <a:t>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5</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2877384372"/>
                  </a:ext>
                </a:extLst>
              </a:tr>
              <a:tr h="303946">
                <a:tc>
                  <a:txBody>
                    <a:bodyPr/>
                    <a:lstStyle/>
                    <a:p>
                      <a:pPr algn="l" fontAlgn="ctr"/>
                      <a:r>
                        <a:rPr lang="zh-CN" altLang="en-US" sz="500" u="none" strike="noStrike">
                          <a:effectLst/>
                        </a:rPr>
                        <a:t>开票总金额（含税大写）</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人民币</a:t>
                      </a:r>
                      <a:r>
                        <a:rPr lang="en-US" altLang="zh-CN" sz="500" u="none" strike="noStrike">
                          <a:effectLst/>
                        </a:rPr>
                        <a:t>_____________________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6</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1392066432"/>
                  </a:ext>
                </a:extLst>
              </a:tr>
              <a:tr h="303946">
                <a:tc>
                  <a:txBody>
                    <a:bodyPr/>
                    <a:lstStyle/>
                    <a:p>
                      <a:pPr algn="l" fontAlgn="ctr"/>
                      <a:r>
                        <a:rPr lang="zh-CN" altLang="en-US" sz="500" u="none" strike="noStrike">
                          <a:effectLst/>
                        </a:rPr>
                        <a:t>开票备注要求：税率</a:t>
                      </a:r>
                      <a:r>
                        <a:rPr lang="en-US" altLang="zh-CN" sz="500" u="none" strike="noStrike">
                          <a:effectLst/>
                        </a:rPr>
                        <a:t>/</a:t>
                      </a:r>
                      <a:r>
                        <a:rPr lang="zh-CN" altLang="en-US" sz="500" u="none" strike="noStrike">
                          <a:effectLst/>
                        </a:rPr>
                        <a:t>开票项目等</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7</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1489961696"/>
                  </a:ext>
                </a:extLst>
              </a:tr>
              <a:tr h="303946">
                <a:tc>
                  <a:txBody>
                    <a:bodyPr/>
                    <a:lstStyle/>
                    <a:p>
                      <a:pPr algn="l" fontAlgn="ctr"/>
                      <a:r>
                        <a:rPr lang="zh-CN" altLang="en-US" sz="500" u="none" strike="noStrike">
                          <a:effectLst/>
                        </a:rPr>
                        <a:t>发票交付方式</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□随货寄出 □单独邮寄 □电子发票发邮箱 □自提（二维码交付）</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en-US" altLang="zh-CN" sz="500" u="none" strike="noStrike">
                          <a:effectLst/>
                        </a:rPr>
                        <a:t>8</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extLst>
                  <a:ext uri="{0D108BD9-81ED-4DB2-BD59-A6C34878D82A}">
                    <a16:rowId xmlns:a16="http://schemas.microsoft.com/office/drawing/2014/main" val="31028288"/>
                  </a:ext>
                </a:extLst>
              </a:tr>
              <a:tr h="303946">
                <a:tc>
                  <a:txBody>
                    <a:bodyPr/>
                    <a:lstStyle/>
                    <a:p>
                      <a:pPr algn="l" fontAlgn="ctr"/>
                      <a:r>
                        <a:rPr lang="zh-CN" altLang="en-US" sz="500" u="none" strike="noStrike">
                          <a:effectLst/>
                        </a:rPr>
                        <a:t>收件人及联系电话 </a:t>
                      </a:r>
                      <a:r>
                        <a:rPr lang="en-US" altLang="zh-CN" sz="500" u="none" strike="noStrike">
                          <a:effectLst/>
                        </a:rPr>
                        <a:t>/ </a:t>
                      </a:r>
                      <a:r>
                        <a:rPr lang="zh-CN" altLang="en-US" sz="500" u="none" strike="noStrike">
                          <a:effectLst/>
                        </a:rPr>
                        <a:t>邮箱</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合计</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4">
                  <a:txBody>
                    <a:bodyPr/>
                    <a:lstStyle/>
                    <a:p>
                      <a:pPr algn="ctr" fontAlgn="ctr"/>
                      <a:r>
                        <a:rPr lang="zh-CN" altLang="en-US" sz="500" u="none" strike="noStrike">
                          <a:effectLst/>
                        </a:rPr>
                        <a:t>总金额（含税小写）￥</a:t>
                      </a:r>
                      <a:r>
                        <a:rPr lang="en-US" altLang="zh-CN" sz="500" u="none" strike="noStrike">
                          <a:effectLst/>
                        </a:rPr>
                        <a:t>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ctr" fontAlgn="ctr"/>
                      <a:r>
                        <a:rPr lang="zh-CN" altLang="en-US" sz="500" u="none" strike="noStrike">
                          <a:effectLst/>
                        </a:rPr>
                        <a:t>总金额（含税大写）人民币</a:t>
                      </a:r>
                      <a:r>
                        <a:rPr lang="en-US" altLang="zh-CN" sz="500" u="none" strike="noStrike">
                          <a:effectLst/>
                        </a:rPr>
                        <a:t>_____________________</a:t>
                      </a:r>
                      <a:endParaRPr lang="en-US" altLang="zh-CN"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84311913"/>
                  </a:ext>
                </a:extLst>
              </a:tr>
              <a:tr h="303946">
                <a:tc rowSpan="4">
                  <a:txBody>
                    <a:bodyPr/>
                    <a:lstStyle/>
                    <a:p>
                      <a:pPr algn="l" fontAlgn="ctr"/>
                      <a:r>
                        <a:rPr lang="zh-CN" altLang="en-US" sz="500" u="none" strike="noStrike">
                          <a:effectLst/>
                        </a:rPr>
                        <a:t>三、审批与签字确认</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a:txBody>
                    <a:bodyPr/>
                    <a:lstStyle/>
                    <a:p>
                      <a:pPr algn="ctr" fontAlgn="ctr"/>
                      <a:r>
                        <a:rPr lang="zh-CN" altLang="en-US" sz="500" u="none" strike="noStrike">
                          <a:effectLst/>
                        </a:rPr>
                        <a:t>申请人（业务真实性确认）</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3">
                  <a:txBody>
                    <a:bodyPr/>
                    <a:lstStyle/>
                    <a:p>
                      <a:pPr algn="ctr" fontAlgn="ctr"/>
                      <a:r>
                        <a:rPr lang="zh-CN" altLang="en-US" sz="500" u="none" strike="noStrike">
                          <a:effectLst/>
                        </a:rPr>
                        <a:t>部门负责人审批（合同、订单匹配确认）</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500" u="none" strike="noStrike">
                          <a:effectLst/>
                        </a:rPr>
                        <a:t>财务审核（合规性、账期、回款核对）</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500" u="none" strike="noStrike">
                          <a:effectLst/>
                        </a:rPr>
                        <a:t>开票人（财务）</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gridSpan="2">
                  <a:txBody>
                    <a:bodyPr/>
                    <a:lstStyle/>
                    <a:p>
                      <a:pPr algn="ctr" fontAlgn="ctr"/>
                      <a:r>
                        <a:rPr lang="zh-CN" altLang="en-US" sz="500" u="none" strike="noStrike">
                          <a:effectLst/>
                        </a:rPr>
                        <a:t>发票寄出 </a:t>
                      </a:r>
                      <a:r>
                        <a:rPr lang="en-US" altLang="zh-CN" sz="500" u="none" strike="noStrike">
                          <a:effectLst/>
                        </a:rPr>
                        <a:t>/ </a:t>
                      </a:r>
                      <a:r>
                        <a:rPr lang="zh-CN" altLang="en-US" sz="500" u="none" strike="noStrike">
                          <a:effectLst/>
                        </a:rPr>
                        <a:t>交付登记人</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extLst>
                  <a:ext uri="{0D108BD9-81ED-4DB2-BD59-A6C34878D82A}">
                    <a16:rowId xmlns:a16="http://schemas.microsoft.com/office/drawing/2014/main" val="3723069837"/>
                  </a:ext>
                </a:extLst>
              </a:tr>
              <a:tr h="303946">
                <a:tc vMerge="1">
                  <a:txBody>
                    <a:bodyPr/>
                    <a:lstStyle/>
                    <a:p>
                      <a:endParaRPr lang="zh-CN" altLang="en-US"/>
                    </a:p>
                  </a:txBody>
                  <a:tcPr/>
                </a:tc>
                <a:tc>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gridSpan="2">
                  <a:txBody>
                    <a:bodyPr/>
                    <a:lstStyle/>
                    <a:p>
                      <a:pPr algn="l" fontAlgn="ctr"/>
                      <a:r>
                        <a:rPr lang="zh-CN" altLang="en-US" sz="500" u="none" strike="noStrike">
                          <a:effectLst/>
                        </a:rPr>
                        <a:t>签字：</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extLst>
                  <a:ext uri="{0D108BD9-81ED-4DB2-BD59-A6C34878D82A}">
                    <a16:rowId xmlns:a16="http://schemas.microsoft.com/office/drawing/2014/main" val="1464598842"/>
                  </a:ext>
                </a:extLst>
              </a:tr>
              <a:tr h="303946">
                <a:tc vMerge="1">
                  <a:txBody>
                    <a:bodyPr/>
                    <a:lstStyle/>
                    <a:p>
                      <a:endParaRPr lang="zh-CN" altLang="en-US"/>
                    </a:p>
                  </a:txBody>
                  <a:tcPr/>
                </a:tc>
                <a:tc>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gridSpan="2">
                  <a:txBody>
                    <a:bodyPr/>
                    <a:lstStyle/>
                    <a:p>
                      <a:pPr algn="l" fontAlgn="ctr"/>
                      <a:r>
                        <a:rPr lang="zh-CN" altLang="en-US" sz="500" u="none" strike="noStrike">
                          <a:effectLst/>
                        </a:rPr>
                        <a:t>日期：</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extLst>
                  <a:ext uri="{0D108BD9-81ED-4DB2-BD59-A6C34878D82A}">
                    <a16:rowId xmlns:a16="http://schemas.microsoft.com/office/drawing/2014/main" val="2216810309"/>
                  </a:ext>
                </a:extLst>
              </a:tr>
              <a:tr h="303946">
                <a:tc vMerge="1">
                  <a:txBody>
                    <a:bodyPr/>
                    <a:lstStyle/>
                    <a:p>
                      <a:endParaRPr lang="zh-CN" altLang="en-US"/>
                    </a:p>
                  </a:txBody>
                  <a:tcPr/>
                </a:tc>
                <a:tc>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gridSpan="2">
                  <a:txBody>
                    <a:bodyPr/>
                    <a:lstStyle/>
                    <a:p>
                      <a:pPr algn="l" fontAlgn="ctr"/>
                      <a:r>
                        <a:rPr lang="zh-CN" altLang="en-US" sz="500" u="none" strike="noStrike">
                          <a:effectLst/>
                        </a:rPr>
                        <a:t>审核 </a:t>
                      </a:r>
                      <a:r>
                        <a:rPr lang="en-US" altLang="zh-CN" sz="500" u="none" strike="noStrike">
                          <a:effectLst/>
                        </a:rPr>
                        <a:t>/ </a:t>
                      </a:r>
                      <a:r>
                        <a:rPr lang="zh-CN" altLang="en-US" sz="500" u="none" strike="noStrike">
                          <a:effectLst/>
                        </a:rPr>
                        <a:t>确认意见：</a:t>
                      </a:r>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extLst>
                  <a:ext uri="{0D108BD9-81ED-4DB2-BD59-A6C34878D82A}">
                    <a16:rowId xmlns:a16="http://schemas.microsoft.com/office/drawing/2014/main" val="2916878208"/>
                  </a:ext>
                </a:extLst>
              </a:tr>
              <a:tr h="551223">
                <a:tc gridSpan="12">
                  <a:txBody>
                    <a:bodyPr/>
                    <a:lstStyle/>
                    <a:p>
                      <a:pPr algn="l" fontAlgn="ctr"/>
                      <a:r>
                        <a:rPr lang="zh-CN" altLang="en-US" sz="500" u="none" strike="noStrike" dirty="0">
                          <a:effectLst/>
                        </a:rPr>
                        <a:t>发票申请单内部管理要求：</a:t>
                      </a:r>
                      <a:br>
                        <a:rPr lang="zh-CN" altLang="en-US" sz="500" u="none" strike="noStrike" dirty="0">
                          <a:effectLst/>
                        </a:rPr>
                      </a:br>
                      <a:r>
                        <a:rPr lang="en-US" altLang="zh-CN" sz="500" u="none" strike="noStrike" dirty="0">
                          <a:effectLst/>
                        </a:rPr>
                        <a:t>1.</a:t>
                      </a:r>
                      <a:r>
                        <a:rPr lang="zh-CN" altLang="en-US" sz="500" u="none" strike="noStrike" dirty="0">
                          <a:effectLst/>
                        </a:rPr>
                        <a:t>发票开具申请必须绑定对应销售订单 </a:t>
                      </a:r>
                      <a:r>
                        <a:rPr lang="en-US" altLang="zh-CN" sz="500" u="none" strike="noStrike" dirty="0">
                          <a:effectLst/>
                        </a:rPr>
                        <a:t>SO </a:t>
                      </a:r>
                      <a:r>
                        <a:rPr lang="zh-CN" altLang="en-US" sz="500" u="none" strike="noStrike" dirty="0">
                          <a:effectLst/>
                        </a:rPr>
                        <a:t>号、出库单 </a:t>
                      </a:r>
                      <a:r>
                        <a:rPr lang="en-US" altLang="zh-CN" sz="500" u="none" strike="noStrike" dirty="0">
                          <a:effectLst/>
                        </a:rPr>
                        <a:t>/ </a:t>
                      </a:r>
                      <a:r>
                        <a:rPr lang="zh-CN" altLang="en-US" sz="500" u="none" strike="noStrike" dirty="0">
                          <a:effectLst/>
                        </a:rPr>
                        <a:t>验收单，确保业务真实、单据可追溯，严禁无订单、无出库申请开票</a:t>
                      </a:r>
                      <a:br>
                        <a:rPr lang="zh-CN" altLang="en-US" sz="500" u="none" strike="noStrike" dirty="0">
                          <a:effectLst/>
                        </a:rPr>
                      </a:br>
                      <a:r>
                        <a:rPr lang="en-US" altLang="zh-CN" sz="500" u="none" strike="noStrike" dirty="0">
                          <a:effectLst/>
                        </a:rPr>
                        <a:t>2.</a:t>
                      </a:r>
                      <a:r>
                        <a:rPr lang="zh-CN" altLang="en-US" sz="500" u="none" strike="noStrike" dirty="0">
                          <a:effectLst/>
                        </a:rPr>
                        <a:t>申请开票的商品、数量、单价、金额必须与销售订单、出库单完全一致，严禁超订单、超金额开票</a:t>
                      </a:r>
                      <a:br>
                        <a:rPr lang="zh-CN" altLang="en-US" sz="500" u="none" strike="noStrike" dirty="0">
                          <a:effectLst/>
                        </a:rPr>
                      </a:br>
                      <a:r>
                        <a:rPr lang="en-US" altLang="zh-CN" sz="500" u="none" strike="noStrike" dirty="0">
                          <a:effectLst/>
                        </a:rPr>
                        <a:t>3.</a:t>
                      </a:r>
                      <a:r>
                        <a:rPr lang="zh-CN" altLang="en-US" sz="500" u="none" strike="noStrike" dirty="0">
                          <a:effectLst/>
                        </a:rPr>
                        <a:t>财务开票完成后，需将发票号码、开票日期回填至申请清单，同步登记至销项发票管理台账，确保账证、账实相符</a:t>
                      </a:r>
                      <a:br>
                        <a:rPr lang="zh-CN" altLang="en-US" sz="500" u="none" strike="noStrike" dirty="0">
                          <a:effectLst/>
                        </a:rPr>
                      </a:br>
                      <a:r>
                        <a:rPr lang="en-US" altLang="zh-CN" sz="500" u="none" strike="noStrike" dirty="0">
                          <a:effectLst/>
                        </a:rPr>
                        <a:t>4.Excel </a:t>
                      </a:r>
                      <a:r>
                        <a:rPr lang="zh-CN" altLang="en-US" sz="500" u="none" strike="noStrike" dirty="0">
                          <a:effectLst/>
                        </a:rPr>
                        <a:t>优化技巧：复制到 </a:t>
                      </a:r>
                      <a:r>
                        <a:rPr lang="en-US" altLang="zh-CN" sz="500" u="none" strike="noStrike" dirty="0">
                          <a:effectLst/>
                        </a:rPr>
                        <a:t>Excel </a:t>
                      </a:r>
                      <a:r>
                        <a:rPr lang="zh-CN" altLang="en-US" sz="500" u="none" strike="noStrike" dirty="0">
                          <a:effectLst/>
                        </a:rPr>
                        <a:t>后，可对「数量、单价、金额、税额」列设置数值格式，对表头行设置冻结窗格，按开票月份拆分 </a:t>
                      </a:r>
                      <a:r>
                        <a:rPr lang="en-US" altLang="zh-CN" sz="500" u="none" strike="noStrike" dirty="0">
                          <a:effectLst/>
                        </a:rPr>
                        <a:t>sheet </a:t>
                      </a:r>
                      <a:r>
                        <a:rPr lang="zh-CN" altLang="en-US" sz="500" u="none" strike="noStrike" dirty="0">
                          <a:effectLst/>
                        </a:rPr>
                        <a:t>页，提升开票与台账管理效率。</a:t>
                      </a:r>
                      <a:endParaRPr lang="zh-CN" altLang="en-US" sz="500" b="0" i="0" u="none" strike="noStrike" dirty="0">
                        <a:solidFill>
                          <a:srgbClr val="000000"/>
                        </a:solidFill>
                        <a:effectLst/>
                        <a:latin typeface="宋体" panose="02010600030101010101" pitchFamily="2" charset="-122"/>
                        <a:ea typeface="宋体" panose="02010600030101010101" pitchFamily="2" charset="-122"/>
                      </a:endParaRPr>
                    </a:p>
                  </a:txBody>
                  <a:tcPr marL="4102" marR="4102" marT="410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56013097"/>
                  </a:ext>
                </a:extLst>
              </a:tr>
            </a:tbl>
          </a:graphicData>
        </a:graphic>
      </p:graphicFrame>
    </p:spTree>
    <p:extLst>
      <p:ext uri="{BB962C8B-B14F-4D97-AF65-F5344CB8AC3E}">
        <p14:creationId xmlns:p14="http://schemas.microsoft.com/office/powerpoint/2010/main" val="3996801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6B147F-B9EE-4410-A025-195BD9FC06D0}"/>
              </a:ext>
            </a:extLst>
          </p:cNvPr>
          <p:cNvSpPr txBox="1"/>
          <p:nvPr/>
        </p:nvSpPr>
        <p:spPr>
          <a:xfrm>
            <a:off x="119336" y="116632"/>
            <a:ext cx="5328592" cy="461665"/>
          </a:xfrm>
          <a:prstGeom prst="rect">
            <a:avLst/>
          </a:prstGeom>
          <a:solidFill>
            <a:srgbClr val="FFFF00"/>
          </a:solidFill>
        </p:spPr>
        <p:txBody>
          <a:bodyPr wrap="square" rtlCol="0">
            <a:spAutoFit/>
          </a:bodyPr>
          <a:lstStyle/>
          <a:p>
            <a:r>
              <a:rPr lang="zh-CN" altLang="en-US" sz="2400" b="1" dirty="0">
                <a:solidFill>
                  <a:srgbClr val="FF0000"/>
                </a:solidFill>
              </a:rPr>
              <a:t>发票管理台账（销项</a:t>
            </a:r>
            <a:r>
              <a:rPr lang="en-US" altLang="zh-CN" sz="2400" b="1" dirty="0">
                <a:solidFill>
                  <a:srgbClr val="FF0000"/>
                </a:solidFill>
              </a:rPr>
              <a:t>-</a:t>
            </a:r>
            <a:r>
              <a:rPr lang="zh-CN" altLang="en-US" sz="2400" b="1" dirty="0">
                <a:solidFill>
                  <a:srgbClr val="FF0000"/>
                </a:solidFill>
              </a:rPr>
              <a:t>开票）</a:t>
            </a:r>
            <a:r>
              <a:rPr lang="en-US" altLang="zh-CN" sz="2400" b="1" dirty="0">
                <a:solidFill>
                  <a:srgbClr val="FF0000"/>
                </a:solidFill>
              </a:rPr>
              <a:t>3-6</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CC72D10A-5A6A-409D-B585-C159E93C2EB6}"/>
              </a:ext>
            </a:extLst>
          </p:cNvPr>
          <p:cNvGraphicFramePr>
            <a:graphicFrameLocks noGrp="1"/>
          </p:cNvGraphicFramePr>
          <p:nvPr>
            <p:extLst>
              <p:ext uri="{D42A27DB-BD31-4B8C-83A1-F6EECF244321}">
                <p14:modId xmlns:p14="http://schemas.microsoft.com/office/powerpoint/2010/main" val="1508196839"/>
              </p:ext>
            </p:extLst>
          </p:nvPr>
        </p:nvGraphicFramePr>
        <p:xfrm>
          <a:off x="479376" y="650305"/>
          <a:ext cx="11161241" cy="5803030"/>
        </p:xfrm>
        <a:graphic>
          <a:graphicData uri="http://schemas.openxmlformats.org/drawingml/2006/table">
            <a:tbl>
              <a:tblPr>
                <a:tableStyleId>{5C22544A-7EE6-4342-B048-85BDC9FD1C3A}</a:tableStyleId>
              </a:tblPr>
              <a:tblGrid>
                <a:gridCol w="233046">
                  <a:extLst>
                    <a:ext uri="{9D8B030D-6E8A-4147-A177-3AD203B41FA5}">
                      <a16:colId xmlns:a16="http://schemas.microsoft.com/office/drawing/2014/main" val="3821583169"/>
                    </a:ext>
                  </a:extLst>
                </a:gridCol>
                <a:gridCol w="572628">
                  <a:extLst>
                    <a:ext uri="{9D8B030D-6E8A-4147-A177-3AD203B41FA5}">
                      <a16:colId xmlns:a16="http://schemas.microsoft.com/office/drawing/2014/main" val="3535579008"/>
                    </a:ext>
                  </a:extLst>
                </a:gridCol>
                <a:gridCol w="439458">
                  <a:extLst>
                    <a:ext uri="{9D8B030D-6E8A-4147-A177-3AD203B41FA5}">
                      <a16:colId xmlns:a16="http://schemas.microsoft.com/office/drawing/2014/main" val="810952146"/>
                    </a:ext>
                  </a:extLst>
                </a:gridCol>
                <a:gridCol w="434464">
                  <a:extLst>
                    <a:ext uri="{9D8B030D-6E8A-4147-A177-3AD203B41FA5}">
                      <a16:colId xmlns:a16="http://schemas.microsoft.com/office/drawing/2014/main" val="2980031544"/>
                    </a:ext>
                  </a:extLst>
                </a:gridCol>
                <a:gridCol w="514366">
                  <a:extLst>
                    <a:ext uri="{9D8B030D-6E8A-4147-A177-3AD203B41FA5}">
                      <a16:colId xmlns:a16="http://schemas.microsoft.com/office/drawing/2014/main" val="3127856167"/>
                    </a:ext>
                  </a:extLst>
                </a:gridCol>
                <a:gridCol w="352898">
                  <a:extLst>
                    <a:ext uri="{9D8B030D-6E8A-4147-A177-3AD203B41FA5}">
                      <a16:colId xmlns:a16="http://schemas.microsoft.com/office/drawing/2014/main" val="3877453368"/>
                    </a:ext>
                  </a:extLst>
                </a:gridCol>
                <a:gridCol w="734094">
                  <a:extLst>
                    <a:ext uri="{9D8B030D-6E8A-4147-A177-3AD203B41FA5}">
                      <a16:colId xmlns:a16="http://schemas.microsoft.com/office/drawing/2014/main" val="1137042329"/>
                    </a:ext>
                  </a:extLst>
                </a:gridCol>
                <a:gridCol w="734094">
                  <a:extLst>
                    <a:ext uri="{9D8B030D-6E8A-4147-A177-3AD203B41FA5}">
                      <a16:colId xmlns:a16="http://schemas.microsoft.com/office/drawing/2014/main" val="2515943466"/>
                    </a:ext>
                  </a:extLst>
                </a:gridCol>
                <a:gridCol w="612578">
                  <a:extLst>
                    <a:ext uri="{9D8B030D-6E8A-4147-A177-3AD203B41FA5}">
                      <a16:colId xmlns:a16="http://schemas.microsoft.com/office/drawing/2014/main" val="999937545"/>
                    </a:ext>
                  </a:extLst>
                </a:gridCol>
                <a:gridCol w="474415">
                  <a:extLst>
                    <a:ext uri="{9D8B030D-6E8A-4147-A177-3AD203B41FA5}">
                      <a16:colId xmlns:a16="http://schemas.microsoft.com/office/drawing/2014/main" val="3608701061"/>
                    </a:ext>
                  </a:extLst>
                </a:gridCol>
                <a:gridCol w="386191">
                  <a:extLst>
                    <a:ext uri="{9D8B030D-6E8A-4147-A177-3AD203B41FA5}">
                      <a16:colId xmlns:a16="http://schemas.microsoft.com/office/drawing/2014/main" val="2401004704"/>
                    </a:ext>
                  </a:extLst>
                </a:gridCol>
                <a:gridCol w="426141">
                  <a:extLst>
                    <a:ext uri="{9D8B030D-6E8A-4147-A177-3AD203B41FA5}">
                      <a16:colId xmlns:a16="http://schemas.microsoft.com/office/drawing/2014/main" val="1025620901"/>
                    </a:ext>
                  </a:extLst>
                </a:gridCol>
                <a:gridCol w="499385">
                  <a:extLst>
                    <a:ext uri="{9D8B030D-6E8A-4147-A177-3AD203B41FA5}">
                      <a16:colId xmlns:a16="http://schemas.microsoft.com/office/drawing/2014/main" val="1681198265"/>
                    </a:ext>
                  </a:extLst>
                </a:gridCol>
                <a:gridCol w="785698">
                  <a:extLst>
                    <a:ext uri="{9D8B030D-6E8A-4147-A177-3AD203B41FA5}">
                      <a16:colId xmlns:a16="http://schemas.microsoft.com/office/drawing/2014/main" val="1873798524"/>
                    </a:ext>
                  </a:extLst>
                </a:gridCol>
                <a:gridCol w="479410">
                  <a:extLst>
                    <a:ext uri="{9D8B030D-6E8A-4147-A177-3AD203B41FA5}">
                      <a16:colId xmlns:a16="http://schemas.microsoft.com/office/drawing/2014/main" val="629610836"/>
                    </a:ext>
                  </a:extLst>
                </a:gridCol>
                <a:gridCol w="539335">
                  <a:extLst>
                    <a:ext uri="{9D8B030D-6E8A-4147-A177-3AD203B41FA5}">
                      <a16:colId xmlns:a16="http://schemas.microsoft.com/office/drawing/2014/main" val="2159817733"/>
                    </a:ext>
                  </a:extLst>
                </a:gridCol>
                <a:gridCol w="492726">
                  <a:extLst>
                    <a:ext uri="{9D8B030D-6E8A-4147-A177-3AD203B41FA5}">
                      <a16:colId xmlns:a16="http://schemas.microsoft.com/office/drawing/2014/main" val="2086380989"/>
                    </a:ext>
                  </a:extLst>
                </a:gridCol>
                <a:gridCol w="739089">
                  <a:extLst>
                    <a:ext uri="{9D8B030D-6E8A-4147-A177-3AD203B41FA5}">
                      <a16:colId xmlns:a16="http://schemas.microsoft.com/office/drawing/2014/main" val="2099315366"/>
                    </a:ext>
                  </a:extLst>
                </a:gridCol>
                <a:gridCol w="386191">
                  <a:extLst>
                    <a:ext uri="{9D8B030D-6E8A-4147-A177-3AD203B41FA5}">
                      <a16:colId xmlns:a16="http://schemas.microsoft.com/office/drawing/2014/main" val="354790606"/>
                    </a:ext>
                  </a:extLst>
                </a:gridCol>
                <a:gridCol w="412825">
                  <a:extLst>
                    <a:ext uri="{9D8B030D-6E8A-4147-A177-3AD203B41FA5}">
                      <a16:colId xmlns:a16="http://schemas.microsoft.com/office/drawing/2014/main" val="480509080"/>
                    </a:ext>
                  </a:extLst>
                </a:gridCol>
                <a:gridCol w="366216">
                  <a:extLst>
                    <a:ext uri="{9D8B030D-6E8A-4147-A177-3AD203B41FA5}">
                      <a16:colId xmlns:a16="http://schemas.microsoft.com/office/drawing/2014/main" val="145109887"/>
                    </a:ext>
                  </a:extLst>
                </a:gridCol>
                <a:gridCol w="545993">
                  <a:extLst>
                    <a:ext uri="{9D8B030D-6E8A-4147-A177-3AD203B41FA5}">
                      <a16:colId xmlns:a16="http://schemas.microsoft.com/office/drawing/2014/main" val="2698403038"/>
                    </a:ext>
                  </a:extLst>
                </a:gridCol>
              </a:tblGrid>
              <a:tr h="501382">
                <a:tc gridSpan="22">
                  <a:txBody>
                    <a:bodyPr/>
                    <a:lstStyle/>
                    <a:p>
                      <a:pPr algn="ctr" fontAlgn="ctr"/>
                      <a:r>
                        <a:rPr lang="zh-CN" altLang="en-US" sz="400" u="none" strike="noStrike">
                          <a:effectLst/>
                        </a:rPr>
                        <a:t>销项发票管理台账（我方开具给客户的发票）</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75042745"/>
                  </a:ext>
                </a:extLst>
              </a:tr>
              <a:tr h="501382">
                <a:tc gridSpan="7">
                  <a:txBody>
                    <a:bodyPr/>
                    <a:lstStyle/>
                    <a:p>
                      <a:pPr algn="l" fontAlgn="ctr"/>
                      <a:r>
                        <a:rPr lang="zh-CN" altLang="en-US" sz="400" u="none" strike="noStrike">
                          <a:effectLst/>
                        </a:rPr>
                        <a:t>统计年度：</a:t>
                      </a:r>
                      <a:r>
                        <a:rPr lang="en-US" altLang="zh-CN" sz="400" u="none" strike="noStrike">
                          <a:effectLst/>
                        </a:rPr>
                        <a:t>_________ </a:t>
                      </a:r>
                      <a:r>
                        <a:rPr lang="zh-CN" altLang="en-US" sz="400" u="none" strike="noStrike">
                          <a:effectLst/>
                        </a:rPr>
                        <a:t>年</a:t>
                      </a: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6">
                  <a:txBody>
                    <a:bodyPr/>
                    <a:lstStyle/>
                    <a:p>
                      <a:pPr algn="l" fontAlgn="ctr"/>
                      <a:r>
                        <a:rPr lang="zh-CN" altLang="en-US" sz="400" u="none" strike="noStrike">
                          <a:effectLst/>
                        </a:rPr>
                        <a:t>制表人：</a:t>
                      </a:r>
                      <a:r>
                        <a:rPr lang="en-US" altLang="zh-CN" sz="400" u="none" strike="noStrike">
                          <a:effectLst/>
                        </a:rPr>
                        <a:t>____________ </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400" u="none" strike="noStrike">
                          <a:effectLst/>
                        </a:rPr>
                        <a:t> 复核人：</a:t>
                      </a:r>
                      <a:r>
                        <a:rPr lang="en-US" altLang="zh-CN" sz="400" u="none" strike="noStrike">
                          <a:effectLst/>
                        </a:rPr>
                        <a:t>_______________</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400" u="none" strike="noStrike">
                          <a:effectLst/>
                        </a:rPr>
                        <a:t> 单位：元</a:t>
                      </a: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39583644"/>
                  </a:ext>
                </a:extLst>
              </a:tr>
              <a:tr h="501382">
                <a:tc>
                  <a:txBody>
                    <a:bodyPr/>
                    <a:lstStyle/>
                    <a:p>
                      <a:pPr algn="ctr" fontAlgn="ctr"/>
                      <a:r>
                        <a:rPr lang="zh-CN" altLang="en-US" sz="400" u="none" strike="noStrike">
                          <a:effectLst/>
                        </a:rPr>
                        <a:t>序号</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发票类型</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发票号码</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开票日期</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对应销售订单 </a:t>
                      </a:r>
                      <a:r>
                        <a:rPr lang="en-US" altLang="zh-CN" sz="400" u="none" strike="noStrike">
                          <a:effectLst/>
                        </a:rPr>
                        <a:t>SO </a:t>
                      </a:r>
                      <a:r>
                        <a:rPr lang="zh-CN" altLang="en-US" sz="400" u="none" strike="noStrike">
                          <a:effectLst/>
                        </a:rPr>
                        <a:t>号</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对应出库单号</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客户全称</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客户税号</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开票项目</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不含税总金额</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适用税率</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增值税税额</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含税总金额</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发票状态</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开票人</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发票交付方式</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交付日期</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回款状态</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回款日期</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对应回款凭证号</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红冲 </a:t>
                      </a:r>
                      <a:r>
                        <a:rPr lang="en-US" altLang="zh-CN" sz="400" u="none" strike="noStrike">
                          <a:effectLst/>
                        </a:rPr>
                        <a:t>/ </a:t>
                      </a:r>
                      <a:r>
                        <a:rPr lang="zh-CN" altLang="en-US" sz="400" u="none" strike="noStrike">
                          <a:effectLst/>
                        </a:rPr>
                        <a:t>作废说明</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备注</a:t>
                      </a:r>
                      <a:r>
                        <a:rPr lang="en-US" altLang="zh-CN" sz="400" u="none" strike="noStrike">
                          <a:effectLst/>
                        </a:rPr>
                        <a:t>/</a:t>
                      </a:r>
                      <a:r>
                        <a:rPr lang="zh-CN" altLang="en-US" sz="400" u="none" strike="noStrike">
                          <a:effectLst/>
                        </a:rPr>
                        <a:t>合同</a:t>
                      </a:r>
                      <a:r>
                        <a:rPr lang="en-US" altLang="zh-CN" sz="400" u="none" strike="noStrike">
                          <a:effectLst/>
                        </a:rPr>
                        <a:t>/</a:t>
                      </a:r>
                      <a:r>
                        <a:rPr lang="zh-CN" altLang="en-US" sz="400" u="none" strike="noStrike">
                          <a:effectLst/>
                        </a:rPr>
                        <a:t>项目名称</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806095171"/>
                  </a:ext>
                </a:extLst>
              </a:tr>
              <a:tr h="501382">
                <a:tc>
                  <a:txBody>
                    <a:bodyPr/>
                    <a:lstStyle/>
                    <a:p>
                      <a:pPr algn="ctr" fontAlgn="ctr"/>
                      <a:r>
                        <a:rPr lang="en-US" altLang="zh-CN" sz="400" u="none" strike="noStrike">
                          <a:effectLst/>
                        </a:rPr>
                        <a:t>1</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□专票 □普票 □电子票</a:t>
                      </a: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zh-CN" altLang="en-US" sz="400" u="none" strike="noStrike">
                          <a:effectLst/>
                        </a:rPr>
                        <a:t>□正常 □作废 □红冲</a:t>
                      </a: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r>
                        <a:rPr lang="zh-CN" altLang="en-US" sz="400" u="none" strike="noStrike">
                          <a:effectLst/>
                        </a:rPr>
                        <a:t>□未回款 □部分回款 □全额回款</a:t>
                      </a: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614894"/>
                  </a:ext>
                </a:extLst>
              </a:tr>
              <a:tr h="501382">
                <a:tc>
                  <a:txBody>
                    <a:bodyPr/>
                    <a:lstStyle/>
                    <a:p>
                      <a:pPr algn="ctr" fontAlgn="ctr"/>
                      <a:r>
                        <a:rPr lang="en-US" altLang="zh-CN" sz="400" u="none" strike="noStrike">
                          <a:effectLst/>
                        </a:rPr>
                        <a:t>2</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2445486501"/>
                  </a:ext>
                </a:extLst>
              </a:tr>
              <a:tr h="501382">
                <a:tc>
                  <a:txBody>
                    <a:bodyPr/>
                    <a:lstStyle/>
                    <a:p>
                      <a:pPr algn="ctr" fontAlgn="ctr"/>
                      <a:r>
                        <a:rPr lang="en-US" altLang="zh-CN" sz="400" u="none" strike="noStrike">
                          <a:effectLst/>
                        </a:rPr>
                        <a:t>3</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3870999501"/>
                  </a:ext>
                </a:extLst>
              </a:tr>
              <a:tr h="501382">
                <a:tc>
                  <a:txBody>
                    <a:bodyPr/>
                    <a:lstStyle/>
                    <a:p>
                      <a:pPr algn="ctr" fontAlgn="ctr"/>
                      <a:r>
                        <a:rPr lang="en-US" altLang="zh-CN" sz="400" u="none" strike="noStrike">
                          <a:effectLst/>
                        </a:rPr>
                        <a:t>4</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2606494324"/>
                  </a:ext>
                </a:extLst>
              </a:tr>
              <a:tr h="501382">
                <a:tc>
                  <a:txBody>
                    <a:bodyPr/>
                    <a:lstStyle/>
                    <a:p>
                      <a:pPr algn="ctr" fontAlgn="ctr"/>
                      <a:r>
                        <a:rPr lang="en-US" altLang="zh-CN" sz="400" u="none" strike="noStrike">
                          <a:effectLst/>
                        </a:rPr>
                        <a:t>5</a:t>
                      </a:r>
                      <a:endParaRPr lang="en-US" altLang="zh-CN"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0"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2786798565"/>
                  </a:ext>
                </a:extLst>
              </a:tr>
              <a:tr h="501382">
                <a:tc>
                  <a:txBody>
                    <a:bodyPr/>
                    <a:lstStyle/>
                    <a:p>
                      <a:pPr algn="ctr" fontAlgn="ctr"/>
                      <a:r>
                        <a:rPr lang="zh-CN" altLang="en-US" sz="400" u="none" strike="noStrike">
                          <a:effectLst/>
                        </a:rPr>
                        <a:t>合计</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l"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tc>
                  <a:txBody>
                    <a:bodyPr/>
                    <a:lstStyle/>
                    <a:p>
                      <a:pPr algn="ctr" fontAlgn="ctr"/>
                      <a:r>
                        <a:rPr lang="en-US" altLang="zh-CN" sz="400" u="none" strike="noStrike">
                          <a:effectLst/>
                        </a:rPr>
                        <a:t>—</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3044" marR="3044" marT="3044" marB="0" anchor="ctr"/>
                </a:tc>
                <a:extLst>
                  <a:ext uri="{0D108BD9-81ED-4DB2-BD59-A6C34878D82A}">
                    <a16:rowId xmlns:a16="http://schemas.microsoft.com/office/drawing/2014/main" val="1285697458"/>
                  </a:ext>
                </a:extLst>
              </a:tr>
              <a:tr h="1290592">
                <a:tc gridSpan="22">
                  <a:txBody>
                    <a:bodyPr/>
                    <a:lstStyle/>
                    <a:p>
                      <a:pPr algn="l" fontAlgn="ctr"/>
                      <a:r>
                        <a:rPr lang="zh-CN" altLang="en-US" sz="400" u="none" strike="noStrike" dirty="0">
                          <a:effectLst/>
                        </a:rPr>
                        <a:t>台账填写与使用核心规范                                                                                                                                                                                                                                    </a:t>
                      </a:r>
                      <a:r>
                        <a:rPr lang="en-US" altLang="zh-CN" sz="400" u="none" strike="noStrike" dirty="0">
                          <a:effectLst/>
                        </a:rPr>
                        <a:t>1.</a:t>
                      </a:r>
                      <a:r>
                        <a:rPr lang="zh-CN" altLang="en-US" sz="400" u="none" strike="noStrike" dirty="0">
                          <a:effectLst/>
                        </a:rPr>
                        <a:t>单据闭环要求：所有发票必须绑定对应业务单据，销项发票对应销售订单 </a:t>
                      </a:r>
                      <a:r>
                        <a:rPr lang="en-US" altLang="zh-CN" sz="400" u="none" strike="noStrike" dirty="0">
                          <a:effectLst/>
                        </a:rPr>
                        <a:t>SO </a:t>
                      </a:r>
                      <a:r>
                        <a:rPr lang="zh-CN" altLang="en-US" sz="400" u="none" strike="noStrike" dirty="0">
                          <a:effectLst/>
                        </a:rPr>
                        <a:t>号、出库单号，确保合同、发票、资金、货物流四流一致，符合税务合规要求；                                                                                                                                                  </a:t>
                      </a:r>
                      <a:r>
                        <a:rPr lang="en-US" altLang="zh-CN" sz="400" u="none" strike="noStrike" dirty="0">
                          <a:effectLst/>
                        </a:rPr>
                        <a:t>2.</a:t>
                      </a:r>
                      <a:r>
                        <a:rPr lang="zh-CN" altLang="en-US" sz="400" u="none" strike="noStrike" dirty="0">
                          <a:effectLst/>
                        </a:rPr>
                        <a:t>销项发票：正常开具后标注「正常」，当月作废标注「作废」，跨月红冲标注「红冲」，并在说明栏填写红冲原因、对应红字发票号码。                                                                                                                                                                  </a:t>
                      </a:r>
                      <a:r>
                        <a:rPr lang="en-US" altLang="zh-CN" sz="400" u="none" strike="noStrike" dirty="0">
                          <a:effectLst/>
                        </a:rPr>
                        <a:t>3.</a:t>
                      </a:r>
                      <a:r>
                        <a:rPr lang="zh-CN" altLang="en-US" sz="400" u="none" strike="noStrike" dirty="0">
                          <a:effectLst/>
                        </a:rPr>
                        <a:t>数据核对要求：每月结账后，台账销项发票不含税总金额、税额合计必须与增值税纳税申报表附列资料（一）完全一致；                                                                                                                                                                               </a:t>
                      </a:r>
                      <a:r>
                        <a:rPr lang="en-US" altLang="zh-CN" sz="400" u="none" strike="noStrike" dirty="0">
                          <a:effectLst/>
                        </a:rPr>
                        <a:t>4.</a:t>
                      </a:r>
                      <a:r>
                        <a:rPr lang="zh-CN" altLang="en-US" sz="400" u="none" strike="noStrike" dirty="0">
                          <a:effectLst/>
                        </a:rPr>
                        <a:t>开票合规要求：开票项目、商品名称、税率必须符合国家税务总局商品和服务税收分类编码规范，严禁开具与实际业务不符的发票，严禁虚开发票。</a:t>
                      </a:r>
                      <a:br>
                        <a:rPr lang="zh-CN" altLang="en-US" sz="400" u="none" strike="noStrike" dirty="0">
                          <a:effectLst/>
                        </a:rPr>
                      </a:br>
                      <a:r>
                        <a:rPr lang="en-US" altLang="zh-CN" sz="400" u="none" strike="noStrike" dirty="0">
                          <a:effectLst/>
                        </a:rPr>
                        <a:t>5.</a:t>
                      </a:r>
                      <a:r>
                        <a:rPr lang="zh-CN" altLang="en-US" sz="400" u="none" strike="noStrike" dirty="0">
                          <a:effectLst/>
                        </a:rPr>
                        <a:t>回款跟踪要求：发票开具后需同步更新回款状态，全额回款后标注「全额回款」，并填写回款日期、对应回款凭证号，实现「开票 </a:t>
                      </a:r>
                      <a:r>
                        <a:rPr lang="en-US" altLang="zh-CN" sz="400" u="none" strike="noStrike" dirty="0">
                          <a:effectLst/>
                        </a:rPr>
                        <a:t>- </a:t>
                      </a:r>
                      <a:r>
                        <a:rPr lang="zh-CN" altLang="en-US" sz="400" u="none" strike="noStrike" dirty="0">
                          <a:effectLst/>
                        </a:rPr>
                        <a:t>回款 </a:t>
                      </a:r>
                      <a:r>
                        <a:rPr lang="en-US" altLang="zh-CN" sz="400" u="none" strike="noStrike" dirty="0">
                          <a:effectLst/>
                        </a:rPr>
                        <a:t>- </a:t>
                      </a:r>
                      <a:r>
                        <a:rPr lang="zh-CN" altLang="en-US" sz="400" u="none" strike="noStrike" dirty="0">
                          <a:effectLst/>
                        </a:rPr>
                        <a:t>入账」全流程闭环管理，避免应收账款坏账风险。</a:t>
                      </a:r>
                      <a:br>
                        <a:rPr lang="zh-CN" altLang="en-US" sz="400" u="none" strike="noStrike" dirty="0">
                          <a:effectLst/>
                        </a:rPr>
                      </a:br>
                      <a:r>
                        <a:rPr lang="en-US" altLang="zh-CN" sz="400" u="none" strike="noStrike" dirty="0">
                          <a:effectLst/>
                        </a:rPr>
                        <a:t>6.</a:t>
                      </a:r>
                      <a:r>
                        <a:rPr lang="zh-CN" altLang="en-US" sz="400" u="none" strike="noStrike" dirty="0">
                          <a:effectLst/>
                        </a:rPr>
                        <a:t>交付归档要求：发票交付后需填写交付方式、交付日期，电子发票需留存发送邮箱、发送记录，纸质发票需留存快递单号、签收记录，确保发票交付可追溯。</a:t>
                      </a:r>
                      <a:endParaRPr lang="zh-CN" altLang="en-US" sz="400" b="1" i="0" u="none" strike="noStrike" dirty="0">
                        <a:solidFill>
                          <a:srgbClr val="000000"/>
                        </a:solidFill>
                        <a:effectLst/>
                        <a:latin typeface="宋体" panose="02010600030101010101" pitchFamily="2" charset="-122"/>
                        <a:ea typeface="宋体" panose="02010600030101010101" pitchFamily="2" charset="-122"/>
                      </a:endParaRPr>
                    </a:p>
                  </a:txBody>
                  <a:tcPr marL="3044" marR="3044" marT="30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83004240"/>
                  </a:ext>
                </a:extLst>
              </a:tr>
            </a:tbl>
          </a:graphicData>
        </a:graphic>
      </p:graphicFrame>
    </p:spTree>
    <p:extLst>
      <p:ext uri="{BB962C8B-B14F-4D97-AF65-F5344CB8AC3E}">
        <p14:creationId xmlns:p14="http://schemas.microsoft.com/office/powerpoint/2010/main" val="1095685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4A38340-610E-41A8-8848-A2B52A391701}"/>
              </a:ext>
            </a:extLst>
          </p:cNvPr>
          <p:cNvSpPr txBox="1"/>
          <p:nvPr/>
        </p:nvSpPr>
        <p:spPr>
          <a:xfrm>
            <a:off x="47328" y="87015"/>
            <a:ext cx="5328592" cy="461665"/>
          </a:xfrm>
          <a:prstGeom prst="rect">
            <a:avLst/>
          </a:prstGeom>
          <a:solidFill>
            <a:srgbClr val="FFFF00"/>
          </a:solidFill>
        </p:spPr>
        <p:txBody>
          <a:bodyPr wrap="square" rtlCol="0">
            <a:spAutoFit/>
          </a:bodyPr>
          <a:lstStyle/>
          <a:p>
            <a:r>
              <a:rPr lang="zh-CN" altLang="en-US" sz="2400" b="1" dirty="0">
                <a:solidFill>
                  <a:srgbClr val="FF0000"/>
                </a:solidFill>
              </a:rPr>
              <a:t>应收</a:t>
            </a:r>
            <a:r>
              <a:rPr lang="en-US" altLang="zh-CN" sz="2400" b="1" dirty="0">
                <a:solidFill>
                  <a:srgbClr val="FF0000"/>
                </a:solidFill>
              </a:rPr>
              <a:t>#</a:t>
            </a:r>
            <a:r>
              <a:rPr lang="zh-CN" altLang="en-US" sz="2400" b="1" dirty="0">
                <a:solidFill>
                  <a:srgbClr val="FF0000"/>
                </a:solidFill>
              </a:rPr>
              <a:t>预收款申请单</a:t>
            </a:r>
            <a:r>
              <a:rPr lang="en-US" altLang="zh-CN" sz="2400" b="1" dirty="0">
                <a:solidFill>
                  <a:srgbClr val="FF0000"/>
                </a:solidFill>
              </a:rPr>
              <a:t>(</a:t>
            </a:r>
            <a:r>
              <a:rPr lang="zh-CN" altLang="en-US" sz="2400" b="1" dirty="0">
                <a:solidFill>
                  <a:srgbClr val="FF0000"/>
                </a:solidFill>
              </a:rPr>
              <a:t>项目专用）</a:t>
            </a:r>
            <a:r>
              <a:rPr lang="en-US" altLang="zh-CN" sz="2400" b="1" dirty="0">
                <a:solidFill>
                  <a:srgbClr val="FF0000"/>
                </a:solidFill>
              </a:rPr>
              <a:t>3-7</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BE82CCA8-2187-46B9-BB58-B71F573BA012}"/>
              </a:ext>
            </a:extLst>
          </p:cNvPr>
          <p:cNvGraphicFramePr>
            <a:graphicFrameLocks noGrp="1"/>
          </p:cNvGraphicFramePr>
          <p:nvPr>
            <p:extLst>
              <p:ext uri="{D42A27DB-BD31-4B8C-83A1-F6EECF244321}">
                <p14:modId xmlns:p14="http://schemas.microsoft.com/office/powerpoint/2010/main" val="3227900266"/>
              </p:ext>
            </p:extLst>
          </p:nvPr>
        </p:nvGraphicFramePr>
        <p:xfrm>
          <a:off x="1271464" y="597878"/>
          <a:ext cx="10513172" cy="6143486"/>
        </p:xfrm>
        <a:graphic>
          <a:graphicData uri="http://schemas.openxmlformats.org/drawingml/2006/table">
            <a:tbl>
              <a:tblPr>
                <a:tableStyleId>{5C22544A-7EE6-4342-B048-85BDC9FD1C3A}</a:tableStyleId>
              </a:tblPr>
              <a:tblGrid>
                <a:gridCol w="2660538">
                  <a:extLst>
                    <a:ext uri="{9D8B030D-6E8A-4147-A177-3AD203B41FA5}">
                      <a16:colId xmlns:a16="http://schemas.microsoft.com/office/drawing/2014/main" val="3872136560"/>
                    </a:ext>
                  </a:extLst>
                </a:gridCol>
                <a:gridCol w="2660538">
                  <a:extLst>
                    <a:ext uri="{9D8B030D-6E8A-4147-A177-3AD203B41FA5}">
                      <a16:colId xmlns:a16="http://schemas.microsoft.com/office/drawing/2014/main" val="162277891"/>
                    </a:ext>
                  </a:extLst>
                </a:gridCol>
                <a:gridCol w="2488564">
                  <a:extLst>
                    <a:ext uri="{9D8B030D-6E8A-4147-A177-3AD203B41FA5}">
                      <a16:colId xmlns:a16="http://schemas.microsoft.com/office/drawing/2014/main" val="2340416228"/>
                    </a:ext>
                  </a:extLst>
                </a:gridCol>
                <a:gridCol w="933211">
                  <a:extLst>
                    <a:ext uri="{9D8B030D-6E8A-4147-A177-3AD203B41FA5}">
                      <a16:colId xmlns:a16="http://schemas.microsoft.com/office/drawing/2014/main" val="3617305368"/>
                    </a:ext>
                  </a:extLst>
                </a:gridCol>
                <a:gridCol w="859870">
                  <a:extLst>
                    <a:ext uri="{9D8B030D-6E8A-4147-A177-3AD203B41FA5}">
                      <a16:colId xmlns:a16="http://schemas.microsoft.com/office/drawing/2014/main" val="1515474905"/>
                    </a:ext>
                  </a:extLst>
                </a:gridCol>
                <a:gridCol w="910451">
                  <a:extLst>
                    <a:ext uri="{9D8B030D-6E8A-4147-A177-3AD203B41FA5}">
                      <a16:colId xmlns:a16="http://schemas.microsoft.com/office/drawing/2014/main" val="1257636007"/>
                    </a:ext>
                  </a:extLst>
                </a:gridCol>
              </a:tblGrid>
              <a:tr h="184711">
                <a:tc gridSpan="6">
                  <a:txBody>
                    <a:bodyPr/>
                    <a:lstStyle/>
                    <a:p>
                      <a:pPr algn="ctr" fontAlgn="ctr"/>
                      <a:r>
                        <a:rPr lang="zh-CN" altLang="en-US" sz="600" u="none" strike="noStrike">
                          <a:effectLst/>
                        </a:rPr>
                        <a:t>应收</a:t>
                      </a:r>
                      <a:r>
                        <a:rPr lang="en-US" altLang="zh-CN" sz="600" u="none" strike="noStrike">
                          <a:effectLst/>
                        </a:rPr>
                        <a:t>/</a:t>
                      </a:r>
                      <a:r>
                        <a:rPr lang="zh-CN" altLang="en-US" sz="600" u="none" strike="noStrike">
                          <a:effectLst/>
                        </a:rPr>
                        <a:t>预售款项申请单（项目类业务专用）</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24118689"/>
                  </a:ext>
                </a:extLst>
              </a:tr>
              <a:tr h="184711">
                <a:tc gridSpan="2">
                  <a:txBody>
                    <a:bodyPr/>
                    <a:lstStyle/>
                    <a:p>
                      <a:pPr algn="l" fontAlgn="ctr"/>
                      <a:r>
                        <a:rPr lang="zh-CN" altLang="en-US" sz="500" u="none" strike="noStrike" dirty="0">
                          <a:effectLst/>
                        </a:rPr>
                        <a:t>申请单号：</a:t>
                      </a:r>
                      <a:r>
                        <a:rPr lang="en-US" altLang="zh-CN" sz="500" u="none" strike="noStrike" dirty="0">
                          <a:effectLst/>
                        </a:rPr>
                        <a:t>______________________________</a:t>
                      </a:r>
                      <a:endParaRPr lang="en-US" altLang="zh-CN" sz="500" b="0" i="0" u="none" strike="noStrike" dirty="0">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gridSpan="4">
                  <a:txBody>
                    <a:bodyPr/>
                    <a:lstStyle/>
                    <a:p>
                      <a:pPr algn="l" fontAlgn="ctr"/>
                      <a:r>
                        <a:rPr lang="zh-CN" altLang="en-US" sz="500" u="none" strike="noStrike">
                          <a:effectLst/>
                        </a:rPr>
                        <a:t>申请日期：</a:t>
                      </a:r>
                      <a:r>
                        <a:rPr lang="en-US" altLang="zh-CN" sz="500" u="none" strike="noStrike">
                          <a:effectLst/>
                        </a:rPr>
                        <a:t>_______</a:t>
                      </a:r>
                      <a:r>
                        <a:rPr lang="zh-CN" altLang="en-US" sz="500" u="none" strike="noStrike">
                          <a:effectLst/>
                        </a:rPr>
                        <a:t>年</a:t>
                      </a:r>
                      <a:r>
                        <a:rPr lang="en-US" altLang="zh-CN" sz="500" u="none" strike="noStrike">
                          <a:effectLst/>
                        </a:rPr>
                        <a:t>________</a:t>
                      </a:r>
                      <a:r>
                        <a:rPr lang="zh-CN" altLang="en-US" sz="500" u="none" strike="noStrike">
                          <a:effectLst/>
                        </a:rPr>
                        <a:t>月</a:t>
                      </a:r>
                      <a:r>
                        <a:rPr lang="en-US" altLang="zh-CN" sz="500" u="none" strike="noStrike">
                          <a:effectLst/>
                        </a:rPr>
                        <a:t>______</a:t>
                      </a:r>
                      <a:r>
                        <a:rPr lang="zh-CN" altLang="en-US" sz="500" u="none" strike="noStrike">
                          <a:effectLst/>
                        </a:rPr>
                        <a:t>日</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682102"/>
                  </a:ext>
                </a:extLst>
              </a:tr>
              <a:tr h="184711">
                <a:tc>
                  <a:txBody>
                    <a:bodyPr/>
                    <a:lstStyle/>
                    <a:p>
                      <a:pPr algn="ctr" fontAlgn="ctr"/>
                      <a:r>
                        <a:rPr lang="zh-CN" altLang="en-US" sz="500" u="none" strike="noStrike">
                          <a:effectLst/>
                        </a:rPr>
                        <a:t>项目核心信息项</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填写内容</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rowSpan="3" gridSpan="4">
                  <a:txBody>
                    <a:bodyPr/>
                    <a:lstStyle/>
                    <a:p>
                      <a:pPr algn="ctr" fontAlgn="ctr"/>
                      <a:r>
                        <a:rPr lang="zh-CN" altLang="en-US" sz="500" u="none" strike="noStrike">
                          <a:effectLst/>
                        </a:rPr>
                        <a:t>审批岗位签字确认</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rowSpan="3" hMerge="1">
                  <a:txBody>
                    <a:bodyPr/>
                    <a:lstStyle/>
                    <a:p>
                      <a:endParaRPr lang="zh-CN" altLang="en-US"/>
                    </a:p>
                  </a:txBody>
                  <a:tcPr/>
                </a:tc>
                <a:tc rowSpan="3" hMerge="1">
                  <a:txBody>
                    <a:bodyPr/>
                    <a:lstStyle/>
                    <a:p>
                      <a:endParaRPr lang="zh-CN" altLang="en-US"/>
                    </a:p>
                  </a:txBody>
                  <a:tcPr/>
                </a:tc>
                <a:tc rowSpan="3" hMerge="1">
                  <a:txBody>
                    <a:bodyPr/>
                    <a:lstStyle/>
                    <a:p>
                      <a:endParaRPr lang="zh-CN" altLang="en-US"/>
                    </a:p>
                  </a:txBody>
                  <a:tcPr/>
                </a:tc>
                <a:extLst>
                  <a:ext uri="{0D108BD9-81ED-4DB2-BD59-A6C34878D82A}">
                    <a16:rowId xmlns:a16="http://schemas.microsoft.com/office/drawing/2014/main" val="1977501962"/>
                  </a:ext>
                </a:extLst>
              </a:tr>
              <a:tr h="184711">
                <a:tc>
                  <a:txBody>
                    <a:bodyPr/>
                    <a:lstStyle/>
                    <a:p>
                      <a:pPr algn="l" fontAlgn="ctr"/>
                      <a:r>
                        <a:rPr lang="zh-CN" altLang="en-US" sz="500" u="none" strike="noStrike">
                          <a:effectLst/>
                        </a:rPr>
                        <a:t>项目编号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189444394"/>
                  </a:ext>
                </a:extLst>
              </a:tr>
              <a:tr h="184711">
                <a:tc>
                  <a:txBody>
                    <a:bodyPr/>
                    <a:lstStyle/>
                    <a:p>
                      <a:pPr algn="l" fontAlgn="ctr"/>
                      <a:r>
                        <a:rPr lang="zh-CN" altLang="en-US" sz="500" u="none" strike="noStrike">
                          <a:effectLst/>
                        </a:rPr>
                        <a:t>项目名称</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212123538"/>
                  </a:ext>
                </a:extLst>
              </a:tr>
              <a:tr h="184711">
                <a:tc>
                  <a:txBody>
                    <a:bodyPr/>
                    <a:lstStyle/>
                    <a:p>
                      <a:pPr algn="l" fontAlgn="ctr"/>
                      <a:r>
                        <a:rPr lang="zh-CN" altLang="en-US" sz="500" u="none" strike="noStrike">
                          <a:effectLst/>
                        </a:rPr>
                        <a:t>项目所属部门</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审批岗位</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签字</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审核 </a:t>
                      </a:r>
                      <a:r>
                        <a:rPr lang="en-US" altLang="zh-CN" sz="500" u="none" strike="noStrike">
                          <a:effectLst/>
                        </a:rPr>
                        <a:t>/ </a:t>
                      </a:r>
                      <a:r>
                        <a:rPr lang="zh-CN" altLang="en-US" sz="500" u="none" strike="noStrike">
                          <a:effectLst/>
                        </a:rPr>
                        <a:t>审批意见</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428311698"/>
                  </a:ext>
                </a:extLst>
              </a:tr>
              <a:tr h="184711">
                <a:tc>
                  <a:txBody>
                    <a:bodyPr/>
                    <a:lstStyle/>
                    <a:p>
                      <a:pPr algn="l" fontAlgn="ctr"/>
                      <a:r>
                        <a:rPr lang="zh-CN" altLang="en-US" sz="500" u="none" strike="noStrike" dirty="0">
                          <a:effectLst/>
                        </a:rPr>
                        <a:t>项目负责人</a:t>
                      </a:r>
                      <a:endParaRPr lang="zh-CN" altLang="en-US" sz="500" b="0" i="0" u="none" strike="noStrike" dirty="0">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申请人 </a:t>
                      </a:r>
                      <a:r>
                        <a:rPr lang="en-US" altLang="zh-CN" sz="500" u="none" strike="noStrike">
                          <a:effectLst/>
                        </a:rPr>
                        <a:t>/ </a:t>
                      </a:r>
                      <a:r>
                        <a:rPr lang="zh-CN" altLang="en-US" sz="500" u="none" strike="noStrike">
                          <a:effectLst/>
                        </a:rPr>
                        <a:t>销售经办人</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2779465915"/>
                  </a:ext>
                </a:extLst>
              </a:tr>
              <a:tr h="184711">
                <a:tc>
                  <a:txBody>
                    <a:bodyPr/>
                    <a:lstStyle/>
                    <a:p>
                      <a:pPr algn="l" fontAlgn="ctr"/>
                      <a:r>
                        <a:rPr lang="zh-CN" altLang="en-US" sz="500" u="none" strike="noStrike">
                          <a:effectLst/>
                        </a:rPr>
                        <a:t>客户全称</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项目负责人审核（项目进度、履约情况确认）</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3903062683"/>
                  </a:ext>
                </a:extLst>
              </a:tr>
              <a:tr h="184711">
                <a:tc>
                  <a:txBody>
                    <a:bodyPr/>
                    <a:lstStyle/>
                    <a:p>
                      <a:pPr algn="l" fontAlgn="ctr"/>
                      <a:r>
                        <a:rPr lang="zh-CN" altLang="en-US" sz="500" u="none" strike="noStrike">
                          <a:effectLst/>
                        </a:rPr>
                        <a:t>客户联系人及联系电话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销售 </a:t>
                      </a:r>
                      <a:r>
                        <a:rPr lang="en-US" altLang="zh-CN" sz="500" u="none" strike="noStrike">
                          <a:effectLst/>
                        </a:rPr>
                        <a:t>/ </a:t>
                      </a:r>
                      <a:r>
                        <a:rPr lang="zh-CN" altLang="en-US" sz="500" u="none" strike="noStrike">
                          <a:effectLst/>
                        </a:rPr>
                        <a:t>业务部门负责人审批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4264168694"/>
                  </a:ext>
                </a:extLst>
              </a:tr>
              <a:tr h="184711">
                <a:tc>
                  <a:txBody>
                    <a:bodyPr/>
                    <a:lstStyle/>
                    <a:p>
                      <a:pPr algn="l" fontAlgn="ctr"/>
                      <a:r>
                        <a:rPr lang="zh-CN" altLang="en-US" sz="500" u="none" strike="noStrike">
                          <a:effectLst/>
                        </a:rPr>
                        <a:t>对应项目合同编号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财务部门审核（合同、金额、回款风险核对）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2048796814"/>
                  </a:ext>
                </a:extLst>
              </a:tr>
              <a:tr h="184711">
                <a:tc>
                  <a:txBody>
                    <a:bodyPr/>
                    <a:lstStyle/>
                    <a:p>
                      <a:pPr algn="l" fontAlgn="ctr"/>
                      <a:r>
                        <a:rPr lang="zh-CN" altLang="en-US" sz="500" u="none" strike="noStrike">
                          <a:effectLst/>
                        </a:rPr>
                        <a:t>对应销售订单 </a:t>
                      </a:r>
                      <a:r>
                        <a:rPr lang="en-US" altLang="zh-CN" sz="500" u="none" strike="noStrike">
                          <a:effectLst/>
                        </a:rPr>
                        <a:t>SO </a:t>
                      </a:r>
                      <a:r>
                        <a:rPr lang="zh-CN" altLang="en-US" sz="500" u="none" strike="noStrike">
                          <a:effectLst/>
                        </a:rPr>
                        <a:t>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管理层 </a:t>
                      </a:r>
                      <a:r>
                        <a:rPr lang="en-US" altLang="zh-CN" sz="500" u="none" strike="noStrike">
                          <a:effectLst/>
                        </a:rPr>
                        <a:t>/ </a:t>
                      </a:r>
                      <a:r>
                        <a:rPr lang="zh-CN" altLang="en-US" sz="500" u="none" strike="noStrike">
                          <a:effectLst/>
                        </a:rPr>
                        <a:t>总经理终审审批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extLst>
                  <a:ext uri="{0D108BD9-81ED-4DB2-BD59-A6C34878D82A}">
                    <a16:rowId xmlns:a16="http://schemas.microsoft.com/office/drawing/2014/main" val="2683640828"/>
                  </a:ext>
                </a:extLst>
              </a:tr>
              <a:tr h="184711">
                <a:tc>
                  <a:txBody>
                    <a:bodyPr/>
                    <a:lstStyle/>
                    <a:p>
                      <a:pPr algn="l" fontAlgn="ctr"/>
                      <a:r>
                        <a:rPr lang="zh-CN" altLang="en-US" sz="500" u="none" strike="noStrike">
                          <a:effectLst/>
                        </a:rPr>
                        <a:t>项目合同总金额</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（含税小写）￥</a:t>
                      </a:r>
                      <a:r>
                        <a:rPr lang="en-US" altLang="zh-CN" sz="500" u="none" strike="noStrike">
                          <a:effectLst/>
                        </a:rPr>
                        <a:t>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rowSpan="3" gridSpan="4">
                  <a:txBody>
                    <a:bodyPr/>
                    <a:lstStyle/>
                    <a:p>
                      <a:pPr algn="ctr" fontAlgn="ctr"/>
                      <a:r>
                        <a:rPr lang="zh-CN" altLang="en-US" sz="500" u="none" strike="noStrike">
                          <a:effectLst/>
                        </a:rPr>
                        <a:t>财务到账确认与应收核销回填栏（财务填写）</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rowSpan="3" hMerge="1">
                  <a:txBody>
                    <a:bodyPr/>
                    <a:lstStyle/>
                    <a:p>
                      <a:endParaRPr lang="zh-CN" altLang="en-US"/>
                    </a:p>
                  </a:txBody>
                  <a:tcPr/>
                </a:tc>
                <a:tc rowSpan="3" hMerge="1">
                  <a:txBody>
                    <a:bodyPr/>
                    <a:lstStyle/>
                    <a:p>
                      <a:endParaRPr lang="zh-CN" altLang="en-US"/>
                    </a:p>
                  </a:txBody>
                  <a:tcPr/>
                </a:tc>
                <a:tc rowSpan="3" hMerge="1">
                  <a:txBody>
                    <a:bodyPr/>
                    <a:lstStyle/>
                    <a:p>
                      <a:endParaRPr lang="zh-CN" altLang="en-US"/>
                    </a:p>
                  </a:txBody>
                  <a:tcPr/>
                </a:tc>
                <a:extLst>
                  <a:ext uri="{0D108BD9-81ED-4DB2-BD59-A6C34878D82A}">
                    <a16:rowId xmlns:a16="http://schemas.microsoft.com/office/drawing/2014/main" val="1038893479"/>
                  </a:ext>
                </a:extLst>
              </a:tr>
              <a:tr h="184711">
                <a:tc>
                  <a:txBody>
                    <a:bodyPr/>
                    <a:lstStyle/>
                    <a:p>
                      <a:pPr algn="l" fontAlgn="ctr"/>
                      <a:r>
                        <a:rPr lang="zh-CN" altLang="en-US" sz="500" u="none" strike="noStrike">
                          <a:effectLst/>
                        </a:rPr>
                        <a:t>本次申请预收比例</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475871075"/>
                  </a:ext>
                </a:extLst>
              </a:tr>
              <a:tr h="184711">
                <a:tc rowSpan="2">
                  <a:txBody>
                    <a:bodyPr/>
                    <a:lstStyle/>
                    <a:p>
                      <a:pPr algn="l" fontAlgn="ctr"/>
                      <a:r>
                        <a:rPr lang="zh-CN" altLang="en-US" sz="500" u="none" strike="noStrike">
                          <a:effectLst/>
                        </a:rPr>
                        <a:t>本次申请收款金额（含税）</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（小写）￥</a:t>
                      </a:r>
                      <a:r>
                        <a:rPr lang="en-US" altLang="zh-CN" sz="500" u="none" strike="noStrike">
                          <a:effectLst/>
                        </a:rPr>
                        <a:t>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979884213"/>
                  </a:ext>
                </a:extLst>
              </a:tr>
              <a:tr h="184711">
                <a:tc vMerge="1">
                  <a:txBody>
                    <a:bodyPr/>
                    <a:lstStyle/>
                    <a:p>
                      <a:endParaRPr lang="zh-CN" altLang="en-US"/>
                    </a:p>
                  </a:txBody>
                  <a:tcPr/>
                </a:tc>
                <a:tc>
                  <a:txBody>
                    <a:bodyPr/>
                    <a:lstStyle/>
                    <a:p>
                      <a:pPr algn="l" fontAlgn="ctr"/>
                      <a:r>
                        <a:rPr lang="zh-CN" altLang="en-US" sz="500" u="none" strike="noStrike">
                          <a:effectLst/>
                        </a:rPr>
                        <a:t>（大写）人民币</a:t>
                      </a:r>
                      <a:r>
                        <a:rPr lang="en-US" altLang="zh-CN" sz="500" u="none" strike="noStrike">
                          <a:effectLst/>
                        </a:rPr>
                        <a:t>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ctr" fontAlgn="ctr"/>
                      <a:r>
                        <a:rPr lang="zh-CN" altLang="en-US" sz="500" u="none" strike="noStrike">
                          <a:effectLst/>
                        </a:rPr>
                        <a:t>核销信息项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ctr" fontAlgn="ctr"/>
                      <a:r>
                        <a:rPr lang="zh-CN" altLang="en-US" sz="500" u="none" strike="noStrike">
                          <a:effectLst/>
                        </a:rPr>
                        <a:t>填写内容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76509883"/>
                  </a:ext>
                </a:extLst>
              </a:tr>
              <a:tr h="184711">
                <a:tc>
                  <a:txBody>
                    <a:bodyPr/>
                    <a:lstStyle/>
                    <a:p>
                      <a:pPr algn="l" fontAlgn="ctr"/>
                      <a:r>
                        <a:rPr lang="zh-CN" altLang="en-US" sz="500" u="none" strike="noStrike">
                          <a:effectLst/>
                        </a:rPr>
                        <a:t>预收款项对应项目阶段</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□项目启动预付款 □项目进度款 □项目验收款   □项目质保金 □其他：</a:t>
                      </a:r>
                      <a:r>
                        <a:rPr lang="en-US" altLang="zh-CN" sz="500" u="none" strike="noStrike">
                          <a:effectLst/>
                        </a:rPr>
                        <a:t>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客户实际到账日期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a:t>
                      </a:r>
                      <a:r>
                        <a:rPr lang="zh-CN" altLang="en-US" sz="500" u="none" strike="noStrike">
                          <a:effectLst/>
                        </a:rPr>
                        <a:t>年</a:t>
                      </a:r>
                      <a:r>
                        <a:rPr lang="en-US" altLang="zh-CN" sz="500" u="none" strike="noStrike">
                          <a:effectLst/>
                        </a:rPr>
                        <a:t>_______</a:t>
                      </a:r>
                      <a:r>
                        <a:rPr lang="zh-CN" altLang="en-US" sz="500" u="none" strike="noStrike">
                          <a:effectLst/>
                        </a:rPr>
                        <a:t>月</a:t>
                      </a:r>
                      <a:r>
                        <a:rPr lang="en-US" altLang="zh-CN" sz="500" u="none" strike="noStrike">
                          <a:effectLst/>
                        </a:rPr>
                        <a:t>______</a:t>
                      </a:r>
                      <a:r>
                        <a:rPr lang="zh-CN" altLang="en-US" sz="500" u="none" strike="noStrike">
                          <a:effectLst/>
                        </a:rPr>
                        <a:t>日</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7828702"/>
                  </a:ext>
                </a:extLst>
              </a:tr>
              <a:tr h="184711">
                <a:tc gridSpan="2">
                  <a:txBody>
                    <a:bodyPr/>
                    <a:lstStyle/>
                    <a:p>
                      <a:pPr algn="ctr" fontAlgn="ctr"/>
                      <a:r>
                        <a:rPr lang="zh-CN" altLang="en-US" sz="500" u="none" strike="noStrike">
                          <a:effectLst/>
                        </a:rPr>
                        <a:t>预收款项明细与项目履约说明</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a:txBody>
                    <a:bodyPr/>
                    <a:lstStyle/>
                    <a:p>
                      <a:pPr algn="l" fontAlgn="ctr"/>
                      <a:r>
                        <a:rPr lang="zh-CN" altLang="en-US" sz="500" u="none" strike="noStrike">
                          <a:effectLst/>
                        </a:rPr>
                        <a:t>实际到账金额（小写）</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zh-CN" altLang="en-US" sz="500" u="none" strike="noStrike">
                          <a:effectLst/>
                        </a:rPr>
                        <a:t>￥</a:t>
                      </a:r>
                      <a:r>
                        <a:rPr lang="en-US" altLang="zh-CN" sz="500" u="none" strike="noStrike">
                          <a:effectLst/>
                        </a:rPr>
                        <a:t>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43983207"/>
                  </a:ext>
                </a:extLst>
              </a:tr>
              <a:tr h="184711">
                <a:tc>
                  <a:txBody>
                    <a:bodyPr/>
                    <a:lstStyle/>
                    <a:p>
                      <a:pPr algn="l" fontAlgn="ctr"/>
                      <a:r>
                        <a:rPr lang="zh-CN" altLang="en-US" sz="500" u="none" strike="noStrike">
                          <a:effectLst/>
                        </a:rPr>
                        <a:t>客户约定付款方式</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□对公转账 □银行承兑 □电子汇票 □其他：</a:t>
                      </a:r>
                      <a:r>
                        <a:rPr lang="en-US" altLang="zh-CN" sz="500" u="none" strike="noStrike">
                          <a:effectLst/>
                        </a:rPr>
                        <a:t>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到账凭证号 </a:t>
                      </a:r>
                      <a:r>
                        <a:rPr lang="en-US" altLang="zh-CN" sz="500" u="none" strike="noStrike">
                          <a:effectLst/>
                        </a:rPr>
                        <a:t>/ </a:t>
                      </a:r>
                      <a:r>
                        <a:rPr lang="zh-CN" altLang="en-US" sz="500" u="none" strike="noStrike">
                          <a:effectLst/>
                        </a:rPr>
                        <a:t>银行流水号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1050905"/>
                  </a:ext>
                </a:extLst>
              </a:tr>
              <a:tr h="184711">
                <a:tc>
                  <a:txBody>
                    <a:bodyPr/>
                    <a:lstStyle/>
                    <a:p>
                      <a:pPr algn="l" fontAlgn="ctr"/>
                      <a:r>
                        <a:rPr lang="zh-CN" altLang="en-US" sz="500" u="none" strike="noStrike">
                          <a:effectLst/>
                        </a:rPr>
                        <a:t>我方收款账户信息</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开户行：</a:t>
                      </a:r>
                      <a:r>
                        <a:rPr lang="en-US" altLang="zh-CN" sz="500" u="none" strike="noStrike">
                          <a:effectLst/>
                        </a:rPr>
                        <a:t>________________ </a:t>
                      </a:r>
                      <a:r>
                        <a:rPr lang="zh-CN" altLang="en-US" sz="500" u="none" strike="noStrike">
                          <a:effectLst/>
                        </a:rPr>
                        <a:t>账号：</a:t>
                      </a:r>
                      <a:r>
                        <a:rPr lang="en-US" altLang="zh-CN" sz="500" u="none" strike="noStrike">
                          <a:effectLst/>
                        </a:rPr>
                        <a:t>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预收账款入账凭证号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80558827"/>
                  </a:ext>
                </a:extLst>
              </a:tr>
              <a:tr h="184711">
                <a:tc>
                  <a:txBody>
                    <a:bodyPr/>
                    <a:lstStyle/>
                    <a:p>
                      <a:pPr algn="l" fontAlgn="ctr"/>
                      <a:r>
                        <a:rPr lang="zh-CN" altLang="en-US" sz="500" u="none" strike="noStrike">
                          <a:effectLst/>
                        </a:rPr>
                        <a:t>客户预计付款 </a:t>
                      </a:r>
                      <a:r>
                        <a:rPr lang="en-US" altLang="zh-CN" sz="500" u="none" strike="noStrike">
                          <a:effectLst/>
                        </a:rPr>
                        <a:t>/ </a:t>
                      </a:r>
                      <a:r>
                        <a:rPr lang="zh-CN" altLang="en-US" sz="500" u="none" strike="noStrike">
                          <a:effectLst/>
                        </a:rPr>
                        <a:t>到账日期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en-US" altLang="zh-CN" sz="500" u="none" strike="noStrike">
                          <a:effectLst/>
                        </a:rPr>
                        <a:t>_______</a:t>
                      </a:r>
                      <a:r>
                        <a:rPr lang="zh-CN" altLang="en-US" sz="500" u="none" strike="noStrike">
                          <a:effectLst/>
                        </a:rPr>
                        <a:t>年</a:t>
                      </a:r>
                      <a:r>
                        <a:rPr lang="en-US" altLang="zh-CN" sz="500" u="none" strike="noStrike">
                          <a:effectLst/>
                        </a:rPr>
                        <a:t>______</a:t>
                      </a:r>
                      <a:r>
                        <a:rPr lang="zh-CN" altLang="en-US" sz="500" u="none" strike="noStrike">
                          <a:effectLst/>
                        </a:rPr>
                        <a:t>月</a:t>
                      </a:r>
                      <a:r>
                        <a:rPr lang="en-US" altLang="zh-CN" sz="500" u="none" strike="noStrike">
                          <a:effectLst/>
                        </a:rPr>
                        <a:t>_____</a:t>
                      </a:r>
                      <a:r>
                        <a:rPr lang="zh-CN" altLang="en-US" sz="500" u="none" strike="noStrike">
                          <a:effectLst/>
                        </a:rPr>
                        <a:t>日</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后续应收核销情况</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zh-CN" altLang="en-US" sz="500" u="none" strike="noStrike">
                          <a:effectLst/>
                        </a:rPr>
                        <a:t>□未核销 □部分核销 □全额核销</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25302969"/>
                  </a:ext>
                </a:extLst>
              </a:tr>
              <a:tr h="184711">
                <a:tc>
                  <a:txBody>
                    <a:bodyPr/>
                    <a:lstStyle/>
                    <a:p>
                      <a:pPr algn="l" fontAlgn="ctr"/>
                      <a:r>
                        <a:rPr lang="zh-CN" altLang="en-US" sz="500" u="none" strike="noStrike">
                          <a:effectLst/>
                        </a:rPr>
                        <a:t>本次预收款项用途说明</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对应核销的应收发票号码</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10528140"/>
                  </a:ext>
                </a:extLst>
              </a:tr>
              <a:tr h="184711">
                <a:tc>
                  <a:txBody>
                    <a:bodyPr/>
                    <a:lstStyle/>
                    <a:p>
                      <a:pPr algn="l" fontAlgn="ctr"/>
                      <a:r>
                        <a:rPr lang="zh-CN" altLang="en-US" sz="500" u="none" strike="noStrike">
                          <a:effectLst/>
                        </a:rPr>
                        <a:t>当前项目履约进度说明</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项目完成进度：</a:t>
                      </a:r>
                      <a:r>
                        <a:rPr lang="en-US" altLang="zh-CN" sz="500" u="none" strike="noStrike">
                          <a:effectLst/>
                        </a:rPr>
                        <a:t>_____  %   </a:t>
                      </a:r>
                      <a:r>
                        <a:rPr lang="zh-CN" altLang="en-US" sz="500" u="none" strike="noStrike">
                          <a:effectLst/>
                        </a:rPr>
                        <a:t>；已完成核心工作内容：</a:t>
                      </a:r>
                      <a:r>
                        <a:rPr lang="en-US" altLang="zh-CN" sz="500" u="none" strike="noStrike">
                          <a:effectLst/>
                        </a:rPr>
                        <a:t>____________________________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核销完成日期</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a:t>
                      </a:r>
                      <a:r>
                        <a:rPr lang="zh-CN" altLang="en-US" sz="500" u="none" strike="noStrike">
                          <a:effectLst/>
                        </a:rPr>
                        <a:t>年</a:t>
                      </a:r>
                      <a:r>
                        <a:rPr lang="en-US" altLang="zh-CN" sz="500" u="none" strike="noStrike">
                          <a:effectLst/>
                        </a:rPr>
                        <a:t>______</a:t>
                      </a:r>
                      <a:r>
                        <a:rPr lang="zh-CN" altLang="en-US" sz="500" u="none" strike="noStrike">
                          <a:effectLst/>
                        </a:rPr>
                        <a:t>月</a:t>
                      </a:r>
                      <a:r>
                        <a:rPr lang="en-US" altLang="zh-CN" sz="500" u="none" strike="noStrike">
                          <a:effectLst/>
                        </a:rPr>
                        <a:t>______</a:t>
                      </a:r>
                      <a:r>
                        <a:rPr lang="zh-CN" altLang="en-US" sz="500" u="none" strike="noStrike">
                          <a:effectLst/>
                        </a:rPr>
                        <a:t>日</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44528341"/>
                  </a:ext>
                </a:extLst>
              </a:tr>
              <a:tr h="184711">
                <a:tc>
                  <a:txBody>
                    <a:bodyPr/>
                    <a:lstStyle/>
                    <a:p>
                      <a:pPr algn="l" fontAlgn="ctr"/>
                      <a:r>
                        <a:rPr lang="zh-CN" altLang="en-US" sz="500" u="none" strike="noStrike">
                          <a:effectLst/>
                        </a:rPr>
                        <a:t>本次预收对应的履约义务说明</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核销入账凭证号</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en-US" altLang="zh-CN" sz="500" u="none" strike="noStrike">
                          <a:effectLst/>
                        </a:rPr>
                        <a:t>_________________________</a:t>
                      </a:r>
                      <a:endParaRPr lang="en-US" altLang="zh-CN"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98037793"/>
                  </a:ext>
                </a:extLst>
              </a:tr>
              <a:tr h="184711">
                <a:tc>
                  <a:txBody>
                    <a:bodyPr/>
                    <a:lstStyle/>
                    <a:p>
                      <a:pPr algn="l" fontAlgn="ctr"/>
                      <a:r>
                        <a:rPr lang="zh-CN" altLang="en-US" sz="500" u="none" strike="noStrike">
                          <a:effectLst/>
                        </a:rPr>
                        <a:t>发票开具要求</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□预收同时开具发票 □项目整体完成后统一开票 □按进度分阶段开票</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财务制单人 </a:t>
                      </a:r>
                      <a:r>
                        <a:rPr lang="en-US" altLang="zh-CN" sz="500" u="none" strike="noStrike">
                          <a:effectLst/>
                        </a:rPr>
                        <a:t>/ </a:t>
                      </a:r>
                      <a:r>
                        <a:rPr lang="zh-CN" altLang="en-US" sz="500" u="none" strike="noStrike">
                          <a:effectLst/>
                        </a:rPr>
                        <a:t>核销人</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98767929"/>
                  </a:ext>
                </a:extLst>
              </a:tr>
              <a:tr h="184711">
                <a:tc>
                  <a:txBody>
                    <a:bodyPr/>
                    <a:lstStyle/>
                    <a:p>
                      <a:pPr algn="l" fontAlgn="ctr"/>
                      <a:r>
                        <a:rPr lang="zh-CN" altLang="en-US" sz="500" u="none" strike="noStrike">
                          <a:effectLst/>
                        </a:rPr>
                        <a:t>其他约定事项</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a:txBody>
                    <a:bodyPr/>
                    <a:lstStyle/>
                    <a:p>
                      <a:pPr algn="l" fontAlgn="ctr"/>
                      <a:r>
                        <a:rPr lang="zh-CN" altLang="en-US" sz="500" u="none" strike="noStrike">
                          <a:effectLst/>
                        </a:rPr>
                        <a:t>备注</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gridSpan="3">
                  <a:txBody>
                    <a:bodyPr/>
                    <a:lstStyle/>
                    <a:p>
                      <a:pPr algn="l" fontAlgn="ctr"/>
                      <a:r>
                        <a:rPr lang="zh-CN" altLang="en-US" sz="500" u="none" strike="noStrike">
                          <a:effectLst/>
                        </a:rPr>
                        <a:t>　</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40062042"/>
                  </a:ext>
                </a:extLst>
              </a:tr>
              <a:tr h="1525711">
                <a:tc gridSpan="6">
                  <a:txBody>
                    <a:bodyPr/>
                    <a:lstStyle/>
                    <a:p>
                      <a:pPr algn="l" fontAlgn="ctr"/>
                      <a:r>
                        <a:rPr lang="zh-CN" altLang="en-US" sz="500" u="none" strike="noStrike" dirty="0">
                          <a:effectLst/>
                        </a:rPr>
                        <a:t>单据使用核心规范</a:t>
                      </a:r>
                      <a:br>
                        <a:rPr lang="zh-CN" altLang="en-US" sz="500" u="none" strike="noStrike" dirty="0">
                          <a:effectLst/>
                        </a:rPr>
                      </a:br>
                      <a:r>
                        <a:rPr lang="en-US" altLang="zh-CN" sz="500" u="none" strike="noStrike" dirty="0">
                          <a:effectLst/>
                        </a:rPr>
                        <a:t>1. </a:t>
                      </a:r>
                      <a:r>
                        <a:rPr lang="zh-CN" altLang="en-US" sz="500" u="none" strike="noStrike" dirty="0">
                          <a:effectLst/>
                        </a:rPr>
                        <a:t>全链路单据绑定要求：</a:t>
                      </a:r>
                      <a:br>
                        <a:rPr lang="zh-CN" altLang="en-US" sz="500" u="none" strike="noStrike" dirty="0">
                          <a:effectLst/>
                        </a:rPr>
                      </a:br>
                      <a:r>
                        <a:rPr lang="zh-CN" altLang="en-US" sz="500" u="none" strike="noStrike" dirty="0">
                          <a:effectLst/>
                        </a:rPr>
                        <a:t>本单据必须 </a:t>
                      </a:r>
                      <a:r>
                        <a:rPr lang="en-US" altLang="zh-CN" sz="500" u="none" strike="noStrike" dirty="0">
                          <a:effectLst/>
                        </a:rPr>
                        <a:t>1:1 </a:t>
                      </a:r>
                      <a:r>
                        <a:rPr lang="zh-CN" altLang="en-US" sz="500" u="none" strike="noStrike" dirty="0">
                          <a:effectLst/>
                        </a:rPr>
                        <a:t>绑定对应项目合同、销售订单 </a:t>
                      </a:r>
                      <a:r>
                        <a:rPr lang="en-US" altLang="zh-CN" sz="500" u="none" strike="noStrike" dirty="0">
                          <a:effectLst/>
                        </a:rPr>
                        <a:t>SO </a:t>
                      </a:r>
                      <a:r>
                        <a:rPr lang="zh-CN" altLang="en-US" sz="500" u="none" strike="noStrike" dirty="0">
                          <a:effectLst/>
                        </a:rPr>
                        <a:t>号、项目编号，确保预收款项与项目完全对应，严禁无项目、无合同申请预收。</a:t>
                      </a:r>
                      <a:br>
                        <a:rPr lang="zh-CN" altLang="en-US" sz="500" u="none" strike="noStrike" dirty="0">
                          <a:effectLst/>
                        </a:rPr>
                      </a:br>
                      <a:r>
                        <a:rPr lang="zh-CN" altLang="en-US" sz="500" u="none" strike="noStrike" dirty="0">
                          <a:effectLst/>
                        </a:rPr>
                        <a:t>单据审批完成后，需将申请单号、预收金额同步回填至对应项目台账、销售订单台账，实现项目全流程资金跟踪。</a:t>
                      </a:r>
                      <a:br>
                        <a:rPr lang="zh-CN" altLang="en-US" sz="500" u="none" strike="noStrike" dirty="0">
                          <a:effectLst/>
                        </a:rPr>
                      </a:br>
                      <a:r>
                        <a:rPr lang="zh-CN" altLang="en-US" sz="500" u="none" strike="noStrike" dirty="0">
                          <a:effectLst/>
                        </a:rPr>
                        <a:t>财务到账确认后，需将到账信息、凭证号同步更新至应收账龄分析表、销项发票管理台账，确保财务数据闭环。                                                                                                                        </a:t>
                      </a:r>
                      <a:r>
                        <a:rPr lang="en-US" altLang="zh-CN" sz="500" u="none" strike="noStrike" dirty="0">
                          <a:effectLst/>
                        </a:rPr>
                        <a:t>2. </a:t>
                      </a:r>
                      <a:r>
                        <a:rPr lang="zh-CN" altLang="en-US" sz="500" u="none" strike="noStrike" dirty="0">
                          <a:effectLst/>
                        </a:rPr>
                        <a:t>项目履约与预收匹配要求</a:t>
                      </a:r>
                      <a:br>
                        <a:rPr lang="zh-CN" altLang="en-US" sz="500" u="none" strike="noStrike" dirty="0">
                          <a:effectLst/>
                        </a:rPr>
                      </a:br>
                      <a:r>
                        <a:rPr lang="zh-CN" altLang="en-US" sz="500" u="none" strike="noStrike" dirty="0">
                          <a:effectLst/>
                        </a:rPr>
                        <a:t>预收款项必须与项目履约进度、合同约定的付款节点完全匹配，严禁超合同约定比例、超履约进度申请预收，避免客户投诉与履约风险。</a:t>
                      </a:r>
                      <a:br>
                        <a:rPr lang="zh-CN" altLang="en-US" sz="500" u="none" strike="noStrike" dirty="0">
                          <a:effectLst/>
                        </a:rPr>
                      </a:br>
                      <a:r>
                        <a:rPr lang="zh-CN" altLang="en-US" sz="500" u="none" strike="noStrike" dirty="0">
                          <a:effectLst/>
                        </a:rPr>
                        <a:t>申请单必须明确填写本次预收对应的项目阶段、履约义务，作为后续项目验收、应收核销、发票开具的核心依据。</a:t>
                      </a:r>
                      <a:br>
                        <a:rPr lang="zh-CN" altLang="en-US" sz="500" u="none" strike="noStrike" dirty="0">
                          <a:effectLst/>
                        </a:rPr>
                      </a:br>
                      <a:r>
                        <a:rPr lang="en-US" altLang="zh-CN" sz="500" u="none" strike="noStrike" dirty="0">
                          <a:effectLst/>
                        </a:rPr>
                        <a:t>3. </a:t>
                      </a:r>
                      <a:r>
                        <a:rPr lang="zh-CN" altLang="en-US" sz="500" u="none" strike="noStrike" dirty="0">
                          <a:effectLst/>
                        </a:rPr>
                        <a:t>财务核算与核销规范</a:t>
                      </a:r>
                      <a:br>
                        <a:rPr lang="zh-CN" altLang="en-US" sz="500" u="none" strike="noStrike" dirty="0">
                          <a:effectLst/>
                        </a:rPr>
                      </a:br>
                      <a:r>
                        <a:rPr lang="zh-CN" altLang="en-US" sz="500" u="none" strike="noStrike" dirty="0">
                          <a:effectLst/>
                        </a:rPr>
                        <a:t>财务收到预收款项后，需计入「预收账款」科目核算，不得直接确认收入，待项目履约完成、开具对应发票后，再按会计准则将预收账款核销转入主营业务收入。</a:t>
                      </a:r>
                      <a:br>
                        <a:rPr lang="zh-CN" altLang="en-US" sz="500" u="none" strike="noStrike" dirty="0">
                          <a:effectLst/>
                        </a:rPr>
                      </a:br>
                      <a:r>
                        <a:rPr lang="zh-CN" altLang="en-US" sz="500" u="none" strike="noStrike" dirty="0">
                          <a:effectLst/>
                        </a:rPr>
                        <a:t>核销时必须确保预收金额、发票金额、应收金额完全匹配，核销完成后需在单据回填栏完整填写核销信息，与财务凭证一一对应，确保账证、账实相符。</a:t>
                      </a:r>
                      <a:br>
                        <a:rPr lang="zh-CN" altLang="en-US" sz="500" u="none" strike="noStrike" dirty="0">
                          <a:effectLst/>
                        </a:rPr>
                      </a:br>
                      <a:r>
                        <a:rPr lang="zh-CN" altLang="en-US" sz="500" u="none" strike="noStrike" dirty="0">
                          <a:effectLst/>
                        </a:rPr>
                        <a:t>每月结账后，需对所有未核销的项目预收单进行全面核对，确保预收账款科目余额与单据汇总金额完全一致，避免长期挂账未核销风险。</a:t>
                      </a:r>
                      <a:br>
                        <a:rPr lang="zh-CN" altLang="en-US" sz="500" u="none" strike="noStrike" dirty="0">
                          <a:effectLst/>
                        </a:rPr>
                      </a:br>
                      <a:r>
                        <a:rPr lang="en-US" altLang="zh-CN" sz="500" u="none" strike="noStrike" dirty="0">
                          <a:effectLst/>
                        </a:rPr>
                        <a:t>4. </a:t>
                      </a:r>
                      <a:r>
                        <a:rPr lang="zh-CN" altLang="en-US" sz="500" u="none" strike="noStrike" dirty="0">
                          <a:effectLst/>
                        </a:rPr>
                        <a:t>单据管理与归档要求</a:t>
                      </a:r>
                      <a:br>
                        <a:rPr lang="zh-CN" altLang="en-US" sz="500" u="none" strike="noStrike" dirty="0">
                          <a:effectLst/>
                        </a:rPr>
                      </a:br>
                      <a:r>
                        <a:rPr lang="zh-CN" altLang="en-US" sz="500" u="none" strike="noStrike" dirty="0">
                          <a:effectLst/>
                        </a:rPr>
                        <a:t>本单据需连续编号，一式四联（申请部门联、项目管理联、财务联、客户联），审批签字齐全后方可生效，严禁无审批申请预收。</a:t>
                      </a:r>
                      <a:br>
                        <a:rPr lang="zh-CN" altLang="en-US" sz="500" u="none" strike="noStrike" dirty="0">
                          <a:effectLst/>
                        </a:rPr>
                      </a:br>
                      <a:r>
                        <a:rPr lang="zh-CN" altLang="en-US" sz="500" u="none" strike="noStrike" dirty="0">
                          <a:effectLst/>
                        </a:rPr>
                        <a:t>单据需与对应项目合同、销售订单、到账凭证、核销凭证、发票一同装订归档，保存期限不低于 </a:t>
                      </a:r>
                      <a:r>
                        <a:rPr lang="en-US" altLang="zh-CN" sz="500" u="none" strike="noStrike" dirty="0">
                          <a:effectLst/>
                        </a:rPr>
                        <a:t>10 </a:t>
                      </a:r>
                      <a:r>
                        <a:rPr lang="zh-CN" altLang="en-US" sz="500" u="none" strike="noStrike" dirty="0">
                          <a:effectLst/>
                        </a:rPr>
                        <a:t>年，符合财务档案与项目管理要求。</a:t>
                      </a:r>
                      <a:br>
                        <a:rPr lang="zh-CN" altLang="en-US" sz="500" u="none" strike="noStrike" dirty="0">
                          <a:effectLst/>
                        </a:rPr>
                      </a:br>
                      <a:r>
                        <a:rPr lang="en-US" altLang="zh-CN" sz="500" u="none" strike="noStrike" dirty="0">
                          <a:effectLst/>
                        </a:rPr>
                        <a:t>5. Excel </a:t>
                      </a:r>
                      <a:r>
                        <a:rPr lang="zh-CN" altLang="en-US" sz="500" u="none" strike="noStrike" dirty="0">
                          <a:effectLst/>
                        </a:rPr>
                        <a:t>优化技巧</a:t>
                      </a:r>
                      <a:br>
                        <a:rPr lang="zh-CN" altLang="en-US" sz="500" u="none" strike="noStrike" dirty="0">
                          <a:effectLst/>
                        </a:rPr>
                      </a:br>
                      <a:r>
                        <a:rPr lang="zh-CN" altLang="en-US" sz="500" u="none" strike="noStrike" dirty="0">
                          <a:effectLst/>
                        </a:rPr>
                        <a:t>复制到 </a:t>
                      </a:r>
                      <a:r>
                        <a:rPr lang="en-US" altLang="zh-CN" sz="500" u="none" strike="noStrike" dirty="0">
                          <a:effectLst/>
                        </a:rPr>
                        <a:t>Excel </a:t>
                      </a:r>
                      <a:r>
                        <a:rPr lang="zh-CN" altLang="en-US" sz="500" u="none" strike="noStrike" dirty="0">
                          <a:effectLst/>
                        </a:rPr>
                        <a:t>后，对「金额」列设置数值格式（保留 </a:t>
                      </a:r>
                      <a:r>
                        <a:rPr lang="en-US" altLang="zh-CN" sz="500" u="none" strike="noStrike" dirty="0">
                          <a:effectLst/>
                        </a:rPr>
                        <a:t>2 </a:t>
                      </a:r>
                      <a:r>
                        <a:rPr lang="zh-CN" altLang="en-US" sz="500" u="none" strike="noStrike" dirty="0">
                          <a:effectLst/>
                        </a:rPr>
                        <a:t>位小数、千分位分隔），对「日期」列设置标准日期格式，对表头行设置冻结窗格，提升单据填写与查看效率。</a:t>
                      </a:r>
                      <a:br>
                        <a:rPr lang="zh-CN" altLang="en-US" sz="500" u="none" strike="noStrike" dirty="0">
                          <a:effectLst/>
                        </a:rPr>
                      </a:br>
                      <a:r>
                        <a:rPr lang="zh-CN" altLang="en-US" sz="500" u="none" strike="noStrike" dirty="0">
                          <a:effectLst/>
                        </a:rPr>
                        <a:t>可通过 </a:t>
                      </a:r>
                      <a:r>
                        <a:rPr lang="en-US" altLang="zh-CN" sz="500" u="none" strike="noStrike" dirty="0">
                          <a:effectLst/>
                        </a:rPr>
                        <a:t>Excel</a:t>
                      </a:r>
                      <a:r>
                        <a:rPr lang="zh-CN" altLang="en-US" sz="500" u="none" strike="noStrike" dirty="0">
                          <a:effectLst/>
                        </a:rPr>
                        <a:t>「</a:t>
                      </a:r>
                      <a:r>
                        <a:rPr lang="en-US" altLang="zh-CN" sz="500" u="none" strike="noStrike" dirty="0">
                          <a:effectLst/>
                        </a:rPr>
                        <a:t>VLOOKUP </a:t>
                      </a:r>
                      <a:r>
                        <a:rPr lang="zh-CN" altLang="en-US" sz="500" u="none" strike="noStrike" dirty="0">
                          <a:effectLst/>
                        </a:rPr>
                        <a:t>函数」，直接从项目台账、客户信息台账、销售订单台账中匹配项目名称、客户信息、合同金额等基础数据，避免手动录入错误。</a:t>
                      </a:r>
                      <a:br>
                        <a:rPr lang="zh-CN" altLang="en-US" sz="500" u="none" strike="noStrike" dirty="0">
                          <a:effectLst/>
                        </a:rPr>
                      </a:br>
                      <a:r>
                        <a:rPr lang="zh-CN" altLang="en-US" sz="500" u="none" strike="noStrike" dirty="0">
                          <a:effectLst/>
                        </a:rPr>
                        <a:t>可新增「预收状态列」，通过条件格式设置自动更新状态：「待审批」「审批通过」「已到账」「已核销」，实现项目预收全流程状态可视化管理。</a:t>
                      </a:r>
                      <a:endParaRPr lang="zh-CN" altLang="en-US" sz="500" b="0" i="0" u="none" strike="noStrike" dirty="0">
                        <a:solidFill>
                          <a:srgbClr val="000000"/>
                        </a:solidFill>
                        <a:effectLst/>
                        <a:latin typeface="等线" panose="02010600030101010101" pitchFamily="2" charset="-122"/>
                        <a:ea typeface="等线" panose="02010600030101010101" pitchFamily="2" charset="-122"/>
                      </a:endParaRPr>
                    </a:p>
                  </a:txBody>
                  <a:tcPr marL="4244" marR="4244" marT="424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82518616"/>
                  </a:ext>
                </a:extLst>
              </a:tr>
            </a:tbl>
          </a:graphicData>
        </a:graphic>
      </p:graphicFrame>
    </p:spTree>
    <p:extLst>
      <p:ext uri="{BB962C8B-B14F-4D97-AF65-F5344CB8AC3E}">
        <p14:creationId xmlns:p14="http://schemas.microsoft.com/office/powerpoint/2010/main" val="2096572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07B4855-C67C-4A76-82DC-FAEE835275AD}"/>
              </a:ext>
            </a:extLst>
          </p:cNvPr>
          <p:cNvSpPr txBox="1"/>
          <p:nvPr/>
        </p:nvSpPr>
        <p:spPr>
          <a:xfrm>
            <a:off x="47328" y="44624"/>
            <a:ext cx="5328592" cy="461665"/>
          </a:xfrm>
          <a:prstGeom prst="rect">
            <a:avLst/>
          </a:prstGeom>
          <a:solidFill>
            <a:srgbClr val="FFFF00"/>
          </a:solidFill>
        </p:spPr>
        <p:txBody>
          <a:bodyPr wrap="square" rtlCol="0">
            <a:spAutoFit/>
          </a:bodyPr>
          <a:lstStyle/>
          <a:p>
            <a:r>
              <a:rPr lang="zh-CN" altLang="en-US" sz="2400" b="1" dirty="0">
                <a:solidFill>
                  <a:srgbClr val="FF0000"/>
                </a:solidFill>
              </a:rPr>
              <a:t>应收账款明细表（台账）</a:t>
            </a:r>
            <a:r>
              <a:rPr lang="en-US" altLang="zh-CN" sz="2400" b="1" dirty="0">
                <a:solidFill>
                  <a:srgbClr val="FF0000"/>
                </a:solidFill>
              </a:rPr>
              <a:t>3-8</a:t>
            </a:r>
            <a:endParaRPr lang="zh-CN" altLang="en-US" sz="2400" b="1" dirty="0">
              <a:solidFill>
                <a:srgbClr val="FF0000"/>
              </a:solidFill>
            </a:endParaRPr>
          </a:p>
        </p:txBody>
      </p:sp>
      <p:graphicFrame>
        <p:nvGraphicFramePr>
          <p:cNvPr id="6" name="表格 5">
            <a:extLst>
              <a:ext uri="{FF2B5EF4-FFF2-40B4-BE49-F238E27FC236}">
                <a16:creationId xmlns:a16="http://schemas.microsoft.com/office/drawing/2014/main" id="{2C5C1926-9630-43C5-86FA-E88C14C84775}"/>
              </a:ext>
            </a:extLst>
          </p:cNvPr>
          <p:cNvGraphicFramePr>
            <a:graphicFrameLocks noGrp="1"/>
          </p:cNvGraphicFramePr>
          <p:nvPr>
            <p:extLst>
              <p:ext uri="{D42A27DB-BD31-4B8C-83A1-F6EECF244321}">
                <p14:modId xmlns:p14="http://schemas.microsoft.com/office/powerpoint/2010/main" val="3781885359"/>
              </p:ext>
            </p:extLst>
          </p:nvPr>
        </p:nvGraphicFramePr>
        <p:xfrm>
          <a:off x="551384" y="578297"/>
          <a:ext cx="11089233" cy="5947045"/>
        </p:xfrm>
        <a:graphic>
          <a:graphicData uri="http://schemas.openxmlformats.org/drawingml/2006/table">
            <a:tbl>
              <a:tblPr>
                <a:tableStyleId>{5C22544A-7EE6-4342-B048-85BDC9FD1C3A}</a:tableStyleId>
              </a:tblPr>
              <a:tblGrid>
                <a:gridCol w="189094">
                  <a:extLst>
                    <a:ext uri="{9D8B030D-6E8A-4147-A177-3AD203B41FA5}">
                      <a16:colId xmlns:a16="http://schemas.microsoft.com/office/drawing/2014/main" val="2693267091"/>
                    </a:ext>
                  </a:extLst>
                </a:gridCol>
                <a:gridCol w="627281">
                  <a:extLst>
                    <a:ext uri="{9D8B030D-6E8A-4147-A177-3AD203B41FA5}">
                      <a16:colId xmlns:a16="http://schemas.microsoft.com/office/drawing/2014/main" val="2402343184"/>
                    </a:ext>
                  </a:extLst>
                </a:gridCol>
                <a:gridCol w="583643">
                  <a:extLst>
                    <a:ext uri="{9D8B030D-6E8A-4147-A177-3AD203B41FA5}">
                      <a16:colId xmlns:a16="http://schemas.microsoft.com/office/drawing/2014/main" val="1892471628"/>
                    </a:ext>
                  </a:extLst>
                </a:gridCol>
                <a:gridCol w="583643">
                  <a:extLst>
                    <a:ext uri="{9D8B030D-6E8A-4147-A177-3AD203B41FA5}">
                      <a16:colId xmlns:a16="http://schemas.microsoft.com/office/drawing/2014/main" val="16558716"/>
                    </a:ext>
                  </a:extLst>
                </a:gridCol>
                <a:gridCol w="452734">
                  <a:extLst>
                    <a:ext uri="{9D8B030D-6E8A-4147-A177-3AD203B41FA5}">
                      <a16:colId xmlns:a16="http://schemas.microsoft.com/office/drawing/2014/main" val="3301169475"/>
                    </a:ext>
                  </a:extLst>
                </a:gridCol>
                <a:gridCol w="480006">
                  <a:extLst>
                    <a:ext uri="{9D8B030D-6E8A-4147-A177-3AD203B41FA5}">
                      <a16:colId xmlns:a16="http://schemas.microsoft.com/office/drawing/2014/main" val="1727106747"/>
                    </a:ext>
                  </a:extLst>
                </a:gridCol>
                <a:gridCol w="450915">
                  <a:extLst>
                    <a:ext uri="{9D8B030D-6E8A-4147-A177-3AD203B41FA5}">
                      <a16:colId xmlns:a16="http://schemas.microsoft.com/office/drawing/2014/main" val="3421906365"/>
                    </a:ext>
                  </a:extLst>
                </a:gridCol>
                <a:gridCol w="407279">
                  <a:extLst>
                    <a:ext uri="{9D8B030D-6E8A-4147-A177-3AD203B41FA5}">
                      <a16:colId xmlns:a16="http://schemas.microsoft.com/office/drawing/2014/main" val="4230488222"/>
                    </a:ext>
                  </a:extLst>
                </a:gridCol>
                <a:gridCol w="516370">
                  <a:extLst>
                    <a:ext uri="{9D8B030D-6E8A-4147-A177-3AD203B41FA5}">
                      <a16:colId xmlns:a16="http://schemas.microsoft.com/office/drawing/2014/main" val="1564077867"/>
                    </a:ext>
                  </a:extLst>
                </a:gridCol>
                <a:gridCol w="518188">
                  <a:extLst>
                    <a:ext uri="{9D8B030D-6E8A-4147-A177-3AD203B41FA5}">
                      <a16:colId xmlns:a16="http://schemas.microsoft.com/office/drawing/2014/main" val="2718120420"/>
                    </a:ext>
                  </a:extLst>
                </a:gridCol>
                <a:gridCol w="538188">
                  <a:extLst>
                    <a:ext uri="{9D8B030D-6E8A-4147-A177-3AD203B41FA5}">
                      <a16:colId xmlns:a16="http://schemas.microsoft.com/office/drawing/2014/main" val="2557700338"/>
                    </a:ext>
                  </a:extLst>
                </a:gridCol>
                <a:gridCol w="421824">
                  <a:extLst>
                    <a:ext uri="{9D8B030D-6E8A-4147-A177-3AD203B41FA5}">
                      <a16:colId xmlns:a16="http://schemas.microsoft.com/office/drawing/2014/main" val="1914267889"/>
                    </a:ext>
                  </a:extLst>
                </a:gridCol>
                <a:gridCol w="450915">
                  <a:extLst>
                    <a:ext uri="{9D8B030D-6E8A-4147-A177-3AD203B41FA5}">
                      <a16:colId xmlns:a16="http://schemas.microsoft.com/office/drawing/2014/main" val="1391316670"/>
                    </a:ext>
                  </a:extLst>
                </a:gridCol>
                <a:gridCol w="516370">
                  <a:extLst>
                    <a:ext uri="{9D8B030D-6E8A-4147-A177-3AD203B41FA5}">
                      <a16:colId xmlns:a16="http://schemas.microsoft.com/office/drawing/2014/main" val="3670198134"/>
                    </a:ext>
                  </a:extLst>
                </a:gridCol>
                <a:gridCol w="452734">
                  <a:extLst>
                    <a:ext uri="{9D8B030D-6E8A-4147-A177-3AD203B41FA5}">
                      <a16:colId xmlns:a16="http://schemas.microsoft.com/office/drawing/2014/main" val="3229110088"/>
                    </a:ext>
                  </a:extLst>
                </a:gridCol>
                <a:gridCol w="407279">
                  <a:extLst>
                    <a:ext uri="{9D8B030D-6E8A-4147-A177-3AD203B41FA5}">
                      <a16:colId xmlns:a16="http://schemas.microsoft.com/office/drawing/2014/main" val="3460979722"/>
                    </a:ext>
                  </a:extLst>
                </a:gridCol>
                <a:gridCol w="414551">
                  <a:extLst>
                    <a:ext uri="{9D8B030D-6E8A-4147-A177-3AD203B41FA5}">
                      <a16:colId xmlns:a16="http://schemas.microsoft.com/office/drawing/2014/main" val="422085241"/>
                    </a:ext>
                  </a:extLst>
                </a:gridCol>
                <a:gridCol w="436368">
                  <a:extLst>
                    <a:ext uri="{9D8B030D-6E8A-4147-A177-3AD203B41FA5}">
                      <a16:colId xmlns:a16="http://schemas.microsoft.com/office/drawing/2014/main" val="2439537991"/>
                    </a:ext>
                  </a:extLst>
                </a:gridCol>
                <a:gridCol w="516370">
                  <a:extLst>
                    <a:ext uri="{9D8B030D-6E8A-4147-A177-3AD203B41FA5}">
                      <a16:colId xmlns:a16="http://schemas.microsoft.com/office/drawing/2014/main" val="1931066169"/>
                    </a:ext>
                  </a:extLst>
                </a:gridCol>
                <a:gridCol w="409096">
                  <a:extLst>
                    <a:ext uri="{9D8B030D-6E8A-4147-A177-3AD203B41FA5}">
                      <a16:colId xmlns:a16="http://schemas.microsoft.com/office/drawing/2014/main" val="2709604593"/>
                    </a:ext>
                  </a:extLst>
                </a:gridCol>
                <a:gridCol w="450915">
                  <a:extLst>
                    <a:ext uri="{9D8B030D-6E8A-4147-A177-3AD203B41FA5}">
                      <a16:colId xmlns:a16="http://schemas.microsoft.com/office/drawing/2014/main" val="3734814424"/>
                    </a:ext>
                  </a:extLst>
                </a:gridCol>
                <a:gridCol w="589098">
                  <a:extLst>
                    <a:ext uri="{9D8B030D-6E8A-4147-A177-3AD203B41FA5}">
                      <a16:colId xmlns:a16="http://schemas.microsoft.com/office/drawing/2014/main" val="643867606"/>
                    </a:ext>
                  </a:extLst>
                </a:gridCol>
                <a:gridCol w="676372">
                  <a:extLst>
                    <a:ext uri="{9D8B030D-6E8A-4147-A177-3AD203B41FA5}">
                      <a16:colId xmlns:a16="http://schemas.microsoft.com/office/drawing/2014/main" val="3454623269"/>
                    </a:ext>
                  </a:extLst>
                </a:gridCol>
              </a:tblGrid>
              <a:tr h="312659">
                <a:tc gridSpan="23">
                  <a:txBody>
                    <a:bodyPr/>
                    <a:lstStyle/>
                    <a:p>
                      <a:pPr algn="ctr" fontAlgn="ctr"/>
                      <a:r>
                        <a:rPr lang="zh-CN" altLang="en-US" sz="500" u="none" strike="noStrike">
                          <a:effectLst/>
                        </a:rPr>
                        <a:t>应收账款台账（全流程管理）</a:t>
                      </a:r>
                      <a:endParaRPr lang="zh-CN" altLang="en-US" sz="5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10259215"/>
                  </a:ext>
                </a:extLst>
              </a:tr>
              <a:tr h="312659">
                <a:tc gridSpan="5">
                  <a:txBody>
                    <a:bodyPr/>
                    <a:lstStyle/>
                    <a:p>
                      <a:pPr algn="l" fontAlgn="ctr"/>
                      <a:r>
                        <a:rPr lang="zh-CN" altLang="en-US" sz="400" u="none" strike="noStrike" dirty="0">
                          <a:effectLst/>
                        </a:rPr>
                        <a:t>统计年度：</a:t>
                      </a:r>
                      <a:r>
                        <a:rPr lang="en-US" altLang="zh-CN" sz="400" u="none" strike="noStrike" dirty="0">
                          <a:effectLst/>
                        </a:rPr>
                        <a:t>__________     </a:t>
                      </a:r>
                      <a:r>
                        <a:rPr lang="zh-CN" altLang="en-US" sz="400" u="none" strike="noStrike" dirty="0">
                          <a:effectLst/>
                        </a:rPr>
                        <a:t>年 </a:t>
                      </a:r>
                      <a:endParaRPr lang="zh-CN" altLang="en-US" sz="400" b="0" i="0" u="none" strike="noStrike" dirty="0">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400" u="none" strike="noStrike">
                          <a:effectLst/>
                        </a:rPr>
                        <a:t>所属统计期间：</a:t>
                      </a:r>
                      <a:r>
                        <a:rPr lang="en-US" altLang="zh-CN" sz="400" u="none" strike="noStrike">
                          <a:effectLst/>
                        </a:rPr>
                        <a:t>________  </a:t>
                      </a:r>
                      <a:r>
                        <a:rPr lang="zh-CN" altLang="en-US" sz="400" u="none" strike="noStrike">
                          <a:effectLst/>
                        </a:rPr>
                        <a:t>月</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400" u="none" strike="noStrike">
                          <a:effectLst/>
                        </a:rPr>
                        <a:t> 制表人：</a:t>
                      </a:r>
                      <a:r>
                        <a:rPr lang="en-US" altLang="zh-CN" sz="400" u="none" strike="noStrike">
                          <a:effectLst/>
                        </a:rPr>
                        <a:t>________________  </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400" u="none" strike="noStrike">
                          <a:effectLst/>
                        </a:rPr>
                        <a:t>复核人：</a:t>
                      </a:r>
                      <a:r>
                        <a:rPr lang="en-US" altLang="zh-CN" sz="400" u="none" strike="noStrike">
                          <a:effectLst/>
                        </a:rPr>
                        <a:t>_______________ </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400" u="none" strike="noStrike">
                          <a:effectLst/>
                        </a:rPr>
                        <a:t> 金额单位：元</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78333520"/>
                  </a:ext>
                </a:extLst>
              </a:tr>
              <a:tr h="312659">
                <a:tc>
                  <a:txBody>
                    <a:bodyPr/>
                    <a:lstStyle/>
                    <a:p>
                      <a:pPr algn="ctr" fontAlgn="ctr"/>
                      <a:r>
                        <a:rPr lang="zh-CN" altLang="en-US" sz="400" u="none" strike="noStrike">
                          <a:effectLst/>
                        </a:rPr>
                        <a:t>序号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客户名称</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客户编码</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对应销售订单 </a:t>
                      </a:r>
                      <a:r>
                        <a:rPr lang="en-US" altLang="zh-CN" sz="400" u="none" strike="noStrike">
                          <a:effectLst/>
                        </a:rPr>
                        <a:t>SO </a:t>
                      </a:r>
                      <a:r>
                        <a:rPr lang="zh-CN" altLang="en-US" sz="400" u="none" strike="noStrike">
                          <a:effectLst/>
                        </a:rPr>
                        <a:t>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对应出库单号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发票号码</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开票日期</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应收确认日期</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合同含税总金额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不含税收入金额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增值税销项税额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累计回款金额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末次回款日期</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对应回款凭证号</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应收账面余额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账龄天数</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账龄区间</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坏账计提比例</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应计提坏账准备</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期末应收净额</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回款状态</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最新催收情况</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备注（业务员）</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1286898600"/>
                  </a:ext>
                </a:extLst>
              </a:tr>
              <a:tr h="312659">
                <a:tc>
                  <a:txBody>
                    <a:bodyPr/>
                    <a:lstStyle/>
                    <a:p>
                      <a:pPr algn="ctr" fontAlgn="ctr"/>
                      <a:r>
                        <a:rPr lang="en-US" altLang="zh-CN" sz="400" u="none" strike="noStrike">
                          <a:effectLst/>
                        </a:rPr>
                        <a:t>1</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562855494"/>
                  </a:ext>
                </a:extLst>
              </a:tr>
              <a:tr h="312659">
                <a:tc>
                  <a:txBody>
                    <a:bodyPr/>
                    <a:lstStyle/>
                    <a:p>
                      <a:pPr algn="ctr" fontAlgn="ctr"/>
                      <a:r>
                        <a:rPr lang="en-US" altLang="zh-CN" sz="400" u="none" strike="noStrike">
                          <a:effectLst/>
                        </a:rPr>
                        <a:t>2</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1439616434"/>
                  </a:ext>
                </a:extLst>
              </a:tr>
              <a:tr h="312659">
                <a:tc>
                  <a:txBody>
                    <a:bodyPr/>
                    <a:lstStyle/>
                    <a:p>
                      <a:pPr algn="ctr" fontAlgn="ctr"/>
                      <a:r>
                        <a:rPr lang="en-US" altLang="zh-CN" sz="400" u="none" strike="noStrike">
                          <a:effectLst/>
                        </a:rPr>
                        <a:t>3</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2590073657"/>
                  </a:ext>
                </a:extLst>
              </a:tr>
              <a:tr h="312659">
                <a:tc>
                  <a:txBody>
                    <a:bodyPr/>
                    <a:lstStyle/>
                    <a:p>
                      <a:pPr algn="ctr" fontAlgn="ctr"/>
                      <a:r>
                        <a:rPr lang="en-US" altLang="zh-CN" sz="400" u="none" strike="noStrike">
                          <a:effectLst/>
                        </a:rPr>
                        <a:t>4</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600687840"/>
                  </a:ext>
                </a:extLst>
              </a:tr>
              <a:tr h="312659">
                <a:tc>
                  <a:txBody>
                    <a:bodyPr/>
                    <a:lstStyle/>
                    <a:p>
                      <a:pPr algn="ctr" fontAlgn="ctr"/>
                      <a:r>
                        <a:rPr lang="en-US" altLang="zh-CN" sz="400" u="none" strike="noStrike">
                          <a:effectLst/>
                        </a:rPr>
                        <a:t>5</a:t>
                      </a:r>
                      <a:endParaRPr lang="en-US" altLang="zh-CN"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2989974972"/>
                  </a:ext>
                </a:extLst>
              </a:tr>
              <a:tr h="312659">
                <a:tc>
                  <a:txBody>
                    <a:bodyPr/>
                    <a:lstStyle/>
                    <a:p>
                      <a:pPr algn="ctr" fontAlgn="ct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2883170238"/>
                  </a:ext>
                </a:extLst>
              </a:tr>
              <a:tr h="312659">
                <a:tc>
                  <a:txBody>
                    <a:bodyPr/>
                    <a:lstStyle/>
                    <a:p>
                      <a:pPr algn="ctr" fontAlgn="ctr"/>
                      <a:r>
                        <a:rPr lang="zh-CN" altLang="en-US" sz="400" u="none" strike="noStrike">
                          <a:effectLst/>
                        </a:rPr>
                        <a:t>合计</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tc>
                  <a:txBody>
                    <a:bodyPr/>
                    <a:lstStyle/>
                    <a:p>
                      <a:pPr algn="ctr" fontAlgn="ctr"/>
                      <a:r>
                        <a:rPr lang="zh-CN" altLang="en-US" sz="400" u="none" strike="noStrike">
                          <a:effectLst/>
                        </a:rPr>
                        <a:t>　</a:t>
                      </a:r>
                      <a:endParaRPr lang="zh-CN" altLang="en-US" sz="400" b="0" i="0" u="none" strike="noStrike">
                        <a:solidFill>
                          <a:srgbClr val="000000"/>
                        </a:solidFill>
                        <a:effectLst/>
                        <a:latin typeface="等线" panose="02010600030101010101" pitchFamily="2" charset="-122"/>
                        <a:ea typeface="等线" panose="02010600030101010101" pitchFamily="2" charset="-122"/>
                      </a:endParaRPr>
                    </a:p>
                  </a:txBody>
                  <a:tcPr marL="3348" marR="3348" marT="3348" marB="0" anchor="ctr"/>
                </a:tc>
                <a:extLst>
                  <a:ext uri="{0D108BD9-81ED-4DB2-BD59-A6C34878D82A}">
                    <a16:rowId xmlns:a16="http://schemas.microsoft.com/office/drawing/2014/main" val="791835647"/>
                  </a:ext>
                </a:extLst>
              </a:tr>
              <a:tr h="2820455">
                <a:tc gridSpan="23">
                  <a:txBody>
                    <a:bodyPr/>
                    <a:lstStyle/>
                    <a:p>
                      <a:pPr algn="l" fontAlgn="ctr"/>
                      <a:r>
                        <a:rPr lang="zh-CN" altLang="en-US" sz="400" u="none" strike="noStrike" dirty="0">
                          <a:effectLst/>
                        </a:rPr>
                        <a:t>填写与使用核心规范</a:t>
                      </a:r>
                      <a:br>
                        <a:rPr lang="zh-CN" altLang="en-US" sz="400" u="none" strike="noStrike" dirty="0">
                          <a:effectLst/>
                        </a:rPr>
                      </a:br>
                      <a:r>
                        <a:rPr lang="zh-CN" altLang="en-US" sz="400" u="none" strike="noStrike" dirty="0">
                          <a:effectLst/>
                        </a:rPr>
                        <a:t>一、核心核算规则（与会计准则、税务要求完全统一）</a:t>
                      </a:r>
                      <a:br>
                        <a:rPr lang="zh-CN" altLang="en-US" sz="400" u="none" strike="noStrike" dirty="0">
                          <a:effectLst/>
                        </a:rPr>
                      </a:br>
                      <a:r>
                        <a:rPr lang="zh-CN" altLang="en-US" sz="400" u="none" strike="noStrike" dirty="0">
                          <a:effectLst/>
                        </a:rPr>
                        <a:t>应收确认规则：应收确认日期必须与收入确认日、销售开票日完全一致，符合</a:t>
                      </a:r>
                      <a:r>
                        <a:rPr lang="en-US" altLang="zh-CN" sz="400" u="none" strike="noStrike" dirty="0">
                          <a:effectLst/>
                        </a:rPr>
                        <a:t>《</a:t>
                      </a:r>
                      <a:r>
                        <a:rPr lang="zh-CN" altLang="en-US" sz="400" u="none" strike="noStrike" dirty="0">
                          <a:effectLst/>
                        </a:rPr>
                        <a:t>企业会计准则第 </a:t>
                      </a:r>
                      <a:r>
                        <a:rPr lang="en-US" altLang="zh-CN" sz="400" u="none" strike="noStrike" dirty="0">
                          <a:effectLst/>
                        </a:rPr>
                        <a:t>14 </a:t>
                      </a:r>
                      <a:r>
                        <a:rPr lang="zh-CN" altLang="en-US" sz="400" u="none" strike="noStrike" dirty="0">
                          <a:effectLst/>
                        </a:rPr>
                        <a:t>号 </a:t>
                      </a:r>
                      <a:r>
                        <a:rPr lang="en-US" altLang="zh-CN" sz="400" u="none" strike="noStrike" dirty="0">
                          <a:effectLst/>
                        </a:rPr>
                        <a:t>—— </a:t>
                      </a:r>
                      <a:r>
                        <a:rPr lang="zh-CN" altLang="en-US" sz="400" u="none" strike="noStrike" dirty="0">
                          <a:effectLst/>
                        </a:rPr>
                        <a:t>收入</a:t>
                      </a:r>
                      <a:r>
                        <a:rPr lang="en-US" altLang="zh-CN" sz="400" u="none" strike="noStrike" dirty="0">
                          <a:effectLst/>
                        </a:rPr>
                        <a:t>》</a:t>
                      </a:r>
                      <a:r>
                        <a:rPr lang="zh-CN" altLang="en-US" sz="400" u="none" strike="noStrike" dirty="0">
                          <a:effectLst/>
                        </a:rPr>
                        <a:t>要求；应收含税总金额必须与销项发票票面含税金额、销售订单约定金额完全一致，确保账证、账实相符。</a:t>
                      </a:r>
                      <a:br>
                        <a:rPr lang="zh-CN" altLang="en-US" sz="400" u="none" strike="noStrike" dirty="0">
                          <a:effectLst/>
                        </a:rPr>
                      </a:br>
                      <a:r>
                        <a:rPr lang="zh-CN" altLang="en-US" sz="400" u="none" strike="noStrike" dirty="0">
                          <a:effectLst/>
                        </a:rPr>
                        <a:t>账龄计算标准：账龄天数 </a:t>
                      </a:r>
                      <a:r>
                        <a:rPr lang="en-US" altLang="zh-CN" sz="400" u="none" strike="noStrike" dirty="0">
                          <a:effectLst/>
                        </a:rPr>
                        <a:t>= </a:t>
                      </a:r>
                      <a:r>
                        <a:rPr lang="zh-CN" altLang="en-US" sz="400" u="none" strike="noStrike" dirty="0">
                          <a:effectLst/>
                        </a:rPr>
                        <a:t>统计截止日 </a:t>
                      </a:r>
                      <a:r>
                        <a:rPr lang="en-US" altLang="zh-CN" sz="400" u="none" strike="noStrike" dirty="0">
                          <a:effectLst/>
                        </a:rPr>
                        <a:t>- </a:t>
                      </a:r>
                      <a:r>
                        <a:rPr lang="zh-CN" altLang="en-US" sz="400" u="none" strike="noStrike" dirty="0">
                          <a:effectLst/>
                        </a:rPr>
                        <a:t>应收确认日，账龄区间划分与应收账龄分析表完全统一，确保数据可直接联动：同一客户多笔应收款，需按单笔应收分别计算账龄，不得合并按客户整体计算，确保账龄统计精准。</a:t>
                      </a:r>
                      <a:br>
                        <a:rPr lang="zh-CN" altLang="en-US" sz="400" u="none" strike="noStrike" dirty="0">
                          <a:effectLst/>
                        </a:rPr>
                      </a:br>
                      <a:r>
                        <a:rPr lang="zh-CN" altLang="en-US" sz="400" u="none" strike="noStrike" dirty="0">
                          <a:effectLst/>
                        </a:rPr>
                        <a:t>坏账准备计提规范：坏账计提比例与应收账龄分析表完全一致，通用企业会计准则参考比例：</a:t>
                      </a:r>
                      <a:r>
                        <a:rPr lang="en-US" altLang="zh-CN" sz="400" u="none" strike="noStrike" dirty="0">
                          <a:effectLst/>
                        </a:rPr>
                        <a:t>1 </a:t>
                      </a:r>
                      <a:r>
                        <a:rPr lang="zh-CN" altLang="en-US" sz="400" u="none" strike="noStrike" dirty="0">
                          <a:effectLst/>
                        </a:rPr>
                        <a:t>年以内 </a:t>
                      </a:r>
                      <a:r>
                        <a:rPr lang="en-US" altLang="zh-CN" sz="400" u="none" strike="noStrike" dirty="0">
                          <a:effectLst/>
                        </a:rPr>
                        <a:t>5%</a:t>
                      </a:r>
                      <a:r>
                        <a:rPr lang="zh-CN" altLang="en-US" sz="400" u="none" strike="noStrike" dirty="0">
                          <a:effectLst/>
                        </a:rPr>
                        <a:t>、</a:t>
                      </a:r>
                      <a:r>
                        <a:rPr lang="en-US" altLang="zh-CN" sz="400" u="none" strike="noStrike" dirty="0">
                          <a:effectLst/>
                        </a:rPr>
                        <a:t>1-2 </a:t>
                      </a:r>
                      <a:r>
                        <a:rPr lang="zh-CN" altLang="en-US" sz="400" u="none" strike="noStrike" dirty="0">
                          <a:effectLst/>
                        </a:rPr>
                        <a:t>年 </a:t>
                      </a:r>
                      <a:r>
                        <a:rPr lang="en-US" altLang="zh-CN" sz="400" u="none" strike="noStrike" dirty="0">
                          <a:effectLst/>
                        </a:rPr>
                        <a:t>10%</a:t>
                      </a:r>
                      <a:r>
                        <a:rPr lang="zh-CN" altLang="en-US" sz="400" u="none" strike="noStrike" dirty="0">
                          <a:effectLst/>
                        </a:rPr>
                        <a:t>、</a:t>
                      </a:r>
                      <a:r>
                        <a:rPr lang="en-US" altLang="zh-CN" sz="400" u="none" strike="noStrike" dirty="0">
                          <a:effectLst/>
                        </a:rPr>
                        <a:t>2-3 </a:t>
                      </a:r>
                      <a:r>
                        <a:rPr lang="zh-CN" altLang="en-US" sz="400" u="none" strike="noStrike" dirty="0">
                          <a:effectLst/>
                        </a:rPr>
                        <a:t>年 </a:t>
                      </a:r>
                      <a:r>
                        <a:rPr lang="en-US" altLang="zh-CN" sz="400" u="none" strike="noStrike" dirty="0">
                          <a:effectLst/>
                        </a:rPr>
                        <a:t>30%</a:t>
                      </a:r>
                      <a:r>
                        <a:rPr lang="zh-CN" altLang="en-US" sz="400" u="none" strike="noStrike" dirty="0">
                          <a:effectLst/>
                        </a:rPr>
                        <a:t>、</a:t>
                      </a:r>
                      <a:r>
                        <a:rPr lang="en-US" altLang="zh-CN" sz="400" u="none" strike="noStrike" dirty="0">
                          <a:effectLst/>
                        </a:rPr>
                        <a:t>3 </a:t>
                      </a:r>
                      <a:r>
                        <a:rPr lang="zh-CN" altLang="en-US" sz="400" u="none" strike="noStrike" dirty="0">
                          <a:effectLst/>
                        </a:rPr>
                        <a:t>年以上 </a:t>
                      </a:r>
                      <a:r>
                        <a:rPr lang="en-US" altLang="zh-CN" sz="400" u="none" strike="noStrike" dirty="0">
                          <a:effectLst/>
                        </a:rPr>
                        <a:t>50%-100%</a:t>
                      </a:r>
                      <a:r>
                        <a:rPr lang="zh-CN" altLang="en-US" sz="400" u="none" strike="noStrike" dirty="0">
                          <a:effectLst/>
                        </a:rPr>
                        <a:t>，可按公司实际坏账政策调整；应计提坏账准备 </a:t>
                      </a:r>
                      <a:r>
                        <a:rPr lang="en-US" altLang="zh-CN" sz="400" u="none" strike="noStrike" dirty="0">
                          <a:effectLst/>
                        </a:rPr>
                        <a:t>= </a:t>
                      </a:r>
                      <a:r>
                        <a:rPr lang="zh-CN" altLang="en-US" sz="400" u="none" strike="noStrike" dirty="0">
                          <a:effectLst/>
                        </a:rPr>
                        <a:t>应收账面余额 </a:t>
                      </a:r>
                      <a:r>
                        <a:rPr lang="en-US" altLang="zh-CN" sz="400" u="none" strike="noStrike" dirty="0">
                          <a:effectLst/>
                        </a:rPr>
                        <a:t>× </a:t>
                      </a:r>
                      <a:r>
                        <a:rPr lang="zh-CN" altLang="en-US" sz="400" u="none" strike="noStrike" dirty="0">
                          <a:effectLst/>
                        </a:rPr>
                        <a:t>对应计提比例；期末应收净额 </a:t>
                      </a:r>
                      <a:r>
                        <a:rPr lang="en-US" altLang="zh-CN" sz="400" u="none" strike="noStrike" dirty="0">
                          <a:effectLst/>
                        </a:rPr>
                        <a:t>= </a:t>
                      </a:r>
                      <a:r>
                        <a:rPr lang="zh-CN" altLang="en-US" sz="400" u="none" strike="noStrike" dirty="0">
                          <a:effectLst/>
                        </a:rPr>
                        <a:t>应收账面余额 </a:t>
                      </a:r>
                      <a:r>
                        <a:rPr lang="en-US" altLang="zh-CN" sz="400" u="none" strike="noStrike" dirty="0">
                          <a:effectLst/>
                        </a:rPr>
                        <a:t>- </a:t>
                      </a:r>
                      <a:r>
                        <a:rPr lang="zh-CN" altLang="en-US" sz="400" u="none" strike="noStrike" dirty="0">
                          <a:effectLst/>
                        </a:rPr>
                        <a:t>应计提坏账准备，计算结果必须与总账「坏账准备」科目余额完全一致。</a:t>
                      </a:r>
                      <a:br>
                        <a:rPr lang="zh-CN" altLang="en-US" sz="400" u="none" strike="noStrike" dirty="0">
                          <a:effectLst/>
                        </a:rPr>
                      </a:br>
                      <a:r>
                        <a:rPr lang="zh-CN" altLang="en-US" sz="400" u="none" strike="noStrike" dirty="0">
                          <a:effectLst/>
                        </a:rPr>
                        <a:t>数据闭环核对要求：每月结账后，台账应收账面余额合计必须与总账「应收账款」科目余额、销项发票管理台账未回款含税总金额、应收账龄分析表应收账面总余额完全一致，确保账表、账证、账实完全匹配。</a:t>
                      </a:r>
                      <a:br>
                        <a:rPr lang="zh-CN" altLang="en-US" sz="400" u="none" strike="noStrike" dirty="0">
                          <a:effectLst/>
                        </a:rPr>
                      </a:br>
                      <a:r>
                        <a:rPr lang="zh-CN" altLang="en-US" sz="400" u="none" strike="noStrike" dirty="0">
                          <a:effectLst/>
                        </a:rPr>
                        <a:t>二、管理与使用要求</a:t>
                      </a:r>
                      <a:br>
                        <a:rPr lang="zh-CN" altLang="en-US" sz="400" u="none" strike="noStrike" dirty="0">
                          <a:effectLst/>
                        </a:rPr>
                      </a:br>
                      <a:r>
                        <a:rPr lang="zh-CN" altLang="en-US" sz="400" u="none" strike="noStrike" dirty="0">
                          <a:effectLst/>
                        </a:rPr>
                        <a:t>全流程单据绑定：每笔应收款必须 </a:t>
                      </a:r>
                      <a:r>
                        <a:rPr lang="en-US" altLang="zh-CN" sz="400" u="none" strike="noStrike" dirty="0">
                          <a:effectLst/>
                        </a:rPr>
                        <a:t>1:1 </a:t>
                      </a:r>
                      <a:r>
                        <a:rPr lang="zh-CN" altLang="en-US" sz="400" u="none" strike="noStrike" dirty="0">
                          <a:effectLst/>
                        </a:rPr>
                        <a:t>绑定对应销售订单 </a:t>
                      </a:r>
                      <a:r>
                        <a:rPr lang="en-US" altLang="zh-CN" sz="400" u="none" strike="noStrike" dirty="0">
                          <a:effectLst/>
                        </a:rPr>
                        <a:t>SO </a:t>
                      </a:r>
                      <a:r>
                        <a:rPr lang="zh-CN" altLang="en-US" sz="400" u="none" strike="noStrike" dirty="0">
                          <a:effectLst/>
                        </a:rPr>
                        <a:t>号、出库单号、发票号码，确保业务单据全链路可追溯，严禁无订单、无出库、无发票的应收款入账。</a:t>
                      </a:r>
                      <a:br>
                        <a:rPr lang="zh-CN" altLang="en-US" sz="400" u="none" strike="noStrike" dirty="0">
                          <a:effectLst/>
                        </a:rPr>
                      </a:br>
                      <a:r>
                        <a:rPr lang="zh-CN" altLang="en-US" sz="400" u="none" strike="noStrike" dirty="0">
                          <a:effectLst/>
                        </a:rPr>
                        <a:t>回款跟踪与状态更新：回款状态分为「未回款、部分回款、全额回款」，每笔回款到账后，需立即更新累计回款金额、末次回款日期、对应回款凭证号，确保回款与应收款一一对应，实现「应收 </a:t>
                      </a:r>
                      <a:r>
                        <a:rPr lang="en-US" altLang="zh-CN" sz="400" u="none" strike="noStrike" dirty="0">
                          <a:effectLst/>
                        </a:rPr>
                        <a:t>- </a:t>
                      </a:r>
                      <a:r>
                        <a:rPr lang="zh-CN" altLang="en-US" sz="400" u="none" strike="noStrike" dirty="0">
                          <a:effectLst/>
                        </a:rPr>
                        <a:t>回款 </a:t>
                      </a:r>
                      <a:r>
                        <a:rPr lang="en-US" altLang="zh-CN" sz="400" u="none" strike="noStrike" dirty="0">
                          <a:effectLst/>
                        </a:rPr>
                        <a:t>- </a:t>
                      </a:r>
                      <a:r>
                        <a:rPr lang="zh-CN" altLang="en-US" sz="400" u="none" strike="noStrike" dirty="0">
                          <a:effectLst/>
                        </a:rPr>
                        <a:t>核销」全流程闭环管理。</a:t>
                      </a:r>
                      <a:br>
                        <a:rPr lang="zh-CN" altLang="en-US" sz="400" u="none" strike="noStrike" dirty="0">
                          <a:effectLst/>
                        </a:rPr>
                      </a:br>
                      <a:r>
                        <a:rPr lang="zh-CN" altLang="en-US" sz="400" u="none" strike="noStrike" dirty="0">
                          <a:effectLst/>
                        </a:rPr>
                        <a:t>逾期催收与风险管控：对超过约定账期的应收款，需在「最新催收情况」栏填写催收日期、催收方式、客户反馈、回款承诺，同步更新至应收账龄分析表，制定针对性催收计划；对 </a:t>
                      </a:r>
                      <a:r>
                        <a:rPr lang="en-US" altLang="zh-CN" sz="400" u="none" strike="noStrike" dirty="0">
                          <a:effectLst/>
                        </a:rPr>
                        <a:t>3 </a:t>
                      </a:r>
                      <a:r>
                        <a:rPr lang="zh-CN" altLang="en-US" sz="400" u="none" strike="noStrike" dirty="0">
                          <a:effectLst/>
                        </a:rPr>
                        <a:t>年以上、确认无法收回的应收款，需按公司审批流程完成坏账核销，同步更新台账与财务账务。</a:t>
                      </a:r>
                      <a:br>
                        <a:rPr lang="zh-CN" altLang="en-US" sz="400" u="none" strike="noStrike" dirty="0">
                          <a:effectLst/>
                        </a:rPr>
                      </a:br>
                      <a:r>
                        <a:rPr lang="zh-CN" altLang="en-US" sz="400" u="none" strike="noStrike" dirty="0">
                          <a:effectLst/>
                        </a:rPr>
                        <a:t>更新与归档要求：更新频率：建议每日更新回款数据，每月结账后完成全量数据核对与坏账计提，季度做全面客户风险复盘，年度做完整坏账减值测试</a:t>
                      </a:r>
                      <a:br>
                        <a:rPr lang="zh-CN" altLang="en-US" sz="400" u="none" strike="noStrike" dirty="0">
                          <a:effectLst/>
                        </a:rPr>
                      </a:br>
                      <a:r>
                        <a:rPr lang="zh-CN" altLang="en-US" sz="400" u="none" strike="noStrike" dirty="0">
                          <a:effectLst/>
                        </a:rPr>
                        <a:t>归档要求：每月台账需与财务凭证、销售订单、出库单、发票、回款凭证、催收记录一同装订归档，保存期限不低于 </a:t>
                      </a:r>
                      <a:r>
                        <a:rPr lang="en-US" altLang="zh-CN" sz="400" u="none" strike="noStrike" dirty="0">
                          <a:effectLst/>
                        </a:rPr>
                        <a:t>10 </a:t>
                      </a:r>
                      <a:r>
                        <a:rPr lang="zh-CN" altLang="en-US" sz="400" u="none" strike="noStrike" dirty="0">
                          <a:effectLst/>
                        </a:rPr>
                        <a:t>年，符合财务档案管理要求</a:t>
                      </a:r>
                      <a:br>
                        <a:rPr lang="zh-CN" altLang="en-US" sz="400" u="none" strike="noStrike" dirty="0">
                          <a:effectLst/>
                        </a:rPr>
                      </a:br>
                      <a:r>
                        <a:rPr lang="zh-CN" altLang="en-US" sz="400" u="none" strike="noStrike" dirty="0">
                          <a:effectLst/>
                        </a:rPr>
                        <a:t>三、</a:t>
                      </a:r>
                      <a:r>
                        <a:rPr lang="en-US" altLang="zh-CN" sz="400" u="none" strike="noStrike" dirty="0">
                          <a:effectLst/>
                        </a:rPr>
                        <a:t>Excel </a:t>
                      </a:r>
                      <a:r>
                        <a:rPr lang="zh-CN" altLang="en-US" sz="400" u="none" strike="noStrike" dirty="0">
                          <a:effectLst/>
                        </a:rPr>
                        <a:t>优化与使用技巧</a:t>
                      </a:r>
                      <a:br>
                        <a:rPr lang="zh-CN" altLang="en-US" sz="400" u="none" strike="noStrike" dirty="0">
                          <a:effectLst/>
                        </a:rPr>
                      </a:br>
                      <a:r>
                        <a:rPr lang="zh-CN" altLang="en-US" sz="400" u="none" strike="noStrike" dirty="0">
                          <a:effectLst/>
                        </a:rPr>
                        <a:t>格式标准化设置：复制到 </a:t>
                      </a:r>
                      <a:r>
                        <a:rPr lang="en-US" altLang="zh-CN" sz="400" u="none" strike="noStrike" dirty="0">
                          <a:effectLst/>
                        </a:rPr>
                        <a:t>Excel </a:t>
                      </a:r>
                      <a:r>
                        <a:rPr lang="zh-CN" altLang="en-US" sz="400" u="none" strike="noStrike" dirty="0">
                          <a:effectLst/>
                        </a:rPr>
                        <a:t>后，对「金额、税额」列设置数值格式（保留 </a:t>
                      </a:r>
                      <a:r>
                        <a:rPr lang="en-US" altLang="zh-CN" sz="400" u="none" strike="noStrike" dirty="0">
                          <a:effectLst/>
                        </a:rPr>
                        <a:t>2 </a:t>
                      </a:r>
                      <a:r>
                        <a:rPr lang="zh-CN" altLang="en-US" sz="400" u="none" strike="noStrike" dirty="0">
                          <a:effectLst/>
                        </a:rPr>
                        <a:t>位小数、千分位分隔），对「日期」列设置标准日期格式，对表头行设置冻结窗格，滚动查看长表时表头固定；对账龄区间、回款状态列设置居中对齐，提升表格可读性。</a:t>
                      </a:r>
                      <a:br>
                        <a:rPr lang="zh-CN" altLang="en-US" sz="400" u="none" strike="noStrike" dirty="0">
                          <a:effectLst/>
                        </a:rPr>
                      </a:br>
                      <a:r>
                        <a:rPr lang="zh-CN" altLang="en-US" sz="400" u="none" strike="noStrike" dirty="0">
                          <a:effectLst/>
                        </a:rPr>
                        <a:t>高效数据联动：可通过 </a:t>
                      </a:r>
                      <a:r>
                        <a:rPr lang="en-US" altLang="zh-CN" sz="400" u="none" strike="noStrike" dirty="0">
                          <a:effectLst/>
                        </a:rPr>
                        <a:t>Excel</a:t>
                      </a:r>
                      <a:r>
                        <a:rPr lang="zh-CN" altLang="en-US" sz="400" u="none" strike="noStrike" dirty="0">
                          <a:effectLst/>
                        </a:rPr>
                        <a:t>「</a:t>
                      </a:r>
                      <a:r>
                        <a:rPr lang="en-US" altLang="zh-CN" sz="400" u="none" strike="noStrike" dirty="0">
                          <a:effectLst/>
                        </a:rPr>
                        <a:t>VLOOKUP </a:t>
                      </a:r>
                      <a:r>
                        <a:rPr lang="zh-CN" altLang="en-US" sz="400" u="none" strike="noStrike" dirty="0">
                          <a:effectLst/>
                        </a:rPr>
                        <a:t>函数」，直接从销项发票管理台账、销售订单台账、客户信息台账中匹配客户名称、客户编码、订单信息、发票信息等基础数据，避免手动录入错误，实现数据一键联动更新。</a:t>
                      </a:r>
                      <a:br>
                        <a:rPr lang="zh-CN" altLang="en-US" sz="400" u="none" strike="noStrike" dirty="0">
                          <a:effectLst/>
                        </a:rPr>
                      </a:br>
                      <a:r>
                        <a:rPr lang="zh-CN" altLang="en-US" sz="400" u="none" strike="noStrike" dirty="0">
                          <a:effectLst/>
                        </a:rPr>
                        <a:t>风险预警可视化：新增「风险等级列」，通过 </a:t>
                      </a:r>
                      <a:r>
                        <a:rPr lang="en-US" altLang="zh-CN" sz="400" u="none" strike="noStrike" dirty="0">
                          <a:effectLst/>
                        </a:rPr>
                        <a:t>Excel </a:t>
                      </a:r>
                      <a:r>
                        <a:rPr lang="zh-CN" altLang="en-US" sz="400" u="none" strike="noStrike" dirty="0">
                          <a:effectLst/>
                        </a:rPr>
                        <a:t>条件格式设置自动预警：账期内未回款：绿色（低风险）；逾期≤</a:t>
                      </a:r>
                      <a:r>
                        <a:rPr lang="en-US" altLang="zh-CN" sz="400" u="none" strike="noStrike" dirty="0">
                          <a:effectLst/>
                        </a:rPr>
                        <a:t>30 </a:t>
                      </a:r>
                      <a:r>
                        <a:rPr lang="zh-CN" altLang="en-US" sz="400" u="none" strike="noStrike" dirty="0">
                          <a:effectLst/>
                        </a:rPr>
                        <a:t>天：黄色（中风险，需常规催收）；逾期 </a:t>
                      </a:r>
                      <a:r>
                        <a:rPr lang="en-US" altLang="zh-CN" sz="400" u="none" strike="noStrike" dirty="0">
                          <a:effectLst/>
                        </a:rPr>
                        <a:t>30-90 </a:t>
                      </a:r>
                      <a:r>
                        <a:rPr lang="zh-CN" altLang="en-US" sz="400" u="none" strike="noStrike" dirty="0">
                          <a:effectLst/>
                        </a:rPr>
                        <a:t>天：橙色（高风险，需重点催收）；逾期＞</a:t>
                      </a:r>
                      <a:r>
                        <a:rPr lang="en-US" altLang="zh-CN" sz="400" u="none" strike="noStrike" dirty="0">
                          <a:effectLst/>
                        </a:rPr>
                        <a:t>90 </a:t>
                      </a:r>
                      <a:r>
                        <a:rPr lang="zh-CN" altLang="en-US" sz="400" u="none" strike="noStrike" dirty="0">
                          <a:effectLst/>
                        </a:rPr>
                        <a:t>天：红色（极高风险，需启动法务预案）；实现逾期风险可视化，提升回款催收管理效率。</a:t>
                      </a:r>
                      <a:br>
                        <a:rPr lang="zh-CN" altLang="en-US" sz="400" u="none" strike="noStrike" dirty="0">
                          <a:effectLst/>
                        </a:rPr>
                      </a:br>
                      <a:r>
                        <a:rPr lang="zh-CN" altLang="en-US" sz="400" u="none" strike="noStrike" dirty="0">
                          <a:effectLst/>
                        </a:rPr>
                        <a:t>多维度统计分析：通过 </a:t>
                      </a:r>
                      <a:r>
                        <a:rPr lang="en-US" altLang="zh-CN" sz="400" u="none" strike="noStrike" dirty="0">
                          <a:effectLst/>
                        </a:rPr>
                        <a:t>Excel</a:t>
                      </a:r>
                      <a:r>
                        <a:rPr lang="zh-CN" altLang="en-US" sz="400" u="none" strike="noStrike" dirty="0">
                          <a:effectLst/>
                        </a:rPr>
                        <a:t>「数据透视表」功能，可一键实现：按客户维度统计应收余额、累计回款、逾期金额、坏账计提金额；按账龄区间统计整体应收结构、坏账风险敞口；按月度统计应收发生额、回款额、余额变动、坏账计提变动；满足财务核算、销售业绩考核、管理层汇报、经营决策的多维度数据需求。</a:t>
                      </a:r>
                      <a:endParaRPr lang="zh-CN" altLang="en-US" sz="400" b="0" i="0" u="none" strike="noStrike" dirty="0">
                        <a:solidFill>
                          <a:srgbClr val="000000"/>
                        </a:solidFill>
                        <a:effectLst/>
                        <a:latin typeface="等线" panose="02010600030101010101" pitchFamily="2" charset="-122"/>
                        <a:ea typeface="等线" panose="02010600030101010101" pitchFamily="2" charset="-122"/>
                      </a:endParaRPr>
                    </a:p>
                  </a:txBody>
                  <a:tcPr marL="3348" marR="3348" marT="334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40064121"/>
                  </a:ext>
                </a:extLst>
              </a:tr>
            </a:tbl>
          </a:graphicData>
        </a:graphic>
      </p:graphicFrame>
    </p:spTree>
    <p:extLst>
      <p:ext uri="{BB962C8B-B14F-4D97-AF65-F5344CB8AC3E}">
        <p14:creationId xmlns:p14="http://schemas.microsoft.com/office/powerpoint/2010/main" val="2664051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363FCB7-4E99-405C-B028-E750A7858E69}"/>
              </a:ext>
            </a:extLst>
          </p:cNvPr>
          <p:cNvSpPr txBox="1"/>
          <p:nvPr/>
        </p:nvSpPr>
        <p:spPr>
          <a:xfrm>
            <a:off x="119336" y="116632"/>
            <a:ext cx="3071664" cy="461665"/>
          </a:xfrm>
          <a:prstGeom prst="rect">
            <a:avLst/>
          </a:prstGeom>
          <a:solidFill>
            <a:srgbClr val="FFFF00"/>
          </a:solidFill>
        </p:spPr>
        <p:txBody>
          <a:bodyPr wrap="square" rtlCol="0">
            <a:spAutoFit/>
          </a:bodyPr>
          <a:lstStyle/>
          <a:p>
            <a:r>
              <a:rPr lang="zh-CN" altLang="en-US" sz="2400" b="1" dirty="0">
                <a:solidFill>
                  <a:srgbClr val="FF0000"/>
                </a:solidFill>
              </a:rPr>
              <a:t>应收账龄分析表</a:t>
            </a:r>
            <a:r>
              <a:rPr lang="en-US" altLang="zh-CN" sz="2400" b="1" dirty="0">
                <a:solidFill>
                  <a:srgbClr val="FF0000"/>
                </a:solidFill>
              </a:rPr>
              <a:t>3-9</a:t>
            </a:r>
            <a:endParaRPr lang="zh-CN" altLang="en-US" sz="2400" b="1" dirty="0">
              <a:solidFill>
                <a:srgbClr val="FF0000"/>
              </a:solidFill>
            </a:endParaRPr>
          </a:p>
        </p:txBody>
      </p:sp>
      <p:graphicFrame>
        <p:nvGraphicFramePr>
          <p:cNvPr id="5" name="表格 4">
            <a:extLst>
              <a:ext uri="{FF2B5EF4-FFF2-40B4-BE49-F238E27FC236}">
                <a16:creationId xmlns:a16="http://schemas.microsoft.com/office/drawing/2014/main" id="{C63108AD-05AD-44EB-837E-D1A8A0CA6E6C}"/>
              </a:ext>
            </a:extLst>
          </p:cNvPr>
          <p:cNvGraphicFramePr>
            <a:graphicFrameLocks noGrp="1"/>
          </p:cNvGraphicFramePr>
          <p:nvPr>
            <p:extLst>
              <p:ext uri="{D42A27DB-BD31-4B8C-83A1-F6EECF244321}">
                <p14:modId xmlns:p14="http://schemas.microsoft.com/office/powerpoint/2010/main" val="3429338867"/>
              </p:ext>
            </p:extLst>
          </p:nvPr>
        </p:nvGraphicFramePr>
        <p:xfrm>
          <a:off x="263352" y="692696"/>
          <a:ext cx="11449272" cy="5832651"/>
        </p:xfrm>
        <a:graphic>
          <a:graphicData uri="http://schemas.openxmlformats.org/drawingml/2006/table">
            <a:tbl>
              <a:tblPr>
                <a:tableStyleId>{5C22544A-7EE6-4342-B048-85BDC9FD1C3A}</a:tableStyleId>
              </a:tblPr>
              <a:tblGrid>
                <a:gridCol w="453877">
                  <a:extLst>
                    <a:ext uri="{9D8B030D-6E8A-4147-A177-3AD203B41FA5}">
                      <a16:colId xmlns:a16="http://schemas.microsoft.com/office/drawing/2014/main" val="3694842502"/>
                    </a:ext>
                  </a:extLst>
                </a:gridCol>
                <a:gridCol w="607395">
                  <a:extLst>
                    <a:ext uri="{9D8B030D-6E8A-4147-A177-3AD203B41FA5}">
                      <a16:colId xmlns:a16="http://schemas.microsoft.com/office/drawing/2014/main" val="2565612085"/>
                    </a:ext>
                  </a:extLst>
                </a:gridCol>
                <a:gridCol w="367107">
                  <a:extLst>
                    <a:ext uri="{9D8B030D-6E8A-4147-A177-3AD203B41FA5}">
                      <a16:colId xmlns:a16="http://schemas.microsoft.com/office/drawing/2014/main" val="257220685"/>
                    </a:ext>
                  </a:extLst>
                </a:gridCol>
                <a:gridCol w="569571">
                  <a:extLst>
                    <a:ext uri="{9D8B030D-6E8A-4147-A177-3AD203B41FA5}">
                      <a16:colId xmlns:a16="http://schemas.microsoft.com/office/drawing/2014/main" val="1996742626"/>
                    </a:ext>
                  </a:extLst>
                </a:gridCol>
                <a:gridCol w="453877">
                  <a:extLst>
                    <a:ext uri="{9D8B030D-6E8A-4147-A177-3AD203B41FA5}">
                      <a16:colId xmlns:a16="http://schemas.microsoft.com/office/drawing/2014/main" val="1640981861"/>
                    </a:ext>
                  </a:extLst>
                </a:gridCol>
                <a:gridCol w="453877">
                  <a:extLst>
                    <a:ext uri="{9D8B030D-6E8A-4147-A177-3AD203B41FA5}">
                      <a16:colId xmlns:a16="http://schemas.microsoft.com/office/drawing/2014/main" val="2749420324"/>
                    </a:ext>
                  </a:extLst>
                </a:gridCol>
                <a:gridCol w="453877">
                  <a:extLst>
                    <a:ext uri="{9D8B030D-6E8A-4147-A177-3AD203B41FA5}">
                      <a16:colId xmlns:a16="http://schemas.microsoft.com/office/drawing/2014/main" val="3132459238"/>
                    </a:ext>
                  </a:extLst>
                </a:gridCol>
                <a:gridCol w="453877">
                  <a:extLst>
                    <a:ext uri="{9D8B030D-6E8A-4147-A177-3AD203B41FA5}">
                      <a16:colId xmlns:a16="http://schemas.microsoft.com/office/drawing/2014/main" val="3882778716"/>
                    </a:ext>
                  </a:extLst>
                </a:gridCol>
                <a:gridCol w="453877">
                  <a:extLst>
                    <a:ext uri="{9D8B030D-6E8A-4147-A177-3AD203B41FA5}">
                      <a16:colId xmlns:a16="http://schemas.microsoft.com/office/drawing/2014/main" val="59224705"/>
                    </a:ext>
                  </a:extLst>
                </a:gridCol>
                <a:gridCol w="453877">
                  <a:extLst>
                    <a:ext uri="{9D8B030D-6E8A-4147-A177-3AD203B41FA5}">
                      <a16:colId xmlns:a16="http://schemas.microsoft.com/office/drawing/2014/main" val="1107095468"/>
                    </a:ext>
                  </a:extLst>
                </a:gridCol>
                <a:gridCol w="453877">
                  <a:extLst>
                    <a:ext uri="{9D8B030D-6E8A-4147-A177-3AD203B41FA5}">
                      <a16:colId xmlns:a16="http://schemas.microsoft.com/office/drawing/2014/main" val="985596733"/>
                    </a:ext>
                  </a:extLst>
                </a:gridCol>
                <a:gridCol w="453877">
                  <a:extLst>
                    <a:ext uri="{9D8B030D-6E8A-4147-A177-3AD203B41FA5}">
                      <a16:colId xmlns:a16="http://schemas.microsoft.com/office/drawing/2014/main" val="523184833"/>
                    </a:ext>
                  </a:extLst>
                </a:gridCol>
                <a:gridCol w="453877">
                  <a:extLst>
                    <a:ext uri="{9D8B030D-6E8A-4147-A177-3AD203B41FA5}">
                      <a16:colId xmlns:a16="http://schemas.microsoft.com/office/drawing/2014/main" val="477686433"/>
                    </a:ext>
                  </a:extLst>
                </a:gridCol>
                <a:gridCol w="525074">
                  <a:extLst>
                    <a:ext uri="{9D8B030D-6E8A-4147-A177-3AD203B41FA5}">
                      <a16:colId xmlns:a16="http://schemas.microsoft.com/office/drawing/2014/main" val="3156611165"/>
                    </a:ext>
                  </a:extLst>
                </a:gridCol>
                <a:gridCol w="527299">
                  <a:extLst>
                    <a:ext uri="{9D8B030D-6E8A-4147-A177-3AD203B41FA5}">
                      <a16:colId xmlns:a16="http://schemas.microsoft.com/office/drawing/2014/main" val="2424705271"/>
                    </a:ext>
                  </a:extLst>
                </a:gridCol>
                <a:gridCol w="453877">
                  <a:extLst>
                    <a:ext uri="{9D8B030D-6E8A-4147-A177-3AD203B41FA5}">
                      <a16:colId xmlns:a16="http://schemas.microsoft.com/office/drawing/2014/main" val="1404328139"/>
                    </a:ext>
                  </a:extLst>
                </a:gridCol>
                <a:gridCol w="453877">
                  <a:extLst>
                    <a:ext uri="{9D8B030D-6E8A-4147-A177-3AD203B41FA5}">
                      <a16:colId xmlns:a16="http://schemas.microsoft.com/office/drawing/2014/main" val="2519345528"/>
                    </a:ext>
                  </a:extLst>
                </a:gridCol>
                <a:gridCol w="453877">
                  <a:extLst>
                    <a:ext uri="{9D8B030D-6E8A-4147-A177-3AD203B41FA5}">
                      <a16:colId xmlns:a16="http://schemas.microsoft.com/office/drawing/2014/main" val="3106128641"/>
                    </a:ext>
                  </a:extLst>
                </a:gridCol>
                <a:gridCol w="453877">
                  <a:extLst>
                    <a:ext uri="{9D8B030D-6E8A-4147-A177-3AD203B41FA5}">
                      <a16:colId xmlns:a16="http://schemas.microsoft.com/office/drawing/2014/main" val="3545551537"/>
                    </a:ext>
                  </a:extLst>
                </a:gridCol>
                <a:gridCol w="525074">
                  <a:extLst>
                    <a:ext uri="{9D8B030D-6E8A-4147-A177-3AD203B41FA5}">
                      <a16:colId xmlns:a16="http://schemas.microsoft.com/office/drawing/2014/main" val="3343978363"/>
                    </a:ext>
                  </a:extLst>
                </a:gridCol>
                <a:gridCol w="447202">
                  <a:extLst>
                    <a:ext uri="{9D8B030D-6E8A-4147-A177-3AD203B41FA5}">
                      <a16:colId xmlns:a16="http://schemas.microsoft.com/office/drawing/2014/main" val="2167277329"/>
                    </a:ext>
                  </a:extLst>
                </a:gridCol>
                <a:gridCol w="447202">
                  <a:extLst>
                    <a:ext uri="{9D8B030D-6E8A-4147-A177-3AD203B41FA5}">
                      <a16:colId xmlns:a16="http://schemas.microsoft.com/office/drawing/2014/main" val="3308775732"/>
                    </a:ext>
                  </a:extLst>
                </a:gridCol>
                <a:gridCol w="447202">
                  <a:extLst>
                    <a:ext uri="{9D8B030D-6E8A-4147-A177-3AD203B41FA5}">
                      <a16:colId xmlns:a16="http://schemas.microsoft.com/office/drawing/2014/main" val="124237226"/>
                    </a:ext>
                  </a:extLst>
                </a:gridCol>
                <a:gridCol w="631868">
                  <a:extLst>
                    <a:ext uri="{9D8B030D-6E8A-4147-A177-3AD203B41FA5}">
                      <a16:colId xmlns:a16="http://schemas.microsoft.com/office/drawing/2014/main" val="2453095329"/>
                    </a:ext>
                  </a:extLst>
                </a:gridCol>
              </a:tblGrid>
              <a:tr h="302577">
                <a:tc gridSpan="24">
                  <a:txBody>
                    <a:bodyPr/>
                    <a:lstStyle/>
                    <a:p>
                      <a:pPr algn="ctr" fontAlgn="ctr"/>
                      <a:r>
                        <a:rPr lang="zh-CN" altLang="en-US" sz="500" u="none" strike="noStrike">
                          <a:effectLst/>
                        </a:rPr>
                        <a:t>应收账款账龄分析表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95747358"/>
                  </a:ext>
                </a:extLst>
              </a:tr>
              <a:tr h="302577">
                <a:tc gridSpan="4">
                  <a:txBody>
                    <a:bodyPr/>
                    <a:lstStyle/>
                    <a:p>
                      <a:pPr algn="l" fontAlgn="ctr"/>
                      <a:r>
                        <a:rPr lang="zh-CN" altLang="en-US" sz="500" u="none" strike="noStrike">
                          <a:effectLst/>
                        </a:rPr>
                        <a:t>统计截止日期：</a:t>
                      </a:r>
                      <a:r>
                        <a:rPr lang="en-US" altLang="zh-CN" sz="500" u="none" strike="noStrike">
                          <a:effectLst/>
                        </a:rPr>
                        <a:t>____</a:t>
                      </a:r>
                      <a:r>
                        <a:rPr lang="zh-CN" altLang="en-US" sz="500" u="none" strike="noStrike">
                          <a:effectLst/>
                        </a:rPr>
                        <a:t>年</a:t>
                      </a:r>
                      <a:r>
                        <a:rPr lang="en-US" altLang="zh-CN" sz="500" u="none" strike="noStrike">
                          <a:effectLst/>
                        </a:rPr>
                        <a:t>____</a:t>
                      </a:r>
                      <a:r>
                        <a:rPr lang="zh-CN" altLang="en-US" sz="500" u="none" strike="noStrike">
                          <a:effectLst/>
                        </a:rPr>
                        <a:t>月</a:t>
                      </a:r>
                      <a:r>
                        <a:rPr lang="en-US" altLang="zh-CN" sz="500" u="none" strike="noStrike">
                          <a:effectLst/>
                        </a:rPr>
                        <a:t>____</a:t>
                      </a:r>
                      <a:r>
                        <a:rPr lang="zh-CN" altLang="en-US" sz="500" u="none" strike="noStrike">
                          <a:effectLst/>
                        </a:rPr>
                        <a:t>日</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500" u="none" strike="noStrike">
                          <a:effectLst/>
                        </a:rPr>
                        <a:t>统计期间：</a:t>
                      </a:r>
                      <a:r>
                        <a:rPr lang="en-US" altLang="zh-CN" sz="500" u="none" strike="noStrike">
                          <a:effectLst/>
                        </a:rPr>
                        <a:t>_____</a:t>
                      </a:r>
                      <a:r>
                        <a:rPr lang="zh-CN" altLang="en-US" sz="500" u="none" strike="noStrike">
                          <a:effectLst/>
                        </a:rPr>
                        <a:t>年</a:t>
                      </a:r>
                      <a:r>
                        <a:rPr lang="en-US" altLang="zh-CN" sz="500" u="none" strike="noStrike">
                          <a:effectLst/>
                        </a:rPr>
                        <a:t>____</a:t>
                      </a:r>
                      <a:r>
                        <a:rPr lang="zh-CN" altLang="en-US" sz="500" u="none" strike="noStrike">
                          <a:effectLst/>
                        </a:rPr>
                        <a:t>月 至</a:t>
                      </a:r>
                      <a:r>
                        <a:rPr lang="en-US" altLang="zh-CN" sz="500" u="none" strike="noStrike">
                          <a:effectLst/>
                        </a:rPr>
                        <a:t>____ </a:t>
                      </a:r>
                      <a:r>
                        <a:rPr lang="zh-CN" altLang="en-US" sz="500" u="none" strike="noStrike">
                          <a:effectLst/>
                        </a:rPr>
                        <a:t>年</a:t>
                      </a:r>
                      <a:r>
                        <a:rPr lang="en-US" altLang="zh-CN" sz="500" u="none" strike="noStrike">
                          <a:effectLst/>
                        </a:rPr>
                        <a:t>____</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制表人：</a:t>
                      </a:r>
                      <a:r>
                        <a:rPr lang="en-US" altLang="zh-CN" sz="500" u="none" strike="noStrike">
                          <a:effectLst/>
                        </a:rPr>
                        <a:t>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复核人：</a:t>
                      </a:r>
                      <a:r>
                        <a:rPr lang="en-US" altLang="zh-CN" sz="500" u="none" strike="noStrike">
                          <a:effectLst/>
                        </a:rPr>
                        <a:t>________________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500" u="none" strike="noStrike">
                          <a:effectLst/>
                        </a:rPr>
                        <a:t>财务负责人：</a:t>
                      </a:r>
                      <a:r>
                        <a:rPr lang="en-US" altLang="zh-CN" sz="500" u="none" strike="noStrike">
                          <a:effectLst/>
                        </a:rPr>
                        <a:t>___________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单位：元</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06191477"/>
                  </a:ext>
                </a:extLst>
              </a:tr>
              <a:tr h="302577">
                <a:tc rowSpan="2">
                  <a:txBody>
                    <a:bodyPr/>
                    <a:lstStyle/>
                    <a:p>
                      <a:pPr algn="ctr" fontAlgn="ctr"/>
                      <a:r>
                        <a:rPr lang="zh-CN" altLang="en-US" sz="500" u="none" strike="noStrike">
                          <a:effectLst/>
                        </a:rPr>
                        <a:t>序号</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客户名称</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客户</a:t>
                      </a:r>
                      <a:br>
                        <a:rPr lang="zh-CN" altLang="en-US" sz="500" u="none" strike="noStrike">
                          <a:effectLst/>
                        </a:rPr>
                      </a:br>
                      <a:r>
                        <a:rPr lang="zh-CN" altLang="en-US" sz="500" u="none" strike="noStrike">
                          <a:effectLst/>
                        </a:rPr>
                        <a:t>等级</a:t>
                      </a:r>
                      <a:r>
                        <a:rPr lang="en-US" altLang="zh-CN" sz="500" u="none" strike="noStrike">
                          <a:effectLst/>
                        </a:rPr>
                        <a:t>/</a:t>
                      </a:r>
                      <a:r>
                        <a:rPr lang="zh-CN" altLang="en-US" sz="500" u="none" strike="noStrike">
                          <a:effectLst/>
                        </a:rPr>
                        <a:t>编码</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应收账款</a:t>
                      </a:r>
                      <a:br>
                        <a:rPr lang="zh-CN" altLang="en-US" sz="500" u="none" strike="noStrike">
                          <a:effectLst/>
                        </a:rPr>
                      </a:br>
                      <a:r>
                        <a:rPr lang="zh-CN" altLang="en-US" sz="500" u="none" strike="noStrike">
                          <a:effectLst/>
                        </a:rPr>
                        <a:t>账面余额</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gridSpan="4">
                  <a:txBody>
                    <a:bodyPr/>
                    <a:lstStyle/>
                    <a:p>
                      <a:pPr algn="ctr" fontAlgn="ctr"/>
                      <a:r>
                        <a:rPr lang="zh-CN" altLang="en-US" sz="500" u="none" strike="noStrike">
                          <a:effectLst/>
                        </a:rPr>
                        <a:t>未到期（按应收确认日起算）</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0">
                  <a:txBody>
                    <a:bodyPr/>
                    <a:lstStyle/>
                    <a:p>
                      <a:pPr algn="ctr" fontAlgn="ctr"/>
                      <a:r>
                        <a:rPr lang="zh-CN" altLang="en-US" sz="500" u="none" strike="noStrike">
                          <a:effectLst/>
                        </a:rPr>
                        <a:t>超期（按应收确认日起算）</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fontAlgn="ctr"/>
                      <a:r>
                        <a:rPr lang="zh-CN" altLang="en-US" sz="500" u="none" strike="noStrike">
                          <a:effectLst/>
                        </a:rPr>
                        <a:t>坏账准备计提比例</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应计提坏账准备</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期末应收净额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逾期核心原因</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最新回款计划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rowSpan="2">
                  <a:txBody>
                    <a:bodyPr/>
                    <a:lstStyle/>
                    <a:p>
                      <a:pPr algn="ctr" fontAlgn="ctr"/>
                      <a:r>
                        <a:rPr lang="zh-CN" altLang="en-US" sz="500" u="none" strike="noStrike">
                          <a:effectLst/>
                        </a:rPr>
                        <a:t>备注（（对应发票 </a:t>
                      </a:r>
                      <a:r>
                        <a:rPr lang="en-US" altLang="zh-CN" sz="500" u="none" strike="noStrike">
                          <a:effectLst/>
                        </a:rPr>
                        <a:t>/ </a:t>
                      </a:r>
                      <a:r>
                        <a:rPr lang="zh-CN" altLang="en-US" sz="500" u="none" strike="noStrike">
                          <a:effectLst/>
                        </a:rPr>
                        <a:t>销售订单号</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1186821974"/>
                  </a:ext>
                </a:extLst>
              </a:tr>
              <a:tr h="30257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en-US" altLang="zh-CN" sz="500" u="none" strike="noStrike">
                          <a:effectLst/>
                        </a:rPr>
                        <a:t>1</a:t>
                      </a:r>
                      <a:r>
                        <a:rPr lang="zh-CN" altLang="en-US" sz="500" u="none" strike="noStrike">
                          <a:effectLst/>
                        </a:rPr>
                        <a:t>个月内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altLang="zh-CN" sz="500" u="none" strike="noStrike">
                          <a:effectLst/>
                        </a:rPr>
                        <a:t>3</a:t>
                      </a:r>
                      <a:r>
                        <a:rPr lang="zh-CN" altLang="en-US" sz="500" u="none" strike="noStrike">
                          <a:effectLst/>
                        </a:rPr>
                        <a:t>个月内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超</a:t>
                      </a:r>
                      <a:r>
                        <a:rPr lang="en-US" altLang="zh-CN" sz="500" u="none" strike="noStrike">
                          <a:effectLst/>
                        </a:rPr>
                        <a:t>1</a:t>
                      </a:r>
                      <a:r>
                        <a:rPr lang="zh-CN" altLang="en-US" sz="500" u="none" strike="noStrike">
                          <a:effectLst/>
                        </a:rPr>
                        <a:t>月内</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超期</a:t>
                      </a:r>
                      <a:br>
                        <a:rPr lang="zh-CN" altLang="en-US" sz="500" u="none" strike="noStrike">
                          <a:effectLst/>
                        </a:rPr>
                      </a:br>
                      <a:r>
                        <a:rPr lang="en-US" altLang="zh-CN" sz="500" u="none" strike="noStrike">
                          <a:effectLst/>
                        </a:rPr>
                        <a:t>1-3</a:t>
                      </a:r>
                      <a:r>
                        <a:rPr lang="zh-CN" altLang="en-US" sz="500" u="none" strike="noStrike">
                          <a:effectLst/>
                        </a:rPr>
                        <a:t>个月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超期</a:t>
                      </a:r>
                      <a:br>
                        <a:rPr lang="zh-CN" altLang="en-US" sz="500" u="none" strike="noStrike">
                          <a:effectLst/>
                        </a:rPr>
                      </a:br>
                      <a:r>
                        <a:rPr lang="en-US" altLang="zh-CN" sz="500" u="none" strike="noStrike">
                          <a:effectLst/>
                        </a:rPr>
                        <a:t>3-6</a:t>
                      </a:r>
                      <a:r>
                        <a:rPr lang="zh-CN" altLang="en-US" sz="500" u="none" strike="noStrike">
                          <a:effectLst/>
                        </a:rPr>
                        <a:t>个月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超期         </a:t>
                      </a:r>
                      <a:r>
                        <a:rPr lang="en-US" altLang="zh-CN" sz="500" u="none" strike="noStrike">
                          <a:effectLst/>
                        </a:rPr>
                        <a:t>6</a:t>
                      </a:r>
                      <a:r>
                        <a:rPr lang="zh-CN" altLang="en-US" sz="500" u="none" strike="noStrike">
                          <a:effectLst/>
                        </a:rPr>
                        <a:t>个月</a:t>
                      </a:r>
                      <a:r>
                        <a:rPr lang="en-US" altLang="zh-CN" sz="500" u="none" strike="noStrike">
                          <a:effectLst/>
                        </a:rPr>
                        <a:t>-1</a:t>
                      </a:r>
                      <a:r>
                        <a:rPr lang="zh-CN" altLang="en-US" sz="500" u="none" strike="noStrike">
                          <a:effectLst/>
                        </a:rPr>
                        <a:t>年</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超期</a:t>
                      </a:r>
                      <a:r>
                        <a:rPr lang="en-US" altLang="zh-CN" sz="500" u="none" strike="noStrike">
                          <a:effectLst/>
                        </a:rPr>
                        <a:t>1</a:t>
                      </a:r>
                      <a:r>
                        <a:rPr lang="zh-CN" altLang="en-US" sz="500" u="none" strike="noStrike">
                          <a:effectLst/>
                        </a:rPr>
                        <a:t>年以上</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占比</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873185758"/>
                  </a:ext>
                </a:extLst>
              </a:tr>
              <a:tr h="302577">
                <a:tc>
                  <a:txBody>
                    <a:bodyPr/>
                    <a:lstStyle/>
                    <a:p>
                      <a:pPr algn="ctr" fontAlgn="ctr"/>
                      <a:r>
                        <a:rPr lang="en-US" altLang="zh-CN" sz="500" u="none" strike="noStrike">
                          <a:effectLst/>
                        </a:rPr>
                        <a:t>1</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客户</a:t>
                      </a:r>
                      <a:r>
                        <a:rPr lang="en-US" altLang="zh-CN" sz="500" u="none" strike="noStrike">
                          <a:effectLst/>
                        </a:rPr>
                        <a:t>1</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sz="500" u="none" strike="noStrike">
                          <a:effectLst/>
                        </a:rPr>
                        <a:t>A</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3777106559"/>
                  </a:ext>
                </a:extLst>
              </a:tr>
              <a:tr h="302577">
                <a:tc>
                  <a:txBody>
                    <a:bodyPr/>
                    <a:lstStyle/>
                    <a:p>
                      <a:pPr algn="ctr" fontAlgn="ctr"/>
                      <a:r>
                        <a:rPr lang="en-US" altLang="zh-CN" sz="500" u="none" strike="noStrike">
                          <a:effectLst/>
                        </a:rPr>
                        <a:t>2</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客户</a:t>
                      </a:r>
                      <a:r>
                        <a:rPr lang="en-US" altLang="zh-CN" sz="500" u="none" strike="noStrike">
                          <a:effectLst/>
                        </a:rPr>
                        <a:t>2</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sz="500" u="none" strike="noStrike">
                          <a:effectLst/>
                        </a:rPr>
                        <a:t>B</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2697648902"/>
                  </a:ext>
                </a:extLst>
              </a:tr>
              <a:tr h="302577">
                <a:tc>
                  <a:txBody>
                    <a:bodyPr/>
                    <a:lstStyle/>
                    <a:p>
                      <a:pPr algn="ctr" fontAlgn="ctr"/>
                      <a:r>
                        <a:rPr lang="en-US" altLang="zh-CN" sz="500" u="none" strike="noStrike">
                          <a:effectLst/>
                        </a:rPr>
                        <a:t>3</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客户</a:t>
                      </a:r>
                      <a:r>
                        <a:rPr lang="en-US" altLang="zh-CN" sz="500" u="none" strike="noStrike">
                          <a:effectLst/>
                        </a:rPr>
                        <a:t>3</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sz="500" u="none" strike="noStrike">
                          <a:effectLst/>
                        </a:rPr>
                        <a:t>A</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468845214"/>
                  </a:ext>
                </a:extLst>
              </a:tr>
              <a:tr h="302577">
                <a:tc>
                  <a:txBody>
                    <a:bodyPr/>
                    <a:lstStyle/>
                    <a:p>
                      <a:pPr algn="ctr" fontAlgn="ctr"/>
                      <a:r>
                        <a:rPr lang="en-US" altLang="zh-CN" sz="500" u="none" strike="noStrike">
                          <a:effectLst/>
                        </a:rPr>
                        <a:t>4</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客户</a:t>
                      </a:r>
                      <a:r>
                        <a:rPr lang="en-US" altLang="zh-CN" sz="500" u="none" strike="noStrike">
                          <a:effectLst/>
                        </a:rPr>
                        <a:t>4</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sz="500" u="none" strike="noStrike">
                          <a:effectLst/>
                        </a:rPr>
                        <a:t>B</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440966710"/>
                  </a:ext>
                </a:extLst>
              </a:tr>
              <a:tr h="302577">
                <a:tc>
                  <a:txBody>
                    <a:bodyPr/>
                    <a:lstStyle/>
                    <a:p>
                      <a:pPr algn="ctr" fontAlgn="ctr"/>
                      <a:r>
                        <a:rPr lang="en-US" altLang="zh-CN" sz="500" u="none" strike="noStrike">
                          <a:effectLst/>
                        </a:rPr>
                        <a:t>5</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客户</a:t>
                      </a:r>
                      <a:r>
                        <a:rPr lang="en-US" altLang="zh-CN" sz="500" u="none" strike="noStrike">
                          <a:effectLst/>
                        </a:rPr>
                        <a:t>5</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en-US" sz="500" u="none" strike="noStrike">
                          <a:effectLst/>
                        </a:rPr>
                        <a:t>C</a:t>
                      </a:r>
                      <a:endParaRPr 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2379714350"/>
                  </a:ext>
                </a:extLst>
              </a:tr>
              <a:tr h="302577">
                <a:tc>
                  <a:txBody>
                    <a:bodyPr/>
                    <a:lstStyle/>
                    <a:p>
                      <a:pPr algn="ctr" fontAlgn="ctr"/>
                      <a:r>
                        <a:rPr lang="en-US" altLang="zh-CN" sz="500" u="none" strike="noStrike">
                          <a:effectLst/>
                        </a:rPr>
                        <a:t>…</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3869298140"/>
                  </a:ext>
                </a:extLst>
              </a:tr>
              <a:tr h="302577">
                <a:tc>
                  <a:txBody>
                    <a:bodyPr/>
                    <a:lstStyle/>
                    <a:p>
                      <a:pPr algn="ctr" fontAlgn="ctr"/>
                      <a:r>
                        <a:rPr lang="zh-CN" altLang="en-US" sz="500" u="none" strike="noStrike">
                          <a:effectLst/>
                        </a:rPr>
                        <a:t>合计</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extLst>
                  <a:ext uri="{0D108BD9-81ED-4DB2-BD59-A6C34878D82A}">
                    <a16:rowId xmlns:a16="http://schemas.microsoft.com/office/drawing/2014/main" val="2857989050"/>
                  </a:ext>
                </a:extLst>
              </a:tr>
              <a:tr h="2504304">
                <a:tc gridSpan="24">
                  <a:txBody>
                    <a:bodyPr/>
                    <a:lstStyle/>
                    <a:p>
                      <a:pPr algn="l" fontAlgn="ctr"/>
                      <a:r>
                        <a:rPr lang="zh-CN" altLang="en-US" sz="500" u="none" strike="noStrike" dirty="0">
                          <a:effectLst/>
                        </a:rPr>
                        <a:t>一、核心核算规则：填写与使用核心规范</a:t>
                      </a:r>
                      <a:br>
                        <a:rPr lang="zh-CN" altLang="en-US" sz="500" u="none" strike="noStrike" dirty="0">
                          <a:effectLst/>
                        </a:rPr>
                      </a:br>
                      <a:r>
                        <a:rPr lang="zh-CN" altLang="en-US" sz="500" u="none" strike="noStrike" dirty="0">
                          <a:effectLst/>
                        </a:rPr>
                        <a:t>账龄计算标准：以统计截止日为基准，按应收账款确认日（销售开票 </a:t>
                      </a:r>
                      <a:r>
                        <a:rPr lang="en-US" altLang="zh-CN" sz="500" u="none" strike="noStrike" dirty="0">
                          <a:effectLst/>
                        </a:rPr>
                        <a:t>/ </a:t>
                      </a:r>
                      <a:r>
                        <a:rPr lang="zh-CN" altLang="en-US" sz="500" u="none" strike="noStrike" dirty="0">
                          <a:effectLst/>
                        </a:rPr>
                        <a:t>收入确认日） 到截止日的时间间隔划分区间，严格遵循会计准则要求；同一客户多笔应收款，需按单笔应收的确认日分别计算账龄，不得合并按客户整体计算。</a:t>
                      </a:r>
                      <a:br>
                        <a:rPr lang="zh-CN" altLang="en-US" sz="500" u="none" strike="noStrike" dirty="0">
                          <a:effectLst/>
                        </a:rPr>
                      </a:br>
                      <a:r>
                        <a:rPr lang="zh-CN" altLang="en-US" sz="500" u="none" strike="noStrike" dirty="0">
                          <a:effectLst/>
                        </a:rPr>
                        <a:t>坏账准备计提规范：表格内置通用企业会计准则计提比例参考，可按公司实际坏账政策调整，通用参考比例：</a:t>
                      </a:r>
                      <a:r>
                        <a:rPr lang="en-US" altLang="zh-CN" sz="500" u="none" strike="noStrike" dirty="0">
                          <a:effectLst/>
                        </a:rPr>
                        <a:t>1 </a:t>
                      </a:r>
                      <a:r>
                        <a:rPr lang="zh-CN" altLang="en-US" sz="500" u="none" strike="noStrike" dirty="0">
                          <a:effectLst/>
                        </a:rPr>
                        <a:t>年以内：</a:t>
                      </a:r>
                      <a:r>
                        <a:rPr lang="en-US" altLang="zh-CN" sz="500" u="none" strike="noStrike" dirty="0">
                          <a:effectLst/>
                        </a:rPr>
                        <a:t>5%</a:t>
                      </a:r>
                      <a:r>
                        <a:rPr lang="zh-CN" altLang="en-US" sz="500" u="none" strike="noStrike" dirty="0">
                          <a:effectLst/>
                        </a:rPr>
                        <a:t>（低风险客户可下调至 </a:t>
                      </a:r>
                      <a:r>
                        <a:rPr lang="en-US" altLang="zh-CN" sz="500" u="none" strike="noStrike" dirty="0">
                          <a:effectLst/>
                        </a:rPr>
                        <a:t>1%-3%</a:t>
                      </a:r>
                      <a:r>
                        <a:rPr lang="zh-CN" altLang="en-US" sz="500" u="none" strike="noStrike" dirty="0">
                          <a:effectLst/>
                        </a:rPr>
                        <a:t>），</a:t>
                      </a:r>
                      <a:r>
                        <a:rPr lang="en-US" altLang="zh-CN" sz="500" u="none" strike="noStrike" dirty="0">
                          <a:effectLst/>
                        </a:rPr>
                        <a:t>1-2 </a:t>
                      </a:r>
                      <a:r>
                        <a:rPr lang="zh-CN" altLang="en-US" sz="500" u="none" strike="noStrike" dirty="0">
                          <a:effectLst/>
                        </a:rPr>
                        <a:t>年：</a:t>
                      </a:r>
                      <a:r>
                        <a:rPr lang="en-US" altLang="zh-CN" sz="500" u="none" strike="noStrike" dirty="0">
                          <a:effectLst/>
                        </a:rPr>
                        <a:t>10%</a:t>
                      </a:r>
                      <a:r>
                        <a:rPr lang="zh-CN" altLang="en-US" sz="500" u="none" strike="noStrike" dirty="0">
                          <a:effectLst/>
                        </a:rPr>
                        <a:t>，</a:t>
                      </a:r>
                      <a:r>
                        <a:rPr lang="en-US" altLang="zh-CN" sz="500" u="none" strike="noStrike" dirty="0">
                          <a:effectLst/>
                        </a:rPr>
                        <a:t>2-3 </a:t>
                      </a:r>
                      <a:r>
                        <a:rPr lang="zh-CN" altLang="en-US" sz="500" u="none" strike="noStrike" dirty="0">
                          <a:effectLst/>
                        </a:rPr>
                        <a:t>年：</a:t>
                      </a:r>
                      <a:r>
                        <a:rPr lang="en-US" altLang="zh-CN" sz="500" u="none" strike="noStrike" dirty="0">
                          <a:effectLst/>
                        </a:rPr>
                        <a:t>30%</a:t>
                      </a:r>
                      <a:r>
                        <a:rPr lang="zh-CN" altLang="en-US" sz="500" u="none" strike="noStrike" dirty="0">
                          <a:effectLst/>
                        </a:rPr>
                        <a:t>，</a:t>
                      </a:r>
                      <a:r>
                        <a:rPr lang="en-US" altLang="zh-CN" sz="500" u="none" strike="noStrike" dirty="0">
                          <a:effectLst/>
                        </a:rPr>
                        <a:t>3 </a:t>
                      </a:r>
                      <a:r>
                        <a:rPr lang="zh-CN" altLang="en-US" sz="500" u="none" strike="noStrike" dirty="0">
                          <a:effectLst/>
                        </a:rPr>
                        <a:t>年以上：</a:t>
                      </a:r>
                      <a:r>
                        <a:rPr lang="en-US" altLang="zh-CN" sz="500" u="none" strike="noStrike" dirty="0">
                          <a:effectLst/>
                        </a:rPr>
                        <a:t>50%-100%</a:t>
                      </a:r>
                      <a:r>
                        <a:rPr lang="zh-CN" altLang="en-US" sz="500" u="none" strike="noStrike" dirty="0">
                          <a:effectLst/>
                        </a:rPr>
                        <a:t>（全额计提）；应计提坏账准备 </a:t>
                      </a:r>
                      <a:r>
                        <a:rPr lang="en-US" altLang="zh-CN" sz="500" u="none" strike="noStrike" dirty="0">
                          <a:effectLst/>
                        </a:rPr>
                        <a:t>= </a:t>
                      </a:r>
                      <a:r>
                        <a:rPr lang="zh-CN" altLang="en-US" sz="500" u="none" strike="noStrike" dirty="0">
                          <a:effectLst/>
                        </a:rPr>
                        <a:t>各账龄区间应收金额 </a:t>
                      </a:r>
                      <a:r>
                        <a:rPr lang="en-US" altLang="zh-CN" sz="500" u="none" strike="noStrike" dirty="0">
                          <a:effectLst/>
                        </a:rPr>
                        <a:t>× </a:t>
                      </a:r>
                      <a:r>
                        <a:rPr lang="zh-CN" altLang="en-US" sz="500" u="none" strike="noStrike" dirty="0">
                          <a:effectLst/>
                        </a:rPr>
                        <a:t>对应计提比例；期末应收净额 </a:t>
                      </a:r>
                      <a:r>
                        <a:rPr lang="en-US" altLang="zh-CN" sz="500" u="none" strike="noStrike" dirty="0">
                          <a:effectLst/>
                        </a:rPr>
                        <a:t>= </a:t>
                      </a:r>
                      <a:r>
                        <a:rPr lang="zh-CN" altLang="en-US" sz="500" u="none" strike="noStrike" dirty="0">
                          <a:effectLst/>
                        </a:rPr>
                        <a:t>应收账面总余额 </a:t>
                      </a:r>
                      <a:r>
                        <a:rPr lang="en-US" altLang="zh-CN" sz="500" u="none" strike="noStrike" dirty="0">
                          <a:effectLst/>
                        </a:rPr>
                        <a:t>- </a:t>
                      </a:r>
                      <a:r>
                        <a:rPr lang="zh-CN" altLang="en-US" sz="500" u="none" strike="noStrike" dirty="0">
                          <a:effectLst/>
                        </a:rPr>
                        <a:t>应计提坏账准备，计算结果需与总账</a:t>
                      </a:r>
                      <a:r>
                        <a:rPr lang="en-US" altLang="zh-CN" sz="500" u="none" strike="noStrike" dirty="0">
                          <a:effectLst/>
                        </a:rPr>
                        <a:t>-</a:t>
                      </a:r>
                      <a:r>
                        <a:rPr lang="zh-CN" altLang="en-US" sz="500" u="none" strike="noStrike" dirty="0">
                          <a:effectLst/>
                        </a:rPr>
                        <a:t>坏账准备科目余额全一致。</a:t>
                      </a:r>
                      <a:br>
                        <a:rPr lang="zh-CN" altLang="en-US" sz="500" u="none" strike="noStrike" dirty="0">
                          <a:effectLst/>
                        </a:rPr>
                      </a:br>
                      <a:r>
                        <a:rPr lang="zh-CN" altLang="en-US" sz="500" u="none" strike="noStrike" dirty="0">
                          <a:effectLst/>
                        </a:rPr>
                        <a:t>数据闭环核对：每月结账后，表格应收账面总余额合计必须与总账「应收账款」科目余额、销项发票管理台账未回款含税总金额完全一致，确保账表、账证、账实相符。</a:t>
                      </a:r>
                      <a:br>
                        <a:rPr lang="zh-CN" altLang="en-US" sz="500" u="none" strike="noStrike" dirty="0">
                          <a:effectLst/>
                        </a:rPr>
                      </a:br>
                      <a:r>
                        <a:rPr lang="zh-CN" altLang="en-US" sz="500" u="none" strike="noStrike" dirty="0">
                          <a:effectLst/>
                        </a:rPr>
                        <a:t>核心用途：财务核算端：用于月度 </a:t>
                      </a:r>
                      <a:r>
                        <a:rPr lang="en-US" altLang="zh-CN" sz="500" u="none" strike="noStrike" dirty="0">
                          <a:effectLst/>
                        </a:rPr>
                        <a:t>/ </a:t>
                      </a:r>
                      <a:r>
                        <a:rPr lang="zh-CN" altLang="en-US" sz="500" u="none" strike="noStrike" dirty="0">
                          <a:effectLst/>
                        </a:rPr>
                        <a:t>年度坏账准备计提、财务报表附注披露、企业所得税汇算清缴纳税调整；销售管理端：用于客户回款风险分级、制定针对性催收计划、销售业绩考核、客户信用评级调整；风控管理端：用于识别高风险逾期客户、提前制定坏账应对预案、管控公司经营现金流风险</a:t>
                      </a:r>
                      <a:br>
                        <a:rPr lang="zh-CN" altLang="en-US" sz="500" u="none" strike="noStrike" dirty="0">
                          <a:effectLst/>
                        </a:rPr>
                      </a:br>
                      <a:r>
                        <a:rPr lang="zh-CN" altLang="en-US" sz="500" u="none" strike="noStrike" dirty="0">
                          <a:effectLst/>
                        </a:rPr>
                        <a:t>更新与归档要求：更新频率：建议每月结账后更新，季度做全面客户风险复盘，年度做完整坏账减值测试；归档要求：每月账龄分析表需与财务凭证、坏账计提测算表、销售回款计划一同装订归档，保存期限不低于 </a:t>
                      </a:r>
                      <a:r>
                        <a:rPr lang="en-US" altLang="zh-CN" sz="500" u="none" strike="noStrike" dirty="0">
                          <a:effectLst/>
                        </a:rPr>
                        <a:t>10 </a:t>
                      </a:r>
                      <a:r>
                        <a:rPr lang="zh-CN" altLang="en-US" sz="500" u="none" strike="noStrike" dirty="0">
                          <a:effectLst/>
                        </a:rPr>
                        <a:t>年，符合财务档案管理要求</a:t>
                      </a:r>
                      <a:br>
                        <a:rPr lang="zh-CN" altLang="en-US" sz="500" u="none" strike="noStrike" dirty="0">
                          <a:effectLst/>
                        </a:rPr>
                      </a:br>
                      <a:r>
                        <a:rPr lang="zh-CN" altLang="en-US" sz="500" u="none" strike="noStrike" dirty="0">
                          <a:effectLst/>
                        </a:rPr>
                        <a:t>二、</a:t>
                      </a:r>
                      <a:r>
                        <a:rPr lang="en-US" altLang="zh-CN" sz="500" u="none" strike="noStrike" dirty="0">
                          <a:effectLst/>
                        </a:rPr>
                        <a:t>Excel </a:t>
                      </a:r>
                      <a:r>
                        <a:rPr lang="zh-CN" altLang="en-US" sz="500" u="none" strike="noStrike" dirty="0">
                          <a:effectLst/>
                        </a:rPr>
                        <a:t>优化与使用技巧：</a:t>
                      </a:r>
                      <a:br>
                        <a:rPr lang="zh-CN" altLang="en-US" sz="500" u="none" strike="noStrike" dirty="0">
                          <a:effectLst/>
                        </a:rPr>
                      </a:br>
                      <a:r>
                        <a:rPr lang="zh-CN" altLang="en-US" sz="500" u="none" strike="noStrike" dirty="0">
                          <a:effectLst/>
                        </a:rPr>
                        <a:t>格式标准化设置：复制到 </a:t>
                      </a:r>
                      <a:r>
                        <a:rPr lang="en-US" altLang="zh-CN" sz="500" u="none" strike="noStrike" dirty="0">
                          <a:effectLst/>
                        </a:rPr>
                        <a:t>Excel </a:t>
                      </a:r>
                      <a:r>
                        <a:rPr lang="zh-CN" altLang="en-US" sz="500" u="none" strike="noStrike" dirty="0">
                          <a:effectLst/>
                        </a:rPr>
                        <a:t>后，对「金额」列设置数值格式（保留 </a:t>
                      </a:r>
                      <a:r>
                        <a:rPr lang="en-US" altLang="zh-CN" sz="500" u="none" strike="noStrike" dirty="0">
                          <a:effectLst/>
                        </a:rPr>
                        <a:t>2 </a:t>
                      </a:r>
                      <a:r>
                        <a:rPr lang="zh-CN" altLang="en-US" sz="500" u="none" strike="noStrike" dirty="0">
                          <a:effectLst/>
                        </a:rPr>
                        <a:t>位小数、千分位分隔），对表头行设置冻结窗格，滚动查看长表时表头固定；对账龄区间、坏账计提列设置居中对齐，提升表格可读性。高效数据联动：可通过 </a:t>
                      </a:r>
                      <a:r>
                        <a:rPr lang="en-US" altLang="zh-CN" sz="500" u="none" strike="noStrike" dirty="0">
                          <a:effectLst/>
                        </a:rPr>
                        <a:t>Excel</a:t>
                      </a:r>
                      <a:r>
                        <a:rPr lang="zh-CN" altLang="en-US" sz="500" u="none" strike="noStrike" dirty="0">
                          <a:effectLst/>
                        </a:rPr>
                        <a:t>「</a:t>
                      </a:r>
                      <a:r>
                        <a:rPr lang="en-US" altLang="zh-CN" sz="500" u="none" strike="noStrike" dirty="0">
                          <a:effectLst/>
                        </a:rPr>
                        <a:t>VLOOKUP </a:t>
                      </a:r>
                      <a:r>
                        <a:rPr lang="zh-CN" altLang="en-US" sz="500" u="none" strike="noStrike" dirty="0">
                          <a:effectLst/>
                        </a:rPr>
                        <a:t>函数」，直接从销项发票管理台账、客户信息台账中匹配客户名称、客户编码、应收余额、发票号等信息，避免手动录入错误，实现数据一键联动更新。</a:t>
                      </a:r>
                      <a:br>
                        <a:rPr lang="zh-CN" altLang="en-US" sz="500" u="none" strike="noStrike" dirty="0">
                          <a:effectLst/>
                        </a:rPr>
                      </a:br>
                      <a:r>
                        <a:rPr lang="zh-CN" altLang="en-US" sz="500" u="none" strike="noStrike" dirty="0">
                          <a:effectLst/>
                        </a:rPr>
                        <a:t>风险分级预警：新增「风险等级列」，通过 </a:t>
                      </a:r>
                      <a:r>
                        <a:rPr lang="en-US" altLang="zh-CN" sz="500" u="none" strike="noStrike" dirty="0">
                          <a:effectLst/>
                        </a:rPr>
                        <a:t>Excel </a:t>
                      </a:r>
                      <a:r>
                        <a:rPr lang="zh-CN" altLang="en-US" sz="500" u="none" strike="noStrike" dirty="0">
                          <a:effectLst/>
                        </a:rPr>
                        <a:t>条件格式设置自动预警：</a:t>
                      </a:r>
                      <a:r>
                        <a:rPr lang="en-US" altLang="zh-CN" sz="500" u="none" strike="noStrike" dirty="0">
                          <a:effectLst/>
                        </a:rPr>
                        <a:t>1 </a:t>
                      </a:r>
                      <a:r>
                        <a:rPr lang="zh-CN" altLang="en-US" sz="500" u="none" strike="noStrike" dirty="0">
                          <a:effectLst/>
                        </a:rPr>
                        <a:t>年以内未回款：绿色（低风险）；</a:t>
                      </a:r>
                      <a:r>
                        <a:rPr lang="en-US" altLang="zh-CN" sz="500" u="none" strike="noStrike" dirty="0">
                          <a:effectLst/>
                        </a:rPr>
                        <a:t>1-2 </a:t>
                      </a:r>
                      <a:r>
                        <a:rPr lang="zh-CN" altLang="en-US" sz="500" u="none" strike="noStrike" dirty="0">
                          <a:effectLst/>
                        </a:rPr>
                        <a:t>年未回款：黄色（中风险，需重点催收）；</a:t>
                      </a:r>
                      <a:r>
                        <a:rPr lang="en-US" altLang="zh-CN" sz="500" u="none" strike="noStrike" dirty="0">
                          <a:effectLst/>
                        </a:rPr>
                        <a:t>2 </a:t>
                      </a:r>
                      <a:r>
                        <a:rPr lang="zh-CN" altLang="en-US" sz="500" u="none" strike="noStrike" dirty="0">
                          <a:effectLst/>
                        </a:rPr>
                        <a:t>年以上未回款：红色（高风险，需启动法务预案）；实现逾期风险可视化，提升催收管理效率。</a:t>
                      </a:r>
                      <a:br>
                        <a:rPr lang="zh-CN" altLang="en-US" sz="500" u="none" strike="noStrike" dirty="0">
                          <a:effectLst/>
                        </a:rPr>
                      </a:br>
                      <a:r>
                        <a:rPr lang="zh-CN" altLang="en-US" sz="500" u="none" strike="noStrike" dirty="0">
                          <a:effectLst/>
                        </a:rPr>
                        <a:t>多维度统计分析通过 </a:t>
                      </a:r>
                      <a:r>
                        <a:rPr lang="en-US" altLang="zh-CN" sz="500" u="none" strike="noStrike" dirty="0">
                          <a:effectLst/>
                        </a:rPr>
                        <a:t>Excel</a:t>
                      </a:r>
                      <a:r>
                        <a:rPr lang="zh-CN" altLang="en-US" sz="500" u="none" strike="noStrike" dirty="0">
                          <a:effectLst/>
                        </a:rPr>
                        <a:t>「数据透视表」功能，可一键实现：按客户维度统计应收余额、逾期金额、坏账计提金额；按账龄区间统计整体应收结构、坏账风险敞口；按月度统计应收余额变动、回款进度、坏账计提变动满足财务分析、管理层汇报、经营决策的多维度数据需求。</a:t>
                      </a:r>
                      <a:endParaRPr lang="zh-CN" altLang="en-US" sz="5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072" marR="4072" marT="407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4998501"/>
                  </a:ext>
                </a:extLst>
              </a:tr>
            </a:tbl>
          </a:graphicData>
        </a:graphic>
      </p:graphicFrame>
    </p:spTree>
    <p:extLst>
      <p:ext uri="{BB962C8B-B14F-4D97-AF65-F5344CB8AC3E}">
        <p14:creationId xmlns:p14="http://schemas.microsoft.com/office/powerpoint/2010/main" val="4103308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06214F7-5317-4DCE-9573-5E6DB8B9384C}"/>
              </a:ext>
            </a:extLst>
          </p:cNvPr>
          <p:cNvSpPr txBox="1"/>
          <p:nvPr/>
        </p:nvSpPr>
        <p:spPr>
          <a:xfrm>
            <a:off x="119336" y="116632"/>
            <a:ext cx="3071664" cy="461665"/>
          </a:xfrm>
          <a:prstGeom prst="rect">
            <a:avLst/>
          </a:prstGeom>
          <a:solidFill>
            <a:srgbClr val="FFFF00"/>
          </a:solidFill>
        </p:spPr>
        <p:txBody>
          <a:bodyPr wrap="square" rtlCol="0">
            <a:spAutoFit/>
          </a:bodyPr>
          <a:lstStyle/>
          <a:p>
            <a:r>
              <a:rPr lang="zh-CN" altLang="en-US" sz="2400" b="1" dirty="0">
                <a:solidFill>
                  <a:srgbClr val="FF0000"/>
                </a:solidFill>
              </a:rPr>
              <a:t>应收账款催收单</a:t>
            </a:r>
            <a:r>
              <a:rPr lang="en-US" altLang="zh-CN" sz="2400" b="1" dirty="0">
                <a:solidFill>
                  <a:srgbClr val="FF0000"/>
                </a:solidFill>
              </a:rPr>
              <a:t>3-10</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6790D0F9-5E30-4CC1-B45C-7824914FB703}"/>
              </a:ext>
            </a:extLst>
          </p:cNvPr>
          <p:cNvGraphicFramePr>
            <a:graphicFrameLocks noGrp="1"/>
          </p:cNvGraphicFramePr>
          <p:nvPr>
            <p:extLst>
              <p:ext uri="{D42A27DB-BD31-4B8C-83A1-F6EECF244321}">
                <p14:modId xmlns:p14="http://schemas.microsoft.com/office/powerpoint/2010/main" val="3405808914"/>
              </p:ext>
            </p:extLst>
          </p:nvPr>
        </p:nvGraphicFramePr>
        <p:xfrm>
          <a:off x="2495600" y="679938"/>
          <a:ext cx="8928992" cy="5845408"/>
        </p:xfrm>
        <a:graphic>
          <a:graphicData uri="http://schemas.openxmlformats.org/drawingml/2006/table">
            <a:tbl>
              <a:tblPr>
                <a:tableStyleId>{5C22544A-7EE6-4342-B048-85BDC9FD1C3A}</a:tableStyleId>
              </a:tblPr>
              <a:tblGrid>
                <a:gridCol w="1806104">
                  <a:extLst>
                    <a:ext uri="{9D8B030D-6E8A-4147-A177-3AD203B41FA5}">
                      <a16:colId xmlns:a16="http://schemas.microsoft.com/office/drawing/2014/main" val="893729212"/>
                    </a:ext>
                  </a:extLst>
                </a:gridCol>
                <a:gridCol w="2140072">
                  <a:extLst>
                    <a:ext uri="{9D8B030D-6E8A-4147-A177-3AD203B41FA5}">
                      <a16:colId xmlns:a16="http://schemas.microsoft.com/office/drawing/2014/main" val="3660545882"/>
                    </a:ext>
                  </a:extLst>
                </a:gridCol>
                <a:gridCol w="2204194">
                  <a:extLst>
                    <a:ext uri="{9D8B030D-6E8A-4147-A177-3AD203B41FA5}">
                      <a16:colId xmlns:a16="http://schemas.microsoft.com/office/drawing/2014/main" val="3364683858"/>
                    </a:ext>
                  </a:extLst>
                </a:gridCol>
                <a:gridCol w="2778622">
                  <a:extLst>
                    <a:ext uri="{9D8B030D-6E8A-4147-A177-3AD203B41FA5}">
                      <a16:colId xmlns:a16="http://schemas.microsoft.com/office/drawing/2014/main" val="1002415736"/>
                    </a:ext>
                  </a:extLst>
                </a:gridCol>
              </a:tblGrid>
              <a:tr h="334733">
                <a:tc gridSpan="4">
                  <a:txBody>
                    <a:bodyPr/>
                    <a:lstStyle/>
                    <a:p>
                      <a:pPr algn="ctr" fontAlgn="ctr"/>
                      <a:r>
                        <a:rPr lang="zh-CN" altLang="en-US" sz="1200" u="none" strike="noStrike">
                          <a:effectLst/>
                        </a:rPr>
                        <a:t>应 收 账 款 催 收 函</a:t>
                      </a:r>
                      <a:endParaRPr lang="zh-CN" altLang="en-US" sz="1200" b="1" i="0" u="none" strike="noStrike">
                        <a:solidFill>
                          <a:srgbClr val="FF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71786257"/>
                  </a:ext>
                </a:extLst>
              </a:tr>
              <a:tr h="334733">
                <a:tc>
                  <a:txBody>
                    <a:bodyPr/>
                    <a:lstStyle/>
                    <a:p>
                      <a:pPr algn="just" fontAlgn="ctr"/>
                      <a:r>
                        <a:rPr lang="zh-CN" altLang="en-US" sz="900" u="none" strike="noStrike">
                          <a:effectLst/>
                        </a:rPr>
                        <a:t>尊敬的</a:t>
                      </a:r>
                      <a:r>
                        <a:rPr lang="en-US" sz="900" u="none" strike="noStrike">
                          <a:effectLst/>
                        </a:rPr>
                        <a:t>xx</a:t>
                      </a:r>
                      <a:r>
                        <a:rPr lang="zh-CN" altLang="en-US" sz="900" u="none" strike="noStrike">
                          <a:effectLst/>
                        </a:rPr>
                        <a:t>有限公司：</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extLst>
                  <a:ext uri="{0D108BD9-81ED-4DB2-BD59-A6C34878D82A}">
                    <a16:rowId xmlns:a16="http://schemas.microsoft.com/office/drawing/2014/main" val="3081971082"/>
                  </a:ext>
                </a:extLst>
              </a:tr>
              <a:tr h="334733">
                <a:tc gridSpan="4">
                  <a:txBody>
                    <a:bodyPr/>
                    <a:lstStyle/>
                    <a:p>
                      <a:pPr algn="l" fontAlgn="ctr"/>
                      <a:r>
                        <a:rPr lang="zh-CN" altLang="en-US" sz="800" u="none" strike="noStrike">
                          <a:effectLst/>
                        </a:rPr>
                        <a:t>    根据贵我双方业务往来对账记录、销售订单及发票开票记录，截至 </a:t>
                      </a:r>
                      <a:r>
                        <a:rPr lang="en-US" altLang="zh-CN" sz="800" u="none" strike="noStrike">
                          <a:effectLst/>
                        </a:rPr>
                        <a:t>_____</a:t>
                      </a:r>
                      <a:r>
                        <a:rPr lang="zh-CN" altLang="en-US" sz="800" u="none" strike="noStrike">
                          <a:effectLst/>
                        </a:rPr>
                        <a:t>年</a:t>
                      </a:r>
                      <a:r>
                        <a:rPr lang="en-US" altLang="zh-CN" sz="800" u="none" strike="noStrike">
                          <a:effectLst/>
                        </a:rPr>
                        <a:t>____</a:t>
                      </a:r>
                      <a:r>
                        <a:rPr lang="zh-CN" altLang="en-US" sz="800" u="none" strike="noStrike">
                          <a:effectLst/>
                        </a:rPr>
                        <a:t>月</a:t>
                      </a:r>
                      <a:r>
                        <a:rPr lang="en-US" altLang="zh-CN" sz="800" u="none" strike="noStrike">
                          <a:effectLst/>
                        </a:rPr>
                        <a:t>____</a:t>
                      </a:r>
                      <a:r>
                        <a:rPr lang="zh-CN" altLang="en-US" sz="800" u="none" strike="noStrike">
                          <a:effectLst/>
                        </a:rPr>
                        <a:t>日，贵司尚欠我司应收账款明细如下。为保障双方良好合作关系，特此函告，请贵司核对并安排款项支付。</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99751102"/>
                  </a:ext>
                </a:extLst>
              </a:tr>
              <a:tr h="334733">
                <a:tc>
                  <a:txBody>
                    <a:bodyPr/>
                    <a:lstStyle/>
                    <a:p>
                      <a:pPr algn="just" fontAlgn="ctr"/>
                      <a:r>
                        <a:rPr lang="zh-CN" altLang="en-US" sz="900" u="none" strike="noStrike">
                          <a:effectLst/>
                        </a:rPr>
                        <a:t>一、欠款明细</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extLst>
                  <a:ext uri="{0D108BD9-81ED-4DB2-BD59-A6C34878D82A}">
                    <a16:rowId xmlns:a16="http://schemas.microsoft.com/office/drawing/2014/main" val="2810515339"/>
                  </a:ext>
                </a:extLst>
              </a:tr>
              <a:tr h="334733">
                <a:tc gridSpan="2">
                  <a:txBody>
                    <a:bodyPr/>
                    <a:lstStyle/>
                    <a:p>
                      <a:pPr algn="l" fontAlgn="ctr"/>
                      <a:r>
                        <a:rPr lang="en-US" altLang="zh-CN" sz="800" u="none" strike="noStrike">
                          <a:effectLst/>
                        </a:rPr>
                        <a:t>1. </a:t>
                      </a:r>
                      <a:r>
                        <a:rPr lang="zh-CN" altLang="en-US" sz="800" u="none" strike="noStrike">
                          <a:effectLst/>
                        </a:rPr>
                        <a:t>未结清应收账款合计金额（含税）：￥</a:t>
                      </a:r>
                      <a:r>
                        <a:rPr lang="en-US" altLang="zh-CN" sz="800" u="none" strike="noStrike">
                          <a:effectLst/>
                        </a:rPr>
                        <a:t>___________ </a:t>
                      </a:r>
                      <a:r>
                        <a:rPr lang="zh-CN" altLang="en-US" sz="800" u="none" strike="noStrike">
                          <a:effectLst/>
                        </a:rPr>
                        <a:t>元</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gridSpan="2">
                  <a:txBody>
                    <a:bodyPr/>
                    <a:lstStyle/>
                    <a:p>
                      <a:pPr algn="l" fontAlgn="ctr"/>
                      <a:r>
                        <a:rPr lang="zh-CN" altLang="en-US" sz="800" u="none" strike="noStrike">
                          <a:effectLst/>
                        </a:rPr>
                        <a:t>大写金额：人民币 </a:t>
                      </a:r>
                      <a:r>
                        <a:rPr lang="en-US" altLang="zh-CN" sz="800" u="none" strike="noStrike">
                          <a:effectLst/>
                        </a:rPr>
                        <a:t>______________________ </a:t>
                      </a:r>
                      <a:r>
                        <a:rPr lang="zh-CN" altLang="en-US" sz="800" u="none" strike="noStrike">
                          <a:effectLst/>
                        </a:rPr>
                        <a:t>元整</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extLst>
                  <a:ext uri="{0D108BD9-81ED-4DB2-BD59-A6C34878D82A}">
                    <a16:rowId xmlns:a16="http://schemas.microsoft.com/office/drawing/2014/main" val="1845706228"/>
                  </a:ext>
                </a:extLst>
              </a:tr>
              <a:tr h="334733">
                <a:tc gridSpan="4">
                  <a:txBody>
                    <a:bodyPr/>
                    <a:lstStyle/>
                    <a:p>
                      <a:pPr algn="l" fontAlgn="ctr"/>
                      <a:r>
                        <a:rPr lang="en-US" altLang="zh-CN" sz="800" u="none" strike="noStrike">
                          <a:effectLst/>
                        </a:rPr>
                        <a:t>2. </a:t>
                      </a:r>
                      <a:r>
                        <a:rPr lang="zh-CN" altLang="en-US" sz="800" u="none" strike="noStrike">
                          <a:effectLst/>
                        </a:rPr>
                        <a:t>对应业务单据信息：</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03362578"/>
                  </a:ext>
                </a:extLst>
              </a:tr>
              <a:tr h="334733">
                <a:tc gridSpan="2">
                  <a:txBody>
                    <a:bodyPr/>
                    <a:lstStyle/>
                    <a:p>
                      <a:pPr algn="l" fontAlgn="ctr"/>
                      <a:r>
                        <a:rPr lang="zh-CN" altLang="en-US" sz="800" u="none" strike="noStrike">
                          <a:effectLst/>
                        </a:rPr>
                        <a:t>销售订单号（</a:t>
                      </a:r>
                      <a:r>
                        <a:rPr lang="en-US" altLang="zh-CN" sz="800" u="none" strike="noStrike">
                          <a:effectLst/>
                        </a:rPr>
                        <a:t>SO</a:t>
                      </a:r>
                      <a:r>
                        <a:rPr lang="zh-CN" altLang="en-US" sz="800" u="none" strike="noStrike">
                          <a:effectLst/>
                        </a:rPr>
                        <a:t>）：</a:t>
                      </a:r>
                      <a:r>
                        <a:rPr lang="en-US" altLang="zh-CN" sz="800" u="none" strike="noStrike">
                          <a:effectLst/>
                        </a:rPr>
                        <a:t>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gridSpan="2">
                  <a:txBody>
                    <a:bodyPr/>
                    <a:lstStyle/>
                    <a:p>
                      <a:pPr algn="l" fontAlgn="ctr"/>
                      <a:r>
                        <a:rPr lang="zh-CN" altLang="en-US" sz="800" u="none" strike="noStrike">
                          <a:effectLst/>
                        </a:rPr>
                        <a:t>出库单号：</a:t>
                      </a:r>
                      <a:r>
                        <a:rPr lang="en-US" altLang="zh-CN" sz="800" u="none" strike="noStrike">
                          <a:effectLst/>
                        </a:rPr>
                        <a:t>_______________________________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extLst>
                  <a:ext uri="{0D108BD9-81ED-4DB2-BD59-A6C34878D82A}">
                    <a16:rowId xmlns:a16="http://schemas.microsoft.com/office/drawing/2014/main" val="872038267"/>
                  </a:ext>
                </a:extLst>
              </a:tr>
              <a:tr h="334733">
                <a:tc gridSpan="2">
                  <a:txBody>
                    <a:bodyPr/>
                    <a:lstStyle/>
                    <a:p>
                      <a:pPr algn="l" fontAlgn="ctr"/>
                      <a:r>
                        <a:rPr lang="zh-CN" altLang="en-US" sz="800" u="none" strike="noStrike">
                          <a:effectLst/>
                        </a:rPr>
                        <a:t>发票号码及开票日期：</a:t>
                      </a:r>
                      <a:r>
                        <a:rPr lang="en-US" altLang="zh-CN" sz="800" u="none" strike="noStrike">
                          <a:effectLst/>
                        </a:rPr>
                        <a:t>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gridSpan="2">
                  <a:txBody>
                    <a:bodyPr/>
                    <a:lstStyle/>
                    <a:p>
                      <a:pPr algn="l" fontAlgn="ctr"/>
                      <a:r>
                        <a:rPr lang="zh-CN" altLang="en-US" sz="800" u="none" strike="noStrike">
                          <a:effectLst/>
                        </a:rPr>
                        <a:t>对应合同编号：</a:t>
                      </a:r>
                      <a:r>
                        <a:rPr lang="en-US" altLang="zh-CN" sz="800" u="none" strike="noStrike">
                          <a:effectLst/>
                        </a:rPr>
                        <a:t>___________________________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extLst>
                  <a:ext uri="{0D108BD9-81ED-4DB2-BD59-A6C34878D82A}">
                    <a16:rowId xmlns:a16="http://schemas.microsoft.com/office/drawing/2014/main" val="2709233125"/>
                  </a:ext>
                </a:extLst>
              </a:tr>
              <a:tr h="334733">
                <a:tc gridSpan="4">
                  <a:txBody>
                    <a:bodyPr/>
                    <a:lstStyle/>
                    <a:p>
                      <a:pPr algn="l" fontAlgn="ctr"/>
                      <a:r>
                        <a:rPr lang="en-US" altLang="zh-CN" sz="800" u="none" strike="noStrike">
                          <a:effectLst/>
                        </a:rPr>
                        <a:t>3. </a:t>
                      </a:r>
                      <a:r>
                        <a:rPr lang="zh-CN" altLang="en-US" sz="800" u="none" strike="noStrike">
                          <a:effectLst/>
                        </a:rPr>
                        <a:t>账龄情况：该笔款项账龄已达</a:t>
                      </a:r>
                      <a:r>
                        <a:rPr lang="zh-CN" altLang="en-US" sz="800" u="sng" strike="noStrike">
                          <a:effectLst/>
                        </a:rPr>
                        <a:t> </a:t>
                      </a:r>
                      <a:r>
                        <a:rPr lang="en-US" altLang="zh-CN" sz="800" u="sng" strike="noStrike">
                          <a:effectLst/>
                        </a:rPr>
                        <a:t>______ </a:t>
                      </a:r>
                      <a:r>
                        <a:rPr lang="zh-CN" altLang="en-US" sz="800" u="none" strike="noStrike">
                          <a:effectLst/>
                        </a:rPr>
                        <a:t>天，已超出双方约定账期。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3250232"/>
                  </a:ext>
                </a:extLst>
              </a:tr>
              <a:tr h="334733">
                <a:tc gridSpan="4">
                  <a:txBody>
                    <a:bodyPr/>
                    <a:lstStyle/>
                    <a:p>
                      <a:pPr algn="l" fontAlgn="ctr"/>
                      <a:r>
                        <a:rPr lang="zh-CN" altLang="en-US" sz="900" u="none" strike="noStrike">
                          <a:effectLst/>
                        </a:rPr>
                        <a:t>二、款项说明：</a:t>
                      </a:r>
                      <a:r>
                        <a:rPr lang="zh-CN" altLang="en-US" sz="800" u="none" strike="noStrike">
                          <a:effectLst/>
                        </a:rPr>
                        <a:t>以上款项均为贵司已收货、已验收、业务真实发生的应付货款</a:t>
                      </a:r>
                      <a:r>
                        <a:rPr lang="en-US" altLang="zh-CN" sz="800" u="none" strike="noStrike">
                          <a:effectLst/>
                        </a:rPr>
                        <a:t>/</a:t>
                      </a:r>
                      <a:r>
                        <a:rPr lang="zh-CN" altLang="en-US" sz="800" u="none" strike="noStrike">
                          <a:effectLst/>
                        </a:rPr>
                        <a:t>服务款项，我司已按合同约完成全部履约义务并足额开具合法有效发票。</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30887414"/>
                  </a:ext>
                </a:extLst>
              </a:tr>
              <a:tr h="334733">
                <a:tc gridSpan="4">
                  <a:txBody>
                    <a:bodyPr/>
                    <a:lstStyle/>
                    <a:p>
                      <a:pPr algn="l" fontAlgn="ctr"/>
                      <a:r>
                        <a:rPr lang="zh-CN" altLang="en-US" sz="900" u="none" strike="noStrike">
                          <a:effectLst/>
                        </a:rPr>
                        <a:t>三、催收要求：</a:t>
                      </a:r>
                      <a:r>
                        <a:rPr lang="zh-CN" altLang="en-US" sz="800" u="none" strike="noStrike">
                          <a:effectLst/>
                        </a:rPr>
                        <a:t>现正式函请贵司，请于 </a:t>
                      </a:r>
                      <a:r>
                        <a:rPr lang="en-US" altLang="zh-CN" sz="800" u="none" strike="noStrike">
                          <a:effectLst/>
                        </a:rPr>
                        <a:t>______</a:t>
                      </a:r>
                      <a:r>
                        <a:rPr lang="zh-CN" altLang="en-US" sz="800" u="none" strike="noStrike">
                          <a:effectLst/>
                        </a:rPr>
                        <a:t>年</a:t>
                      </a:r>
                      <a:r>
                        <a:rPr lang="en-US" altLang="zh-CN" sz="800" u="none" strike="noStrike">
                          <a:effectLst/>
                        </a:rPr>
                        <a:t>____</a:t>
                      </a:r>
                      <a:r>
                        <a:rPr lang="zh-CN" altLang="en-US" sz="800" u="none" strike="noStrike">
                          <a:effectLst/>
                        </a:rPr>
                        <a:t>月</a:t>
                      </a:r>
                      <a:r>
                        <a:rPr lang="en-US" altLang="zh-CN" sz="800" u="none" strike="noStrike">
                          <a:effectLst/>
                        </a:rPr>
                        <a:t>____</a:t>
                      </a:r>
                      <a:r>
                        <a:rPr lang="zh-CN" altLang="en-US" sz="800" u="none" strike="noStrike">
                          <a:effectLst/>
                        </a:rPr>
                        <a:t>日 前将上述逾期欠款全额结清。</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14276197"/>
                  </a:ext>
                </a:extLst>
              </a:tr>
              <a:tr h="334733">
                <a:tc>
                  <a:txBody>
                    <a:bodyPr/>
                    <a:lstStyle/>
                    <a:p>
                      <a:pPr algn="ctr" fontAlgn="ctr"/>
                      <a:r>
                        <a:rPr lang="zh-CN" altLang="en-US" sz="800" u="none" strike="noStrike">
                          <a:effectLst/>
                        </a:rPr>
                        <a:t>付款账户信息：</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r>
                        <a:rPr lang="zh-CN" altLang="en-US" sz="800" u="none" strike="noStrike">
                          <a:effectLst/>
                        </a:rPr>
                        <a:t>户名：</a:t>
                      </a:r>
                      <a:r>
                        <a:rPr lang="en-US" altLang="zh-CN" sz="800" u="none" strike="noStrike">
                          <a:effectLst/>
                        </a:rPr>
                        <a:t>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r>
                        <a:rPr lang="zh-CN" altLang="en-US" sz="800" u="none" strike="noStrike">
                          <a:effectLst/>
                        </a:rPr>
                        <a:t>开户行：</a:t>
                      </a:r>
                      <a:r>
                        <a:rPr lang="en-US" altLang="zh-CN" sz="800" u="none" strike="noStrike">
                          <a:effectLst/>
                        </a:rPr>
                        <a:t>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r>
                        <a:rPr lang="zh-CN" altLang="en-US" sz="800" u="none" strike="noStrike">
                          <a:effectLst/>
                        </a:rPr>
                        <a:t>账号：</a:t>
                      </a:r>
                      <a:r>
                        <a:rPr lang="en-US" altLang="zh-CN" sz="800" u="none" strike="noStrike">
                          <a:effectLst/>
                        </a:rPr>
                        <a:t>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extLst>
                  <a:ext uri="{0D108BD9-81ED-4DB2-BD59-A6C34878D82A}">
                    <a16:rowId xmlns:a16="http://schemas.microsoft.com/office/drawing/2014/main" val="1105406478"/>
                  </a:ext>
                </a:extLst>
              </a:tr>
              <a:tr h="334733">
                <a:tc gridSpan="4">
                  <a:txBody>
                    <a:bodyPr/>
                    <a:lstStyle/>
                    <a:p>
                      <a:pPr algn="l" fontAlgn="ctr"/>
                      <a:r>
                        <a:rPr lang="zh-CN" altLang="en-US" sz="900" u="none" strike="noStrike">
                          <a:effectLst/>
                        </a:rPr>
                        <a:t>四、逾期后果告知</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32715574"/>
                  </a:ext>
                </a:extLst>
              </a:tr>
              <a:tr h="474112">
                <a:tc gridSpan="4">
                  <a:txBody>
                    <a:bodyPr/>
                    <a:lstStyle/>
                    <a:p>
                      <a:pPr algn="l" fontAlgn="ctr"/>
                      <a:r>
                        <a:rPr lang="zh-CN" altLang="en-US" sz="800" u="none" strike="noStrike">
                          <a:effectLst/>
                        </a:rPr>
                        <a:t>    若贵司逾期仍未完成付款，我司将视为贵司违约。我司将依据双方签订的合同约定，采取包括但不限于：暂停供货及服务、收取逾期违约金、计入客户信用评级、启动对账清算及法律追偿等措施，由此产生的一切损失及费用将由贵司全额承担。</a:t>
                      </a:r>
                      <a:br>
                        <a:rPr lang="zh-CN" altLang="en-US" sz="800" u="none" strike="noStrike">
                          <a:effectLst/>
                        </a:rPr>
                      </a:br>
                      <a:r>
                        <a:rPr lang="zh-CN" altLang="en-US" sz="800" u="none" strike="noStrike">
                          <a:effectLst/>
                        </a:rPr>
                        <a:t>    为维护双方长期良好合作关系，恳请贵司高度重视，尽快安排回款。如款项已支付或存在对账差异，请及时与我司财务</a:t>
                      </a:r>
                      <a:r>
                        <a:rPr lang="en-US" altLang="zh-CN" sz="800" u="none" strike="noStrike">
                          <a:effectLst/>
                        </a:rPr>
                        <a:t>/</a:t>
                      </a:r>
                      <a:r>
                        <a:rPr lang="zh-CN" altLang="en-US" sz="800" u="none" strike="noStrike">
                          <a:effectLst/>
                        </a:rPr>
                        <a:t>业务对接人联系核实。</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38538734"/>
                  </a:ext>
                </a:extLst>
              </a:tr>
              <a:tr h="334733">
                <a:tc gridSpan="2">
                  <a:txBody>
                    <a:bodyPr/>
                    <a:lstStyle/>
                    <a:p>
                      <a:pPr algn="l" fontAlgn="ctr"/>
                      <a:r>
                        <a:rPr lang="zh-CN" altLang="en-US" sz="900" u="none" strike="noStrike">
                          <a:effectLst/>
                        </a:rPr>
                        <a:t>联系人：</a:t>
                      </a:r>
                      <a:r>
                        <a:rPr lang="en-US" altLang="zh-CN" sz="900" u="none" strike="noStrike">
                          <a:effectLst/>
                        </a:rPr>
                        <a:t>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tc gridSpan="2">
                  <a:txBody>
                    <a:bodyPr/>
                    <a:lstStyle/>
                    <a:p>
                      <a:pPr algn="l" fontAlgn="ctr"/>
                      <a:r>
                        <a:rPr lang="zh-CN" altLang="en-US" sz="900" u="none" strike="noStrike">
                          <a:effectLst/>
                        </a:rPr>
                        <a:t>联系电话：</a:t>
                      </a:r>
                      <a:r>
                        <a:rPr lang="en-US" altLang="zh-CN" sz="900" u="none" strike="noStrike">
                          <a:effectLst/>
                        </a:rPr>
                        <a:t>_______________</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extLst>
                  <a:ext uri="{0D108BD9-81ED-4DB2-BD59-A6C34878D82A}">
                    <a16:rowId xmlns:a16="http://schemas.microsoft.com/office/drawing/2014/main" val="3369441458"/>
                  </a:ext>
                </a:extLst>
              </a:tr>
              <a:tr h="685034">
                <a:tc>
                  <a:txBody>
                    <a:bodyPr/>
                    <a:lstStyle/>
                    <a:p>
                      <a:pPr algn="ctr" fontAlgn="ctr"/>
                      <a:r>
                        <a:rPr lang="zh-CN" altLang="en-US" sz="1000" u="none" strike="noStrike" dirty="0">
                          <a:effectLst/>
                        </a:rPr>
                        <a:t>顺颂商祺！</a:t>
                      </a:r>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106" marR="6106" marT="6106" marB="0" anchor="ctr"/>
                </a:tc>
                <a:tc>
                  <a:txBody>
                    <a:bodyPr/>
                    <a:lstStyle/>
                    <a:p>
                      <a:pPr algn="l" fontAlgn="ctr"/>
                      <a:endParaRPr lang="zh-CN" altLang="en-US" sz="1000" b="0" i="0" u="none" strike="noStrike">
                        <a:solidFill>
                          <a:srgbClr val="000000"/>
                        </a:solidFill>
                        <a:effectLst/>
                        <a:latin typeface="宋体" panose="02010600030101010101" pitchFamily="2" charset="-122"/>
                        <a:ea typeface="宋体" panose="02010600030101010101" pitchFamily="2" charset="-122"/>
                      </a:endParaRPr>
                    </a:p>
                  </a:txBody>
                  <a:tcPr marL="6106" marR="6106" marT="6106" marB="0" anchor="ctr"/>
                </a:tc>
                <a:tc gridSpan="2">
                  <a:txBody>
                    <a:bodyPr/>
                    <a:lstStyle/>
                    <a:p>
                      <a:pPr algn="ctr" fontAlgn="ctr"/>
                      <a:r>
                        <a:rPr lang="zh-CN" altLang="en-US" sz="1000" u="none" strike="noStrike" dirty="0">
                          <a:effectLst/>
                        </a:rPr>
                        <a:t>单位名称：      （加盖公章）  </a:t>
                      </a:r>
                      <a:br>
                        <a:rPr lang="zh-CN" altLang="en-US" sz="1000" u="none" strike="noStrike" dirty="0">
                          <a:effectLst/>
                        </a:rPr>
                      </a:br>
                      <a:br>
                        <a:rPr lang="zh-CN" altLang="en-US" sz="1000" u="none" strike="noStrike" dirty="0">
                          <a:effectLst/>
                        </a:rPr>
                      </a:br>
                      <a:r>
                        <a:rPr lang="zh-CN" altLang="en-US" sz="1000" u="none" strike="noStrike" dirty="0">
                          <a:effectLst/>
                        </a:rPr>
                        <a:t>    </a:t>
                      </a:r>
                      <a:r>
                        <a:rPr lang="en-US" altLang="zh-CN" sz="1000" u="none" strike="noStrike" dirty="0">
                          <a:effectLst/>
                        </a:rPr>
                        <a:t>____</a:t>
                      </a:r>
                      <a:r>
                        <a:rPr lang="zh-CN" altLang="en-US" sz="1000" u="none" strike="noStrike" dirty="0">
                          <a:effectLst/>
                        </a:rPr>
                        <a:t>年</a:t>
                      </a:r>
                      <a:r>
                        <a:rPr lang="en-US" altLang="zh-CN" sz="1000" u="none" strike="noStrike" dirty="0">
                          <a:effectLst/>
                        </a:rPr>
                        <a:t>____</a:t>
                      </a:r>
                      <a:r>
                        <a:rPr lang="zh-CN" altLang="en-US" sz="1000" u="none" strike="noStrike" dirty="0">
                          <a:effectLst/>
                        </a:rPr>
                        <a:t>月</a:t>
                      </a:r>
                      <a:r>
                        <a:rPr lang="en-US" altLang="zh-CN" sz="1000" u="none" strike="noStrike" dirty="0">
                          <a:effectLst/>
                        </a:rPr>
                        <a:t>____</a:t>
                      </a:r>
                      <a:r>
                        <a:rPr lang="zh-CN" altLang="en-US" sz="1000" u="none" strike="noStrike" dirty="0">
                          <a:effectLst/>
                        </a:rPr>
                        <a:t>日</a:t>
                      </a:r>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106" marR="6106" marT="6106" marB="0" anchor="ctr"/>
                </a:tc>
                <a:tc hMerge="1">
                  <a:txBody>
                    <a:bodyPr/>
                    <a:lstStyle/>
                    <a:p>
                      <a:endParaRPr lang="zh-CN" altLang="en-US"/>
                    </a:p>
                  </a:txBody>
                  <a:tcPr/>
                </a:tc>
                <a:extLst>
                  <a:ext uri="{0D108BD9-81ED-4DB2-BD59-A6C34878D82A}">
                    <a16:rowId xmlns:a16="http://schemas.microsoft.com/office/drawing/2014/main" val="4269077057"/>
                  </a:ext>
                </a:extLst>
              </a:tr>
            </a:tbl>
          </a:graphicData>
        </a:graphic>
      </p:graphicFrame>
    </p:spTree>
    <p:extLst>
      <p:ext uri="{BB962C8B-B14F-4D97-AF65-F5344CB8AC3E}">
        <p14:creationId xmlns:p14="http://schemas.microsoft.com/office/powerpoint/2010/main" val="2883407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BE869FB4-319E-4CC7-9C8A-C28A0DC02D10}"/>
              </a:ext>
            </a:extLst>
          </p:cNvPr>
          <p:cNvSpPr/>
          <p:nvPr/>
        </p:nvSpPr>
        <p:spPr>
          <a:xfrm>
            <a:off x="3791744" y="2036586"/>
            <a:ext cx="7992888" cy="42864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FFFF00"/>
              </a:highlight>
            </a:endParaRPr>
          </a:p>
        </p:txBody>
      </p:sp>
      <p:pic>
        <p:nvPicPr>
          <p:cNvPr id="13" name="图片 12">
            <a:extLst>
              <a:ext uri="{FF2B5EF4-FFF2-40B4-BE49-F238E27FC236}">
                <a16:creationId xmlns:a16="http://schemas.microsoft.com/office/drawing/2014/main" id="{465DDDA2-5AD1-4E33-BCAB-AA80C4E365D1}"/>
              </a:ext>
            </a:extLst>
          </p:cNvPr>
          <p:cNvPicPr>
            <a:picLocks noChangeAspect="1"/>
          </p:cNvPicPr>
          <p:nvPr/>
        </p:nvPicPr>
        <p:blipFill>
          <a:blip r:embed="rId2"/>
          <a:stretch>
            <a:fillRect/>
          </a:stretch>
        </p:blipFill>
        <p:spPr>
          <a:xfrm>
            <a:off x="5626036" y="908222"/>
            <a:ext cx="2304258" cy="732586"/>
          </a:xfrm>
          <a:prstGeom prst="rect">
            <a:avLst/>
          </a:prstGeom>
        </p:spPr>
      </p:pic>
      <p:pic>
        <p:nvPicPr>
          <p:cNvPr id="12" name="图片 11">
            <a:extLst>
              <a:ext uri="{FF2B5EF4-FFF2-40B4-BE49-F238E27FC236}">
                <a16:creationId xmlns:a16="http://schemas.microsoft.com/office/drawing/2014/main" id="{62F90C70-82DA-4D46-B8A3-9C868DDF61C4}"/>
              </a:ext>
            </a:extLst>
          </p:cNvPr>
          <p:cNvPicPr>
            <a:picLocks noChangeAspect="1"/>
          </p:cNvPicPr>
          <p:nvPr/>
        </p:nvPicPr>
        <p:blipFill>
          <a:blip r:embed="rId2"/>
          <a:stretch>
            <a:fillRect/>
          </a:stretch>
        </p:blipFill>
        <p:spPr>
          <a:xfrm>
            <a:off x="839416" y="945122"/>
            <a:ext cx="3312368" cy="732587"/>
          </a:xfrm>
          <a:prstGeom prst="rect">
            <a:avLst/>
          </a:prstGeom>
        </p:spPr>
      </p:pic>
      <p:sp>
        <p:nvSpPr>
          <p:cNvPr id="3" name="object 3"/>
          <p:cNvSpPr txBox="1"/>
          <p:nvPr/>
        </p:nvSpPr>
        <p:spPr>
          <a:xfrm>
            <a:off x="4871864" y="1075404"/>
            <a:ext cx="10537802" cy="423193"/>
          </a:xfrm>
          <a:prstGeom prst="rect">
            <a:avLst/>
          </a:prstGeom>
        </p:spPr>
        <p:txBody>
          <a:bodyPr vert="horz" wrap="square" lIns="0" tIns="0" rIns="0" bIns="0" rtlCol="0">
            <a:spAutoFit/>
          </a:bodyPr>
          <a:lstStyle/>
          <a:p>
            <a:pPr marL="1011237" marR="0">
              <a:lnSpc>
                <a:spcPts val="3339"/>
              </a:lnSpc>
              <a:spcBef>
                <a:spcPts val="3872"/>
              </a:spcBef>
              <a:spcAft>
                <a:spcPts val="0"/>
              </a:spcAft>
            </a:pPr>
            <a:r>
              <a:rPr lang="zh-CN" altLang="en-US" sz="3200" b="1" dirty="0">
                <a:solidFill>
                  <a:srgbClr val="000099"/>
                </a:solidFill>
                <a:highlight>
                  <a:srgbClr val="FFFF00"/>
                </a:highlight>
                <a:latin typeface="OAKHCI+MicrosoftYaHei-Bold"/>
                <a:cs typeface="OAKHCI+MicrosoftYaHei-Bold"/>
              </a:rPr>
              <a:t>流程设计</a:t>
            </a:r>
          </a:p>
        </p:txBody>
      </p:sp>
      <p:sp>
        <p:nvSpPr>
          <p:cNvPr id="4" name="object 4"/>
          <p:cNvSpPr txBox="1"/>
          <p:nvPr/>
        </p:nvSpPr>
        <p:spPr>
          <a:xfrm>
            <a:off x="737755" y="2283834"/>
            <a:ext cx="2166174" cy="386003"/>
          </a:xfrm>
          <a:prstGeom prst="rect">
            <a:avLst/>
          </a:prstGeom>
        </p:spPr>
        <p:txBody>
          <a:bodyPr vert="horz" wrap="square" lIns="0" tIns="0" rIns="0" bIns="0" rtlCol="0">
            <a:spAutoFit/>
          </a:bodyPr>
          <a:lstStyle/>
          <a:p>
            <a:pPr marL="76" marR="0">
              <a:lnSpc>
                <a:spcPts val="3339"/>
              </a:lnSpc>
              <a:spcBef>
                <a:spcPts val="0"/>
              </a:spcBef>
              <a:spcAft>
                <a:spcPts val="0"/>
              </a:spcAft>
            </a:pPr>
            <a:r>
              <a:rPr sz="2400" dirty="0">
                <a:solidFill>
                  <a:srgbClr val="000099"/>
                </a:solidFill>
                <a:highlight>
                  <a:srgbClr val="FFFF00"/>
                </a:highlight>
                <a:latin typeface="PKMLHR+MicrosoftYaHei"/>
                <a:cs typeface="PKMLHR+MicrosoftYaHei"/>
              </a:rPr>
              <a:t>1 </a:t>
            </a:r>
            <a:r>
              <a:rPr lang="zh-CN" altLang="en-US" sz="2400" dirty="0">
                <a:solidFill>
                  <a:srgbClr val="000099"/>
                </a:solidFill>
                <a:highlight>
                  <a:srgbClr val="FFFF00"/>
                </a:highlight>
                <a:latin typeface="PKMLHR+MicrosoftYaHei"/>
                <a:cs typeface="PKMLHR+MicrosoftYaHei"/>
              </a:rPr>
              <a:t>备用金借款</a:t>
            </a:r>
            <a:endParaRPr lang="en-US" altLang="zh-CN" sz="2400" dirty="0">
              <a:solidFill>
                <a:srgbClr val="000099"/>
              </a:solidFill>
              <a:highlight>
                <a:srgbClr val="FFFF00"/>
              </a:highlight>
              <a:latin typeface="PKMLHR+MicrosoftYaHei"/>
              <a:cs typeface="PKMLHR+MicrosoftYaHei"/>
            </a:endParaRPr>
          </a:p>
        </p:txBody>
      </p:sp>
      <p:sp>
        <p:nvSpPr>
          <p:cNvPr id="5" name="object 5"/>
          <p:cNvSpPr txBox="1"/>
          <p:nvPr/>
        </p:nvSpPr>
        <p:spPr>
          <a:xfrm>
            <a:off x="4067908" y="2254744"/>
            <a:ext cx="7416824" cy="4186402"/>
          </a:xfrm>
          <a:prstGeom prst="rect">
            <a:avLst/>
          </a:prstGeom>
        </p:spPr>
        <p:txBody>
          <a:bodyPr vert="horz" wrap="square" lIns="0" tIns="0" rIns="0" bIns="0" rtlCol="0">
            <a:spAutoFit/>
          </a:bodyPr>
          <a:lstStyle/>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备用金申请单：职工采购前向公司预支借款</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差旅申请单：出差前申请，预计交通、时间、金额</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差旅报销单：出差后据实报销，周期、发票、金额、冲备用金</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招待申请单：招待客户前申请，预计人员、时间、金额</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招待报销单：招待客户后据实报销，日期、发票、金额、冲备用金</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日常采购（物料</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商品）报销单：采购实物商品后据实报销，日期、发票、金额、冲备用金</a:t>
            </a:r>
            <a:endParaRPr lang="en-US" altLang="zh-CN" sz="2000" dirty="0">
              <a:solidFill>
                <a:srgbClr val="000099"/>
              </a:solidFill>
              <a:highlight>
                <a:srgbClr val="FFFF00"/>
              </a:highlight>
              <a:latin typeface="PKMLHR+MicrosoftYaHei"/>
              <a:cs typeface="PKMLHR+MicrosoftYaHei"/>
            </a:endParaRPr>
          </a:p>
          <a:p>
            <a:pPr marL="76">
              <a:lnSpc>
                <a:spcPts val="3339"/>
              </a:lnSpc>
            </a:pPr>
            <a:r>
              <a:rPr lang="zh-CN" altLang="en-US" sz="2000" dirty="0">
                <a:solidFill>
                  <a:srgbClr val="000099"/>
                </a:solidFill>
                <a:highlight>
                  <a:srgbClr val="FFFF00"/>
                </a:highlight>
                <a:latin typeface="PKMLHR+MicrosoftYaHei"/>
                <a:cs typeface="PKMLHR+MicrosoftYaHei"/>
              </a:rPr>
              <a:t>日常费用（软件</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服务）报销单：采购服务</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技术等非实物后据实报销，日期、发票、金额、冲备用金</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zh-CN" altLang="en-US" sz="2000" dirty="0">
              <a:solidFill>
                <a:srgbClr val="000099"/>
              </a:solidFill>
              <a:highlight>
                <a:srgbClr val="FFFF00"/>
              </a:highlight>
              <a:latin typeface="PKMLHR+MicrosoftYaHei"/>
              <a:cs typeface="PKMLHR+MicrosoftYaHei"/>
            </a:endParaRPr>
          </a:p>
        </p:txBody>
      </p:sp>
      <p:sp>
        <p:nvSpPr>
          <p:cNvPr id="10" name="object 3">
            <a:extLst>
              <a:ext uri="{FF2B5EF4-FFF2-40B4-BE49-F238E27FC236}">
                <a16:creationId xmlns:a16="http://schemas.microsoft.com/office/drawing/2014/main" id="{0E82262C-0AE2-4CA2-B38F-1C0FA0135D52}"/>
              </a:ext>
            </a:extLst>
          </p:cNvPr>
          <p:cNvSpPr txBox="1"/>
          <p:nvPr/>
        </p:nvSpPr>
        <p:spPr>
          <a:xfrm>
            <a:off x="119336" y="190731"/>
            <a:ext cx="10537802" cy="1346522"/>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FF0000"/>
                </a:solidFill>
                <a:latin typeface="OAKHCI+MicrosoftYaHei-Bold"/>
                <a:cs typeface="OAKHCI+MicrosoftYaHei-Bold"/>
              </a:rPr>
              <a:t>财务管控体系</a:t>
            </a:r>
          </a:p>
          <a:p>
            <a:pPr marL="1011237" marR="0">
              <a:lnSpc>
                <a:spcPts val="3339"/>
              </a:lnSpc>
              <a:spcBef>
                <a:spcPts val="3872"/>
              </a:spcBef>
              <a:spcAft>
                <a:spcPts val="0"/>
              </a:spcAft>
            </a:pPr>
            <a:r>
              <a:rPr lang="zh-CN" altLang="en-US" sz="2800" b="1" dirty="0">
                <a:solidFill>
                  <a:srgbClr val="000099"/>
                </a:solidFill>
                <a:highlight>
                  <a:srgbClr val="FFFF00"/>
                </a:highlight>
                <a:latin typeface="OAKHCI+MicrosoftYaHei-Bold"/>
                <a:cs typeface="OAKHCI+MicrosoftYaHei-Bold"/>
              </a:rPr>
              <a:t>四、日常费用报销</a:t>
            </a:r>
            <a:endParaRPr sz="2800" b="1" dirty="0">
              <a:solidFill>
                <a:srgbClr val="000099"/>
              </a:solidFill>
              <a:highlight>
                <a:srgbClr val="FFFF00"/>
              </a:highlight>
              <a:latin typeface="OAKHCI+MicrosoftYaHei-Bold"/>
              <a:cs typeface="OAKHCI+MicrosoftYaHei-Bold"/>
            </a:endParaRPr>
          </a:p>
        </p:txBody>
      </p:sp>
      <p:sp>
        <p:nvSpPr>
          <p:cNvPr id="9" name="箭头: 右 8">
            <a:extLst>
              <a:ext uri="{FF2B5EF4-FFF2-40B4-BE49-F238E27FC236}">
                <a16:creationId xmlns:a16="http://schemas.microsoft.com/office/drawing/2014/main" id="{D07EE472-6CF6-4B80-AECD-01F415F48203}"/>
              </a:ext>
            </a:extLst>
          </p:cNvPr>
          <p:cNvSpPr/>
          <p:nvPr/>
        </p:nvSpPr>
        <p:spPr>
          <a:xfrm>
            <a:off x="2855640" y="2300733"/>
            <a:ext cx="720080" cy="432048"/>
          </a:xfrm>
          <a:prstGeom prst="rightArrow">
            <a:avLst>
              <a:gd name="adj1" fmla="val 3914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object 4">
            <a:extLst>
              <a:ext uri="{FF2B5EF4-FFF2-40B4-BE49-F238E27FC236}">
                <a16:creationId xmlns:a16="http://schemas.microsoft.com/office/drawing/2014/main" id="{A102FBA4-5395-47E1-B054-EC4B0DD451A2}"/>
              </a:ext>
            </a:extLst>
          </p:cNvPr>
          <p:cNvSpPr txBox="1"/>
          <p:nvPr/>
        </p:nvSpPr>
        <p:spPr>
          <a:xfrm>
            <a:off x="761474" y="2970646"/>
            <a:ext cx="3168352" cy="386003"/>
          </a:xfrm>
          <a:prstGeom prst="rect">
            <a:avLst/>
          </a:prstGeom>
        </p:spPr>
        <p:txBody>
          <a:bodyPr vert="horz" wrap="square" lIns="0" tIns="0" rIns="0" bIns="0" rtlCol="0">
            <a:spAutoFit/>
          </a:bodyPr>
          <a:lstStyle/>
          <a:p>
            <a:pPr marL="76" marR="0">
              <a:lnSpc>
                <a:spcPts val="3339"/>
              </a:lnSpc>
              <a:spcBef>
                <a:spcPts val="0"/>
              </a:spcBef>
              <a:spcAft>
                <a:spcPts val="0"/>
              </a:spcAft>
            </a:pPr>
            <a:r>
              <a:rPr sz="2400" dirty="0">
                <a:solidFill>
                  <a:srgbClr val="000099"/>
                </a:solidFill>
                <a:highlight>
                  <a:srgbClr val="FFFF00"/>
                </a:highlight>
                <a:latin typeface="PKMLHR+MicrosoftYaHei"/>
                <a:cs typeface="PKMLHR+MicrosoftYaHei"/>
              </a:rPr>
              <a:t>2 </a:t>
            </a:r>
            <a:r>
              <a:rPr lang="zh-CN" altLang="en-US" sz="2400" dirty="0">
                <a:solidFill>
                  <a:srgbClr val="000099"/>
                </a:solidFill>
                <a:highlight>
                  <a:srgbClr val="FFFF00"/>
                </a:highlight>
                <a:latin typeface="PKMLHR+MicrosoftYaHei"/>
                <a:cs typeface="PKMLHR+MicrosoftYaHei"/>
              </a:rPr>
              <a:t>差旅报销</a:t>
            </a:r>
            <a:endParaRPr lang="en-US" altLang="zh-CN" sz="2400" dirty="0">
              <a:solidFill>
                <a:srgbClr val="000099"/>
              </a:solidFill>
              <a:highlight>
                <a:srgbClr val="FFFF00"/>
              </a:highlight>
              <a:latin typeface="PKMLHR+MicrosoftYaHei"/>
              <a:cs typeface="PKMLHR+MicrosoftYaHei"/>
            </a:endParaRPr>
          </a:p>
        </p:txBody>
      </p:sp>
      <p:sp>
        <p:nvSpPr>
          <p:cNvPr id="15" name="object 4">
            <a:extLst>
              <a:ext uri="{FF2B5EF4-FFF2-40B4-BE49-F238E27FC236}">
                <a16:creationId xmlns:a16="http://schemas.microsoft.com/office/drawing/2014/main" id="{7406A0B8-F7D7-45FD-A805-E9F0BF19ECBF}"/>
              </a:ext>
            </a:extLst>
          </p:cNvPr>
          <p:cNvSpPr txBox="1"/>
          <p:nvPr/>
        </p:nvSpPr>
        <p:spPr>
          <a:xfrm>
            <a:off x="815180" y="4441910"/>
            <a:ext cx="2808312" cy="386003"/>
          </a:xfrm>
          <a:prstGeom prst="rect">
            <a:avLst/>
          </a:prstGeom>
        </p:spPr>
        <p:txBody>
          <a:bodyPr vert="horz" wrap="square" lIns="0" tIns="0" rIns="0" bIns="0" rtlCol="0">
            <a:spAutoFit/>
          </a:bodyPr>
          <a:lstStyle/>
          <a:p>
            <a:pPr marL="76" marR="0">
              <a:lnSpc>
                <a:spcPts val="3339"/>
              </a:lnSpc>
              <a:spcBef>
                <a:spcPts val="0"/>
              </a:spcBef>
              <a:spcAft>
                <a:spcPts val="0"/>
              </a:spcAft>
            </a:pPr>
            <a:r>
              <a:rPr lang="en-US" sz="2400" dirty="0">
                <a:solidFill>
                  <a:srgbClr val="000099"/>
                </a:solidFill>
                <a:highlight>
                  <a:srgbClr val="FFFF00"/>
                </a:highlight>
                <a:latin typeface="PKMLHR+MicrosoftYaHei"/>
                <a:cs typeface="PKMLHR+MicrosoftYaHei"/>
              </a:rPr>
              <a:t>4 </a:t>
            </a:r>
            <a:r>
              <a:rPr lang="zh-CN" altLang="en-US" sz="2400" dirty="0">
                <a:solidFill>
                  <a:srgbClr val="000099"/>
                </a:solidFill>
                <a:highlight>
                  <a:srgbClr val="FFFF00"/>
                </a:highlight>
                <a:latin typeface="PKMLHR+MicrosoftYaHei"/>
                <a:cs typeface="PKMLHR+MicrosoftYaHei"/>
              </a:rPr>
              <a:t>日常商品采购</a:t>
            </a:r>
            <a:endParaRPr lang="en-US" altLang="zh-CN" sz="2400" dirty="0">
              <a:solidFill>
                <a:srgbClr val="000099"/>
              </a:solidFill>
              <a:highlight>
                <a:srgbClr val="FFFF00"/>
              </a:highlight>
              <a:latin typeface="PKMLHR+MicrosoftYaHei"/>
              <a:cs typeface="PKMLHR+MicrosoftYaHei"/>
            </a:endParaRPr>
          </a:p>
        </p:txBody>
      </p:sp>
      <p:sp>
        <p:nvSpPr>
          <p:cNvPr id="16" name="箭头: 右 15">
            <a:extLst>
              <a:ext uri="{FF2B5EF4-FFF2-40B4-BE49-F238E27FC236}">
                <a16:creationId xmlns:a16="http://schemas.microsoft.com/office/drawing/2014/main" id="{8F2D4DE8-3A6E-4C06-BA26-1D85C7A634BB}"/>
              </a:ext>
            </a:extLst>
          </p:cNvPr>
          <p:cNvSpPr/>
          <p:nvPr/>
        </p:nvSpPr>
        <p:spPr>
          <a:xfrm>
            <a:off x="2855640" y="2970646"/>
            <a:ext cx="791380" cy="432048"/>
          </a:xfrm>
          <a:prstGeom prst="rightArrow">
            <a:avLst>
              <a:gd name="adj1" fmla="val 3914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object 4">
            <a:extLst>
              <a:ext uri="{FF2B5EF4-FFF2-40B4-BE49-F238E27FC236}">
                <a16:creationId xmlns:a16="http://schemas.microsoft.com/office/drawing/2014/main" id="{0F42C51B-7616-404F-8113-0B24AE08B01D}"/>
              </a:ext>
            </a:extLst>
          </p:cNvPr>
          <p:cNvSpPr txBox="1"/>
          <p:nvPr/>
        </p:nvSpPr>
        <p:spPr>
          <a:xfrm>
            <a:off x="761474" y="3682482"/>
            <a:ext cx="1856515" cy="386003"/>
          </a:xfrm>
          <a:prstGeom prst="rect">
            <a:avLst/>
          </a:prstGeom>
        </p:spPr>
        <p:txBody>
          <a:bodyPr vert="horz" wrap="square" lIns="0" tIns="0" rIns="0" bIns="0" rtlCol="0">
            <a:spAutoFit/>
          </a:bodyPr>
          <a:lstStyle/>
          <a:p>
            <a:pPr marL="76" marR="0">
              <a:lnSpc>
                <a:spcPts val="3339"/>
              </a:lnSpc>
              <a:spcBef>
                <a:spcPts val="0"/>
              </a:spcBef>
              <a:spcAft>
                <a:spcPts val="0"/>
              </a:spcAft>
            </a:pPr>
            <a:r>
              <a:rPr sz="2400" dirty="0">
                <a:solidFill>
                  <a:srgbClr val="000099"/>
                </a:solidFill>
                <a:highlight>
                  <a:srgbClr val="FFFF00"/>
                </a:highlight>
                <a:latin typeface="PKMLHR+MicrosoftYaHei"/>
                <a:cs typeface="PKMLHR+MicrosoftYaHei"/>
              </a:rPr>
              <a:t>3 </a:t>
            </a:r>
            <a:r>
              <a:rPr lang="zh-CN" altLang="en-US" sz="2400" dirty="0">
                <a:solidFill>
                  <a:srgbClr val="000099"/>
                </a:solidFill>
                <a:highlight>
                  <a:srgbClr val="FFFF00"/>
                </a:highlight>
                <a:latin typeface="PKMLHR+MicrosoftYaHei"/>
                <a:cs typeface="PKMLHR+MicrosoftYaHei"/>
              </a:rPr>
              <a:t>招待报销</a:t>
            </a:r>
            <a:endParaRPr lang="en-US" altLang="zh-CN" sz="2400" dirty="0">
              <a:solidFill>
                <a:srgbClr val="000099"/>
              </a:solidFill>
              <a:highlight>
                <a:srgbClr val="FFFF00"/>
              </a:highlight>
              <a:latin typeface="PKMLHR+MicrosoftYaHei"/>
              <a:cs typeface="PKMLHR+MicrosoftYaHei"/>
            </a:endParaRPr>
          </a:p>
        </p:txBody>
      </p:sp>
      <p:sp>
        <p:nvSpPr>
          <p:cNvPr id="19" name="object 4">
            <a:extLst>
              <a:ext uri="{FF2B5EF4-FFF2-40B4-BE49-F238E27FC236}">
                <a16:creationId xmlns:a16="http://schemas.microsoft.com/office/drawing/2014/main" id="{9FCE79EA-D5BD-4D7F-B7A2-3116867BFBEF}"/>
              </a:ext>
            </a:extLst>
          </p:cNvPr>
          <p:cNvSpPr txBox="1"/>
          <p:nvPr/>
        </p:nvSpPr>
        <p:spPr>
          <a:xfrm>
            <a:off x="728650" y="5295694"/>
            <a:ext cx="3168352" cy="386003"/>
          </a:xfrm>
          <a:prstGeom prst="rect">
            <a:avLst/>
          </a:prstGeom>
        </p:spPr>
        <p:txBody>
          <a:bodyPr vert="horz" wrap="square" lIns="0" tIns="0" rIns="0" bIns="0" rtlCol="0">
            <a:spAutoFit/>
          </a:bodyPr>
          <a:lstStyle/>
          <a:p>
            <a:pPr marL="76" marR="0">
              <a:lnSpc>
                <a:spcPts val="3339"/>
              </a:lnSpc>
              <a:spcBef>
                <a:spcPts val="0"/>
              </a:spcBef>
              <a:spcAft>
                <a:spcPts val="0"/>
              </a:spcAft>
            </a:pPr>
            <a:r>
              <a:rPr lang="en-US" altLang="zh-CN" sz="2400" dirty="0">
                <a:solidFill>
                  <a:srgbClr val="000099"/>
                </a:solidFill>
                <a:highlight>
                  <a:srgbClr val="FFFF00"/>
                </a:highlight>
                <a:latin typeface="PKMLHR+MicrosoftYaHei"/>
                <a:cs typeface="PKMLHR+MicrosoftYaHei"/>
              </a:rPr>
              <a:t>5</a:t>
            </a:r>
            <a:r>
              <a:rPr lang="zh-CN" altLang="en-US" sz="2400" dirty="0">
                <a:solidFill>
                  <a:srgbClr val="000099"/>
                </a:solidFill>
                <a:highlight>
                  <a:srgbClr val="FFFF00"/>
                </a:highlight>
                <a:latin typeface="PKMLHR+MicrosoftYaHei"/>
                <a:cs typeface="PKMLHR+MicrosoftYaHei"/>
              </a:rPr>
              <a:t>、日常服务采购</a:t>
            </a:r>
            <a:endParaRPr lang="en-US" altLang="zh-CN" sz="2400" dirty="0">
              <a:solidFill>
                <a:srgbClr val="000099"/>
              </a:solidFill>
              <a:highlight>
                <a:srgbClr val="FFFF00"/>
              </a:highlight>
              <a:latin typeface="PKMLHR+MicrosoftYaHei"/>
              <a:cs typeface="PKMLHR+MicrosoftYaHei"/>
            </a:endParaRPr>
          </a:p>
        </p:txBody>
      </p:sp>
      <p:sp>
        <p:nvSpPr>
          <p:cNvPr id="20" name="箭头: 右 19">
            <a:extLst>
              <a:ext uri="{FF2B5EF4-FFF2-40B4-BE49-F238E27FC236}">
                <a16:creationId xmlns:a16="http://schemas.microsoft.com/office/drawing/2014/main" id="{6004031F-F588-46FF-8396-3D38D08BEC1B}"/>
              </a:ext>
            </a:extLst>
          </p:cNvPr>
          <p:cNvSpPr/>
          <p:nvPr/>
        </p:nvSpPr>
        <p:spPr>
          <a:xfrm>
            <a:off x="2972677" y="4453174"/>
            <a:ext cx="699111" cy="432048"/>
          </a:xfrm>
          <a:prstGeom prst="rightArrow">
            <a:avLst>
              <a:gd name="adj1" fmla="val 3914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E37EDBD2-0817-4BB8-AD59-728CD95502B2}"/>
              </a:ext>
            </a:extLst>
          </p:cNvPr>
          <p:cNvSpPr/>
          <p:nvPr/>
        </p:nvSpPr>
        <p:spPr>
          <a:xfrm>
            <a:off x="3171163" y="5295694"/>
            <a:ext cx="548219" cy="432048"/>
          </a:xfrm>
          <a:prstGeom prst="rightArrow">
            <a:avLst>
              <a:gd name="adj1" fmla="val 3914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23BBED7-C911-4BE2-8411-25BE519E0DA4}"/>
              </a:ext>
            </a:extLst>
          </p:cNvPr>
          <p:cNvSpPr/>
          <p:nvPr/>
        </p:nvSpPr>
        <p:spPr>
          <a:xfrm>
            <a:off x="2855640" y="3720969"/>
            <a:ext cx="791380" cy="432048"/>
          </a:xfrm>
          <a:prstGeom prst="rightArrow">
            <a:avLst>
              <a:gd name="adj1" fmla="val 3914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下 22">
            <a:extLst>
              <a:ext uri="{FF2B5EF4-FFF2-40B4-BE49-F238E27FC236}">
                <a16:creationId xmlns:a16="http://schemas.microsoft.com/office/drawing/2014/main" id="{4420583D-9D9B-45F3-AF05-74D4ADE533B4}"/>
              </a:ext>
            </a:extLst>
          </p:cNvPr>
          <p:cNvSpPr/>
          <p:nvPr/>
        </p:nvSpPr>
        <p:spPr>
          <a:xfrm>
            <a:off x="1319572" y="2716925"/>
            <a:ext cx="318084" cy="27874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F4FCF09D-80AF-4F36-AA2C-89B10C468CD5}"/>
              </a:ext>
            </a:extLst>
          </p:cNvPr>
          <p:cNvSpPr/>
          <p:nvPr/>
        </p:nvSpPr>
        <p:spPr>
          <a:xfrm>
            <a:off x="4534835" y="3828981"/>
            <a:ext cx="337029" cy="21602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a:extLst>
              <a:ext uri="{FF2B5EF4-FFF2-40B4-BE49-F238E27FC236}">
                <a16:creationId xmlns:a16="http://schemas.microsoft.com/office/drawing/2014/main" id="{CA7A7FA9-2ED1-4C54-991E-310C75839457}"/>
              </a:ext>
            </a:extLst>
          </p:cNvPr>
          <p:cNvSpPr/>
          <p:nvPr/>
        </p:nvSpPr>
        <p:spPr>
          <a:xfrm>
            <a:off x="4560567" y="3009971"/>
            <a:ext cx="318084" cy="176699"/>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374A5AA9-2409-4C3C-8E0E-F20B5D05D572}"/>
              </a:ext>
            </a:extLst>
          </p:cNvPr>
          <p:cNvGraphicFramePr>
            <a:graphicFrameLocks noGrp="1"/>
          </p:cNvGraphicFramePr>
          <p:nvPr>
            <p:extLst>
              <p:ext uri="{D42A27DB-BD31-4B8C-83A1-F6EECF244321}">
                <p14:modId xmlns:p14="http://schemas.microsoft.com/office/powerpoint/2010/main" val="1368096226"/>
              </p:ext>
            </p:extLst>
          </p:nvPr>
        </p:nvGraphicFramePr>
        <p:xfrm>
          <a:off x="2063552" y="692696"/>
          <a:ext cx="9217024" cy="5760637"/>
        </p:xfrm>
        <a:graphic>
          <a:graphicData uri="http://schemas.openxmlformats.org/drawingml/2006/table">
            <a:tbl>
              <a:tblPr>
                <a:tableStyleId>{5C22544A-7EE6-4342-B048-85BDC9FD1C3A}</a:tableStyleId>
              </a:tblPr>
              <a:tblGrid>
                <a:gridCol w="1052114">
                  <a:extLst>
                    <a:ext uri="{9D8B030D-6E8A-4147-A177-3AD203B41FA5}">
                      <a16:colId xmlns:a16="http://schemas.microsoft.com/office/drawing/2014/main" val="2087088103"/>
                    </a:ext>
                  </a:extLst>
                </a:gridCol>
                <a:gridCol w="848412">
                  <a:extLst>
                    <a:ext uri="{9D8B030D-6E8A-4147-A177-3AD203B41FA5}">
                      <a16:colId xmlns:a16="http://schemas.microsoft.com/office/drawing/2014/main" val="968346784"/>
                    </a:ext>
                  </a:extLst>
                </a:gridCol>
                <a:gridCol w="840011">
                  <a:extLst>
                    <a:ext uri="{9D8B030D-6E8A-4147-A177-3AD203B41FA5}">
                      <a16:colId xmlns:a16="http://schemas.microsoft.com/office/drawing/2014/main" val="2482379603"/>
                    </a:ext>
                  </a:extLst>
                </a:gridCol>
                <a:gridCol w="875712">
                  <a:extLst>
                    <a:ext uri="{9D8B030D-6E8A-4147-A177-3AD203B41FA5}">
                      <a16:colId xmlns:a16="http://schemas.microsoft.com/office/drawing/2014/main" val="1602067535"/>
                    </a:ext>
                  </a:extLst>
                </a:gridCol>
                <a:gridCol w="2104228">
                  <a:extLst>
                    <a:ext uri="{9D8B030D-6E8A-4147-A177-3AD203B41FA5}">
                      <a16:colId xmlns:a16="http://schemas.microsoft.com/office/drawing/2014/main" val="1750103729"/>
                    </a:ext>
                  </a:extLst>
                </a:gridCol>
                <a:gridCol w="693009">
                  <a:extLst>
                    <a:ext uri="{9D8B030D-6E8A-4147-A177-3AD203B41FA5}">
                      <a16:colId xmlns:a16="http://schemas.microsoft.com/office/drawing/2014/main" val="3510143869"/>
                    </a:ext>
                  </a:extLst>
                </a:gridCol>
                <a:gridCol w="1052114">
                  <a:extLst>
                    <a:ext uri="{9D8B030D-6E8A-4147-A177-3AD203B41FA5}">
                      <a16:colId xmlns:a16="http://schemas.microsoft.com/office/drawing/2014/main" val="2512758410"/>
                    </a:ext>
                  </a:extLst>
                </a:gridCol>
                <a:gridCol w="1751424">
                  <a:extLst>
                    <a:ext uri="{9D8B030D-6E8A-4147-A177-3AD203B41FA5}">
                      <a16:colId xmlns:a16="http://schemas.microsoft.com/office/drawing/2014/main" val="3145763226"/>
                    </a:ext>
                  </a:extLst>
                </a:gridCol>
              </a:tblGrid>
              <a:tr h="431534">
                <a:tc gridSpan="8">
                  <a:txBody>
                    <a:bodyPr/>
                    <a:lstStyle/>
                    <a:p>
                      <a:pPr algn="ctr" fontAlgn="ctr"/>
                      <a:r>
                        <a:rPr lang="zh-CN" altLang="en-US" sz="800" u="none" strike="noStrike" dirty="0">
                          <a:effectLst/>
                        </a:rPr>
                        <a:t>备用金申请单（借款单）</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11378783"/>
                  </a:ext>
                </a:extLst>
              </a:tr>
              <a:tr h="431534">
                <a:tc gridSpan="2">
                  <a:txBody>
                    <a:bodyPr/>
                    <a:lstStyle/>
                    <a:p>
                      <a:pPr algn="l" fontAlgn="ctr"/>
                      <a:r>
                        <a:rPr lang="zh-CN" altLang="en-US" sz="700" u="none" strike="noStrike">
                          <a:effectLst/>
                        </a:rPr>
                        <a:t>单据编号：</a:t>
                      </a:r>
                      <a:r>
                        <a:rPr lang="en-US" altLang="zh-CN" sz="700" u="none" strike="noStrike">
                          <a:effectLst/>
                        </a:rPr>
                        <a:t>____________</a:t>
                      </a: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申请日期：</a:t>
                      </a:r>
                      <a:r>
                        <a:rPr lang="en-US" altLang="zh-CN" sz="700" u="none" strike="noStrike">
                          <a:effectLst/>
                        </a:rPr>
                        <a:t>____</a:t>
                      </a:r>
                      <a:r>
                        <a:rPr lang="zh-CN" altLang="en-US" sz="700" u="none" strike="noStrike">
                          <a:effectLst/>
                        </a:rPr>
                        <a:t>年</a:t>
                      </a:r>
                      <a:r>
                        <a:rPr lang="en-US" altLang="zh-CN" sz="700" u="none" strike="noStrike">
                          <a:effectLst/>
                        </a:rPr>
                        <a:t>____</a:t>
                      </a:r>
                      <a:r>
                        <a:rPr lang="zh-CN" altLang="en-US" sz="700" u="none" strike="noStrike">
                          <a:effectLst/>
                        </a:rPr>
                        <a:t>月</a:t>
                      </a:r>
                      <a:r>
                        <a:rPr lang="en-US" altLang="zh-CN" sz="700" u="none" strike="noStrike">
                          <a:effectLst/>
                        </a:rPr>
                        <a:t>____</a:t>
                      </a:r>
                      <a:r>
                        <a:rPr lang="zh-CN" altLang="en-US" sz="700" u="none" strike="noStrike">
                          <a:effectLst/>
                        </a:rPr>
                        <a:t>日</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a:txBody>
                    <a:bodyPr/>
                    <a:lstStyle/>
                    <a:p>
                      <a:pPr algn="l" fontAlgn="ctr"/>
                      <a:r>
                        <a:rPr lang="zh-CN" altLang="en-US" sz="700" u="none" strike="noStrike">
                          <a:effectLst/>
                        </a:rPr>
                        <a:t>申请人：</a:t>
                      </a:r>
                      <a:r>
                        <a:rPr lang="en-US" altLang="zh-CN" sz="700" u="none" strike="noStrike">
                          <a:effectLst/>
                        </a:rPr>
                        <a:t>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2">
                  <a:txBody>
                    <a:bodyPr/>
                    <a:lstStyle/>
                    <a:p>
                      <a:pPr algn="l" fontAlgn="ctr"/>
                      <a:r>
                        <a:rPr lang="zh-CN" altLang="en-US" sz="700" u="none" strike="noStrike">
                          <a:effectLst/>
                        </a:rPr>
                        <a:t>所属部门：</a:t>
                      </a:r>
                      <a:r>
                        <a:rPr lang="en-US" altLang="zh-CN" sz="700" u="none" strike="noStrike">
                          <a:effectLst/>
                        </a:rPr>
                        <a:t>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a:txBody>
                    <a:bodyPr/>
                    <a:lstStyle/>
                    <a:p>
                      <a:pPr algn="l" fontAlgn="ctr"/>
                      <a:r>
                        <a:rPr lang="zh-CN" altLang="en-US" sz="700" u="none" strike="noStrike">
                          <a:effectLst/>
                        </a:rPr>
                        <a:t>联系电话：</a:t>
                      </a:r>
                      <a:r>
                        <a:rPr lang="en-US" altLang="zh-CN" sz="700" u="none" strike="noStrike">
                          <a:effectLst/>
                        </a:rPr>
                        <a:t>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extLst>
                  <a:ext uri="{0D108BD9-81ED-4DB2-BD59-A6C34878D82A}">
                    <a16:rowId xmlns:a16="http://schemas.microsoft.com/office/drawing/2014/main" val="860368343"/>
                  </a:ext>
                </a:extLst>
              </a:tr>
              <a:tr h="431534">
                <a:tc>
                  <a:txBody>
                    <a:bodyPr/>
                    <a:lstStyle/>
                    <a:p>
                      <a:pPr algn="l" fontAlgn="ctr"/>
                      <a:r>
                        <a:rPr lang="zh-CN" altLang="en-US" sz="700" u="none" strike="noStrike">
                          <a:effectLst/>
                        </a:rPr>
                        <a:t>借款用途类型</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5">
                  <a:txBody>
                    <a:bodyPr/>
                    <a:lstStyle/>
                    <a:p>
                      <a:pPr algn="l" fontAlgn="ctr"/>
                      <a:r>
                        <a:rPr lang="zh-CN" altLang="en-US" sz="700" u="none" strike="noStrike">
                          <a:effectLst/>
                        </a:rPr>
                        <a:t>□ 出差备用金（差旅费）□ 采购备用金□ 项目周转备用金　□ 日常行政开支　□ 其他：</a:t>
                      </a:r>
                      <a:r>
                        <a:rPr lang="en-US" altLang="zh-CN" sz="700" u="none" strike="noStrike">
                          <a:effectLst/>
                        </a:rPr>
                        <a:t>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700" u="none" strike="noStrike">
                          <a:effectLst/>
                        </a:rPr>
                        <a:t>具体用途说明：</a:t>
                      </a:r>
                      <a:r>
                        <a:rPr lang="en-US" altLang="zh-CN" sz="700" u="none" strike="noStrike">
                          <a:effectLst/>
                        </a:rPr>
                        <a:t>_________________________________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566856361"/>
                  </a:ext>
                </a:extLst>
              </a:tr>
              <a:tr h="431534">
                <a:tc>
                  <a:txBody>
                    <a:bodyPr/>
                    <a:lstStyle/>
                    <a:p>
                      <a:pPr algn="l" fontAlgn="ctr"/>
                      <a:r>
                        <a:rPr lang="zh-CN" altLang="en-US" sz="700" u="none" strike="noStrike">
                          <a:effectLst/>
                        </a:rPr>
                        <a:t>借款金额信息</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3">
                  <a:txBody>
                    <a:bodyPr/>
                    <a:lstStyle/>
                    <a:p>
                      <a:pPr algn="l" fontAlgn="ctr"/>
                      <a:r>
                        <a:rPr lang="zh-CN" altLang="en-US" sz="700" u="none" strike="noStrike">
                          <a:effectLst/>
                        </a:rPr>
                        <a:t>申请借款金额（小写）：￥</a:t>
                      </a:r>
                      <a:r>
                        <a:rPr lang="en-US" altLang="zh-CN" sz="700" u="none" strike="noStrike">
                          <a:effectLst/>
                        </a:rPr>
                        <a:t>_________________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700" u="none" strike="noStrike">
                          <a:effectLst/>
                        </a:rPr>
                        <a:t>大写：人民币</a:t>
                      </a:r>
                      <a:r>
                        <a:rPr lang="en-US" altLang="zh-CN" sz="700" u="none" strike="noStrike">
                          <a:effectLst/>
                        </a:rPr>
                        <a:t>_____________________</a:t>
                      </a:r>
                      <a:r>
                        <a:rPr lang="zh-CN" altLang="en-US" sz="700" u="none" strike="noStrike">
                          <a:effectLst/>
                        </a:rPr>
                        <a:t>元整</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预计冲账</a:t>
                      </a:r>
                      <a:r>
                        <a:rPr lang="en-US" altLang="zh-CN" sz="700" u="none" strike="noStrike">
                          <a:effectLst/>
                        </a:rPr>
                        <a:t>/</a:t>
                      </a:r>
                      <a:r>
                        <a:rPr lang="zh-CN" altLang="en-US" sz="700" u="none" strike="noStrike">
                          <a:effectLst/>
                        </a:rPr>
                        <a:t>归还日期：</a:t>
                      </a:r>
                      <a:r>
                        <a:rPr lang="en-US" altLang="zh-CN" sz="700" u="none" strike="noStrike">
                          <a:effectLst/>
                        </a:rPr>
                        <a:t>______</a:t>
                      </a:r>
                      <a:r>
                        <a:rPr lang="zh-CN" altLang="en-US" sz="700" u="none" strike="noStrike">
                          <a:effectLst/>
                        </a:rPr>
                        <a:t>年</a:t>
                      </a:r>
                      <a:r>
                        <a:rPr lang="en-US" altLang="zh-CN" sz="700" u="none" strike="noStrike">
                          <a:effectLst/>
                        </a:rPr>
                        <a:t>_____</a:t>
                      </a:r>
                      <a:r>
                        <a:rPr lang="zh-CN" altLang="en-US" sz="700" u="none" strike="noStrike">
                          <a:effectLst/>
                        </a:rPr>
                        <a:t>月</a:t>
                      </a:r>
                      <a:r>
                        <a:rPr lang="en-US" altLang="zh-CN" sz="700" u="none" strike="noStrike">
                          <a:effectLst/>
                        </a:rPr>
                        <a:t>____</a:t>
                      </a:r>
                      <a:r>
                        <a:rPr lang="zh-CN" altLang="en-US" sz="700" u="none" strike="noStrike">
                          <a:effectLst/>
                        </a:rPr>
                        <a:t>日</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1700363205"/>
                  </a:ext>
                </a:extLst>
              </a:tr>
              <a:tr h="1013763">
                <a:tc gridSpan="8">
                  <a:txBody>
                    <a:bodyPr/>
                    <a:lstStyle/>
                    <a:p>
                      <a:pPr algn="l" fontAlgn="ctr"/>
                      <a:r>
                        <a:rPr lang="zh-CN" altLang="en-US" sz="700" u="none" strike="noStrike">
                          <a:effectLst/>
                        </a:rPr>
                        <a:t>冲账与还款约定</a:t>
                      </a:r>
                      <a:br>
                        <a:rPr lang="zh-CN" altLang="en-US" sz="700" u="none" strike="noStrike">
                          <a:effectLst/>
                        </a:rPr>
                      </a:br>
                      <a:r>
                        <a:rPr lang="en-US" altLang="zh-CN" sz="700" u="none" strike="noStrike">
                          <a:effectLst/>
                        </a:rPr>
                        <a:t>1. </a:t>
                      </a:r>
                      <a:r>
                        <a:rPr lang="zh-CN" altLang="en-US" sz="700" u="none" strike="noStrike">
                          <a:effectLst/>
                        </a:rPr>
                        <a:t>本人承诺专款专用，不挪用、不私用，严格按照公司财务制度使用备用金。</a:t>
                      </a:r>
                      <a:br>
                        <a:rPr lang="zh-CN" altLang="en-US" sz="700" u="none" strike="noStrike">
                          <a:effectLst/>
                        </a:rPr>
                      </a:br>
                      <a:r>
                        <a:rPr lang="en-US" altLang="zh-CN" sz="700" u="none" strike="noStrike">
                          <a:effectLst/>
                        </a:rPr>
                        <a:t>2. </a:t>
                      </a:r>
                      <a:r>
                        <a:rPr lang="zh-CN" altLang="en-US" sz="700" u="none" strike="noStrike">
                          <a:effectLst/>
                        </a:rPr>
                        <a:t>业务结束后</a:t>
                      </a:r>
                      <a:r>
                        <a:rPr lang="en-US" altLang="zh-CN" sz="700" u="none" strike="noStrike">
                          <a:effectLst/>
                        </a:rPr>
                        <a:t>30</a:t>
                      </a:r>
                      <a:r>
                        <a:rPr lang="zh-CN" altLang="en-US" sz="700" u="none" strike="noStrike">
                          <a:effectLst/>
                        </a:rPr>
                        <a:t>个工作日内完成报销冲账或余额归还，逾期未冲账、未归还，公司有权从工资中抵扣。</a:t>
                      </a:r>
                      <a:br>
                        <a:rPr lang="zh-CN" altLang="en-US" sz="700" u="none" strike="noStrike">
                          <a:effectLst/>
                        </a:rPr>
                      </a:br>
                      <a:r>
                        <a:rPr lang="en-US" altLang="zh-CN" sz="700" u="none" strike="noStrike">
                          <a:effectLst/>
                        </a:rPr>
                        <a:t>3. </a:t>
                      </a:r>
                      <a:r>
                        <a:rPr lang="zh-CN" altLang="en-US" sz="700" u="none" strike="noStrike">
                          <a:effectLst/>
                        </a:rPr>
                        <a:t>票据真实合规，如有虚假票据、违规使用资金，本人承担全部责任。</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8110152"/>
                  </a:ext>
                </a:extLst>
              </a:tr>
              <a:tr h="431534">
                <a:tc gridSpan="4">
                  <a:txBody>
                    <a:bodyPr/>
                    <a:lstStyle/>
                    <a:p>
                      <a:pPr algn="ctr" fontAlgn="ctr"/>
                      <a:r>
                        <a:rPr lang="zh-CN" altLang="en-US" sz="700" u="none" strike="noStrike">
                          <a:effectLst/>
                        </a:rPr>
                        <a:t>审批签字栏</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700" u="none" strike="noStrike">
                          <a:effectLst/>
                        </a:rPr>
                        <a:t>财务放款及核销记录（财务</a:t>
                      </a:r>
                      <a:r>
                        <a:rPr lang="en-US" altLang="zh-CN" sz="700" u="none" strike="noStrike">
                          <a:effectLst/>
                        </a:rPr>
                        <a:t>/</a:t>
                      </a:r>
                      <a:r>
                        <a:rPr lang="zh-CN" altLang="en-US" sz="700" u="none" strike="noStrike">
                          <a:effectLst/>
                        </a:rPr>
                        <a:t>出纳填写）</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05782415"/>
                  </a:ext>
                </a:extLst>
              </a:tr>
              <a:tr h="431534">
                <a:tc>
                  <a:txBody>
                    <a:bodyPr/>
                    <a:lstStyle/>
                    <a:p>
                      <a:pPr algn="ctr" fontAlgn="ctr"/>
                      <a:r>
                        <a:rPr lang="zh-CN" altLang="en-US" sz="700" u="none" strike="noStrike">
                          <a:effectLst/>
                        </a:rPr>
                        <a:t>岗位</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ctr" fontAlgn="ctr"/>
                      <a:r>
                        <a:rPr lang="zh-CN" altLang="en-US" sz="700" u="none" strike="noStrike">
                          <a:effectLst/>
                        </a:rPr>
                        <a:t>签字</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ctr" fontAlgn="ctr"/>
                      <a:r>
                        <a:rPr lang="zh-CN" altLang="en-US" sz="700" u="none" strike="noStrike">
                          <a:effectLst/>
                        </a:rPr>
                        <a:t>日期</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ctr" fontAlgn="ctr"/>
                      <a:r>
                        <a:rPr lang="zh-CN" altLang="en-US" sz="700" u="none" strike="noStrike">
                          <a:effectLst/>
                        </a:rPr>
                        <a:t>审核意见</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2">
                  <a:txBody>
                    <a:bodyPr/>
                    <a:lstStyle/>
                    <a:p>
                      <a:pPr algn="l" fontAlgn="ctr"/>
                      <a:r>
                        <a:rPr lang="zh-CN" altLang="en-US" sz="700" u="none" strike="noStrike">
                          <a:effectLst/>
                        </a:rPr>
                        <a:t>实际放款日期：</a:t>
                      </a:r>
                      <a:r>
                        <a:rPr lang="en-US" altLang="zh-CN" sz="700" u="none" strike="noStrike">
                          <a:effectLst/>
                        </a:rPr>
                        <a:t>______</a:t>
                      </a:r>
                      <a:r>
                        <a:rPr lang="zh-CN" altLang="en-US" sz="700" u="none" strike="noStrike">
                          <a:effectLst/>
                        </a:rPr>
                        <a:t>年</a:t>
                      </a:r>
                      <a:r>
                        <a:rPr lang="en-US" altLang="zh-CN" sz="700" u="none" strike="noStrike">
                          <a:effectLst/>
                        </a:rPr>
                        <a:t>______</a:t>
                      </a:r>
                      <a:r>
                        <a:rPr lang="zh-CN" altLang="en-US" sz="700" u="none" strike="noStrike">
                          <a:effectLst/>
                        </a:rPr>
                        <a:t>月</a:t>
                      </a:r>
                      <a:r>
                        <a:rPr lang="en-US" altLang="zh-CN" sz="700" u="none" strike="noStrike">
                          <a:effectLst/>
                        </a:rPr>
                        <a:t>____</a:t>
                      </a:r>
                      <a:r>
                        <a:rPr lang="zh-CN" altLang="en-US" sz="700" u="none" strike="noStrike">
                          <a:effectLst/>
                        </a:rPr>
                        <a:t>日</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付款方式：□现金 □对公转账 □微信</a:t>
                      </a:r>
                      <a:r>
                        <a:rPr lang="en-US" altLang="zh-CN" sz="700" u="none" strike="noStrike">
                          <a:effectLst/>
                        </a:rPr>
                        <a:t>/</a:t>
                      </a:r>
                      <a:r>
                        <a:rPr lang="zh-CN" altLang="en-US" sz="700" u="none" strike="noStrike">
                          <a:effectLst/>
                        </a:rPr>
                        <a:t>支付宝</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1542586085"/>
                  </a:ext>
                </a:extLst>
              </a:tr>
              <a:tr h="431534">
                <a:tc>
                  <a:txBody>
                    <a:bodyPr/>
                    <a:lstStyle/>
                    <a:p>
                      <a:pPr algn="l" fontAlgn="ctr"/>
                      <a:r>
                        <a:rPr lang="zh-CN" altLang="en-US" sz="700" u="none" strike="noStrike">
                          <a:effectLst/>
                        </a:rPr>
                        <a:t>申请人承诺签字</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本人已知悉备用金制度</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2">
                  <a:txBody>
                    <a:bodyPr/>
                    <a:lstStyle/>
                    <a:p>
                      <a:pPr algn="l" fontAlgn="ctr"/>
                      <a:r>
                        <a:rPr lang="zh-CN" altLang="en-US" sz="700" u="none" strike="noStrike">
                          <a:effectLst/>
                        </a:rPr>
                        <a:t>付款流水号</a:t>
                      </a:r>
                      <a:r>
                        <a:rPr lang="en-US" altLang="zh-CN" sz="700" u="none" strike="noStrike">
                          <a:effectLst/>
                        </a:rPr>
                        <a:t>/</a:t>
                      </a:r>
                      <a:r>
                        <a:rPr lang="zh-CN" altLang="en-US" sz="700" u="none" strike="noStrike">
                          <a:effectLst/>
                        </a:rPr>
                        <a:t>凭证号：</a:t>
                      </a:r>
                      <a:r>
                        <a:rPr lang="en-US" altLang="zh-CN" sz="700" u="none" strike="noStrike">
                          <a:effectLst/>
                        </a:rPr>
                        <a:t>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本次报销冲账金额：￥</a:t>
                      </a:r>
                      <a:r>
                        <a:rPr lang="en-US" altLang="zh-CN" sz="700" u="none" strike="noStrike">
                          <a:effectLst/>
                        </a:rPr>
                        <a:t>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3901949433"/>
                  </a:ext>
                </a:extLst>
              </a:tr>
              <a:tr h="431534">
                <a:tc>
                  <a:txBody>
                    <a:bodyPr/>
                    <a:lstStyle/>
                    <a:p>
                      <a:pPr algn="l" fontAlgn="ctr"/>
                      <a:r>
                        <a:rPr lang="zh-CN" altLang="en-US" sz="700" u="none" strike="noStrike">
                          <a:effectLst/>
                        </a:rPr>
                        <a:t>部门负责人审批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2">
                  <a:txBody>
                    <a:bodyPr/>
                    <a:lstStyle/>
                    <a:p>
                      <a:pPr algn="l" fontAlgn="ctr"/>
                      <a:r>
                        <a:rPr lang="zh-CN" altLang="en-US" sz="700" u="none" strike="noStrike">
                          <a:effectLst/>
                        </a:rPr>
                        <a:t>剩余归还金额：￥</a:t>
                      </a:r>
                      <a:r>
                        <a:rPr lang="en-US" altLang="zh-CN" sz="700" u="none" strike="noStrike">
                          <a:effectLst/>
                        </a:rPr>
                        <a:t>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冲账完成状态：□未冲账 □部分冲账 □全部核销结清</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562679032"/>
                  </a:ext>
                </a:extLst>
              </a:tr>
              <a:tr h="431534">
                <a:tc>
                  <a:txBody>
                    <a:bodyPr/>
                    <a:lstStyle/>
                    <a:p>
                      <a:pPr algn="l" fontAlgn="ctr"/>
                      <a:r>
                        <a:rPr lang="zh-CN" altLang="en-US" sz="700" u="none" strike="noStrike">
                          <a:effectLst/>
                        </a:rPr>
                        <a:t>财务审核（余额</a:t>
                      </a:r>
                      <a:r>
                        <a:rPr lang="en-US" altLang="zh-CN" sz="700" u="none" strike="noStrike">
                          <a:effectLst/>
                        </a:rPr>
                        <a:t>/</a:t>
                      </a:r>
                      <a:r>
                        <a:rPr lang="zh-CN" altLang="en-US" sz="700" u="none" strike="noStrike">
                          <a:effectLst/>
                        </a:rPr>
                        <a:t>合规性）</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2">
                  <a:txBody>
                    <a:bodyPr/>
                    <a:lstStyle/>
                    <a:p>
                      <a:pPr algn="l" fontAlgn="ctr"/>
                      <a:r>
                        <a:rPr lang="zh-CN" altLang="en-US" sz="700" u="none" strike="noStrike">
                          <a:effectLst/>
                        </a:rPr>
                        <a:t>核销完成日期：</a:t>
                      </a:r>
                      <a:r>
                        <a:rPr lang="en-US" altLang="zh-CN" sz="700" u="none" strike="noStrike">
                          <a:effectLst/>
                        </a:rPr>
                        <a:t>____</a:t>
                      </a:r>
                      <a:r>
                        <a:rPr lang="zh-CN" altLang="en-US" sz="700" u="none" strike="noStrike">
                          <a:effectLst/>
                        </a:rPr>
                        <a:t>年</a:t>
                      </a:r>
                      <a:r>
                        <a:rPr lang="en-US" altLang="zh-CN" sz="700" u="none" strike="noStrike">
                          <a:effectLst/>
                        </a:rPr>
                        <a:t>__</a:t>
                      </a:r>
                      <a:r>
                        <a:rPr lang="zh-CN" altLang="en-US" sz="700" u="none" strike="noStrike">
                          <a:effectLst/>
                        </a:rPr>
                        <a:t>月</a:t>
                      </a:r>
                      <a:r>
                        <a:rPr lang="en-US" altLang="zh-CN" sz="700" u="none" strike="noStrike">
                          <a:effectLst/>
                        </a:rPr>
                        <a:t>__</a:t>
                      </a:r>
                      <a:r>
                        <a:rPr lang="zh-CN" altLang="en-US" sz="700" u="none" strike="noStrike">
                          <a:effectLst/>
                        </a:rPr>
                        <a:t>日</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tc gridSpan="2">
                  <a:txBody>
                    <a:bodyPr/>
                    <a:lstStyle/>
                    <a:p>
                      <a:pPr algn="l" fontAlgn="ctr"/>
                      <a:r>
                        <a:rPr lang="zh-CN" altLang="en-US" sz="700" u="none" strike="noStrike">
                          <a:effectLst/>
                        </a:rPr>
                        <a:t>财务经办人：</a:t>
                      </a:r>
                      <a:r>
                        <a:rPr lang="en-US" altLang="zh-CN" sz="700" u="none" strike="noStrike">
                          <a:effectLst/>
                        </a:rPr>
                        <a:t>______________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hMerge="1">
                  <a:txBody>
                    <a:bodyPr/>
                    <a:lstStyle/>
                    <a:p>
                      <a:endParaRPr lang="zh-CN" altLang="en-US"/>
                    </a:p>
                  </a:txBody>
                  <a:tcPr/>
                </a:tc>
                <a:extLst>
                  <a:ext uri="{0D108BD9-81ED-4DB2-BD59-A6C34878D82A}">
                    <a16:rowId xmlns:a16="http://schemas.microsoft.com/office/drawing/2014/main" val="2634525131"/>
                  </a:ext>
                </a:extLst>
              </a:tr>
              <a:tr h="431534">
                <a:tc>
                  <a:txBody>
                    <a:bodyPr/>
                    <a:lstStyle/>
                    <a:p>
                      <a:pPr algn="l" fontAlgn="ctr"/>
                      <a:r>
                        <a:rPr lang="zh-CN" altLang="en-US" sz="700" u="none" strike="noStrike">
                          <a:effectLst/>
                        </a:rPr>
                        <a:t>财务负责人审批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rowSpan="2" gridSpan="4">
                  <a:txBody>
                    <a:bodyPr/>
                    <a:lstStyle/>
                    <a:p>
                      <a:pPr algn="l" fontAlgn="ctr"/>
                      <a:r>
                        <a:rPr lang="zh-CN" altLang="en-US" sz="700" u="none" strike="noStrike">
                          <a:effectLst/>
                        </a:rPr>
                        <a:t>备注：本单据一式两联（财务联、申请人留存联）</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extLst>
                  <a:ext uri="{0D108BD9-81ED-4DB2-BD59-A6C34878D82A}">
                    <a16:rowId xmlns:a16="http://schemas.microsoft.com/office/drawing/2014/main" val="1150492333"/>
                  </a:ext>
                </a:extLst>
              </a:tr>
              <a:tr h="431534">
                <a:tc>
                  <a:txBody>
                    <a:bodyPr/>
                    <a:lstStyle/>
                    <a:p>
                      <a:pPr algn="l" fontAlgn="ctr"/>
                      <a:r>
                        <a:rPr lang="zh-CN" altLang="en-US" sz="700" u="none" strike="noStrike">
                          <a:effectLst/>
                        </a:rPr>
                        <a:t>总经理</a:t>
                      </a:r>
                      <a:r>
                        <a:rPr lang="en-US" altLang="zh-CN" sz="700" u="none" strike="noStrike">
                          <a:effectLst/>
                        </a:rPr>
                        <a:t>/</a:t>
                      </a:r>
                      <a:r>
                        <a:rPr lang="zh-CN" altLang="en-US" sz="700" u="none" strike="noStrike">
                          <a:effectLst/>
                        </a:rPr>
                        <a:t>终审</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a:txBody>
                    <a:bodyPr/>
                    <a:lstStyle/>
                    <a:p>
                      <a:pPr algn="l" fontAlgn="ctr"/>
                      <a:r>
                        <a:rPr lang="zh-CN" altLang="en-US" sz="700" u="none" strike="noStrike" dirty="0">
                          <a:effectLst/>
                        </a:rPr>
                        <a:t>　</a:t>
                      </a:r>
                      <a:endParaRPr lang="zh-CN" altLang="en-US"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52" marR="4652" marT="4652"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474893921"/>
                  </a:ext>
                </a:extLst>
              </a:tr>
            </a:tbl>
          </a:graphicData>
        </a:graphic>
      </p:graphicFrame>
      <p:sp>
        <p:nvSpPr>
          <p:cNvPr id="5" name="文本框 4">
            <a:extLst>
              <a:ext uri="{FF2B5EF4-FFF2-40B4-BE49-F238E27FC236}">
                <a16:creationId xmlns:a16="http://schemas.microsoft.com/office/drawing/2014/main" id="{5E5D00AD-8EB6-4D46-B859-F0C14008B1E2}"/>
              </a:ext>
            </a:extLst>
          </p:cNvPr>
          <p:cNvSpPr txBox="1"/>
          <p:nvPr/>
        </p:nvSpPr>
        <p:spPr>
          <a:xfrm>
            <a:off x="119336" y="116632"/>
            <a:ext cx="4176464" cy="461665"/>
          </a:xfrm>
          <a:prstGeom prst="rect">
            <a:avLst/>
          </a:prstGeom>
          <a:solidFill>
            <a:srgbClr val="FFFF00"/>
          </a:solidFill>
        </p:spPr>
        <p:txBody>
          <a:bodyPr wrap="square" rtlCol="0">
            <a:spAutoFit/>
          </a:bodyPr>
          <a:lstStyle/>
          <a:p>
            <a:r>
              <a:rPr lang="zh-CN" altLang="en-US" sz="2400" b="1" dirty="0">
                <a:solidFill>
                  <a:srgbClr val="FF0000"/>
                </a:solidFill>
              </a:rPr>
              <a:t>备用金申请单（借款单）</a:t>
            </a:r>
            <a:r>
              <a:rPr lang="en-US" altLang="zh-CN" sz="2400" b="1" dirty="0">
                <a:solidFill>
                  <a:srgbClr val="FF0000"/>
                </a:solidFill>
              </a:rPr>
              <a:t>4-1</a:t>
            </a:r>
            <a:endParaRPr lang="zh-CN" altLang="en-US" sz="2400" b="1" dirty="0">
              <a:solidFill>
                <a:srgbClr val="FF0000"/>
              </a:solidFill>
            </a:endParaRPr>
          </a:p>
        </p:txBody>
      </p:sp>
    </p:spTree>
    <p:extLst>
      <p:ext uri="{BB962C8B-B14F-4D97-AF65-F5344CB8AC3E}">
        <p14:creationId xmlns:p14="http://schemas.microsoft.com/office/powerpoint/2010/main" val="4090245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9331135-C732-4047-9839-055E0C77A075}"/>
              </a:ext>
            </a:extLst>
          </p:cNvPr>
          <p:cNvSpPr txBox="1"/>
          <p:nvPr/>
        </p:nvSpPr>
        <p:spPr>
          <a:xfrm>
            <a:off x="119336" y="116632"/>
            <a:ext cx="2592288" cy="461665"/>
          </a:xfrm>
          <a:prstGeom prst="rect">
            <a:avLst/>
          </a:prstGeom>
          <a:solidFill>
            <a:srgbClr val="FFFF00"/>
          </a:solidFill>
        </p:spPr>
        <p:txBody>
          <a:bodyPr wrap="square" rtlCol="0">
            <a:spAutoFit/>
          </a:bodyPr>
          <a:lstStyle/>
          <a:p>
            <a:r>
              <a:rPr lang="zh-CN" altLang="en-US" sz="2400" b="1" dirty="0">
                <a:solidFill>
                  <a:srgbClr val="FF0000"/>
                </a:solidFill>
              </a:rPr>
              <a:t>差旅申请单</a:t>
            </a:r>
            <a:r>
              <a:rPr lang="en-US" altLang="zh-CN" sz="2400" b="1" dirty="0">
                <a:solidFill>
                  <a:srgbClr val="FF0000"/>
                </a:solidFill>
              </a:rPr>
              <a:t>4-2</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2BD8B0AE-C222-4A50-96F5-E287930D11D4}"/>
              </a:ext>
            </a:extLst>
          </p:cNvPr>
          <p:cNvGraphicFramePr>
            <a:graphicFrameLocks noGrp="1"/>
          </p:cNvGraphicFramePr>
          <p:nvPr>
            <p:extLst>
              <p:ext uri="{D42A27DB-BD31-4B8C-83A1-F6EECF244321}">
                <p14:modId xmlns:p14="http://schemas.microsoft.com/office/powerpoint/2010/main" val="149132580"/>
              </p:ext>
            </p:extLst>
          </p:nvPr>
        </p:nvGraphicFramePr>
        <p:xfrm>
          <a:off x="551384" y="692696"/>
          <a:ext cx="11089234" cy="5832649"/>
        </p:xfrm>
        <a:graphic>
          <a:graphicData uri="http://schemas.openxmlformats.org/drawingml/2006/table">
            <a:tbl>
              <a:tblPr>
                <a:tableStyleId>{5C22544A-7EE6-4342-B048-85BDC9FD1C3A}</a:tableStyleId>
              </a:tblPr>
              <a:tblGrid>
                <a:gridCol w="1609885">
                  <a:extLst>
                    <a:ext uri="{9D8B030D-6E8A-4147-A177-3AD203B41FA5}">
                      <a16:colId xmlns:a16="http://schemas.microsoft.com/office/drawing/2014/main" val="3650771285"/>
                    </a:ext>
                  </a:extLst>
                </a:gridCol>
                <a:gridCol w="1243408">
                  <a:extLst>
                    <a:ext uri="{9D8B030D-6E8A-4147-A177-3AD203B41FA5}">
                      <a16:colId xmlns:a16="http://schemas.microsoft.com/office/drawing/2014/main" val="3879337413"/>
                    </a:ext>
                  </a:extLst>
                </a:gridCol>
                <a:gridCol w="1089618">
                  <a:extLst>
                    <a:ext uri="{9D8B030D-6E8A-4147-A177-3AD203B41FA5}">
                      <a16:colId xmlns:a16="http://schemas.microsoft.com/office/drawing/2014/main" val="1158866400"/>
                    </a:ext>
                  </a:extLst>
                </a:gridCol>
                <a:gridCol w="1168150">
                  <a:extLst>
                    <a:ext uri="{9D8B030D-6E8A-4147-A177-3AD203B41FA5}">
                      <a16:colId xmlns:a16="http://schemas.microsoft.com/office/drawing/2014/main" val="1778087999"/>
                    </a:ext>
                  </a:extLst>
                </a:gridCol>
                <a:gridCol w="1256496">
                  <a:extLst>
                    <a:ext uri="{9D8B030D-6E8A-4147-A177-3AD203B41FA5}">
                      <a16:colId xmlns:a16="http://schemas.microsoft.com/office/drawing/2014/main" val="3884775611"/>
                    </a:ext>
                  </a:extLst>
                </a:gridCol>
                <a:gridCol w="1050352">
                  <a:extLst>
                    <a:ext uri="{9D8B030D-6E8A-4147-A177-3AD203B41FA5}">
                      <a16:colId xmlns:a16="http://schemas.microsoft.com/office/drawing/2014/main" val="1805011056"/>
                    </a:ext>
                  </a:extLst>
                </a:gridCol>
                <a:gridCol w="1050352">
                  <a:extLst>
                    <a:ext uri="{9D8B030D-6E8A-4147-A177-3AD203B41FA5}">
                      <a16:colId xmlns:a16="http://schemas.microsoft.com/office/drawing/2014/main" val="584219295"/>
                    </a:ext>
                  </a:extLst>
                </a:gridCol>
                <a:gridCol w="854025">
                  <a:extLst>
                    <a:ext uri="{9D8B030D-6E8A-4147-A177-3AD203B41FA5}">
                      <a16:colId xmlns:a16="http://schemas.microsoft.com/office/drawing/2014/main" val="330553608"/>
                    </a:ext>
                  </a:extLst>
                </a:gridCol>
                <a:gridCol w="628249">
                  <a:extLst>
                    <a:ext uri="{9D8B030D-6E8A-4147-A177-3AD203B41FA5}">
                      <a16:colId xmlns:a16="http://schemas.microsoft.com/office/drawing/2014/main" val="2848156037"/>
                    </a:ext>
                  </a:extLst>
                </a:gridCol>
                <a:gridCol w="1138699">
                  <a:extLst>
                    <a:ext uri="{9D8B030D-6E8A-4147-A177-3AD203B41FA5}">
                      <a16:colId xmlns:a16="http://schemas.microsoft.com/office/drawing/2014/main" val="2821525320"/>
                    </a:ext>
                  </a:extLst>
                </a:gridCol>
              </a:tblGrid>
              <a:tr h="318724">
                <a:tc gridSpan="10">
                  <a:txBody>
                    <a:bodyPr/>
                    <a:lstStyle/>
                    <a:p>
                      <a:pPr algn="ctr" fontAlgn="ctr"/>
                      <a:r>
                        <a:rPr lang="zh-CN" altLang="en-US" sz="1000" u="none" strike="noStrike">
                          <a:effectLst/>
                        </a:rPr>
                        <a:t>差旅申请单</a:t>
                      </a:r>
                      <a:endParaRPr lang="zh-CN" altLang="en-US" sz="10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48431823"/>
                  </a:ext>
                </a:extLst>
              </a:tr>
              <a:tr h="318724">
                <a:tc gridSpan="2">
                  <a:txBody>
                    <a:bodyPr/>
                    <a:lstStyle/>
                    <a:p>
                      <a:pPr algn="l" fontAlgn="ctr"/>
                      <a:r>
                        <a:rPr lang="zh-CN" altLang="en-US" sz="700" u="none" strike="noStrike">
                          <a:effectLst/>
                        </a:rPr>
                        <a:t>单据编号：</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gridSpan="2">
                  <a:txBody>
                    <a:bodyPr/>
                    <a:lstStyle/>
                    <a:p>
                      <a:pPr algn="l" fontAlgn="ctr"/>
                      <a:r>
                        <a:rPr lang="zh-CN" altLang="en-US" sz="700" u="none" strike="noStrike">
                          <a:effectLst/>
                        </a:rPr>
                        <a:t>申请日期：</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700" u="none" strike="noStrike">
                          <a:effectLst/>
                        </a:rPr>
                        <a:t>申请人：</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2">
                  <a:txBody>
                    <a:bodyPr/>
                    <a:lstStyle/>
                    <a:p>
                      <a:pPr algn="l" fontAlgn="ctr"/>
                      <a:r>
                        <a:rPr lang="zh-CN" altLang="en-US" sz="700" u="none" strike="noStrike">
                          <a:effectLst/>
                        </a:rPr>
                        <a:t>联系电话：</a:t>
                      </a:r>
                      <a:r>
                        <a:rPr lang="en-US" altLang="zh-CN" sz="700" u="none" strike="noStrike">
                          <a:effectLst/>
                        </a:rPr>
                        <a:t>_____________ </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gridSpan="2">
                  <a:txBody>
                    <a:bodyPr/>
                    <a:lstStyle/>
                    <a:p>
                      <a:pPr algn="l" fontAlgn="ctr"/>
                      <a:r>
                        <a:rPr lang="zh-CN" altLang="en-US" sz="700" u="none" strike="noStrike">
                          <a:effectLst/>
                        </a:rPr>
                        <a:t>所属部门：</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700" u="none" strike="noStrike">
                          <a:effectLst/>
                        </a:rPr>
                        <a:t>职务：</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extLst>
                  <a:ext uri="{0D108BD9-81ED-4DB2-BD59-A6C34878D82A}">
                    <a16:rowId xmlns:a16="http://schemas.microsoft.com/office/drawing/2014/main" val="1436135256"/>
                  </a:ext>
                </a:extLst>
              </a:tr>
              <a:tr h="318724">
                <a:tc gridSpan="10">
                  <a:txBody>
                    <a:bodyPr/>
                    <a:lstStyle/>
                    <a:p>
                      <a:pPr algn="l" fontAlgn="ctr"/>
                      <a:r>
                        <a:rPr lang="zh-CN" altLang="en-US" sz="800" u="none" strike="noStrike">
                          <a:effectLst/>
                        </a:rPr>
                        <a:t>一、出差基本信息</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81478584"/>
                  </a:ext>
                </a:extLst>
              </a:tr>
              <a:tr h="318724">
                <a:tc>
                  <a:txBody>
                    <a:bodyPr/>
                    <a:lstStyle/>
                    <a:p>
                      <a:pPr algn="ctr" fontAlgn="ctr"/>
                      <a:r>
                        <a:rPr lang="zh-CN" altLang="en-US" sz="700" u="none" strike="noStrike">
                          <a:effectLst/>
                        </a:rPr>
                        <a:t>出差事由：</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5">
                  <a:txBody>
                    <a:bodyPr/>
                    <a:lstStyle/>
                    <a:p>
                      <a:pPr algn="l" fontAlgn="ctr"/>
                      <a:r>
                        <a:rPr lang="zh-CN" altLang="en-US" sz="700" u="none" strike="noStrike">
                          <a:effectLst/>
                        </a:rPr>
                        <a:t>□客户拜访 □商务洽谈 □项目对接 □现场施工</a:t>
                      </a:r>
                      <a:r>
                        <a:rPr lang="en-US" altLang="zh-CN" sz="700" u="none" strike="noStrike">
                          <a:effectLst/>
                        </a:rPr>
                        <a:t>/</a:t>
                      </a:r>
                      <a:r>
                        <a:rPr lang="zh-CN" altLang="en-US" sz="700" u="none" strike="noStrike">
                          <a:effectLst/>
                        </a:rPr>
                        <a:t>服务 □培训学习 □会议 □其他：</a:t>
                      </a:r>
                      <a:r>
                        <a:rPr lang="en-US" altLang="zh-CN" sz="700" u="none" strike="noStrike">
                          <a:effectLst/>
                        </a:rPr>
                        <a:t>__________</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700" u="none" strike="noStrike">
                          <a:effectLst/>
                        </a:rPr>
                        <a:t>详细出差说明</a:t>
                      </a:r>
                      <a:r>
                        <a:rPr lang="en-US" altLang="zh-CN" sz="700" u="none" strike="noStrike">
                          <a:effectLst/>
                        </a:rPr>
                        <a:t>/</a:t>
                      </a:r>
                      <a:r>
                        <a:rPr lang="zh-CN" altLang="en-US" sz="700" u="none" strike="noStrike">
                          <a:effectLst/>
                        </a:rPr>
                        <a:t>关联项目：</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85997111"/>
                  </a:ext>
                </a:extLst>
              </a:tr>
              <a:tr h="318724">
                <a:tc>
                  <a:txBody>
                    <a:bodyPr/>
                    <a:lstStyle/>
                    <a:p>
                      <a:pPr algn="ctr" fontAlgn="ctr"/>
                      <a:r>
                        <a:rPr lang="zh-CN" altLang="en-US" sz="700" u="none" strike="noStrike">
                          <a:effectLst/>
                        </a:rPr>
                        <a:t>出差目的地：</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5">
                  <a:txBody>
                    <a:bodyPr/>
                    <a:lstStyle/>
                    <a:p>
                      <a:pPr algn="l" fontAlgn="ctr"/>
                      <a:r>
                        <a:rPr lang="zh-CN" altLang="en-US" sz="700" u="none" strike="noStrike">
                          <a:effectLst/>
                        </a:rPr>
                        <a:t>出差时间：</a:t>
                      </a:r>
                      <a:r>
                        <a:rPr lang="en-US" altLang="zh-CN" sz="700" u="none" strike="noStrike">
                          <a:effectLst/>
                        </a:rPr>
                        <a:t>______</a:t>
                      </a:r>
                      <a:r>
                        <a:rPr lang="zh-CN" altLang="en-US" sz="700" u="none" strike="noStrike">
                          <a:effectLst/>
                        </a:rPr>
                        <a:t>年</a:t>
                      </a:r>
                      <a:r>
                        <a:rPr lang="en-US" altLang="zh-CN" sz="700" u="none" strike="noStrike">
                          <a:effectLst/>
                        </a:rPr>
                        <a:t>_____</a:t>
                      </a:r>
                      <a:r>
                        <a:rPr lang="zh-CN" altLang="en-US" sz="700" u="none" strike="noStrike">
                          <a:effectLst/>
                        </a:rPr>
                        <a:t>月</a:t>
                      </a:r>
                      <a:r>
                        <a:rPr lang="en-US" altLang="zh-CN" sz="700" u="none" strike="noStrike">
                          <a:effectLst/>
                        </a:rPr>
                        <a:t>_____</a:t>
                      </a:r>
                      <a:r>
                        <a:rPr lang="zh-CN" altLang="en-US" sz="700" u="none" strike="noStrike">
                          <a:effectLst/>
                        </a:rPr>
                        <a:t>日 至 </a:t>
                      </a:r>
                      <a:r>
                        <a:rPr lang="en-US" altLang="zh-CN" sz="700" u="none" strike="noStrike">
                          <a:effectLst/>
                        </a:rPr>
                        <a:t>______</a:t>
                      </a:r>
                      <a:r>
                        <a:rPr lang="zh-CN" altLang="en-US" sz="700" u="none" strike="noStrike">
                          <a:effectLst/>
                        </a:rPr>
                        <a:t>年</a:t>
                      </a:r>
                      <a:r>
                        <a:rPr lang="en-US" altLang="zh-CN" sz="700" u="none" strike="noStrike">
                          <a:effectLst/>
                        </a:rPr>
                        <a:t>_____</a:t>
                      </a:r>
                      <a:r>
                        <a:rPr lang="zh-CN" altLang="en-US" sz="700" u="none" strike="noStrike">
                          <a:effectLst/>
                        </a:rPr>
                        <a:t>月</a:t>
                      </a:r>
                      <a:r>
                        <a:rPr lang="en-US" altLang="zh-CN" sz="700" u="none" strike="noStrike">
                          <a:effectLst/>
                        </a:rPr>
                        <a:t>_____</a:t>
                      </a:r>
                      <a:r>
                        <a:rPr lang="zh-CN" altLang="en-US" sz="700" u="none" strike="noStrike">
                          <a:effectLst/>
                        </a:rPr>
                        <a:t>日，共计出差</a:t>
                      </a:r>
                      <a:r>
                        <a:rPr lang="en-US" altLang="zh-CN" sz="700" u="none" strike="noStrike">
                          <a:effectLst/>
                        </a:rPr>
                        <a:t>_____ </a:t>
                      </a:r>
                      <a:r>
                        <a:rPr lang="zh-CN" altLang="en-US" sz="700" u="none" strike="noStrike">
                          <a:effectLst/>
                        </a:rPr>
                        <a:t>天</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700" u="none" strike="noStrike">
                          <a:effectLst/>
                        </a:rPr>
                        <a:t>同行人员：</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87598847"/>
                  </a:ext>
                </a:extLst>
              </a:tr>
              <a:tr h="318724">
                <a:tc gridSpan="10">
                  <a:txBody>
                    <a:bodyPr/>
                    <a:lstStyle/>
                    <a:p>
                      <a:pPr algn="l" fontAlgn="ctr"/>
                      <a:r>
                        <a:rPr lang="zh-CN" altLang="en-US" sz="800" u="none" strike="noStrike">
                          <a:effectLst/>
                        </a:rPr>
                        <a:t>二、出差行程与交通安排</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6051458"/>
                  </a:ext>
                </a:extLst>
              </a:tr>
              <a:tr h="318724">
                <a:tc>
                  <a:txBody>
                    <a:bodyPr/>
                    <a:lstStyle/>
                    <a:p>
                      <a:pPr algn="ctr" fontAlgn="ctr"/>
                      <a:r>
                        <a:rPr lang="zh-CN" altLang="en-US" sz="700" u="none" strike="noStrike">
                          <a:effectLst/>
                        </a:rPr>
                        <a:t>出行方式：</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3">
                  <a:txBody>
                    <a:bodyPr/>
                    <a:lstStyle/>
                    <a:p>
                      <a:pPr algn="l" fontAlgn="ctr"/>
                      <a:r>
                        <a:rPr lang="zh-CN" altLang="en-US" sz="700" u="none" strike="noStrike">
                          <a:effectLst/>
                        </a:rPr>
                        <a:t>□高铁</a:t>
                      </a:r>
                      <a:r>
                        <a:rPr lang="en-US" altLang="zh-CN" sz="700" u="none" strike="noStrike">
                          <a:effectLst/>
                        </a:rPr>
                        <a:t>/</a:t>
                      </a:r>
                      <a:r>
                        <a:rPr lang="zh-CN" altLang="en-US" sz="700" u="none" strike="noStrike">
                          <a:effectLst/>
                        </a:rPr>
                        <a:t>火车 □飞机 □自驾 □大巴 □公司车辆 □其他：</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700" u="none" strike="noStrike">
                          <a:effectLst/>
                        </a:rPr>
                        <a:t>往返行程安排</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去程：</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返程：</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住宿需求：</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2">
                  <a:txBody>
                    <a:bodyPr/>
                    <a:lstStyle/>
                    <a:p>
                      <a:pPr algn="l" fontAlgn="ctr"/>
                      <a:r>
                        <a:rPr lang="zh-CN" altLang="en-US" sz="700" u="none" strike="noStrike">
                          <a:effectLst/>
                        </a:rPr>
                        <a:t>□需要住宿 □无需住宿</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extLst>
                  <a:ext uri="{0D108BD9-81ED-4DB2-BD59-A6C34878D82A}">
                    <a16:rowId xmlns:a16="http://schemas.microsoft.com/office/drawing/2014/main" val="3725916536"/>
                  </a:ext>
                </a:extLst>
              </a:tr>
              <a:tr h="318724">
                <a:tc gridSpan="3">
                  <a:txBody>
                    <a:bodyPr/>
                    <a:lstStyle/>
                    <a:p>
                      <a:pPr algn="l" fontAlgn="ctr"/>
                      <a:r>
                        <a:rPr lang="zh-CN" altLang="en-US" sz="800" u="none" strike="noStrike">
                          <a:effectLst/>
                        </a:rPr>
                        <a:t>三、费用预算申请</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800" u="none" strike="noStrike">
                          <a:effectLst/>
                        </a:rPr>
                        <a:t>四、出差工作目标及成果要求</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11061293"/>
                  </a:ext>
                </a:extLst>
              </a:tr>
              <a:tr h="318724">
                <a:tc>
                  <a:txBody>
                    <a:bodyPr/>
                    <a:lstStyle/>
                    <a:p>
                      <a:pPr algn="ctr" fontAlgn="ctr"/>
                      <a:r>
                        <a:rPr lang="zh-CN" altLang="en-US" sz="700" u="none" strike="noStrike">
                          <a:effectLst/>
                        </a:rPr>
                        <a:t>费用项目</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ctr" fontAlgn="ctr"/>
                      <a:r>
                        <a:rPr lang="zh-CN" altLang="en-US" sz="700" u="none" strike="noStrike">
                          <a:effectLst/>
                        </a:rPr>
                        <a:t>预算金额（元）</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ctr" fontAlgn="ctr"/>
                      <a:r>
                        <a:rPr lang="zh-CN" altLang="en-US" sz="700" u="none" strike="noStrike">
                          <a:effectLst/>
                        </a:rPr>
                        <a:t>备注说明</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7">
                  <a:txBody>
                    <a:bodyPr/>
                    <a:lstStyle/>
                    <a:p>
                      <a:pPr algn="l" fontAlgn="ctr"/>
                      <a:r>
                        <a:rPr lang="zh-CN" altLang="en-US" sz="700" u="none" strike="noStrike">
                          <a:effectLst/>
                        </a:rPr>
                        <a:t>本次出差主要工作目标：</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87735411"/>
                  </a:ext>
                </a:extLst>
              </a:tr>
              <a:tr h="318724">
                <a:tc>
                  <a:txBody>
                    <a:bodyPr/>
                    <a:lstStyle/>
                    <a:p>
                      <a:pPr algn="ctr" fontAlgn="ctr"/>
                      <a:r>
                        <a:rPr lang="zh-CN" altLang="en-US" sz="700" u="none" strike="noStrike">
                          <a:effectLst/>
                        </a:rPr>
                        <a:t>交通费（长途往返）</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7">
                  <a:txBody>
                    <a:bodyPr/>
                    <a:lstStyle/>
                    <a:p>
                      <a:pPr algn="l" fontAlgn="ctr"/>
                      <a:r>
                        <a:rPr lang="zh-CN" altLang="en-US" sz="700" u="none" strike="noStrike">
                          <a:effectLst/>
                        </a:rPr>
                        <a:t>出差结束需提交成果：□出差工作报告 □客户对接记录 □现场工作总结 □无需提交</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06108590"/>
                  </a:ext>
                </a:extLst>
              </a:tr>
              <a:tr h="318724">
                <a:tc>
                  <a:txBody>
                    <a:bodyPr/>
                    <a:lstStyle/>
                    <a:p>
                      <a:pPr algn="ctr" fontAlgn="ctr"/>
                      <a:r>
                        <a:rPr lang="zh-CN" altLang="en-US" sz="700" u="none" strike="noStrike">
                          <a:effectLst/>
                        </a:rPr>
                        <a:t>室内交通费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7">
                  <a:txBody>
                    <a:bodyPr/>
                    <a:lstStyle/>
                    <a:p>
                      <a:pPr algn="l" fontAlgn="ctr"/>
                      <a:r>
                        <a:rPr lang="zh-CN" altLang="en-US" sz="800" u="none" strike="noStrike">
                          <a:effectLst/>
                        </a:rPr>
                        <a:t>五、审批意见</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39367618"/>
                  </a:ext>
                </a:extLst>
              </a:tr>
              <a:tr h="318724">
                <a:tc>
                  <a:txBody>
                    <a:bodyPr/>
                    <a:lstStyle/>
                    <a:p>
                      <a:pPr algn="ctr" fontAlgn="ctr"/>
                      <a:r>
                        <a:rPr lang="zh-CN" altLang="en-US" sz="700" u="none" strike="noStrike">
                          <a:effectLst/>
                        </a:rPr>
                        <a:t>住宿费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2">
                  <a:txBody>
                    <a:bodyPr/>
                    <a:lstStyle/>
                    <a:p>
                      <a:pPr algn="ctr" fontAlgn="ctr"/>
                      <a:r>
                        <a:rPr lang="zh-CN" altLang="en-US" sz="700" u="none" strike="noStrike">
                          <a:effectLst/>
                        </a:rPr>
                        <a:t>审批岗位</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ctr" fontAlgn="ctr"/>
                      <a:r>
                        <a:rPr lang="zh-CN" altLang="en-US" sz="700" u="none" strike="noStrike">
                          <a:effectLst/>
                        </a:rPr>
                        <a:t>签字</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ctr" fontAlgn="ctr"/>
                      <a:r>
                        <a:rPr lang="zh-CN" altLang="en-US" sz="700" u="none" strike="noStrike">
                          <a:effectLst/>
                        </a:rPr>
                        <a:t>日期</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gridSpan="3">
                  <a:txBody>
                    <a:bodyPr/>
                    <a:lstStyle/>
                    <a:p>
                      <a:pPr algn="ctr" fontAlgn="ctr"/>
                      <a:r>
                        <a:rPr lang="zh-CN" altLang="en-US" sz="700" u="none" strike="noStrike">
                          <a:effectLst/>
                        </a:rPr>
                        <a:t>审核意见</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25150695"/>
                  </a:ext>
                </a:extLst>
              </a:tr>
              <a:tr h="318724">
                <a:tc>
                  <a:txBody>
                    <a:bodyPr/>
                    <a:lstStyle/>
                    <a:p>
                      <a:pPr algn="ctr" fontAlgn="ctr"/>
                      <a:r>
                        <a:rPr lang="zh-CN" altLang="en-US" sz="700" u="none" strike="noStrike">
                          <a:effectLst/>
                        </a:rPr>
                        <a:t>差旅补贴</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2">
                  <a:txBody>
                    <a:bodyPr/>
                    <a:lstStyle/>
                    <a:p>
                      <a:pPr algn="ctr" fontAlgn="ctr"/>
                      <a:r>
                        <a:rPr lang="zh-CN" altLang="en-US" sz="700" u="none" strike="noStrike">
                          <a:effectLst/>
                        </a:rPr>
                        <a:t>部门负责人审批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gridSpan="3">
                  <a:txBody>
                    <a:bodyPr/>
                    <a:lstStyle/>
                    <a:p>
                      <a:pPr algn="ctr"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869976544"/>
                  </a:ext>
                </a:extLst>
              </a:tr>
              <a:tr h="318724">
                <a:tc>
                  <a:txBody>
                    <a:bodyPr/>
                    <a:lstStyle/>
                    <a:p>
                      <a:pPr algn="ctr" fontAlgn="ctr"/>
                      <a:r>
                        <a:rPr lang="zh-CN" altLang="en-US" sz="700" u="none" strike="noStrike">
                          <a:effectLst/>
                        </a:rPr>
                        <a:t>业务招待费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2">
                  <a:txBody>
                    <a:bodyPr/>
                    <a:lstStyle/>
                    <a:p>
                      <a:pPr algn="ctr" fontAlgn="ctr"/>
                      <a:r>
                        <a:rPr lang="zh-CN" altLang="en-US" sz="700" u="none" strike="noStrike">
                          <a:effectLst/>
                        </a:rPr>
                        <a:t>行政</a:t>
                      </a:r>
                      <a:r>
                        <a:rPr lang="en-US" altLang="zh-CN" sz="700" u="none" strike="noStrike">
                          <a:effectLst/>
                        </a:rPr>
                        <a:t>/</a:t>
                      </a:r>
                      <a:r>
                        <a:rPr lang="zh-CN" altLang="en-US" sz="700" u="none" strike="noStrike">
                          <a:effectLst/>
                        </a:rPr>
                        <a:t>人事审核</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gridSpan="3">
                  <a:txBody>
                    <a:bodyPr/>
                    <a:lstStyle/>
                    <a:p>
                      <a:pPr algn="ctr"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93170170"/>
                  </a:ext>
                </a:extLst>
              </a:tr>
              <a:tr h="318724">
                <a:tc>
                  <a:txBody>
                    <a:bodyPr/>
                    <a:lstStyle/>
                    <a:p>
                      <a:pPr algn="ctr" fontAlgn="ctr"/>
                      <a:r>
                        <a:rPr lang="zh-CN" altLang="en-US" sz="700" u="none" strike="noStrike">
                          <a:effectLst/>
                        </a:rPr>
                        <a:t>其他杂费等</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2">
                  <a:txBody>
                    <a:bodyPr/>
                    <a:lstStyle/>
                    <a:p>
                      <a:pPr algn="ctr" fontAlgn="ctr"/>
                      <a:r>
                        <a:rPr lang="zh-CN" altLang="en-US" sz="700" u="none" strike="noStrike">
                          <a:effectLst/>
                        </a:rPr>
                        <a:t>财务预算审核</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gridSpan="3">
                  <a:txBody>
                    <a:bodyPr/>
                    <a:lstStyle/>
                    <a:p>
                      <a:pPr algn="ctr"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15684176"/>
                  </a:ext>
                </a:extLst>
              </a:tr>
              <a:tr h="318724">
                <a:tc>
                  <a:txBody>
                    <a:bodyPr/>
                    <a:lstStyle/>
                    <a:p>
                      <a:pPr algn="ctr" fontAlgn="ctr"/>
                      <a:r>
                        <a:rPr lang="zh-CN" altLang="en-US" sz="700" u="none" strike="noStrike">
                          <a:effectLst/>
                        </a:rPr>
                        <a:t>预算合计：</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r" fontAlgn="ctr"/>
                      <a:r>
                        <a:rPr lang="en-US" altLang="zh-CN" sz="700" u="none" strike="noStrike">
                          <a:effectLst/>
                        </a:rPr>
                        <a:t>¥0.00</a:t>
                      </a:r>
                      <a:endParaRPr lang="en-US" altLang="zh-CN" sz="700" b="1"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2">
                  <a:txBody>
                    <a:bodyPr/>
                    <a:lstStyle/>
                    <a:p>
                      <a:pPr algn="ctr" fontAlgn="ctr"/>
                      <a:r>
                        <a:rPr lang="zh-CN" altLang="en-US" sz="700" u="none" strike="noStrike">
                          <a:effectLst/>
                        </a:rPr>
                        <a:t>财务负责人审批</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3">
                  <a:txBody>
                    <a:bodyPr/>
                    <a:lstStyle/>
                    <a:p>
                      <a:pPr algn="ctr"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11758887"/>
                  </a:ext>
                </a:extLst>
              </a:tr>
              <a:tr h="318724">
                <a:tc gridSpan="3">
                  <a:txBody>
                    <a:bodyPr/>
                    <a:lstStyle/>
                    <a:p>
                      <a:pPr algn="l" fontAlgn="ctr"/>
                      <a:r>
                        <a:rPr lang="zh-CN" altLang="en-US" sz="700" u="none" strike="noStrike">
                          <a:effectLst/>
                        </a:rPr>
                        <a:t>是否申请备用金：□ 是    申请金额￥</a:t>
                      </a:r>
                      <a:r>
                        <a:rPr lang="en-US" altLang="zh-CN" sz="700" u="none" strike="noStrike">
                          <a:effectLst/>
                        </a:rPr>
                        <a:t>__________</a:t>
                      </a:r>
                      <a:r>
                        <a:rPr lang="zh-CN" altLang="en-US" sz="700" u="none" strike="noStrike">
                          <a:effectLst/>
                        </a:rPr>
                        <a:t>　□否</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700" u="none" strike="noStrike">
                          <a:effectLst/>
                        </a:rPr>
                        <a:t>总经理终审</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6026" marR="6026" marT="6026" marB="0" anchor="ctr"/>
                </a:tc>
                <a:tc gridSpan="3">
                  <a:txBody>
                    <a:bodyPr/>
                    <a:lstStyle/>
                    <a:p>
                      <a:pPr algn="ctr" fontAlgn="ct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6026" marR="6026" marT="602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34631542"/>
                  </a:ext>
                </a:extLst>
              </a:tr>
              <a:tr h="414341">
                <a:tc gridSpan="10">
                  <a:txBody>
                    <a:bodyPr/>
                    <a:lstStyle/>
                    <a:p>
                      <a:pPr algn="l" fontAlgn="ctr"/>
                      <a:r>
                        <a:rPr lang="zh-CN" altLang="en-US" sz="800" u="none" strike="noStrike" dirty="0">
                          <a:effectLst/>
                        </a:rPr>
                        <a:t>六、出差后续说明（制度要求）</a:t>
                      </a:r>
                      <a:r>
                        <a:rPr lang="en-US" altLang="zh-CN" sz="800" u="none" strike="noStrike" dirty="0">
                          <a:effectLst/>
                        </a:rPr>
                        <a:t>1. </a:t>
                      </a:r>
                      <a:r>
                        <a:rPr lang="zh-CN" altLang="en-US" sz="800" u="none" strike="noStrike" dirty="0">
                          <a:effectLst/>
                        </a:rPr>
                        <a:t>出差结束后 </a:t>
                      </a:r>
                      <a:r>
                        <a:rPr lang="en-US" altLang="zh-CN" sz="800" u="none" strike="noStrike" dirty="0">
                          <a:effectLst/>
                        </a:rPr>
                        <a:t>30</a:t>
                      </a:r>
                      <a:r>
                        <a:rPr lang="zh-CN" altLang="en-US" sz="800" u="none" strike="noStrike" dirty="0">
                          <a:effectLst/>
                        </a:rPr>
                        <a:t>个工作日内 必须完成差旅报销，逾期不予报销；</a:t>
                      </a:r>
                      <a:r>
                        <a:rPr lang="en-US" altLang="zh-CN" sz="800" u="none" strike="noStrike" dirty="0">
                          <a:effectLst/>
                        </a:rPr>
                        <a:t>2. </a:t>
                      </a:r>
                      <a:r>
                        <a:rPr lang="zh-CN" altLang="en-US" sz="800" u="none" strike="noStrike" dirty="0">
                          <a:effectLst/>
                        </a:rPr>
                        <a:t>所有差旅费用严格按照公司</a:t>
                      </a:r>
                      <a:r>
                        <a:rPr lang="en-US" altLang="zh-CN" sz="800" u="none" strike="noStrike" dirty="0">
                          <a:effectLst/>
                        </a:rPr>
                        <a:t>《</a:t>
                      </a:r>
                      <a:r>
                        <a:rPr lang="zh-CN" altLang="en-US" sz="800" u="none" strike="noStrike" dirty="0">
                          <a:effectLst/>
                        </a:rPr>
                        <a:t>差旅报销制度</a:t>
                      </a:r>
                      <a:r>
                        <a:rPr lang="en-US" altLang="zh-CN" sz="800" u="none" strike="noStrike" dirty="0">
                          <a:effectLst/>
                        </a:rPr>
                        <a:t>》</a:t>
                      </a:r>
                      <a:r>
                        <a:rPr lang="zh-CN" altLang="en-US" sz="800" u="none" strike="noStrike" dirty="0">
                          <a:effectLst/>
                        </a:rPr>
                        <a:t>标准执行，超标准部分自行承担；</a:t>
                      </a:r>
                      <a:r>
                        <a:rPr lang="en-US" altLang="zh-CN" sz="800" u="none" strike="noStrike" dirty="0">
                          <a:effectLst/>
                        </a:rPr>
                        <a:t>3.</a:t>
                      </a:r>
                      <a:r>
                        <a:rPr lang="zh-CN" altLang="en-US" sz="800" u="none" strike="noStrike" dirty="0">
                          <a:effectLst/>
                        </a:rPr>
                        <a:t>备注：本单据一式两联，行政存档、财务报销各一联</a:t>
                      </a:r>
                      <a:endParaRPr lang="zh-CN" altLang="en-US" sz="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026" marR="6026" marT="602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3423079"/>
                  </a:ext>
                </a:extLst>
              </a:tr>
            </a:tbl>
          </a:graphicData>
        </a:graphic>
      </p:graphicFrame>
    </p:spTree>
    <p:extLst>
      <p:ext uri="{BB962C8B-B14F-4D97-AF65-F5344CB8AC3E}">
        <p14:creationId xmlns:p14="http://schemas.microsoft.com/office/powerpoint/2010/main" val="2283191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30D93DB-B70D-4107-8D47-3C1F09F17796}"/>
              </a:ext>
            </a:extLst>
          </p:cNvPr>
          <p:cNvSpPr txBox="1"/>
          <p:nvPr/>
        </p:nvSpPr>
        <p:spPr>
          <a:xfrm>
            <a:off x="119336" y="116632"/>
            <a:ext cx="4176464" cy="461665"/>
          </a:xfrm>
          <a:prstGeom prst="rect">
            <a:avLst/>
          </a:prstGeom>
          <a:solidFill>
            <a:srgbClr val="FFFF00"/>
          </a:solidFill>
        </p:spPr>
        <p:txBody>
          <a:bodyPr wrap="square" rtlCol="0">
            <a:spAutoFit/>
          </a:bodyPr>
          <a:lstStyle/>
          <a:p>
            <a:r>
              <a:rPr lang="zh-CN" altLang="en-US" sz="2400" b="1" dirty="0">
                <a:solidFill>
                  <a:srgbClr val="FF0000"/>
                </a:solidFill>
              </a:rPr>
              <a:t>差旅报销单</a:t>
            </a:r>
            <a:r>
              <a:rPr lang="en-US" altLang="zh-CN" sz="2400" b="1" dirty="0">
                <a:solidFill>
                  <a:srgbClr val="FF0000"/>
                </a:solidFill>
              </a:rPr>
              <a:t>4-3</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6FA1D098-49FE-4003-B2EA-DCB816F42D41}"/>
              </a:ext>
            </a:extLst>
          </p:cNvPr>
          <p:cNvGraphicFramePr>
            <a:graphicFrameLocks noGrp="1"/>
          </p:cNvGraphicFramePr>
          <p:nvPr>
            <p:extLst>
              <p:ext uri="{D42A27DB-BD31-4B8C-83A1-F6EECF244321}">
                <p14:modId xmlns:p14="http://schemas.microsoft.com/office/powerpoint/2010/main" val="2908839679"/>
              </p:ext>
            </p:extLst>
          </p:nvPr>
        </p:nvGraphicFramePr>
        <p:xfrm>
          <a:off x="983432" y="569278"/>
          <a:ext cx="10585177" cy="5956056"/>
        </p:xfrm>
        <a:graphic>
          <a:graphicData uri="http://schemas.openxmlformats.org/drawingml/2006/table">
            <a:tbl>
              <a:tblPr>
                <a:tableStyleId>{5C22544A-7EE6-4342-B048-85BDC9FD1C3A}</a:tableStyleId>
              </a:tblPr>
              <a:tblGrid>
                <a:gridCol w="1023157">
                  <a:extLst>
                    <a:ext uri="{9D8B030D-6E8A-4147-A177-3AD203B41FA5}">
                      <a16:colId xmlns:a16="http://schemas.microsoft.com/office/drawing/2014/main" val="1132547847"/>
                    </a:ext>
                  </a:extLst>
                </a:gridCol>
                <a:gridCol w="903892">
                  <a:extLst>
                    <a:ext uri="{9D8B030D-6E8A-4147-A177-3AD203B41FA5}">
                      <a16:colId xmlns:a16="http://schemas.microsoft.com/office/drawing/2014/main" val="3020064592"/>
                    </a:ext>
                  </a:extLst>
                </a:gridCol>
                <a:gridCol w="1054543">
                  <a:extLst>
                    <a:ext uri="{9D8B030D-6E8A-4147-A177-3AD203B41FA5}">
                      <a16:colId xmlns:a16="http://schemas.microsoft.com/office/drawing/2014/main" val="2263002942"/>
                    </a:ext>
                  </a:extLst>
                </a:gridCol>
                <a:gridCol w="903892">
                  <a:extLst>
                    <a:ext uri="{9D8B030D-6E8A-4147-A177-3AD203B41FA5}">
                      <a16:colId xmlns:a16="http://schemas.microsoft.com/office/drawing/2014/main" val="593491572"/>
                    </a:ext>
                  </a:extLst>
                </a:gridCol>
                <a:gridCol w="1012696">
                  <a:extLst>
                    <a:ext uri="{9D8B030D-6E8A-4147-A177-3AD203B41FA5}">
                      <a16:colId xmlns:a16="http://schemas.microsoft.com/office/drawing/2014/main" val="3005437277"/>
                    </a:ext>
                  </a:extLst>
                </a:gridCol>
                <a:gridCol w="652812">
                  <a:extLst>
                    <a:ext uri="{9D8B030D-6E8A-4147-A177-3AD203B41FA5}">
                      <a16:colId xmlns:a16="http://schemas.microsoft.com/office/drawing/2014/main" val="3958025919"/>
                    </a:ext>
                  </a:extLst>
                </a:gridCol>
                <a:gridCol w="1012696">
                  <a:extLst>
                    <a:ext uri="{9D8B030D-6E8A-4147-A177-3AD203B41FA5}">
                      <a16:colId xmlns:a16="http://schemas.microsoft.com/office/drawing/2014/main" val="2954022164"/>
                    </a:ext>
                  </a:extLst>
                </a:gridCol>
                <a:gridCol w="596319">
                  <a:extLst>
                    <a:ext uri="{9D8B030D-6E8A-4147-A177-3AD203B41FA5}">
                      <a16:colId xmlns:a16="http://schemas.microsoft.com/office/drawing/2014/main" val="4185848613"/>
                    </a:ext>
                  </a:extLst>
                </a:gridCol>
                <a:gridCol w="401730">
                  <a:extLst>
                    <a:ext uri="{9D8B030D-6E8A-4147-A177-3AD203B41FA5}">
                      <a16:colId xmlns:a16="http://schemas.microsoft.com/office/drawing/2014/main" val="1294222576"/>
                    </a:ext>
                  </a:extLst>
                </a:gridCol>
                <a:gridCol w="1297254">
                  <a:extLst>
                    <a:ext uri="{9D8B030D-6E8A-4147-A177-3AD203B41FA5}">
                      <a16:colId xmlns:a16="http://schemas.microsoft.com/office/drawing/2014/main" val="4220665385"/>
                    </a:ext>
                  </a:extLst>
                </a:gridCol>
                <a:gridCol w="426839">
                  <a:extLst>
                    <a:ext uri="{9D8B030D-6E8A-4147-A177-3AD203B41FA5}">
                      <a16:colId xmlns:a16="http://schemas.microsoft.com/office/drawing/2014/main" val="3598018395"/>
                    </a:ext>
                  </a:extLst>
                </a:gridCol>
                <a:gridCol w="1299347">
                  <a:extLst>
                    <a:ext uri="{9D8B030D-6E8A-4147-A177-3AD203B41FA5}">
                      <a16:colId xmlns:a16="http://schemas.microsoft.com/office/drawing/2014/main" val="163013371"/>
                    </a:ext>
                  </a:extLst>
                </a:gridCol>
              </a:tblGrid>
              <a:tr h="248169">
                <a:tc gridSpan="12">
                  <a:txBody>
                    <a:bodyPr/>
                    <a:lstStyle/>
                    <a:p>
                      <a:pPr algn="ctr" fontAlgn="ctr"/>
                      <a:r>
                        <a:rPr lang="zh-CN" altLang="en-US" sz="700" u="none" strike="noStrike">
                          <a:effectLst/>
                        </a:rPr>
                        <a:t>差旅报销单</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27815646"/>
                  </a:ext>
                </a:extLst>
              </a:tr>
              <a:tr h="248169">
                <a:tc gridSpan="2">
                  <a:txBody>
                    <a:bodyPr/>
                    <a:lstStyle/>
                    <a:p>
                      <a:pPr algn="l" fontAlgn="ctr"/>
                      <a:r>
                        <a:rPr lang="zh-CN" altLang="en-US" sz="600" u="none" strike="noStrike">
                          <a:effectLst/>
                        </a:rPr>
                        <a:t>单据编号：</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l" fontAlgn="ctr"/>
                      <a:r>
                        <a:rPr lang="zh-CN" altLang="en-US" sz="600" u="none" strike="noStrike">
                          <a:effectLst/>
                        </a:rPr>
                        <a:t>报销日期：</a:t>
                      </a:r>
                      <a:r>
                        <a:rPr lang="en-US" altLang="zh-CN" sz="600" u="none" strike="noStrike">
                          <a:effectLst/>
                        </a:rPr>
                        <a:t>___</a:t>
                      </a:r>
                      <a:r>
                        <a:rPr lang="zh-CN" altLang="en-US" sz="600" u="none" strike="noStrike">
                          <a:effectLst/>
                        </a:rPr>
                        <a:t>年</a:t>
                      </a:r>
                      <a:r>
                        <a:rPr lang="en-US" altLang="zh-CN" sz="600" u="none" strike="noStrike">
                          <a:effectLst/>
                        </a:rPr>
                        <a:t>___</a:t>
                      </a:r>
                      <a:r>
                        <a:rPr lang="zh-CN" altLang="en-US" sz="600" u="none" strike="noStrike">
                          <a:effectLst/>
                        </a:rPr>
                        <a:t>月</a:t>
                      </a:r>
                      <a:r>
                        <a:rPr lang="en-US" altLang="zh-CN" sz="600" u="none" strike="noStrike">
                          <a:effectLst/>
                        </a:rPr>
                        <a:t>___</a:t>
                      </a:r>
                      <a:r>
                        <a:rPr lang="zh-CN" altLang="en-US" sz="600" u="none" strike="noStrike">
                          <a:effectLst/>
                        </a:rPr>
                        <a:t>日</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l" fontAlgn="ctr"/>
                      <a:r>
                        <a:rPr lang="zh-CN" altLang="en-US" sz="600" u="none" strike="noStrike">
                          <a:effectLst/>
                        </a:rPr>
                        <a:t>申请人：</a:t>
                      </a:r>
                      <a:r>
                        <a:rPr lang="en-US" altLang="zh-CN" sz="600" u="none" strike="noStrike">
                          <a:effectLst/>
                        </a:rPr>
                        <a:t>______</a:t>
                      </a:r>
                      <a:endParaRPr lang="zh-CN" altLang="en-US" sz="600" b="0" i="0" u="none" strike="noStrike">
                        <a:solidFill>
                          <a:srgbClr val="1F2329"/>
                        </a:solidFill>
                        <a:effectLst/>
                        <a:latin typeface="Arial" panose="020B0604020202020204" pitchFamily="34" charset="0"/>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l" fontAlgn="ctr"/>
                      <a:r>
                        <a:rPr lang="zh-CN" altLang="en-US" sz="600" u="none" strike="noStrike">
                          <a:effectLst/>
                        </a:rPr>
                        <a:t>所属部门：</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l" fontAlgn="ctr"/>
                      <a:r>
                        <a:rPr lang="zh-CN" altLang="en-US" sz="600" u="none" strike="noStrike">
                          <a:effectLst/>
                        </a:rPr>
                        <a:t>联系电话：</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l" fontAlgn="ctr"/>
                      <a:r>
                        <a:rPr lang="zh-CN" altLang="en-US" sz="600" u="none" strike="noStrike">
                          <a:effectLst/>
                        </a:rPr>
                        <a:t>对应差旅申请单号：</a:t>
                      </a:r>
                      <a:r>
                        <a:rPr lang="en-US" altLang="zh-CN" sz="600" u="none" strike="noStrike">
                          <a:effectLst/>
                        </a:rPr>
                        <a:t>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extLst>
                  <a:ext uri="{0D108BD9-81ED-4DB2-BD59-A6C34878D82A}">
                    <a16:rowId xmlns:a16="http://schemas.microsoft.com/office/drawing/2014/main" val="2938043463"/>
                  </a:ext>
                </a:extLst>
              </a:tr>
              <a:tr h="248169">
                <a:tc gridSpan="12">
                  <a:txBody>
                    <a:bodyPr/>
                    <a:lstStyle/>
                    <a:p>
                      <a:pPr algn="l" fontAlgn="ctr"/>
                      <a:r>
                        <a:rPr lang="zh-CN" altLang="en-US" sz="600" u="none" strike="noStrike">
                          <a:effectLst/>
                        </a:rPr>
                        <a:t>一、出差基础信息</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49799054"/>
                  </a:ext>
                </a:extLst>
              </a:tr>
              <a:tr h="248169">
                <a:tc gridSpan="2">
                  <a:txBody>
                    <a:bodyPr/>
                    <a:lstStyle/>
                    <a:p>
                      <a:pPr algn="l" fontAlgn="ctr"/>
                      <a:r>
                        <a:rPr lang="zh-CN" altLang="en-US" sz="600" u="none" strike="noStrike">
                          <a:effectLst/>
                        </a:rPr>
                        <a:t>出差目的地：</a:t>
                      </a:r>
                      <a:r>
                        <a:rPr lang="en-US" altLang="zh-CN" sz="600" u="none" strike="noStrike">
                          <a:effectLst/>
                        </a:rPr>
                        <a:t>_____________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4">
                  <a:txBody>
                    <a:bodyPr/>
                    <a:lstStyle/>
                    <a:p>
                      <a:pPr algn="l" fontAlgn="ctr"/>
                      <a:r>
                        <a:rPr lang="zh-CN" altLang="en-US" sz="600" u="none" strike="noStrike">
                          <a:effectLst/>
                        </a:rPr>
                        <a:t>出差起止时间：年</a:t>
                      </a:r>
                      <a:r>
                        <a:rPr lang="en-US" altLang="zh-CN" sz="600" u="none" strike="noStrike">
                          <a:effectLst/>
                        </a:rPr>
                        <a:t>__</a:t>
                      </a:r>
                      <a:r>
                        <a:rPr lang="zh-CN" altLang="en-US" sz="600" u="none" strike="noStrike">
                          <a:effectLst/>
                        </a:rPr>
                        <a:t>月</a:t>
                      </a:r>
                      <a:r>
                        <a:rPr lang="en-US" altLang="zh-CN" sz="600" u="none" strike="noStrike">
                          <a:effectLst/>
                        </a:rPr>
                        <a:t>__</a:t>
                      </a:r>
                      <a:r>
                        <a:rPr lang="zh-CN" altLang="en-US" sz="600" u="none" strike="noStrike">
                          <a:effectLst/>
                        </a:rPr>
                        <a:t>日 至 年</a:t>
                      </a:r>
                      <a:r>
                        <a:rPr lang="en-US" altLang="zh-CN" sz="600" u="none" strike="noStrike">
                          <a:effectLst/>
                        </a:rPr>
                        <a:t>__</a:t>
                      </a:r>
                      <a:r>
                        <a:rPr lang="zh-CN" altLang="en-US" sz="600" u="none" strike="noStrike">
                          <a:effectLst/>
                        </a:rPr>
                        <a:t>月</a:t>
                      </a:r>
                      <a:r>
                        <a:rPr lang="en-US" altLang="zh-CN" sz="600" u="none" strike="noStrike">
                          <a:effectLst/>
                        </a:rPr>
                        <a:t>__</a:t>
                      </a:r>
                      <a:r>
                        <a:rPr lang="zh-CN" altLang="en-US" sz="600" u="none" strike="noStrike">
                          <a:effectLst/>
                        </a:rPr>
                        <a:t>日，合计 </a:t>
                      </a:r>
                      <a:r>
                        <a:rPr lang="en-US" altLang="zh-CN" sz="600" u="none" strike="noStrike">
                          <a:effectLst/>
                        </a:rPr>
                        <a:t>____ </a:t>
                      </a:r>
                      <a:r>
                        <a:rPr lang="zh-CN" altLang="en-US" sz="600" u="none" strike="noStrike">
                          <a:effectLst/>
                        </a:rPr>
                        <a:t>天</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同行人员：</a:t>
                      </a:r>
                      <a:r>
                        <a:rPr lang="en-US" altLang="zh-CN" sz="600" u="none" strike="noStrike">
                          <a:effectLst/>
                        </a:rPr>
                        <a:t>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出差事由</a:t>
                      </a:r>
                      <a:r>
                        <a:rPr lang="en-US" altLang="zh-CN" sz="600" u="none" strike="noStrike">
                          <a:effectLst/>
                        </a:rPr>
                        <a:t>/</a:t>
                      </a:r>
                      <a:r>
                        <a:rPr lang="zh-CN" altLang="en-US" sz="600" u="none" strike="noStrike">
                          <a:effectLst/>
                        </a:rPr>
                        <a:t>项目：</a:t>
                      </a:r>
                      <a:r>
                        <a:rPr lang="en-US" altLang="zh-CN" sz="600" u="none" strike="noStrike">
                          <a:effectLst/>
                        </a:rPr>
                        <a:t>____________________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97314696"/>
                  </a:ext>
                </a:extLst>
              </a:tr>
              <a:tr h="248169">
                <a:tc gridSpan="12">
                  <a:txBody>
                    <a:bodyPr/>
                    <a:lstStyle/>
                    <a:p>
                      <a:pPr algn="l" fontAlgn="ctr"/>
                      <a:r>
                        <a:rPr lang="zh-CN" altLang="en-US" sz="600" u="none" strike="noStrike">
                          <a:effectLst/>
                        </a:rPr>
                        <a:t>二、费用明细清单（单位：元）</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56915065"/>
                  </a:ext>
                </a:extLst>
              </a:tr>
              <a:tr h="248169">
                <a:tc>
                  <a:txBody>
                    <a:bodyPr/>
                    <a:lstStyle/>
                    <a:p>
                      <a:pPr algn="ctr" fontAlgn="ctr"/>
                      <a:r>
                        <a:rPr lang="zh-CN" altLang="en-US" sz="600" u="none" strike="noStrike">
                          <a:effectLst/>
                        </a:rPr>
                        <a:t>费用类别</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项目明细</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ctr" fontAlgn="ctr"/>
                      <a:r>
                        <a:rPr lang="zh-CN" altLang="en-US" sz="600" u="none" strike="noStrike">
                          <a:effectLst/>
                        </a:rPr>
                        <a:t>票据张数</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3">
                  <a:txBody>
                    <a:bodyPr/>
                    <a:lstStyle/>
                    <a:p>
                      <a:pPr algn="ctr" fontAlgn="ctr"/>
                      <a:r>
                        <a:rPr lang="zh-CN" altLang="en-US" sz="600" u="none" strike="noStrike">
                          <a:effectLst/>
                        </a:rPr>
                        <a:t>报销金额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600" u="none" strike="noStrike">
                          <a:effectLst/>
                        </a:rPr>
                        <a:t>公司标准限额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超支金额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ctr" fontAlgn="ctr"/>
                      <a:r>
                        <a:rPr lang="zh-CN" altLang="en-US" sz="600" u="none" strike="noStrike">
                          <a:effectLst/>
                        </a:rPr>
                        <a:t>备注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3868666865"/>
                  </a:ext>
                </a:extLst>
              </a:tr>
              <a:tr h="248169">
                <a:tc rowSpan="2">
                  <a:txBody>
                    <a:bodyPr/>
                    <a:lstStyle/>
                    <a:p>
                      <a:pPr algn="ctr" fontAlgn="ctr"/>
                      <a:r>
                        <a:rPr lang="zh-CN" altLang="en-US" sz="600" u="none" strike="noStrike">
                          <a:effectLst/>
                        </a:rPr>
                        <a:t>交通费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往返机票 </a:t>
                      </a:r>
                      <a:r>
                        <a:rPr lang="en-US" altLang="zh-CN" sz="600" u="none" strike="noStrike">
                          <a:effectLst/>
                        </a:rPr>
                        <a:t>/ </a:t>
                      </a:r>
                      <a:r>
                        <a:rPr lang="zh-CN" altLang="en-US" sz="600" u="none" strike="noStrike">
                          <a:effectLst/>
                        </a:rPr>
                        <a:t>高铁 </a:t>
                      </a:r>
                      <a:r>
                        <a:rPr lang="en-US" altLang="zh-CN" sz="600" u="none" strike="noStrike">
                          <a:effectLst/>
                        </a:rPr>
                        <a:t>/ </a:t>
                      </a:r>
                      <a:r>
                        <a:rPr lang="zh-CN" altLang="en-US" sz="600" u="none" strike="noStrike">
                          <a:effectLst/>
                        </a:rPr>
                        <a:t>车票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500" u="none" strike="noStrike">
                          <a:effectLst/>
                        </a:rPr>
                        <a:t>　</a:t>
                      </a:r>
                      <a:endParaRPr lang="zh-CN" altLang="en-US" sz="5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1571155995"/>
                  </a:ext>
                </a:extLst>
              </a:tr>
              <a:tr h="248169">
                <a:tc vMerge="1">
                  <a:txBody>
                    <a:bodyPr/>
                    <a:lstStyle/>
                    <a:p>
                      <a:endParaRPr lang="zh-CN" altLang="en-US"/>
                    </a:p>
                  </a:txBody>
                  <a:tcPr/>
                </a:tc>
                <a:tc gridSpan="2">
                  <a:txBody>
                    <a:bodyPr/>
                    <a:lstStyle/>
                    <a:p>
                      <a:pPr algn="ctr" fontAlgn="ctr"/>
                      <a:r>
                        <a:rPr lang="zh-CN" altLang="en-US" sz="600" u="none" strike="noStrike">
                          <a:effectLst/>
                        </a:rPr>
                        <a:t>市内交通费 </a:t>
                      </a:r>
                      <a:r>
                        <a:rPr lang="en-US" altLang="zh-CN" sz="600" u="none" strike="noStrike">
                          <a:effectLst/>
                        </a:rPr>
                        <a:t>/ </a:t>
                      </a:r>
                      <a:r>
                        <a:rPr lang="zh-CN" altLang="en-US" sz="600" u="none" strike="noStrike">
                          <a:effectLst/>
                        </a:rPr>
                        <a:t>打车费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3684131138"/>
                  </a:ext>
                </a:extLst>
              </a:tr>
              <a:tr h="248169">
                <a:tc>
                  <a:txBody>
                    <a:bodyPr/>
                    <a:lstStyle/>
                    <a:p>
                      <a:pPr algn="ctr" fontAlgn="ctr"/>
                      <a:r>
                        <a:rPr lang="zh-CN" altLang="en-US" sz="600" u="none" strike="noStrike">
                          <a:effectLst/>
                        </a:rPr>
                        <a:t>住宿费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住宿费用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住宿天数：</a:t>
                      </a:r>
                      <a:r>
                        <a:rPr lang="en-US" altLang="zh-CN" sz="600" u="none" strike="noStrike">
                          <a:effectLst/>
                        </a:rPr>
                        <a:t>___</a:t>
                      </a:r>
                      <a:r>
                        <a:rPr lang="zh-CN" altLang="en-US" sz="600" u="none" strike="noStrike">
                          <a:effectLst/>
                        </a:rPr>
                        <a:t>天</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3995526034"/>
                  </a:ext>
                </a:extLst>
              </a:tr>
              <a:tr h="248169">
                <a:tc>
                  <a:txBody>
                    <a:bodyPr/>
                    <a:lstStyle/>
                    <a:p>
                      <a:pPr algn="ctr" fontAlgn="ctr"/>
                      <a:r>
                        <a:rPr lang="zh-CN" altLang="en-US" sz="600" u="none" strike="noStrike">
                          <a:effectLst/>
                        </a:rPr>
                        <a:t>餐补 </a:t>
                      </a:r>
                      <a:r>
                        <a:rPr lang="en-US" altLang="zh-CN" sz="600" u="none" strike="noStrike">
                          <a:effectLst/>
                        </a:rPr>
                        <a:t>/ </a:t>
                      </a:r>
                      <a:r>
                        <a:rPr lang="zh-CN" altLang="en-US" sz="600" u="none" strike="noStrike">
                          <a:effectLst/>
                        </a:rPr>
                        <a:t>餐费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餐费 </a:t>
                      </a:r>
                      <a:r>
                        <a:rPr lang="en-US" altLang="zh-CN" sz="600" u="none" strike="noStrike">
                          <a:effectLst/>
                        </a:rPr>
                        <a:t>/ </a:t>
                      </a:r>
                      <a:r>
                        <a:rPr lang="zh-CN" altLang="en-US" sz="600" u="none" strike="noStrike">
                          <a:effectLst/>
                        </a:rPr>
                        <a:t>出差补贴</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按制度标准执行</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3892992888"/>
                  </a:ext>
                </a:extLst>
              </a:tr>
              <a:tr h="248169">
                <a:tc>
                  <a:txBody>
                    <a:bodyPr/>
                    <a:lstStyle/>
                    <a:p>
                      <a:pPr algn="ctr" fontAlgn="ctr"/>
                      <a:r>
                        <a:rPr lang="zh-CN" altLang="en-US" sz="600" u="none" strike="noStrike">
                          <a:effectLst/>
                        </a:rPr>
                        <a:t>业务费用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业务招待费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附招待说明</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1237653390"/>
                  </a:ext>
                </a:extLst>
              </a:tr>
              <a:tr h="248169">
                <a:tc>
                  <a:txBody>
                    <a:bodyPr/>
                    <a:lstStyle/>
                    <a:p>
                      <a:pPr algn="ctr" fontAlgn="ctr"/>
                      <a:r>
                        <a:rPr lang="zh-CN" altLang="en-US" sz="600" u="none" strike="noStrike">
                          <a:effectLst/>
                        </a:rPr>
                        <a:t>其他费用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杂费（油费、会务、快递等）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2291358715"/>
                  </a:ext>
                </a:extLst>
              </a:tr>
              <a:tr h="248169">
                <a:tc>
                  <a:txBody>
                    <a:bodyPr/>
                    <a:lstStyle/>
                    <a:p>
                      <a:pPr algn="ctr" fontAlgn="ctr"/>
                      <a:r>
                        <a:rPr lang="zh-CN" altLang="en-US" sz="600" u="none" strike="noStrike">
                          <a:effectLst/>
                        </a:rPr>
                        <a:t>小计</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2">
                  <a:txBody>
                    <a:bodyPr/>
                    <a:lstStyle/>
                    <a:p>
                      <a:pPr algn="ctr" fontAlgn="ctr"/>
                      <a:r>
                        <a:rPr lang="zh-CN" altLang="en-US" sz="600" u="none" strike="noStrike">
                          <a:effectLst/>
                        </a:rPr>
                        <a:t>　</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extLst>
                  <a:ext uri="{0D108BD9-81ED-4DB2-BD59-A6C34878D82A}">
                    <a16:rowId xmlns:a16="http://schemas.microsoft.com/office/drawing/2014/main" val="591898749"/>
                  </a:ext>
                </a:extLst>
              </a:tr>
              <a:tr h="248169">
                <a:tc gridSpan="12">
                  <a:txBody>
                    <a:bodyPr/>
                    <a:lstStyle/>
                    <a:p>
                      <a:pPr algn="l" fontAlgn="ctr"/>
                      <a:r>
                        <a:rPr lang="zh-CN" altLang="en-US" sz="600" u="none" strike="noStrike">
                          <a:effectLst/>
                        </a:rPr>
                        <a:t>报销总金额： （小写）：￥</a:t>
                      </a:r>
                      <a:r>
                        <a:rPr lang="en-US" altLang="zh-CN" sz="600" u="none" strike="noStrike">
                          <a:effectLst/>
                        </a:rPr>
                        <a:t>____________________                                  </a:t>
                      </a:r>
                      <a:r>
                        <a:rPr lang="zh-CN" altLang="en-US" sz="600" u="none" strike="noStrike">
                          <a:effectLst/>
                        </a:rPr>
                        <a:t>大写：人民币</a:t>
                      </a:r>
                      <a:r>
                        <a:rPr lang="en-US" altLang="zh-CN" sz="600" u="none" strike="noStrike">
                          <a:effectLst/>
                        </a:rPr>
                        <a:t>________________________</a:t>
                      </a:r>
                      <a:r>
                        <a:rPr lang="zh-CN" altLang="en-US" sz="600" u="none" strike="noStrike">
                          <a:effectLst/>
                        </a:rPr>
                        <a:t>元整</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34944536"/>
                  </a:ext>
                </a:extLst>
              </a:tr>
              <a:tr h="248169">
                <a:tc gridSpan="12">
                  <a:txBody>
                    <a:bodyPr/>
                    <a:lstStyle/>
                    <a:p>
                      <a:pPr algn="l" fontAlgn="ctr"/>
                      <a:r>
                        <a:rPr lang="zh-CN" altLang="en-US" sz="600" u="none" strike="noStrike">
                          <a:effectLst/>
                        </a:rPr>
                        <a:t>三、借款抵扣信息</a:t>
                      </a:r>
                      <a:endParaRPr lang="zh-CN" altLang="en-US" sz="600" b="1"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83868206"/>
                  </a:ext>
                </a:extLst>
              </a:tr>
              <a:tr h="248169">
                <a:tc>
                  <a:txBody>
                    <a:bodyPr/>
                    <a:lstStyle/>
                    <a:p>
                      <a:pPr algn="l" fontAlgn="ctr"/>
                      <a:r>
                        <a:rPr lang="zh-CN" altLang="en-US" sz="600" u="none" strike="noStrike">
                          <a:effectLst/>
                        </a:rPr>
                        <a:t>□ 无预借备用金</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2">
                  <a:txBody>
                    <a:bodyPr/>
                    <a:lstStyle/>
                    <a:p>
                      <a:pPr algn="l" fontAlgn="ctr"/>
                      <a:r>
                        <a:rPr lang="zh-CN" altLang="en-US" sz="600" u="none" strike="noStrike">
                          <a:effectLst/>
                        </a:rPr>
                        <a:t>□ 已借备用金金额：￥</a:t>
                      </a:r>
                      <a:r>
                        <a:rPr lang="en-US" altLang="zh-CN" sz="600" u="none" strike="noStrike">
                          <a:effectLst/>
                        </a:rPr>
                        <a:t>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gridSpan="3">
                  <a:txBody>
                    <a:bodyPr/>
                    <a:lstStyle/>
                    <a:p>
                      <a:pPr algn="l" fontAlgn="ctr"/>
                      <a:r>
                        <a:rPr lang="zh-CN" altLang="en-US" sz="600" u="none" strike="noStrike">
                          <a:effectLst/>
                        </a:rPr>
                        <a:t>本次报销冲抵借款：￥</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需补退回公司金额：￥</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600" u="none" strike="noStrike">
                          <a:effectLst/>
                        </a:rPr>
                        <a:t>公司需补付个人金额：￥</a:t>
                      </a:r>
                      <a:r>
                        <a:rPr lang="en-US" altLang="zh-CN" sz="600" u="none" strike="noStrike">
                          <a:effectLst/>
                        </a:rPr>
                        <a:t>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84060277"/>
                  </a:ext>
                </a:extLst>
              </a:tr>
              <a:tr h="248169">
                <a:tc gridSpan="12">
                  <a:txBody>
                    <a:bodyPr/>
                    <a:lstStyle/>
                    <a:p>
                      <a:pPr algn="l" fontAlgn="ctr"/>
                      <a:r>
                        <a:rPr lang="zh-CN" altLang="en-US" sz="600" u="none" strike="noStrike">
                          <a:effectLst/>
                        </a:rPr>
                        <a:t>四、报销承诺    本人承诺：本次报销所附票据均真实、合法、有效，费用均为本次出差实际发生，如有虚假报销、票据不合规，自愿承担全部责任，并接受公司相关制度处罚。                                                                                                                           报销人签字：</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48024494"/>
                  </a:ext>
                </a:extLst>
              </a:tr>
              <a:tr h="248169">
                <a:tc gridSpan="5">
                  <a:txBody>
                    <a:bodyPr/>
                    <a:lstStyle/>
                    <a:p>
                      <a:pPr algn="l" fontAlgn="ctr"/>
                      <a:r>
                        <a:rPr lang="zh-CN" altLang="en-US" sz="600" u="none" strike="noStrike">
                          <a:effectLst/>
                        </a:rPr>
                        <a:t>五、审批栏</a:t>
                      </a:r>
                      <a:endParaRPr lang="zh-CN" altLang="en-US" sz="600" b="1" i="0" u="none" strike="noStrike">
                        <a:solidFill>
                          <a:srgbClr val="000000"/>
                        </a:solidFill>
                        <a:effectLst/>
                        <a:latin typeface="Arial Unicode MS" panose="020B0604020202020204" pitchFamily="34" charset="-122"/>
                        <a:ea typeface="Arial Unicode MS" panose="020B0604020202020204" pitchFamily="34"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l" fontAlgn="ctr"/>
                      <a:r>
                        <a:rPr lang="zh-CN" altLang="en-US" sz="600" u="none" strike="noStrike">
                          <a:effectLst/>
                        </a:rPr>
                        <a:t>六、财务结算记录（财务填写）</a:t>
                      </a:r>
                      <a:endParaRPr lang="zh-CN" altLang="en-US" sz="600" b="1" i="0" u="none" strike="noStrike">
                        <a:solidFill>
                          <a:srgbClr val="000000"/>
                        </a:solidFill>
                        <a:effectLst/>
                        <a:latin typeface="Arial Unicode MS" panose="020B0604020202020204" pitchFamily="34" charset="-122"/>
                        <a:ea typeface="Arial Unicode MS" panose="020B0604020202020204" pitchFamily="34"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17624108"/>
                  </a:ext>
                </a:extLst>
              </a:tr>
              <a:tr h="248169">
                <a:tc>
                  <a:txBody>
                    <a:bodyPr/>
                    <a:lstStyle/>
                    <a:p>
                      <a:pPr algn="l" fontAlgn="ctr"/>
                      <a:r>
                        <a:rPr lang="zh-CN" altLang="en-US" sz="600" u="none" strike="noStrike">
                          <a:effectLst/>
                        </a:rPr>
                        <a:t>审批岗位</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签字</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日期</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审核意见</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7">
                  <a:txBody>
                    <a:bodyPr/>
                    <a:lstStyle/>
                    <a:p>
                      <a:pPr algn="l" fontAlgn="ctr"/>
                      <a:r>
                        <a:rPr lang="zh-CN" altLang="en-US" sz="600" u="none" strike="noStrike">
                          <a:effectLst/>
                        </a:rPr>
                        <a:t>实付金额：￥</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82400291"/>
                  </a:ext>
                </a:extLst>
              </a:tr>
              <a:tr h="248169">
                <a:tc>
                  <a:txBody>
                    <a:bodyPr/>
                    <a:lstStyle/>
                    <a:p>
                      <a:pPr algn="l" fontAlgn="ctr"/>
                      <a:r>
                        <a:rPr lang="zh-CN" altLang="en-US" sz="600" u="none" strike="noStrike">
                          <a:effectLst/>
                        </a:rPr>
                        <a:t>部门负责人审核</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7">
                  <a:txBody>
                    <a:bodyPr/>
                    <a:lstStyle/>
                    <a:p>
                      <a:pPr algn="l" fontAlgn="ctr"/>
                      <a:r>
                        <a:rPr lang="zh-CN" altLang="en-US" sz="600" u="none" strike="noStrike">
                          <a:effectLst/>
                        </a:rPr>
                        <a:t>付款方式：□现金 □银行转账 □微信 </a:t>
                      </a:r>
                      <a:r>
                        <a:rPr lang="en-US" altLang="zh-CN" sz="600" u="none" strike="noStrike">
                          <a:effectLst/>
                        </a:rPr>
                        <a:t>/ </a:t>
                      </a:r>
                      <a:r>
                        <a:rPr lang="zh-CN" altLang="en-US" sz="600" u="none" strike="noStrike">
                          <a:effectLst/>
                        </a:rPr>
                        <a:t>支付宝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66818195"/>
                  </a:ext>
                </a:extLst>
              </a:tr>
              <a:tr h="248169">
                <a:tc>
                  <a:txBody>
                    <a:bodyPr/>
                    <a:lstStyle/>
                    <a:p>
                      <a:pPr algn="l" fontAlgn="ctr"/>
                      <a:r>
                        <a:rPr lang="zh-CN" altLang="en-US" sz="600" u="none" strike="noStrike">
                          <a:effectLst/>
                        </a:rPr>
                        <a:t>财务票据审核</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7">
                  <a:txBody>
                    <a:bodyPr/>
                    <a:lstStyle/>
                    <a:p>
                      <a:pPr algn="l" fontAlgn="ctr"/>
                      <a:r>
                        <a:rPr lang="zh-CN" altLang="en-US" sz="600" u="none" strike="noStrike">
                          <a:effectLst/>
                        </a:rPr>
                        <a:t>付款凭证号：</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56446096"/>
                  </a:ext>
                </a:extLst>
              </a:tr>
              <a:tr h="248169">
                <a:tc>
                  <a:txBody>
                    <a:bodyPr/>
                    <a:lstStyle/>
                    <a:p>
                      <a:pPr algn="l" fontAlgn="ctr"/>
                      <a:r>
                        <a:rPr lang="zh-CN" altLang="en-US" sz="600" u="none" strike="noStrike">
                          <a:effectLst/>
                        </a:rPr>
                        <a:t>财务负责人审批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7">
                  <a:txBody>
                    <a:bodyPr/>
                    <a:lstStyle/>
                    <a:p>
                      <a:pPr algn="l" fontAlgn="ctr"/>
                      <a:r>
                        <a:rPr lang="zh-CN" altLang="en-US" sz="600" u="none" strike="noStrike">
                          <a:effectLst/>
                        </a:rPr>
                        <a:t>财务经办人：</a:t>
                      </a:r>
                      <a:r>
                        <a:rPr lang="en-US" altLang="zh-CN" sz="600" u="none" strike="noStrike">
                          <a:effectLst/>
                        </a:rPr>
                        <a:t>__________</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96474475"/>
                  </a:ext>
                </a:extLst>
              </a:tr>
              <a:tr h="248169">
                <a:tc>
                  <a:txBody>
                    <a:bodyPr/>
                    <a:lstStyle/>
                    <a:p>
                      <a:pPr algn="l" fontAlgn="ctr"/>
                      <a:r>
                        <a:rPr lang="zh-CN" altLang="en-US" sz="600" u="none" strike="noStrike">
                          <a:effectLst/>
                        </a:rPr>
                        <a:t>总经理终审</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a:txBody>
                    <a:bodyPr/>
                    <a:lstStyle/>
                    <a:p>
                      <a:pPr algn="l"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gridSpan="7">
                  <a:txBody>
                    <a:bodyPr/>
                    <a:lstStyle/>
                    <a:p>
                      <a:pPr algn="l" fontAlgn="ctr"/>
                      <a:r>
                        <a:rPr lang="zh-CN" altLang="en-US" sz="600" u="none" strike="noStrike">
                          <a:effectLst/>
                        </a:rPr>
                        <a:t>结清状态：□已全部结清 □待补款 </a:t>
                      </a:r>
                      <a:r>
                        <a:rPr lang="en-US" altLang="zh-CN" sz="600" u="none" strike="noStrike">
                          <a:effectLst/>
                        </a:rPr>
                        <a:t>/ </a:t>
                      </a:r>
                      <a:r>
                        <a:rPr lang="zh-CN" altLang="en-US" sz="600" u="none" strike="noStrike">
                          <a:effectLst/>
                        </a:rPr>
                        <a:t>退款</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85370494"/>
                  </a:ext>
                </a:extLst>
              </a:tr>
              <a:tr h="248169">
                <a:tc gridSpan="12">
                  <a:txBody>
                    <a:bodyPr/>
                    <a:lstStyle/>
                    <a:p>
                      <a:pPr algn="l" fontAlgn="ctr"/>
                      <a:r>
                        <a:rPr lang="zh-CN" altLang="en-US" sz="600" u="none" strike="noStrike" dirty="0">
                          <a:effectLst/>
                        </a:rPr>
                        <a:t>备注：本单据一式两联，财务联 </a:t>
                      </a:r>
                      <a:r>
                        <a:rPr lang="en-US" altLang="zh-CN" sz="600" u="none" strike="noStrike" dirty="0">
                          <a:effectLst/>
                        </a:rPr>
                        <a:t>+ </a:t>
                      </a:r>
                      <a:r>
                        <a:rPr lang="zh-CN" altLang="en-US" sz="600" u="none" strike="noStrike" dirty="0">
                          <a:effectLst/>
                        </a:rPr>
                        <a:t>行政存档联；所有原始发票按顺序粘贴附后。</a:t>
                      </a:r>
                      <a:endParaRPr lang="zh-CN" altLang="en-US" sz="600" b="0" i="0" u="none" strike="noStrike" dirty="0">
                        <a:solidFill>
                          <a:srgbClr val="000000"/>
                        </a:solidFill>
                        <a:effectLst/>
                        <a:latin typeface="Arial Unicode MS" panose="020B0604020202020204" pitchFamily="34" charset="-122"/>
                        <a:ea typeface="Arial Unicode MS" panose="020B0604020202020204" pitchFamily="34" charset="-122"/>
                      </a:endParaRPr>
                    </a:p>
                  </a:txBody>
                  <a:tcPr marL="4288" marR="4288" marT="4288"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51369143"/>
                  </a:ext>
                </a:extLst>
              </a:tr>
            </a:tbl>
          </a:graphicData>
        </a:graphic>
      </p:graphicFrame>
    </p:spTree>
    <p:extLst>
      <p:ext uri="{BB962C8B-B14F-4D97-AF65-F5344CB8AC3E}">
        <p14:creationId xmlns:p14="http://schemas.microsoft.com/office/powerpoint/2010/main" val="2178488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FBFC4A1-1804-460A-BBB6-AE1572D94F41}"/>
              </a:ext>
            </a:extLst>
          </p:cNvPr>
          <p:cNvSpPr txBox="1"/>
          <p:nvPr/>
        </p:nvSpPr>
        <p:spPr>
          <a:xfrm>
            <a:off x="119336" y="116632"/>
            <a:ext cx="4176464" cy="461665"/>
          </a:xfrm>
          <a:prstGeom prst="rect">
            <a:avLst/>
          </a:prstGeom>
          <a:solidFill>
            <a:srgbClr val="FFFF00"/>
          </a:solidFill>
        </p:spPr>
        <p:txBody>
          <a:bodyPr wrap="square" rtlCol="0">
            <a:spAutoFit/>
          </a:bodyPr>
          <a:lstStyle/>
          <a:p>
            <a:r>
              <a:rPr lang="zh-CN" altLang="en-US" sz="2400" b="1" dirty="0">
                <a:solidFill>
                  <a:srgbClr val="FF0000"/>
                </a:solidFill>
              </a:rPr>
              <a:t>业务招待申请单</a:t>
            </a:r>
            <a:r>
              <a:rPr lang="en-US" altLang="zh-CN" sz="2400" b="1" dirty="0">
                <a:solidFill>
                  <a:srgbClr val="FF0000"/>
                </a:solidFill>
              </a:rPr>
              <a:t>4-4</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55028960-9262-4C0D-A96A-827727BB5DB0}"/>
              </a:ext>
            </a:extLst>
          </p:cNvPr>
          <p:cNvGraphicFramePr>
            <a:graphicFrameLocks noGrp="1"/>
          </p:cNvGraphicFramePr>
          <p:nvPr>
            <p:extLst>
              <p:ext uri="{D42A27DB-BD31-4B8C-83A1-F6EECF244321}">
                <p14:modId xmlns:p14="http://schemas.microsoft.com/office/powerpoint/2010/main" val="1186264616"/>
              </p:ext>
            </p:extLst>
          </p:nvPr>
        </p:nvGraphicFramePr>
        <p:xfrm>
          <a:off x="1127448" y="629056"/>
          <a:ext cx="10657186" cy="5896280"/>
        </p:xfrm>
        <a:graphic>
          <a:graphicData uri="http://schemas.openxmlformats.org/drawingml/2006/table">
            <a:tbl>
              <a:tblPr>
                <a:tableStyleId>{5C22544A-7EE6-4342-B048-85BDC9FD1C3A}</a:tableStyleId>
              </a:tblPr>
              <a:tblGrid>
                <a:gridCol w="1260369">
                  <a:extLst>
                    <a:ext uri="{9D8B030D-6E8A-4147-A177-3AD203B41FA5}">
                      <a16:colId xmlns:a16="http://schemas.microsoft.com/office/drawing/2014/main" val="378102595"/>
                    </a:ext>
                  </a:extLst>
                </a:gridCol>
                <a:gridCol w="1213253">
                  <a:extLst>
                    <a:ext uri="{9D8B030D-6E8A-4147-A177-3AD203B41FA5}">
                      <a16:colId xmlns:a16="http://schemas.microsoft.com/office/drawing/2014/main" val="1596075714"/>
                    </a:ext>
                  </a:extLst>
                </a:gridCol>
                <a:gridCol w="715583">
                  <a:extLst>
                    <a:ext uri="{9D8B030D-6E8A-4147-A177-3AD203B41FA5}">
                      <a16:colId xmlns:a16="http://schemas.microsoft.com/office/drawing/2014/main" val="188962528"/>
                    </a:ext>
                  </a:extLst>
                </a:gridCol>
                <a:gridCol w="521227">
                  <a:extLst>
                    <a:ext uri="{9D8B030D-6E8A-4147-A177-3AD203B41FA5}">
                      <a16:colId xmlns:a16="http://schemas.microsoft.com/office/drawing/2014/main" val="3759538084"/>
                    </a:ext>
                  </a:extLst>
                </a:gridCol>
                <a:gridCol w="450552">
                  <a:extLst>
                    <a:ext uri="{9D8B030D-6E8A-4147-A177-3AD203B41FA5}">
                      <a16:colId xmlns:a16="http://schemas.microsoft.com/office/drawing/2014/main" val="3128942501"/>
                    </a:ext>
                  </a:extLst>
                </a:gridCol>
                <a:gridCol w="715583">
                  <a:extLst>
                    <a:ext uri="{9D8B030D-6E8A-4147-A177-3AD203B41FA5}">
                      <a16:colId xmlns:a16="http://schemas.microsoft.com/office/drawing/2014/main" val="2166318494"/>
                    </a:ext>
                  </a:extLst>
                </a:gridCol>
                <a:gridCol w="1130799">
                  <a:extLst>
                    <a:ext uri="{9D8B030D-6E8A-4147-A177-3AD203B41FA5}">
                      <a16:colId xmlns:a16="http://schemas.microsoft.com/office/drawing/2014/main" val="874170214"/>
                    </a:ext>
                  </a:extLst>
                </a:gridCol>
                <a:gridCol w="965890">
                  <a:extLst>
                    <a:ext uri="{9D8B030D-6E8A-4147-A177-3AD203B41FA5}">
                      <a16:colId xmlns:a16="http://schemas.microsoft.com/office/drawing/2014/main" val="1987595675"/>
                    </a:ext>
                  </a:extLst>
                </a:gridCol>
                <a:gridCol w="821596">
                  <a:extLst>
                    <a:ext uri="{9D8B030D-6E8A-4147-A177-3AD203B41FA5}">
                      <a16:colId xmlns:a16="http://schemas.microsoft.com/office/drawing/2014/main" val="3896372839"/>
                    </a:ext>
                  </a:extLst>
                </a:gridCol>
                <a:gridCol w="2862334">
                  <a:extLst>
                    <a:ext uri="{9D8B030D-6E8A-4147-A177-3AD203B41FA5}">
                      <a16:colId xmlns:a16="http://schemas.microsoft.com/office/drawing/2014/main" val="1242059651"/>
                    </a:ext>
                  </a:extLst>
                </a:gridCol>
              </a:tblGrid>
              <a:tr h="294814">
                <a:tc gridSpan="10">
                  <a:txBody>
                    <a:bodyPr/>
                    <a:lstStyle/>
                    <a:p>
                      <a:pPr algn="ctr" fontAlgn="ctr"/>
                      <a:r>
                        <a:rPr lang="zh-CN" altLang="en-US" sz="900" u="none" strike="noStrike">
                          <a:effectLst/>
                        </a:rPr>
                        <a:t>业务招待申请单</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78652179"/>
                  </a:ext>
                </a:extLst>
              </a:tr>
              <a:tr h="294814">
                <a:tc gridSpan="2">
                  <a:txBody>
                    <a:bodyPr/>
                    <a:lstStyle/>
                    <a:p>
                      <a:pPr algn="l" fontAlgn="ctr"/>
                      <a:r>
                        <a:rPr lang="zh-CN" altLang="en-US" sz="800" u="none" strike="noStrike">
                          <a:effectLst/>
                        </a:rPr>
                        <a:t>单据编号：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l" fontAlgn="ctr"/>
                      <a:r>
                        <a:rPr lang="zh-CN" altLang="en-US" sz="800" u="none" strike="noStrike">
                          <a:effectLst/>
                        </a:rPr>
                        <a:t>申请日期：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800" u="none" strike="noStrike">
                          <a:effectLst/>
                        </a:rPr>
                        <a:t>申请人：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2">
                  <a:txBody>
                    <a:bodyPr/>
                    <a:lstStyle/>
                    <a:p>
                      <a:pPr algn="l" fontAlgn="ctr"/>
                      <a:r>
                        <a:rPr lang="zh-CN" altLang="en-US" sz="800" u="none" strike="noStrike">
                          <a:effectLst/>
                        </a:rPr>
                        <a:t>联系电话：</a:t>
                      </a:r>
                      <a:r>
                        <a:rPr lang="en-US" altLang="zh-CN" sz="800" u="none" strike="noStrike">
                          <a:effectLst/>
                        </a:rPr>
                        <a:t>_______ </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a:txBody>
                    <a:bodyPr/>
                    <a:lstStyle/>
                    <a:p>
                      <a:pPr algn="l" fontAlgn="ctr"/>
                      <a:r>
                        <a:rPr lang="zh-CN" altLang="en-US" sz="800" u="none" strike="noStrike">
                          <a:effectLst/>
                        </a:rPr>
                        <a:t>所属部门及职位：</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extLst>
                  <a:ext uri="{0D108BD9-81ED-4DB2-BD59-A6C34878D82A}">
                    <a16:rowId xmlns:a16="http://schemas.microsoft.com/office/drawing/2014/main" val="2072123678"/>
                  </a:ext>
                </a:extLst>
              </a:tr>
              <a:tr h="294814">
                <a:tc gridSpan="10">
                  <a:txBody>
                    <a:bodyPr/>
                    <a:lstStyle/>
                    <a:p>
                      <a:pPr algn="l" fontAlgn="ctr"/>
                      <a:r>
                        <a:rPr lang="zh-CN" altLang="en-US" sz="800" u="none" strike="noStrike">
                          <a:effectLst/>
                        </a:rPr>
                        <a:t>一、招待对象信息</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81898160"/>
                  </a:ext>
                </a:extLst>
              </a:tr>
              <a:tr h="294814">
                <a:tc>
                  <a:txBody>
                    <a:bodyPr/>
                    <a:lstStyle/>
                    <a:p>
                      <a:pPr algn="ctr" fontAlgn="ctr"/>
                      <a:r>
                        <a:rPr lang="zh-CN" altLang="en-US" sz="800" u="none" strike="noStrike">
                          <a:effectLst/>
                        </a:rPr>
                        <a:t>客户</a:t>
                      </a:r>
                      <a:r>
                        <a:rPr lang="en-US" altLang="zh-CN" sz="800" u="none" strike="noStrike">
                          <a:effectLst/>
                        </a:rPr>
                        <a:t>/</a:t>
                      </a:r>
                      <a:r>
                        <a:rPr lang="zh-CN" altLang="en-US" sz="800" u="none" strike="noStrike">
                          <a:effectLst/>
                        </a:rPr>
                        <a:t>单位名称</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来访人员姓名</a:t>
                      </a:r>
                      <a:r>
                        <a:rPr lang="en-US" altLang="zh-CN" sz="800" u="none" strike="noStrike">
                          <a:effectLst/>
                        </a:rPr>
                        <a:t>/</a:t>
                      </a:r>
                      <a:r>
                        <a:rPr lang="zh-CN" altLang="en-US" sz="800" u="none" strike="noStrike">
                          <a:effectLst/>
                        </a:rPr>
                        <a:t>职务：</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2">
                  <a:txBody>
                    <a:bodyPr/>
                    <a:lstStyle/>
                    <a:p>
                      <a:pPr algn="ctr" fontAlgn="ctr"/>
                      <a:r>
                        <a:rPr lang="zh-CN" altLang="en-US" sz="800" u="none" strike="noStrike">
                          <a:effectLst/>
                        </a:rPr>
                        <a:t>来访人数：</a:t>
                      </a:r>
                      <a:r>
                        <a:rPr lang="en-US" altLang="zh-CN" sz="800" u="none" strike="noStrike">
                          <a:effectLst/>
                        </a:rPr>
                        <a:t>____ </a:t>
                      </a:r>
                      <a:r>
                        <a:rPr lang="zh-CN" altLang="en-US" sz="800" u="none" strike="noStrike">
                          <a:effectLst/>
                        </a:rPr>
                        <a:t>人   我方陪同人数：</a:t>
                      </a:r>
                      <a:r>
                        <a:rPr lang="en-US" altLang="zh-CN" sz="800" u="none" strike="noStrike">
                          <a:effectLst/>
                        </a:rPr>
                        <a:t>____ </a:t>
                      </a:r>
                      <a:r>
                        <a:rPr lang="zh-CN" altLang="en-US" sz="800" u="none" strike="noStrike">
                          <a:effectLst/>
                        </a:rPr>
                        <a:t>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extLst>
                  <a:ext uri="{0D108BD9-81ED-4DB2-BD59-A6C34878D82A}">
                    <a16:rowId xmlns:a16="http://schemas.microsoft.com/office/drawing/2014/main" val="3894428661"/>
                  </a:ext>
                </a:extLst>
              </a:tr>
              <a:tr h="294814">
                <a:tc>
                  <a:txBody>
                    <a:bodyPr/>
                    <a:lstStyle/>
                    <a:p>
                      <a:pPr algn="ctr" fontAlgn="ctr"/>
                      <a:r>
                        <a:rPr lang="zh-CN" altLang="en-US" sz="800" u="none" strike="noStrike">
                          <a:effectLst/>
                        </a:rPr>
                        <a:t>二、招待事由</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9">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44038675"/>
                  </a:ext>
                </a:extLst>
              </a:tr>
              <a:tr h="294814">
                <a:tc>
                  <a:txBody>
                    <a:bodyPr/>
                    <a:lstStyle/>
                    <a:p>
                      <a:pPr algn="ctr" fontAlgn="ctr"/>
                      <a:r>
                        <a:rPr lang="zh-CN" altLang="en-US" sz="800" u="none" strike="noStrike">
                          <a:effectLst/>
                        </a:rPr>
                        <a:t>招待类型</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9">
                  <a:txBody>
                    <a:bodyPr/>
                    <a:lstStyle/>
                    <a:p>
                      <a:pPr algn="l" fontAlgn="ctr"/>
                      <a:r>
                        <a:rPr lang="zh-CN" altLang="en-US" sz="800" u="none" strike="noStrike">
                          <a:effectLst/>
                        </a:rPr>
                        <a:t>□客户来访接待 □商务洽谈 □项目对接 □合作维护 □年终拜访 □其他：</a:t>
                      </a:r>
                      <a:r>
                        <a:rPr lang="en-US" altLang="zh-CN" sz="800" u="none" strike="noStrike">
                          <a:effectLst/>
                        </a:rPr>
                        <a:t>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41289871"/>
                  </a:ext>
                </a:extLst>
              </a:tr>
              <a:tr h="294814">
                <a:tc>
                  <a:txBody>
                    <a:bodyPr/>
                    <a:lstStyle/>
                    <a:p>
                      <a:pPr algn="ctr" fontAlgn="ctr"/>
                      <a:r>
                        <a:rPr lang="zh-CN" altLang="en-US" sz="800" u="none" strike="noStrike">
                          <a:effectLst/>
                        </a:rPr>
                        <a:t>具体事由说明</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9">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11161204"/>
                  </a:ext>
                </a:extLst>
              </a:tr>
              <a:tr h="294814">
                <a:tc>
                  <a:txBody>
                    <a:bodyPr/>
                    <a:lstStyle/>
                    <a:p>
                      <a:pPr algn="ctr" fontAlgn="ctr"/>
                      <a:r>
                        <a:rPr lang="zh-CN" altLang="en-US" sz="800" u="none" strike="noStrike">
                          <a:effectLst/>
                        </a:rPr>
                        <a:t>三、招待安排</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9">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96245298"/>
                  </a:ext>
                </a:extLst>
              </a:tr>
              <a:tr h="294814">
                <a:tc>
                  <a:txBody>
                    <a:bodyPr/>
                    <a:lstStyle/>
                    <a:p>
                      <a:pPr algn="ctr" fontAlgn="ctr"/>
                      <a:r>
                        <a:rPr lang="zh-CN" altLang="en-US" sz="800" u="none" strike="noStrike">
                          <a:effectLst/>
                        </a:rPr>
                        <a:t>招待时间</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3">
                  <a:txBody>
                    <a:bodyPr/>
                    <a:lstStyle/>
                    <a:p>
                      <a:pPr algn="l" fontAlgn="ctr"/>
                      <a:r>
                        <a:rPr lang="en-US" altLang="zh-CN" sz="800" u="none" strike="noStrike">
                          <a:effectLst/>
                        </a:rPr>
                        <a:t>______</a:t>
                      </a:r>
                      <a:r>
                        <a:rPr lang="zh-CN" altLang="en-US" sz="800" u="none" strike="noStrike">
                          <a:effectLst/>
                        </a:rPr>
                        <a:t>年</a:t>
                      </a:r>
                      <a:r>
                        <a:rPr lang="en-US" altLang="zh-CN" sz="800" u="none" strike="noStrike">
                          <a:effectLst/>
                        </a:rPr>
                        <a:t>____</a:t>
                      </a:r>
                      <a:r>
                        <a:rPr lang="zh-CN" altLang="en-US" sz="800" u="none" strike="noStrike">
                          <a:effectLst/>
                        </a:rPr>
                        <a:t>月</a:t>
                      </a:r>
                      <a:r>
                        <a:rPr lang="en-US" altLang="zh-CN" sz="800" u="none" strike="noStrike">
                          <a:effectLst/>
                        </a:rPr>
                        <a:t>____</a:t>
                      </a:r>
                      <a:r>
                        <a:rPr lang="zh-CN" altLang="en-US" sz="800" u="none" strike="noStrike">
                          <a:effectLst/>
                        </a:rPr>
                        <a:t>日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800" u="none" strike="noStrike">
                          <a:effectLst/>
                        </a:rPr>
                        <a:t>招待地点：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招待形式</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l" fontAlgn="ctr"/>
                      <a:r>
                        <a:rPr lang="zh-CN" altLang="en-US" sz="800" u="none" strike="noStrike">
                          <a:effectLst/>
                        </a:rPr>
                        <a:t>□餐饮招待 □茶水接待 □礼品赠送 □活动接待 □其他：</a:t>
                      </a:r>
                      <a:r>
                        <a:rPr lang="en-US" altLang="zh-CN" sz="800" u="none" strike="noStrike">
                          <a:effectLst/>
                        </a:rPr>
                        <a:t>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extLst>
                  <a:ext uri="{0D108BD9-81ED-4DB2-BD59-A6C34878D82A}">
                    <a16:rowId xmlns:a16="http://schemas.microsoft.com/office/drawing/2014/main" val="1325783965"/>
                  </a:ext>
                </a:extLst>
              </a:tr>
              <a:tr h="294814">
                <a:tc gridSpan="10">
                  <a:txBody>
                    <a:bodyPr/>
                    <a:lstStyle/>
                    <a:p>
                      <a:pPr algn="l" fontAlgn="ctr"/>
                      <a:r>
                        <a:rPr lang="zh-CN" altLang="en-US" sz="800" u="none" strike="noStrike">
                          <a:effectLst/>
                        </a:rPr>
                        <a:t>四、费用预算明细</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33758000"/>
                  </a:ext>
                </a:extLst>
              </a:tr>
              <a:tr h="294814">
                <a:tc>
                  <a:txBody>
                    <a:bodyPr/>
                    <a:lstStyle/>
                    <a:p>
                      <a:pPr algn="ctr" fontAlgn="ctr"/>
                      <a:r>
                        <a:rPr lang="zh-CN" altLang="en-US" sz="800" u="none" strike="noStrike">
                          <a:effectLst/>
                        </a:rPr>
                        <a:t>费用项目</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ctr" fontAlgn="ctr"/>
                      <a:r>
                        <a:rPr lang="zh-CN" altLang="en-US" sz="800" u="none" strike="noStrike">
                          <a:effectLst/>
                        </a:rPr>
                        <a:t>餐饮费用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礼品</a:t>
                      </a:r>
                      <a:r>
                        <a:rPr lang="en-US" altLang="zh-CN" sz="800" u="none" strike="noStrike">
                          <a:effectLst/>
                        </a:rPr>
                        <a:t>/</a:t>
                      </a:r>
                      <a:r>
                        <a:rPr lang="zh-CN" altLang="en-US" sz="800" u="none" strike="noStrike">
                          <a:effectLst/>
                        </a:rPr>
                        <a:t>物资费用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2">
                  <a:txBody>
                    <a:bodyPr/>
                    <a:lstStyle/>
                    <a:p>
                      <a:pPr algn="ctr" fontAlgn="ctr"/>
                      <a:r>
                        <a:rPr lang="zh-CN" altLang="en-US" sz="800" u="none" strike="noStrike">
                          <a:effectLst/>
                        </a:rPr>
                        <a:t>场地</a:t>
                      </a:r>
                      <a:r>
                        <a:rPr lang="en-US" altLang="zh-CN" sz="800" u="none" strike="noStrike">
                          <a:effectLst/>
                        </a:rPr>
                        <a:t>/</a:t>
                      </a:r>
                      <a:r>
                        <a:rPr lang="zh-CN" altLang="en-US" sz="800" u="none" strike="noStrike">
                          <a:effectLst/>
                        </a:rPr>
                        <a:t>茶水费用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a:txBody>
                    <a:bodyPr/>
                    <a:lstStyle/>
                    <a:p>
                      <a:pPr algn="ctr" fontAlgn="ctr"/>
                      <a:r>
                        <a:rPr lang="zh-CN" altLang="en-US" sz="800" u="none" strike="noStrike">
                          <a:effectLst/>
                        </a:rPr>
                        <a:t>其他杂费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3">
                  <a:txBody>
                    <a:bodyPr/>
                    <a:lstStyle/>
                    <a:p>
                      <a:pPr algn="ctr" fontAlgn="ctr"/>
                      <a:r>
                        <a:rPr lang="zh-CN" altLang="en-US" sz="800" u="none" strike="noStrike">
                          <a:effectLst/>
                        </a:rPr>
                        <a:t>预算合计金额</a:t>
                      </a:r>
                      <a:r>
                        <a:rPr lang="en-US" altLang="zh-CN" sz="800" u="none" strike="noStrike">
                          <a:effectLst/>
                        </a:rPr>
                        <a:t>(</a:t>
                      </a:r>
                      <a:r>
                        <a:rPr lang="zh-CN" altLang="en-US" sz="800" u="none" strike="noStrike">
                          <a:effectLst/>
                        </a:rPr>
                        <a:t>元</a:t>
                      </a:r>
                      <a:r>
                        <a:rPr lang="en-US" altLang="zh-CN" sz="800" u="none" strike="noStrike">
                          <a:effectLst/>
                        </a:rPr>
                        <a:t>)</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91940450"/>
                  </a:ext>
                </a:extLst>
              </a:tr>
              <a:tr h="294814">
                <a:tc>
                  <a:txBody>
                    <a:bodyPr/>
                    <a:lstStyle/>
                    <a:p>
                      <a:pPr algn="ctr" fontAlgn="ctr"/>
                      <a:r>
                        <a:rPr lang="zh-CN" altLang="en-US" sz="800" u="none" strike="noStrike">
                          <a:effectLst/>
                        </a:rPr>
                        <a:t>预算金额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3">
                  <a:txBody>
                    <a:bodyPr/>
                    <a:lstStyle/>
                    <a:p>
                      <a:pPr algn="l" fontAlgn="ctr"/>
                      <a:r>
                        <a:rPr lang="zh-CN" altLang="en-US" sz="800" u="none" strike="noStrike">
                          <a:effectLst/>
                        </a:rPr>
                        <a:t>金额小写：￥</a:t>
                      </a:r>
                      <a:r>
                        <a:rPr lang="en-US" altLang="zh-CN" sz="800" u="none" strike="noStrike">
                          <a:effectLst/>
                        </a:rPr>
                        <a:t>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43732536"/>
                  </a:ext>
                </a:extLst>
              </a:tr>
              <a:tr h="294814">
                <a:tc>
                  <a:txBody>
                    <a:bodyPr/>
                    <a:lstStyle/>
                    <a:p>
                      <a:pPr algn="ctr" fontAlgn="ctr"/>
                      <a:r>
                        <a:rPr lang="zh-CN" altLang="en-US" sz="800" u="none" strike="noStrike">
                          <a:effectLst/>
                        </a:rPr>
                        <a:t>备注说明</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3">
                  <a:txBody>
                    <a:bodyPr/>
                    <a:lstStyle/>
                    <a:p>
                      <a:pPr algn="l" fontAlgn="ctr"/>
                      <a:r>
                        <a:rPr lang="zh-CN" altLang="en-US" sz="800" u="none" strike="noStrike">
                          <a:effectLst/>
                        </a:rPr>
                        <a:t>金额大写：人民币</a:t>
                      </a:r>
                      <a:r>
                        <a:rPr lang="en-US" altLang="zh-CN" sz="800" u="none" strike="noStrike">
                          <a:effectLst/>
                        </a:rPr>
                        <a:t>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55692301"/>
                  </a:ext>
                </a:extLst>
              </a:tr>
              <a:tr h="294814">
                <a:tc gridSpan="7">
                  <a:txBody>
                    <a:bodyPr/>
                    <a:lstStyle/>
                    <a:p>
                      <a:pPr algn="l" fontAlgn="ctr"/>
                      <a:r>
                        <a:rPr lang="zh-CN" altLang="en-US" sz="800" u="none" strike="noStrike">
                          <a:effectLst/>
                        </a:rPr>
                        <a:t>五、审批意见</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六、制度说明</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03645407"/>
                  </a:ext>
                </a:extLst>
              </a:tr>
              <a:tr h="294814">
                <a:tc>
                  <a:txBody>
                    <a:bodyPr/>
                    <a:lstStyle/>
                    <a:p>
                      <a:pPr algn="ctr" fontAlgn="ctr"/>
                      <a:r>
                        <a:rPr lang="zh-CN" altLang="en-US" sz="800" u="none" strike="noStrike">
                          <a:effectLst/>
                        </a:rPr>
                        <a:t>审批岗位</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ctr" fontAlgn="ctr"/>
                      <a:r>
                        <a:rPr lang="zh-CN" altLang="en-US" sz="800" u="none" strike="noStrike">
                          <a:effectLst/>
                        </a:rPr>
                        <a:t>签字</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日期</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审核意见</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rowSpan="6" gridSpan="3">
                  <a:txBody>
                    <a:bodyPr/>
                    <a:lstStyle/>
                    <a:p>
                      <a:pPr algn="l" fontAlgn="ctr"/>
                      <a:r>
                        <a:rPr lang="en-US" altLang="zh-CN" sz="800" u="none" strike="noStrike">
                          <a:effectLst/>
                        </a:rPr>
                        <a:t>1. </a:t>
                      </a:r>
                      <a:r>
                        <a:rPr lang="zh-CN" altLang="en-US" sz="800" u="none" strike="noStrike">
                          <a:effectLst/>
                        </a:rPr>
                        <a:t>本申请单严格按照公司</a:t>
                      </a:r>
                      <a:r>
                        <a:rPr lang="en-US" altLang="zh-CN" sz="800" u="none" strike="noStrike">
                          <a:effectLst/>
                        </a:rPr>
                        <a:t>《</a:t>
                      </a:r>
                      <a:r>
                        <a:rPr lang="zh-CN" altLang="en-US" sz="800" u="none" strike="noStrike">
                          <a:effectLst/>
                        </a:rPr>
                        <a:t>业务招待管理办法</a:t>
                      </a:r>
                      <a:r>
                        <a:rPr lang="en-US" altLang="zh-CN" sz="800" u="none" strike="noStrike">
                          <a:effectLst/>
                        </a:rPr>
                        <a:t>》</a:t>
                      </a:r>
                      <a:r>
                        <a:rPr lang="zh-CN" altLang="en-US" sz="800" u="none" strike="noStrike">
                          <a:effectLst/>
                        </a:rPr>
                        <a:t>执行，所有招待费用需符合公司标准，超标准部分需提前说明并经总经理审批。</a:t>
                      </a:r>
                      <a:br>
                        <a:rPr lang="zh-CN" altLang="en-US" sz="800" u="none" strike="noStrike">
                          <a:effectLst/>
                        </a:rPr>
                      </a:br>
                      <a:r>
                        <a:rPr lang="en-US" altLang="zh-CN" sz="800" u="none" strike="noStrike">
                          <a:effectLst/>
                        </a:rPr>
                        <a:t>2. </a:t>
                      </a:r>
                      <a:r>
                        <a:rPr lang="zh-CN" altLang="en-US" sz="800" u="none" strike="noStrike">
                          <a:effectLst/>
                        </a:rPr>
                        <a:t>招待结束后</a:t>
                      </a:r>
                      <a:r>
                        <a:rPr lang="en-US" altLang="zh-CN" sz="800" u="none" strike="noStrike">
                          <a:effectLst/>
                        </a:rPr>
                        <a:t>7</a:t>
                      </a:r>
                      <a:r>
                        <a:rPr lang="zh-CN" altLang="en-US" sz="800" u="none" strike="noStrike">
                          <a:effectLst/>
                        </a:rPr>
                        <a:t>个工作日内，需凭本申请单、正规发票、消费明细完成报销，无申请单的招待费用不予报销。</a:t>
                      </a:r>
                      <a:br>
                        <a:rPr lang="zh-CN" altLang="en-US" sz="800" u="none" strike="noStrike">
                          <a:effectLst/>
                        </a:rPr>
                      </a:br>
                      <a:r>
                        <a:rPr lang="en-US" altLang="zh-CN" sz="800" u="none" strike="noStrike">
                          <a:effectLst/>
                        </a:rPr>
                        <a:t>3. </a:t>
                      </a:r>
                      <a:r>
                        <a:rPr lang="zh-CN" altLang="en-US" sz="800" u="none" strike="noStrike">
                          <a:effectLst/>
                        </a:rPr>
                        <a:t>申请人承诺所有招待内容真实、合规，如有虚假报销、违规招待，自愿承担全部责任，并接受公司相关制度处罚。</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rowSpan="6" hMerge="1">
                  <a:txBody>
                    <a:bodyPr/>
                    <a:lstStyle/>
                    <a:p>
                      <a:endParaRPr lang="zh-CN" altLang="en-US"/>
                    </a:p>
                  </a:txBody>
                  <a:tcPr/>
                </a:tc>
                <a:tc rowSpan="6" hMerge="1">
                  <a:txBody>
                    <a:bodyPr/>
                    <a:lstStyle/>
                    <a:p>
                      <a:endParaRPr lang="zh-CN" altLang="en-US"/>
                    </a:p>
                  </a:txBody>
                  <a:tcPr/>
                </a:tc>
                <a:extLst>
                  <a:ext uri="{0D108BD9-81ED-4DB2-BD59-A6C34878D82A}">
                    <a16:rowId xmlns:a16="http://schemas.microsoft.com/office/drawing/2014/main" val="96601549"/>
                  </a:ext>
                </a:extLst>
              </a:tr>
              <a:tr h="294814">
                <a:tc>
                  <a:txBody>
                    <a:bodyPr/>
                    <a:lstStyle/>
                    <a:p>
                      <a:pPr algn="ctr" fontAlgn="ctr"/>
                      <a:r>
                        <a:rPr lang="zh-CN" altLang="en-US" sz="800" u="none" strike="noStrike">
                          <a:effectLst/>
                        </a:rPr>
                        <a:t>部门负责人审核</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149183916"/>
                  </a:ext>
                </a:extLst>
              </a:tr>
              <a:tr h="294814">
                <a:tc>
                  <a:txBody>
                    <a:bodyPr/>
                    <a:lstStyle/>
                    <a:p>
                      <a:pPr algn="ctr" fontAlgn="ctr"/>
                      <a:r>
                        <a:rPr lang="zh-CN" altLang="en-US" sz="800" u="none" strike="noStrike">
                          <a:effectLst/>
                        </a:rPr>
                        <a:t>行政</a:t>
                      </a:r>
                      <a:r>
                        <a:rPr lang="en-US" altLang="zh-CN" sz="800" u="none" strike="noStrike">
                          <a:effectLst/>
                        </a:rPr>
                        <a:t>/</a:t>
                      </a:r>
                      <a:r>
                        <a:rPr lang="zh-CN" altLang="en-US" sz="800" u="none" strike="noStrike">
                          <a:effectLst/>
                        </a:rPr>
                        <a:t>人事审核</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592988384"/>
                  </a:ext>
                </a:extLst>
              </a:tr>
              <a:tr h="294814">
                <a:tc>
                  <a:txBody>
                    <a:bodyPr/>
                    <a:lstStyle/>
                    <a:p>
                      <a:pPr algn="ctr" fontAlgn="ctr"/>
                      <a:r>
                        <a:rPr lang="zh-CN" altLang="en-US" sz="800" u="none" strike="noStrike">
                          <a:effectLst/>
                        </a:rPr>
                        <a:t>财务预算审核</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859521969"/>
                  </a:ext>
                </a:extLst>
              </a:tr>
              <a:tr h="294814">
                <a:tc>
                  <a:txBody>
                    <a:bodyPr/>
                    <a:lstStyle/>
                    <a:p>
                      <a:pPr algn="ctr" fontAlgn="ctr"/>
                      <a:r>
                        <a:rPr lang="zh-CN" altLang="en-US" sz="800" u="none" strike="noStrike">
                          <a:effectLst/>
                        </a:rPr>
                        <a:t>财务负责人审批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646946125"/>
                  </a:ext>
                </a:extLst>
              </a:tr>
              <a:tr h="294814">
                <a:tc>
                  <a:txBody>
                    <a:bodyPr/>
                    <a:lstStyle/>
                    <a:p>
                      <a:pPr algn="ctr" fontAlgn="ctr"/>
                      <a:r>
                        <a:rPr lang="zh-CN" altLang="en-US" sz="800" u="none" strike="noStrike">
                          <a:effectLst/>
                        </a:rPr>
                        <a:t>总经理终审</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a:txBody>
                    <a:bodyPr/>
                    <a:lstStyle/>
                    <a:p>
                      <a:pPr algn="l"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gridSpan="3">
                  <a:txBody>
                    <a:bodyPr/>
                    <a:lstStyle/>
                    <a:p>
                      <a:pPr algn="ctr" fontAlgn="ctr"/>
                      <a:r>
                        <a:rPr lang="zh-CN" altLang="en-US" sz="800" u="none" strike="noStrike" dirty="0">
                          <a:effectLst/>
                        </a:rPr>
                        <a:t>　</a:t>
                      </a:r>
                      <a:endParaRPr lang="zh-CN" altLang="en-US" sz="800" b="1" i="0" u="none" strike="noStrike" dirty="0">
                        <a:solidFill>
                          <a:srgbClr val="000000"/>
                        </a:solidFill>
                        <a:effectLst/>
                        <a:latin typeface="宋体" panose="02010600030101010101" pitchFamily="2" charset="-122"/>
                        <a:ea typeface="宋体" panose="02010600030101010101" pitchFamily="2" charset="-122"/>
                      </a:endParaRPr>
                    </a:p>
                  </a:txBody>
                  <a:tcPr marL="5633" marR="5633" marT="5633" marB="0" anchor="ctr"/>
                </a:tc>
                <a:tc hMerge="1">
                  <a:txBody>
                    <a:bodyPr/>
                    <a:lstStyle/>
                    <a:p>
                      <a:endParaRPr lang="zh-CN" altLang="en-US"/>
                    </a:p>
                  </a:txBody>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899503160"/>
                  </a:ext>
                </a:extLst>
              </a:tr>
            </a:tbl>
          </a:graphicData>
        </a:graphic>
      </p:graphicFrame>
    </p:spTree>
    <p:extLst>
      <p:ext uri="{BB962C8B-B14F-4D97-AF65-F5344CB8AC3E}">
        <p14:creationId xmlns:p14="http://schemas.microsoft.com/office/powerpoint/2010/main" val="2749975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72DE1A2-0675-4CCE-B14D-EAD890FA8F99}"/>
              </a:ext>
            </a:extLst>
          </p:cNvPr>
          <p:cNvSpPr txBox="1"/>
          <p:nvPr/>
        </p:nvSpPr>
        <p:spPr>
          <a:xfrm>
            <a:off x="0" y="22847"/>
            <a:ext cx="3359696" cy="461665"/>
          </a:xfrm>
          <a:prstGeom prst="rect">
            <a:avLst/>
          </a:prstGeom>
          <a:solidFill>
            <a:srgbClr val="FFFF00"/>
          </a:solidFill>
        </p:spPr>
        <p:txBody>
          <a:bodyPr wrap="square" rtlCol="0">
            <a:spAutoFit/>
          </a:bodyPr>
          <a:lstStyle/>
          <a:p>
            <a:r>
              <a:rPr lang="zh-CN" altLang="en-US" sz="2400" b="1" dirty="0">
                <a:solidFill>
                  <a:srgbClr val="FF0000"/>
                </a:solidFill>
              </a:rPr>
              <a:t>业务招待报销单</a:t>
            </a:r>
            <a:r>
              <a:rPr lang="en-US" altLang="zh-CN" sz="2400" b="1" dirty="0">
                <a:solidFill>
                  <a:srgbClr val="FF0000"/>
                </a:solidFill>
              </a:rPr>
              <a:t>4-5</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769AFAC0-738F-4AE9-95A5-992597FD3ADB}"/>
              </a:ext>
            </a:extLst>
          </p:cNvPr>
          <p:cNvGraphicFramePr>
            <a:graphicFrameLocks noGrp="1"/>
          </p:cNvGraphicFramePr>
          <p:nvPr>
            <p:extLst>
              <p:ext uri="{D42A27DB-BD31-4B8C-83A1-F6EECF244321}">
                <p14:modId xmlns:p14="http://schemas.microsoft.com/office/powerpoint/2010/main" val="961936649"/>
              </p:ext>
            </p:extLst>
          </p:nvPr>
        </p:nvGraphicFramePr>
        <p:xfrm>
          <a:off x="1415480" y="484512"/>
          <a:ext cx="10081120" cy="6307600"/>
        </p:xfrm>
        <a:graphic>
          <a:graphicData uri="http://schemas.openxmlformats.org/drawingml/2006/table">
            <a:tbl>
              <a:tblPr>
                <a:tableStyleId>{5C22544A-7EE6-4342-B048-85BDC9FD1C3A}</a:tableStyleId>
              </a:tblPr>
              <a:tblGrid>
                <a:gridCol w="1352465">
                  <a:extLst>
                    <a:ext uri="{9D8B030D-6E8A-4147-A177-3AD203B41FA5}">
                      <a16:colId xmlns:a16="http://schemas.microsoft.com/office/drawing/2014/main" val="2972328269"/>
                    </a:ext>
                  </a:extLst>
                </a:gridCol>
                <a:gridCol w="2038546">
                  <a:extLst>
                    <a:ext uri="{9D8B030D-6E8A-4147-A177-3AD203B41FA5}">
                      <a16:colId xmlns:a16="http://schemas.microsoft.com/office/drawing/2014/main" val="3184051520"/>
                    </a:ext>
                  </a:extLst>
                </a:gridCol>
                <a:gridCol w="935565">
                  <a:extLst>
                    <a:ext uri="{9D8B030D-6E8A-4147-A177-3AD203B41FA5}">
                      <a16:colId xmlns:a16="http://schemas.microsoft.com/office/drawing/2014/main" val="60545045"/>
                    </a:ext>
                  </a:extLst>
                </a:gridCol>
                <a:gridCol w="1102982">
                  <a:extLst>
                    <a:ext uri="{9D8B030D-6E8A-4147-A177-3AD203B41FA5}">
                      <a16:colId xmlns:a16="http://schemas.microsoft.com/office/drawing/2014/main" val="435003421"/>
                    </a:ext>
                  </a:extLst>
                </a:gridCol>
                <a:gridCol w="1089851">
                  <a:extLst>
                    <a:ext uri="{9D8B030D-6E8A-4147-A177-3AD203B41FA5}">
                      <a16:colId xmlns:a16="http://schemas.microsoft.com/office/drawing/2014/main" val="2124740800"/>
                    </a:ext>
                  </a:extLst>
                </a:gridCol>
                <a:gridCol w="1050458">
                  <a:extLst>
                    <a:ext uri="{9D8B030D-6E8A-4147-A177-3AD203B41FA5}">
                      <a16:colId xmlns:a16="http://schemas.microsoft.com/office/drawing/2014/main" val="2344464047"/>
                    </a:ext>
                  </a:extLst>
                </a:gridCol>
                <a:gridCol w="1299942">
                  <a:extLst>
                    <a:ext uri="{9D8B030D-6E8A-4147-A177-3AD203B41FA5}">
                      <a16:colId xmlns:a16="http://schemas.microsoft.com/office/drawing/2014/main" val="3086750814"/>
                    </a:ext>
                  </a:extLst>
                </a:gridCol>
                <a:gridCol w="1211311">
                  <a:extLst>
                    <a:ext uri="{9D8B030D-6E8A-4147-A177-3AD203B41FA5}">
                      <a16:colId xmlns:a16="http://schemas.microsoft.com/office/drawing/2014/main" val="2514447628"/>
                    </a:ext>
                  </a:extLst>
                </a:gridCol>
              </a:tblGrid>
              <a:tr h="242600">
                <a:tc gridSpan="8">
                  <a:txBody>
                    <a:bodyPr/>
                    <a:lstStyle/>
                    <a:p>
                      <a:pPr algn="ctr" fontAlgn="ctr"/>
                      <a:r>
                        <a:rPr lang="zh-CN" altLang="en-US" sz="1100" u="none" strike="noStrike" dirty="0">
                          <a:effectLst/>
                        </a:rPr>
                        <a:t>业务招待报销单</a:t>
                      </a:r>
                      <a:endParaRPr lang="zh-CN" altLang="en-US" sz="1100" b="1" i="0" u="none" strike="noStrike" dirty="0">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73120756"/>
                  </a:ext>
                </a:extLst>
              </a:tr>
              <a:tr h="242600">
                <a:tc gridSpan="2">
                  <a:txBody>
                    <a:bodyPr/>
                    <a:lstStyle/>
                    <a:p>
                      <a:pPr algn="l" fontAlgn="ctr"/>
                      <a:r>
                        <a:rPr lang="zh-CN" altLang="en-US" sz="800" u="none" strike="noStrike">
                          <a:effectLst/>
                        </a:rPr>
                        <a:t>单据编号：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gridSpan="3">
                  <a:txBody>
                    <a:bodyPr/>
                    <a:lstStyle/>
                    <a:p>
                      <a:pPr algn="l" fontAlgn="ctr"/>
                      <a:r>
                        <a:rPr lang="zh-CN" altLang="en-US" sz="800" u="none" strike="noStrike">
                          <a:effectLst/>
                        </a:rPr>
                        <a:t>报销日期：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报销人：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54773591"/>
                  </a:ext>
                </a:extLst>
              </a:tr>
              <a:tr h="242600">
                <a:tc gridSpan="2">
                  <a:txBody>
                    <a:bodyPr/>
                    <a:lstStyle/>
                    <a:p>
                      <a:pPr algn="l" fontAlgn="ctr"/>
                      <a:r>
                        <a:rPr lang="zh-CN" altLang="en-US" sz="800" u="none" strike="noStrike">
                          <a:effectLst/>
                        </a:rPr>
                        <a:t>所属部门：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gridSpan="3">
                  <a:txBody>
                    <a:bodyPr/>
                    <a:lstStyle/>
                    <a:p>
                      <a:pPr algn="l" fontAlgn="ctr"/>
                      <a:r>
                        <a:rPr lang="zh-CN" altLang="en-US" sz="800" u="none" strike="noStrike">
                          <a:effectLst/>
                        </a:rPr>
                        <a:t>联系电话：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对应业务招待申请单号：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33104446"/>
                  </a:ext>
                </a:extLst>
              </a:tr>
              <a:tr h="242600">
                <a:tc gridSpan="8">
                  <a:txBody>
                    <a:bodyPr/>
                    <a:lstStyle/>
                    <a:p>
                      <a:pPr algn="l" fontAlgn="ctr"/>
                      <a:r>
                        <a:rPr lang="zh-CN" altLang="en-US" sz="800" u="none" strike="noStrike">
                          <a:effectLst/>
                        </a:rPr>
                        <a:t>一、招待基础信息</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89728429"/>
                  </a:ext>
                </a:extLst>
              </a:tr>
              <a:tr h="242600">
                <a:tc gridSpan="2">
                  <a:txBody>
                    <a:bodyPr/>
                    <a:lstStyle/>
                    <a:p>
                      <a:pPr algn="l" fontAlgn="ctr"/>
                      <a:r>
                        <a:rPr lang="zh-CN" altLang="en-US" sz="800" u="none" strike="noStrike">
                          <a:effectLst/>
                        </a:rPr>
                        <a:t>招待对象</a:t>
                      </a:r>
                      <a:r>
                        <a:rPr lang="en-US" altLang="zh-CN" sz="800" u="none" strike="noStrike">
                          <a:effectLst/>
                        </a:rPr>
                        <a:t>/</a:t>
                      </a:r>
                      <a:r>
                        <a:rPr lang="zh-CN" altLang="en-US" sz="800" u="none" strike="noStrike">
                          <a:effectLst/>
                        </a:rPr>
                        <a:t>单位名称：</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gridSpan="3">
                  <a:txBody>
                    <a:bodyPr/>
                    <a:lstStyle/>
                    <a:p>
                      <a:pPr algn="l" fontAlgn="ctr"/>
                      <a:r>
                        <a:rPr lang="zh-CN" altLang="en-US" sz="800" u="none" strike="noStrike">
                          <a:effectLst/>
                        </a:rPr>
                        <a:t>招待时间：</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700" u="none" strike="noStrike">
                          <a:effectLst/>
                        </a:rPr>
                        <a:t>招待地点：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85151646"/>
                  </a:ext>
                </a:extLst>
              </a:tr>
              <a:tr h="242600">
                <a:tc gridSpan="8">
                  <a:txBody>
                    <a:bodyPr/>
                    <a:lstStyle/>
                    <a:p>
                      <a:pPr algn="l" fontAlgn="ctr"/>
                      <a:r>
                        <a:rPr lang="zh-CN" altLang="en-US" sz="800" u="none" strike="noStrike">
                          <a:effectLst/>
                        </a:rPr>
                        <a:t>招待事由：</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20410693"/>
                  </a:ext>
                </a:extLst>
              </a:tr>
              <a:tr h="242600">
                <a:tc gridSpan="8">
                  <a:txBody>
                    <a:bodyPr/>
                    <a:lstStyle/>
                    <a:p>
                      <a:pPr algn="l" fontAlgn="ctr"/>
                      <a:r>
                        <a:rPr lang="zh-CN" altLang="en-US" sz="800" u="none" strike="noStrike">
                          <a:effectLst/>
                        </a:rPr>
                        <a:t>二、费用明细清单（单位：元）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58335155"/>
                  </a:ext>
                </a:extLst>
              </a:tr>
              <a:tr h="242600">
                <a:tc>
                  <a:txBody>
                    <a:bodyPr/>
                    <a:lstStyle/>
                    <a:p>
                      <a:pPr algn="ctr" fontAlgn="ctr"/>
                      <a:r>
                        <a:rPr lang="zh-CN" altLang="en-US" sz="800" u="none" strike="noStrike">
                          <a:effectLst/>
                        </a:rPr>
                        <a:t>费用类别</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项目明细</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票据张数</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报销金额</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公司标准限额</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超支金额</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备注</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4210522952"/>
                  </a:ext>
                </a:extLst>
              </a:tr>
              <a:tr h="242600">
                <a:tc>
                  <a:txBody>
                    <a:bodyPr/>
                    <a:lstStyle/>
                    <a:p>
                      <a:pPr algn="ctr" fontAlgn="ctr"/>
                      <a:r>
                        <a:rPr lang="zh-CN" altLang="en-US" sz="800" u="none" strike="noStrike">
                          <a:effectLst/>
                        </a:rPr>
                        <a:t>餐饮费用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招待餐饮</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121487102"/>
                  </a:ext>
                </a:extLst>
              </a:tr>
              <a:tr h="242600">
                <a:tc>
                  <a:txBody>
                    <a:bodyPr/>
                    <a:lstStyle/>
                    <a:p>
                      <a:pPr algn="ctr" fontAlgn="ctr"/>
                      <a:r>
                        <a:rPr lang="zh-CN" altLang="en-US" sz="800" u="none" strike="noStrike">
                          <a:effectLst/>
                        </a:rPr>
                        <a:t>礼品费用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招待礼品</a:t>
                      </a:r>
                      <a:r>
                        <a:rPr lang="en-US" altLang="zh-CN" sz="800" u="none" strike="noStrike">
                          <a:effectLst/>
                        </a:rPr>
                        <a:t>/</a:t>
                      </a:r>
                      <a:r>
                        <a:rPr lang="zh-CN" altLang="en-US" sz="800" u="none" strike="noStrike">
                          <a:effectLst/>
                        </a:rPr>
                        <a:t>物资</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473294042"/>
                  </a:ext>
                </a:extLst>
              </a:tr>
              <a:tr h="242600">
                <a:tc>
                  <a:txBody>
                    <a:bodyPr/>
                    <a:lstStyle/>
                    <a:p>
                      <a:pPr algn="ctr" fontAlgn="ctr"/>
                      <a:r>
                        <a:rPr lang="zh-CN" altLang="en-US" sz="800" u="none" strike="noStrike">
                          <a:effectLst/>
                        </a:rPr>
                        <a:t>场地费用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茶水</a:t>
                      </a:r>
                      <a:r>
                        <a:rPr lang="en-US" altLang="zh-CN" sz="800" u="none" strike="noStrike">
                          <a:effectLst/>
                        </a:rPr>
                        <a:t>/</a:t>
                      </a:r>
                      <a:r>
                        <a:rPr lang="zh-CN" altLang="en-US" sz="800" u="none" strike="noStrike">
                          <a:effectLst/>
                        </a:rPr>
                        <a:t>场地</a:t>
                      </a:r>
                      <a:r>
                        <a:rPr lang="en-US" altLang="zh-CN" sz="800" u="none" strike="noStrike">
                          <a:effectLst/>
                        </a:rPr>
                        <a:t>/</a:t>
                      </a:r>
                      <a:r>
                        <a:rPr lang="zh-CN" altLang="en-US" sz="800" u="none" strike="noStrike">
                          <a:effectLst/>
                        </a:rPr>
                        <a:t>会务费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1954686466"/>
                  </a:ext>
                </a:extLst>
              </a:tr>
              <a:tr h="242600">
                <a:tc>
                  <a:txBody>
                    <a:bodyPr/>
                    <a:lstStyle/>
                    <a:p>
                      <a:pPr algn="ctr" fontAlgn="ctr"/>
                      <a:r>
                        <a:rPr lang="zh-CN" altLang="en-US" sz="800" u="none" strike="noStrike">
                          <a:effectLst/>
                        </a:rPr>
                        <a:t>交通费用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接送</a:t>
                      </a:r>
                      <a:r>
                        <a:rPr lang="en-US" altLang="zh-CN" sz="800" u="none" strike="noStrike">
                          <a:effectLst/>
                        </a:rPr>
                        <a:t>/</a:t>
                      </a:r>
                      <a:r>
                        <a:rPr lang="zh-CN" altLang="en-US" sz="800" u="none" strike="noStrike">
                          <a:effectLst/>
                        </a:rPr>
                        <a:t>室内交通费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2086057653"/>
                  </a:ext>
                </a:extLst>
              </a:tr>
              <a:tr h="242600">
                <a:tc>
                  <a:txBody>
                    <a:bodyPr/>
                    <a:lstStyle/>
                    <a:p>
                      <a:pPr algn="ctr" fontAlgn="ctr"/>
                      <a:r>
                        <a:rPr lang="zh-CN" altLang="en-US" sz="800" u="none" strike="noStrike">
                          <a:effectLst/>
                        </a:rPr>
                        <a:t>其他费用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杂费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2451382794"/>
                  </a:ext>
                </a:extLst>
              </a:tr>
              <a:tr h="242600">
                <a:tc gridSpan="3">
                  <a:txBody>
                    <a:bodyPr/>
                    <a:lstStyle/>
                    <a:p>
                      <a:pPr algn="ctr" fontAlgn="ctr"/>
                      <a:r>
                        <a:rPr lang="zh-CN" altLang="en-US" sz="800" u="none" strike="noStrike">
                          <a:effectLst/>
                        </a:rPr>
                        <a:t>合计</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800" u="none" strike="noStrike">
                          <a:effectLst/>
                        </a:rPr>
                        <a:t>¥0.00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en-US" altLang="zh-CN" sz="800" u="none" strike="noStrike">
                          <a:effectLst/>
                        </a:rPr>
                        <a:t>¥0.00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en-US" altLang="zh-CN" sz="800" u="none" strike="noStrike">
                          <a:effectLst/>
                        </a:rPr>
                        <a:t>¥0.00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2638734612"/>
                  </a:ext>
                </a:extLst>
              </a:tr>
              <a:tr h="242600">
                <a:tc>
                  <a:txBody>
                    <a:bodyPr/>
                    <a:lstStyle/>
                    <a:p>
                      <a:pPr algn="ctr" fontAlgn="ctr"/>
                      <a:r>
                        <a:rPr lang="zh-CN" altLang="en-US" sz="800" u="none" strike="noStrike">
                          <a:effectLst/>
                        </a:rPr>
                        <a:t>报销总金额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（小写）：￥</a:t>
                      </a:r>
                      <a:r>
                        <a:rPr lang="en-US" altLang="zh-CN" sz="800" u="none" strike="noStrike">
                          <a:effectLst/>
                        </a:rPr>
                        <a:t>______________________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gridSpan="5">
                  <a:txBody>
                    <a:bodyPr/>
                    <a:lstStyle/>
                    <a:p>
                      <a:pPr algn="l" fontAlgn="ctr"/>
                      <a:r>
                        <a:rPr lang="zh-CN" altLang="en-US" sz="800" u="none" strike="noStrike">
                          <a:effectLst/>
                        </a:rPr>
                        <a:t>（大写）：人民币</a:t>
                      </a:r>
                      <a:r>
                        <a:rPr lang="en-US" altLang="zh-CN" sz="800" u="none" strike="noStrike">
                          <a:effectLst/>
                        </a:rPr>
                        <a:t>______________________________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02362409"/>
                  </a:ext>
                </a:extLst>
              </a:tr>
              <a:tr h="242600">
                <a:tc gridSpan="8">
                  <a:txBody>
                    <a:bodyPr/>
                    <a:lstStyle/>
                    <a:p>
                      <a:pPr algn="l" fontAlgn="ctr"/>
                      <a:r>
                        <a:rPr lang="zh-CN" altLang="en-US" sz="800" u="none" strike="noStrike">
                          <a:effectLst/>
                        </a:rPr>
                        <a:t>三、借款抵扣信息</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39133535"/>
                  </a:ext>
                </a:extLst>
              </a:tr>
              <a:tr h="242600">
                <a:tc>
                  <a:txBody>
                    <a:bodyPr/>
                    <a:lstStyle/>
                    <a:p>
                      <a:pPr algn="ctr" fontAlgn="ctr"/>
                      <a:r>
                        <a:rPr lang="zh-CN" altLang="en-US" sz="800" u="none" strike="noStrike">
                          <a:effectLst/>
                        </a:rPr>
                        <a:t>□ 无预借备用金</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 已借备用金余额：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本次报销冲抵借款：</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a:txBody>
                    <a:bodyPr/>
                    <a:lstStyle/>
                    <a:p>
                      <a:pPr algn="l" fontAlgn="ctr"/>
                      <a:r>
                        <a:rPr lang="zh-CN" altLang="en-US" sz="800" u="none" strike="noStrike">
                          <a:effectLst/>
                        </a:rPr>
                        <a:t>需补退回公司金额：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公司需补付个人金额：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3505122629"/>
                  </a:ext>
                </a:extLst>
              </a:tr>
              <a:tr h="242600">
                <a:tc gridSpan="8">
                  <a:txBody>
                    <a:bodyPr/>
                    <a:lstStyle/>
                    <a:p>
                      <a:pPr algn="l" fontAlgn="ctr"/>
                      <a:r>
                        <a:rPr lang="zh-CN" altLang="en-US" sz="800" u="none" strike="noStrike">
                          <a:effectLst/>
                        </a:rPr>
                        <a:t>四、报销承诺</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72175953"/>
                  </a:ext>
                </a:extLst>
              </a:tr>
              <a:tr h="242600">
                <a:tc gridSpan="8">
                  <a:txBody>
                    <a:bodyPr/>
                    <a:lstStyle/>
                    <a:p>
                      <a:pPr algn="l" fontAlgn="ctr"/>
                      <a:r>
                        <a:rPr lang="zh-CN" altLang="en-US" sz="800" u="none" strike="noStrike">
                          <a:effectLst/>
                        </a:rPr>
                        <a:t>本人承诺：本次报销所附票据均真实、合法、有效，费用均为本次业务招待实际发生，符合公司</a:t>
                      </a:r>
                      <a:r>
                        <a:rPr lang="en-US" altLang="zh-CN" sz="800" u="none" strike="noStrike">
                          <a:effectLst/>
                        </a:rPr>
                        <a:t>《</a:t>
                      </a:r>
                      <a:r>
                        <a:rPr lang="zh-CN" altLang="en-US" sz="800" u="none" strike="noStrike">
                          <a:effectLst/>
                        </a:rPr>
                        <a:t>业务招待管理办法</a:t>
                      </a:r>
                      <a:r>
                        <a:rPr lang="en-US" altLang="zh-CN" sz="800" u="none" strike="noStrike">
                          <a:effectLst/>
                        </a:rPr>
                        <a:t>》</a:t>
                      </a:r>
                      <a:r>
                        <a:rPr lang="zh-CN" altLang="en-US" sz="800" u="none" strike="noStrike">
                          <a:effectLst/>
                        </a:rPr>
                        <a:t>相关规定，如有虚假报销、票据不合规，自愿承担全部责任，并接受公司相关制度处罚。</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86980318"/>
                  </a:ext>
                </a:extLst>
              </a:tr>
              <a:tr h="242600">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报销人签字：</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a:txBody>
                    <a:bodyPr/>
                    <a:lstStyle/>
                    <a:p>
                      <a:pPr algn="l"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extLst>
                  <a:ext uri="{0D108BD9-81ED-4DB2-BD59-A6C34878D82A}">
                    <a16:rowId xmlns:a16="http://schemas.microsoft.com/office/drawing/2014/main" val="611565128"/>
                  </a:ext>
                </a:extLst>
              </a:tr>
              <a:tr h="242600">
                <a:tc gridSpan="4">
                  <a:txBody>
                    <a:bodyPr/>
                    <a:lstStyle/>
                    <a:p>
                      <a:pPr algn="l" fontAlgn="ctr"/>
                      <a:r>
                        <a:rPr lang="zh-CN" altLang="en-US" sz="800" u="none" strike="noStrike">
                          <a:effectLst/>
                        </a:rPr>
                        <a:t>五、审批栏</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l" fontAlgn="ctr"/>
                      <a:r>
                        <a:rPr lang="zh-CN" altLang="en-US" sz="800" u="none" strike="noStrike">
                          <a:effectLst/>
                        </a:rPr>
                        <a:t>六、财务结算记录（财务填写）</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05381561"/>
                  </a:ext>
                </a:extLst>
              </a:tr>
              <a:tr h="242600">
                <a:tc>
                  <a:txBody>
                    <a:bodyPr/>
                    <a:lstStyle/>
                    <a:p>
                      <a:pPr algn="ctr" fontAlgn="ctr"/>
                      <a:r>
                        <a:rPr lang="zh-CN" altLang="en-US" sz="800" u="none" strike="noStrike">
                          <a:effectLst/>
                        </a:rPr>
                        <a:t>审批岗位</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签字</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日期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审核意见</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实付金额：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付款方式</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2530250600"/>
                  </a:ext>
                </a:extLst>
              </a:tr>
              <a:tr h="242600">
                <a:tc>
                  <a:txBody>
                    <a:bodyPr/>
                    <a:lstStyle/>
                    <a:p>
                      <a:pPr algn="ctr" fontAlgn="ctr"/>
                      <a:r>
                        <a:rPr lang="zh-CN" altLang="en-US" sz="800" u="none" strike="noStrike">
                          <a:effectLst/>
                        </a:rPr>
                        <a:t>部门负责人审核</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付款凭证号：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2">
                  <a:txBody>
                    <a:bodyPr/>
                    <a:lstStyle/>
                    <a:p>
                      <a:pPr algn="l" fontAlgn="ctr"/>
                      <a:r>
                        <a:rPr lang="zh-CN" altLang="en-US" sz="800" u="none" strike="noStrike">
                          <a:effectLst/>
                        </a:rPr>
                        <a:t>财务经办人：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extLst>
                  <a:ext uri="{0D108BD9-81ED-4DB2-BD59-A6C34878D82A}">
                    <a16:rowId xmlns:a16="http://schemas.microsoft.com/office/drawing/2014/main" val="1286581926"/>
                  </a:ext>
                </a:extLst>
              </a:tr>
              <a:tr h="242600">
                <a:tc>
                  <a:txBody>
                    <a:bodyPr/>
                    <a:lstStyle/>
                    <a:p>
                      <a:pPr algn="ctr" fontAlgn="ctr"/>
                      <a:r>
                        <a:rPr lang="zh-CN" altLang="en-US" sz="800" u="none" strike="noStrike">
                          <a:effectLst/>
                        </a:rPr>
                        <a:t>财务票据审核</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4">
                  <a:txBody>
                    <a:bodyPr/>
                    <a:lstStyle/>
                    <a:p>
                      <a:pPr algn="l" fontAlgn="ctr"/>
                      <a:r>
                        <a:rPr lang="zh-CN" altLang="en-US" sz="800" u="none" strike="noStrike">
                          <a:effectLst/>
                        </a:rPr>
                        <a:t>结清状态：</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66120302"/>
                  </a:ext>
                </a:extLst>
              </a:tr>
              <a:tr h="242600">
                <a:tc>
                  <a:txBody>
                    <a:bodyPr/>
                    <a:lstStyle/>
                    <a:p>
                      <a:pPr algn="ctr" fontAlgn="ctr"/>
                      <a:r>
                        <a:rPr lang="zh-CN" altLang="en-US" sz="800" u="none" strike="noStrike">
                          <a:effectLst/>
                        </a:rPr>
                        <a:t>财务负责人审批</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rowSpan="2" gridSpan="4">
                  <a:txBody>
                    <a:bodyPr/>
                    <a:lstStyle/>
                    <a:p>
                      <a:pPr algn="l" fontAlgn="ctr"/>
                      <a:r>
                        <a:rPr lang="zh-CN" altLang="en-US" sz="800" u="none" strike="noStrike">
                          <a:effectLst/>
                        </a:rPr>
                        <a:t>备注：本单据一式两联，财务联</a:t>
                      </a:r>
                      <a:r>
                        <a:rPr lang="en-US" altLang="zh-CN" sz="800" u="none" strike="noStrike">
                          <a:effectLst/>
                        </a:rPr>
                        <a:t>+</a:t>
                      </a:r>
                      <a:r>
                        <a:rPr lang="zh-CN" altLang="en-US" sz="800" u="none" strike="noStrike">
                          <a:effectLst/>
                        </a:rPr>
                        <a:t>行政存档联；所有原始发票按顺序粘贴附后。</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extLst>
                  <a:ext uri="{0D108BD9-81ED-4DB2-BD59-A6C34878D82A}">
                    <a16:rowId xmlns:a16="http://schemas.microsoft.com/office/drawing/2014/main" val="3206643055"/>
                  </a:ext>
                </a:extLst>
              </a:tr>
              <a:tr h="242600">
                <a:tc>
                  <a:txBody>
                    <a:bodyPr/>
                    <a:lstStyle/>
                    <a:p>
                      <a:pPr algn="ctr" fontAlgn="ctr"/>
                      <a:r>
                        <a:rPr lang="zh-CN" altLang="en-US" sz="800" u="none" strike="noStrike">
                          <a:effectLst/>
                        </a:rPr>
                        <a:t>总经理终审</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6647" marR="6647" marT="6647"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6647" marR="6647" marT="6647" marB="0" anchor="ctr"/>
                </a:tc>
                <a:tc gridSpan="4"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402860283"/>
                  </a:ext>
                </a:extLst>
              </a:tr>
            </a:tbl>
          </a:graphicData>
        </a:graphic>
      </p:graphicFrame>
    </p:spTree>
    <p:extLst>
      <p:ext uri="{BB962C8B-B14F-4D97-AF65-F5344CB8AC3E}">
        <p14:creationId xmlns:p14="http://schemas.microsoft.com/office/powerpoint/2010/main" val="1505036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72DE1A2-0675-4CCE-B14D-EAD890FA8F99}"/>
              </a:ext>
            </a:extLst>
          </p:cNvPr>
          <p:cNvSpPr txBox="1"/>
          <p:nvPr/>
        </p:nvSpPr>
        <p:spPr>
          <a:xfrm>
            <a:off x="119336" y="37129"/>
            <a:ext cx="5544616" cy="461665"/>
          </a:xfrm>
          <a:prstGeom prst="rect">
            <a:avLst/>
          </a:prstGeom>
          <a:solidFill>
            <a:srgbClr val="FFFF00"/>
          </a:solidFill>
        </p:spPr>
        <p:txBody>
          <a:bodyPr wrap="square" rtlCol="0">
            <a:spAutoFit/>
          </a:bodyPr>
          <a:lstStyle/>
          <a:p>
            <a:r>
              <a:rPr lang="zh-CN" altLang="en-US" sz="2400" b="1" dirty="0">
                <a:solidFill>
                  <a:srgbClr val="FF0000"/>
                </a:solidFill>
              </a:rPr>
              <a:t>日常采购报销单（物料</a:t>
            </a:r>
            <a:r>
              <a:rPr lang="en-US" altLang="zh-CN" sz="2400" b="1" dirty="0">
                <a:solidFill>
                  <a:srgbClr val="FF0000"/>
                </a:solidFill>
              </a:rPr>
              <a:t>/</a:t>
            </a:r>
            <a:r>
              <a:rPr lang="zh-CN" altLang="en-US" sz="2400" b="1" dirty="0">
                <a:solidFill>
                  <a:srgbClr val="FF0000"/>
                </a:solidFill>
              </a:rPr>
              <a:t>商品）</a:t>
            </a:r>
            <a:r>
              <a:rPr lang="en-US" altLang="zh-CN" sz="2400" b="1" dirty="0">
                <a:solidFill>
                  <a:srgbClr val="FF0000"/>
                </a:solidFill>
              </a:rPr>
              <a:t>4-6</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79671986-1DC7-4B56-A2F7-D6FF3997D04F}"/>
              </a:ext>
            </a:extLst>
          </p:cNvPr>
          <p:cNvGraphicFramePr>
            <a:graphicFrameLocks noGrp="1"/>
          </p:cNvGraphicFramePr>
          <p:nvPr>
            <p:extLst>
              <p:ext uri="{D42A27DB-BD31-4B8C-83A1-F6EECF244321}">
                <p14:modId xmlns:p14="http://schemas.microsoft.com/office/powerpoint/2010/main" val="2210678326"/>
              </p:ext>
            </p:extLst>
          </p:nvPr>
        </p:nvGraphicFramePr>
        <p:xfrm>
          <a:off x="767408" y="570792"/>
          <a:ext cx="10801199" cy="6170576"/>
        </p:xfrm>
        <a:graphic>
          <a:graphicData uri="http://schemas.openxmlformats.org/drawingml/2006/table">
            <a:tbl>
              <a:tblPr>
                <a:tableStyleId>{5C22544A-7EE6-4342-B048-85BDC9FD1C3A}</a:tableStyleId>
              </a:tblPr>
              <a:tblGrid>
                <a:gridCol w="1425254">
                  <a:extLst>
                    <a:ext uri="{9D8B030D-6E8A-4147-A177-3AD203B41FA5}">
                      <a16:colId xmlns:a16="http://schemas.microsoft.com/office/drawing/2014/main" val="2821548011"/>
                    </a:ext>
                  </a:extLst>
                </a:gridCol>
                <a:gridCol w="1121341">
                  <a:extLst>
                    <a:ext uri="{9D8B030D-6E8A-4147-A177-3AD203B41FA5}">
                      <a16:colId xmlns:a16="http://schemas.microsoft.com/office/drawing/2014/main" val="1017308036"/>
                    </a:ext>
                  </a:extLst>
                </a:gridCol>
                <a:gridCol w="1061954">
                  <a:extLst>
                    <a:ext uri="{9D8B030D-6E8A-4147-A177-3AD203B41FA5}">
                      <a16:colId xmlns:a16="http://schemas.microsoft.com/office/drawing/2014/main" val="2828326936"/>
                    </a:ext>
                  </a:extLst>
                </a:gridCol>
                <a:gridCol w="1047982">
                  <a:extLst>
                    <a:ext uri="{9D8B030D-6E8A-4147-A177-3AD203B41FA5}">
                      <a16:colId xmlns:a16="http://schemas.microsoft.com/office/drawing/2014/main" val="1542488178"/>
                    </a:ext>
                  </a:extLst>
                </a:gridCol>
                <a:gridCol w="1163260">
                  <a:extLst>
                    <a:ext uri="{9D8B030D-6E8A-4147-A177-3AD203B41FA5}">
                      <a16:colId xmlns:a16="http://schemas.microsoft.com/office/drawing/2014/main" val="1308884650"/>
                    </a:ext>
                  </a:extLst>
                </a:gridCol>
                <a:gridCol w="1247099">
                  <a:extLst>
                    <a:ext uri="{9D8B030D-6E8A-4147-A177-3AD203B41FA5}">
                      <a16:colId xmlns:a16="http://schemas.microsoft.com/office/drawing/2014/main" val="1342944693"/>
                    </a:ext>
                  </a:extLst>
                </a:gridCol>
                <a:gridCol w="1117847">
                  <a:extLst>
                    <a:ext uri="{9D8B030D-6E8A-4147-A177-3AD203B41FA5}">
                      <a16:colId xmlns:a16="http://schemas.microsoft.com/office/drawing/2014/main" val="3713445658"/>
                    </a:ext>
                  </a:extLst>
                </a:gridCol>
                <a:gridCol w="1247099">
                  <a:extLst>
                    <a:ext uri="{9D8B030D-6E8A-4147-A177-3AD203B41FA5}">
                      <a16:colId xmlns:a16="http://schemas.microsoft.com/office/drawing/2014/main" val="923446574"/>
                    </a:ext>
                  </a:extLst>
                </a:gridCol>
                <a:gridCol w="1369363">
                  <a:extLst>
                    <a:ext uri="{9D8B030D-6E8A-4147-A177-3AD203B41FA5}">
                      <a16:colId xmlns:a16="http://schemas.microsoft.com/office/drawing/2014/main" val="2922067557"/>
                    </a:ext>
                  </a:extLst>
                </a:gridCol>
              </a:tblGrid>
              <a:tr h="229674">
                <a:tc gridSpan="9">
                  <a:txBody>
                    <a:bodyPr/>
                    <a:lstStyle/>
                    <a:p>
                      <a:pPr algn="ctr" fontAlgn="ctr"/>
                      <a:r>
                        <a:rPr lang="zh-CN" altLang="en-US" sz="1100" u="none" strike="noStrike">
                          <a:effectLst/>
                        </a:rPr>
                        <a:t>日常采购（物料）报销单</a:t>
                      </a:r>
                      <a:endParaRPr lang="zh-CN" altLang="en-US" sz="11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45806110"/>
                  </a:ext>
                </a:extLst>
              </a:tr>
              <a:tr h="229674">
                <a:tc gridSpan="3">
                  <a:txBody>
                    <a:bodyPr/>
                    <a:lstStyle/>
                    <a:p>
                      <a:pPr algn="l" fontAlgn="ctr"/>
                      <a:r>
                        <a:rPr lang="zh-CN" altLang="en-US" sz="800" u="none" strike="noStrike">
                          <a:effectLst/>
                        </a:rPr>
                        <a:t>单据编号：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报销日期：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申请人：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97910227"/>
                  </a:ext>
                </a:extLst>
              </a:tr>
              <a:tr h="229674">
                <a:tc gridSpan="3">
                  <a:txBody>
                    <a:bodyPr/>
                    <a:lstStyle/>
                    <a:p>
                      <a:pPr algn="l" fontAlgn="ctr"/>
                      <a:r>
                        <a:rPr lang="zh-CN" altLang="en-US" sz="800" u="none" strike="noStrike">
                          <a:effectLst/>
                        </a:rPr>
                        <a:t>所属部门：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联系电话：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800" u="none" strike="noStrike">
                          <a:effectLst/>
                        </a:rPr>
                        <a:t>对应日常采购申请单号：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31390156"/>
                  </a:ext>
                </a:extLst>
              </a:tr>
              <a:tr h="229674">
                <a:tc gridSpan="9">
                  <a:txBody>
                    <a:bodyPr/>
                    <a:lstStyle/>
                    <a:p>
                      <a:pPr algn="l" fontAlgn="ctr"/>
                      <a:r>
                        <a:rPr lang="zh-CN" altLang="en-US" sz="800" u="none" strike="noStrike">
                          <a:effectLst/>
                        </a:rPr>
                        <a:t>一、采购基础信息</a:t>
                      </a:r>
                      <a:endParaRPr lang="zh-CN" altLang="en-US" sz="800" b="1"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35588673"/>
                  </a:ext>
                </a:extLst>
              </a:tr>
              <a:tr h="229674">
                <a:tc>
                  <a:txBody>
                    <a:bodyPr/>
                    <a:lstStyle/>
                    <a:p>
                      <a:pPr algn="l" fontAlgn="ctr"/>
                      <a:r>
                        <a:rPr lang="zh-CN" altLang="en-US" sz="800" u="none" strike="noStrike">
                          <a:effectLst/>
                        </a:rPr>
                        <a:t>采购事由：</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6">
                  <a:txBody>
                    <a:bodyPr/>
                    <a:lstStyle/>
                    <a:p>
                      <a:pPr algn="l" fontAlgn="ctr"/>
                      <a:r>
                        <a:rPr lang="zh-CN" altLang="en-US" sz="800" u="none" strike="noStrike">
                          <a:effectLst/>
                        </a:rPr>
                        <a:t>□日常办公耗材 □生产辅料 □设备配件 □劳保用品 □清洁用品 □其他：</a:t>
                      </a:r>
                      <a:r>
                        <a:rPr lang="en-US" altLang="zh-CN" sz="800" u="none" strike="noStrike">
                          <a:effectLst/>
                        </a:rPr>
                        <a:t>____</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fontAlgn="ctr"/>
                      <a:r>
                        <a:rPr lang="zh-CN" altLang="en-US" sz="800" u="none" strike="noStrike">
                          <a:effectLst/>
                        </a:rPr>
                        <a:t>采购日期：  年  月  日</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1224986544"/>
                  </a:ext>
                </a:extLst>
              </a:tr>
              <a:tr h="229674">
                <a:tc>
                  <a:txBody>
                    <a:bodyPr/>
                    <a:lstStyle/>
                    <a:p>
                      <a:pPr algn="l" fontAlgn="ctr"/>
                      <a:r>
                        <a:rPr lang="zh-CN" altLang="en-US" sz="800" u="none" strike="noStrike">
                          <a:effectLst/>
                        </a:rPr>
                        <a:t>详细采购说明：</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8">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30408309"/>
                  </a:ext>
                </a:extLst>
              </a:tr>
              <a:tr h="229674">
                <a:tc>
                  <a:txBody>
                    <a:bodyPr/>
                    <a:lstStyle/>
                    <a:p>
                      <a:pPr algn="l" fontAlgn="ctr"/>
                      <a:r>
                        <a:rPr lang="zh-CN" altLang="en-US" sz="800" u="none" strike="noStrike">
                          <a:effectLst/>
                        </a:rPr>
                        <a:t>供应商联系方式：</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3">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800" u="none" strike="noStrike">
                          <a:effectLst/>
                        </a:rPr>
                        <a:t>供应商名称：</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14908055"/>
                  </a:ext>
                </a:extLst>
              </a:tr>
              <a:tr h="229674">
                <a:tc gridSpan="9">
                  <a:txBody>
                    <a:bodyPr/>
                    <a:lstStyle/>
                    <a:p>
                      <a:pPr algn="l" fontAlgn="ctr"/>
                      <a:r>
                        <a:rPr lang="zh-CN" altLang="en-US" sz="800" u="none" strike="noStrike">
                          <a:effectLst/>
                        </a:rPr>
                        <a:t>二、采购报销明细清单（单位：元）</a:t>
                      </a:r>
                      <a:endParaRPr lang="zh-CN" altLang="en-US" sz="800" b="1"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82410747"/>
                  </a:ext>
                </a:extLst>
              </a:tr>
              <a:tr h="229674">
                <a:tc>
                  <a:txBody>
                    <a:bodyPr/>
                    <a:lstStyle/>
                    <a:p>
                      <a:pPr algn="ctr" fontAlgn="ctr"/>
                      <a:r>
                        <a:rPr lang="zh-CN" altLang="en-US" sz="800" u="none" strike="noStrike">
                          <a:effectLst/>
                        </a:rPr>
                        <a:t>物品</a:t>
                      </a:r>
                      <a:r>
                        <a:rPr lang="en-US" altLang="zh-CN" sz="800" u="none" strike="noStrike">
                          <a:effectLst/>
                        </a:rPr>
                        <a:t>/</a:t>
                      </a:r>
                      <a:r>
                        <a:rPr lang="zh-CN" altLang="en-US" sz="800" u="none" strike="noStrike">
                          <a:effectLst/>
                        </a:rPr>
                        <a:t>名称</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规格型号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单位</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采购数量</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含税单价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含税总金额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票据张数</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备注</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218916326"/>
                  </a:ext>
                </a:extLst>
              </a:tr>
              <a:tr h="229674">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3907572372"/>
                  </a:ext>
                </a:extLst>
              </a:tr>
              <a:tr h="229674">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2587147467"/>
                  </a:ext>
                </a:extLst>
              </a:tr>
              <a:tr h="229674">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2093888532"/>
                  </a:ext>
                </a:extLst>
              </a:tr>
              <a:tr h="229674">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2142415865"/>
                  </a:ext>
                </a:extLst>
              </a:tr>
              <a:tr h="229674">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3189214076"/>
                  </a:ext>
                </a:extLst>
              </a:tr>
              <a:tr h="229674">
                <a:tc gridSpan="5">
                  <a:txBody>
                    <a:bodyPr/>
                    <a:lstStyle/>
                    <a:p>
                      <a:pPr algn="ctr" fontAlgn="ctr"/>
                      <a:r>
                        <a:rPr lang="zh-CN" altLang="en-US" sz="800" u="none" strike="noStrike">
                          <a:effectLst/>
                        </a:rPr>
                        <a:t>合计</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800" u="none" strike="noStrike">
                          <a:effectLst/>
                        </a:rPr>
                        <a:t>¥0.00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ctr"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999171584"/>
                  </a:ext>
                </a:extLst>
              </a:tr>
              <a:tr h="229674">
                <a:tc>
                  <a:txBody>
                    <a:bodyPr/>
                    <a:lstStyle/>
                    <a:p>
                      <a:pPr algn="l" fontAlgn="ctr"/>
                      <a:r>
                        <a:rPr lang="zh-CN" altLang="en-US" sz="800" u="none" strike="noStrike">
                          <a:effectLst/>
                        </a:rPr>
                        <a:t>报销总金额：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r" fontAlgn="ctr"/>
                      <a:r>
                        <a:rPr lang="zh-CN" altLang="en-US" sz="800" u="none" strike="noStrike">
                          <a:effectLst/>
                        </a:rPr>
                        <a:t>金额小写：</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l" fontAlgn="ctr"/>
                      <a:r>
                        <a:rPr lang="en-US" altLang="zh-CN" sz="800" u="none" strike="noStrike">
                          <a:effectLst/>
                        </a:rPr>
                        <a:t>¥0.00</a:t>
                      </a:r>
                      <a:endParaRPr lang="en-US" altLang="zh-CN"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a:txBody>
                    <a:bodyPr/>
                    <a:lstStyle/>
                    <a:p>
                      <a:pPr algn="r" fontAlgn="ctr"/>
                      <a:r>
                        <a:rPr lang="zh-CN" altLang="en-US" sz="800" u="none" strike="noStrike">
                          <a:effectLst/>
                        </a:rPr>
                        <a:t>金额大写：</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4">
                  <a:txBody>
                    <a:bodyPr/>
                    <a:lstStyle/>
                    <a:p>
                      <a:pPr algn="l" fontAlgn="ctr"/>
                      <a:r>
                        <a:rPr lang="zh-CN" altLang="en-US" sz="800" u="none" strike="noStrike">
                          <a:effectLst/>
                        </a:rPr>
                        <a:t>人民币</a:t>
                      </a:r>
                      <a:r>
                        <a:rPr lang="en-US" altLang="zh-CN" sz="800" u="none" strike="noStrike">
                          <a:effectLst/>
                        </a:rPr>
                        <a:t>_____________________________</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58296345"/>
                  </a:ext>
                </a:extLst>
              </a:tr>
              <a:tr h="229674">
                <a:tc gridSpan="9">
                  <a:txBody>
                    <a:bodyPr/>
                    <a:lstStyle/>
                    <a:p>
                      <a:pPr algn="l" fontAlgn="ctr"/>
                      <a:r>
                        <a:rPr lang="zh-CN" altLang="en-US" sz="800" u="none" strike="noStrike">
                          <a:effectLst/>
                        </a:rPr>
                        <a:t>三、借款抵扣信息</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69412931"/>
                  </a:ext>
                </a:extLst>
              </a:tr>
              <a:tr h="229674">
                <a:tc>
                  <a:txBody>
                    <a:bodyPr/>
                    <a:lstStyle/>
                    <a:p>
                      <a:pPr algn="l" fontAlgn="ctr"/>
                      <a:r>
                        <a:rPr lang="zh-CN" altLang="en-US" sz="800" u="none" strike="noStrike">
                          <a:effectLst/>
                        </a:rPr>
                        <a:t>□ 无预借备用金</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l" fontAlgn="ctr"/>
                      <a:r>
                        <a:rPr lang="zh-CN" altLang="en-US" sz="800" u="none" strike="noStrike">
                          <a:effectLst/>
                        </a:rPr>
                        <a:t>□ 已借备用金金额：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gridSpan="2">
                  <a:txBody>
                    <a:bodyPr/>
                    <a:lstStyle/>
                    <a:p>
                      <a:pPr algn="l" fontAlgn="ctr"/>
                      <a:r>
                        <a:rPr lang="zh-CN" altLang="en-US" sz="800" u="none" strike="noStrike">
                          <a:effectLst/>
                        </a:rPr>
                        <a:t>本次报销冲抵借款：</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gridSpan="2">
                  <a:txBody>
                    <a:bodyPr/>
                    <a:lstStyle/>
                    <a:p>
                      <a:pPr algn="l" fontAlgn="ctr"/>
                      <a:r>
                        <a:rPr lang="zh-CN" altLang="en-US" sz="800" u="none" strike="noStrike">
                          <a:effectLst/>
                        </a:rPr>
                        <a:t>需补退回公司金额：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gridSpan="2">
                  <a:txBody>
                    <a:bodyPr/>
                    <a:lstStyle/>
                    <a:p>
                      <a:pPr algn="l" fontAlgn="ctr"/>
                      <a:r>
                        <a:rPr lang="zh-CN" altLang="en-US" sz="800" u="none" strike="noStrike">
                          <a:effectLst/>
                        </a:rPr>
                        <a:t>公司需补付个人金额：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2262970912"/>
                  </a:ext>
                </a:extLst>
              </a:tr>
              <a:tr h="229674">
                <a:tc gridSpan="9">
                  <a:txBody>
                    <a:bodyPr/>
                    <a:lstStyle/>
                    <a:p>
                      <a:pPr algn="l" fontAlgn="ctr"/>
                      <a:r>
                        <a:rPr lang="zh-CN" altLang="en-US" sz="800" u="none" strike="noStrike">
                          <a:effectLst/>
                        </a:rPr>
                        <a:t>四、报销承诺</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2313448"/>
                  </a:ext>
                </a:extLst>
              </a:tr>
              <a:tr h="232030">
                <a:tc gridSpan="9">
                  <a:txBody>
                    <a:bodyPr/>
                    <a:lstStyle/>
                    <a:p>
                      <a:pPr algn="l" fontAlgn="ctr"/>
                      <a:r>
                        <a:rPr lang="zh-CN" altLang="en-US" sz="800" u="none" strike="noStrike">
                          <a:effectLst/>
                        </a:rPr>
                        <a:t>本人承诺：本次报销所附票据均真实、合法、有效，采购物品均为公司实际经营所需，符合公司</a:t>
                      </a:r>
                      <a:r>
                        <a:rPr lang="en-US" altLang="zh-CN" sz="800" u="none" strike="noStrike">
                          <a:effectLst/>
                        </a:rPr>
                        <a:t>《</a:t>
                      </a:r>
                      <a:r>
                        <a:rPr lang="zh-CN" altLang="en-US" sz="800" u="none" strike="noStrike">
                          <a:effectLst/>
                        </a:rPr>
                        <a:t>日常采购管理办法</a:t>
                      </a:r>
                      <a:r>
                        <a:rPr lang="en-US" altLang="zh-CN" sz="800" u="none" strike="noStrike">
                          <a:effectLst/>
                        </a:rPr>
                        <a:t>》</a:t>
                      </a:r>
                      <a:r>
                        <a:rPr lang="zh-CN" altLang="en-US" sz="800" u="none" strike="noStrike">
                          <a:effectLst/>
                        </a:rPr>
                        <a:t>相关规定，如有虚假报销、票据不合规、采购物品私用等情况，自愿承担全部责任，并接受公司相关制度处罚。</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07592585"/>
                  </a:ext>
                </a:extLst>
              </a:tr>
              <a:tr h="194340">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报销人签字：</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extLst>
                  <a:ext uri="{0D108BD9-81ED-4DB2-BD59-A6C34878D82A}">
                    <a16:rowId xmlns:a16="http://schemas.microsoft.com/office/drawing/2014/main" val="2554233566"/>
                  </a:ext>
                </a:extLst>
              </a:tr>
              <a:tr h="229674">
                <a:tc>
                  <a:txBody>
                    <a:bodyPr/>
                    <a:lstStyle/>
                    <a:p>
                      <a:pPr algn="l" fontAlgn="ctr"/>
                      <a:r>
                        <a:rPr lang="zh-CN" altLang="en-US" sz="800" u="none" strike="noStrike">
                          <a:effectLst/>
                        </a:rPr>
                        <a:t>五、审批栏</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5">
                  <a:txBody>
                    <a:bodyPr/>
                    <a:lstStyle/>
                    <a:p>
                      <a:pPr algn="l" fontAlgn="ctr"/>
                      <a:r>
                        <a:rPr lang="zh-CN" altLang="en-US" sz="800" u="none" strike="noStrike">
                          <a:effectLst/>
                        </a:rPr>
                        <a:t>六、财务结算记录（财务填写）</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740473857"/>
                  </a:ext>
                </a:extLst>
              </a:tr>
              <a:tr h="232030">
                <a:tc>
                  <a:txBody>
                    <a:bodyPr/>
                    <a:lstStyle/>
                    <a:p>
                      <a:pPr algn="ctr" fontAlgn="ctr"/>
                      <a:r>
                        <a:rPr lang="zh-CN" altLang="en-US" sz="800" u="none" strike="noStrike">
                          <a:effectLst/>
                        </a:rPr>
                        <a:t>审批岗位</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签字</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日期</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审核意见</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实付金额：</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付款方式：</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l" fontAlgn="ctr"/>
                      <a:r>
                        <a:rPr lang="zh-CN" altLang="en-US" sz="800" u="none" strike="noStrike">
                          <a:effectLst/>
                        </a:rPr>
                        <a:t>□现金 □银行转账 □微信</a:t>
                      </a:r>
                      <a:r>
                        <a:rPr lang="en-US" altLang="zh-CN" sz="800" u="none" strike="noStrike">
                          <a:effectLst/>
                        </a:rPr>
                        <a:t>/</a:t>
                      </a:r>
                      <a:r>
                        <a:rPr lang="zh-CN" altLang="en-US" sz="800" u="none" strike="noStrike">
                          <a:effectLst/>
                        </a:rPr>
                        <a:t>支付宝 □对公支付</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3717437546"/>
                  </a:ext>
                </a:extLst>
              </a:tr>
              <a:tr h="229674">
                <a:tc>
                  <a:txBody>
                    <a:bodyPr/>
                    <a:lstStyle/>
                    <a:p>
                      <a:pPr algn="ctr" fontAlgn="ctr"/>
                      <a:r>
                        <a:rPr lang="zh-CN" altLang="en-US" sz="800" u="none" strike="noStrike">
                          <a:effectLst/>
                        </a:rPr>
                        <a:t>部门负责人审核</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付款凭证号：</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财务经办人：</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2">
                  <a:txBody>
                    <a:bodyPr/>
                    <a:lstStyle/>
                    <a:p>
                      <a:pPr algn="l" fontAlgn="ctr"/>
                      <a:r>
                        <a:rPr lang="zh-CN" altLang="en-US" sz="800" u="none" strike="noStrike">
                          <a:effectLst/>
                        </a:rPr>
                        <a:t>　</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extLst>
                  <a:ext uri="{0D108BD9-81ED-4DB2-BD59-A6C34878D82A}">
                    <a16:rowId xmlns:a16="http://schemas.microsoft.com/office/drawing/2014/main" val="4194289469"/>
                  </a:ext>
                </a:extLst>
              </a:tr>
              <a:tr h="229674">
                <a:tc>
                  <a:txBody>
                    <a:bodyPr/>
                    <a:lstStyle/>
                    <a:p>
                      <a:pPr algn="ctr" fontAlgn="ctr"/>
                      <a:r>
                        <a:rPr lang="zh-CN" altLang="en-US" sz="800" u="none" strike="noStrike">
                          <a:effectLst/>
                        </a:rPr>
                        <a:t>财务票据审核</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ctr" fontAlgn="ctr"/>
                      <a:r>
                        <a:rPr lang="zh-CN" altLang="en-US" sz="800" u="none" strike="noStrike">
                          <a:effectLst/>
                        </a:rPr>
                        <a:t>结清状态：</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4">
                  <a:txBody>
                    <a:bodyPr/>
                    <a:lstStyle/>
                    <a:p>
                      <a:pPr algn="l" fontAlgn="ctr"/>
                      <a:r>
                        <a:rPr lang="zh-CN" altLang="en-US" sz="800" u="none" strike="noStrike">
                          <a:effectLst/>
                        </a:rPr>
                        <a:t>□已全部结清 □待补款</a:t>
                      </a:r>
                      <a:r>
                        <a:rPr lang="en-US" altLang="zh-CN" sz="800" u="none" strike="noStrike">
                          <a:effectLst/>
                        </a:rPr>
                        <a:t>/</a:t>
                      </a:r>
                      <a:r>
                        <a:rPr lang="zh-CN" altLang="en-US" sz="800" u="none" strike="noStrike">
                          <a:effectLst/>
                        </a:rPr>
                        <a:t>退款 □待入库验收</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30687991"/>
                  </a:ext>
                </a:extLst>
              </a:tr>
              <a:tr h="229674">
                <a:tc>
                  <a:txBody>
                    <a:bodyPr/>
                    <a:lstStyle/>
                    <a:p>
                      <a:pPr algn="ctr" fontAlgn="ctr"/>
                      <a:r>
                        <a:rPr lang="zh-CN" altLang="en-US" sz="800" u="none" strike="noStrike">
                          <a:effectLst/>
                        </a:rPr>
                        <a:t>财务负责人审批</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rowSpan="2" gridSpan="5">
                  <a:txBody>
                    <a:bodyPr/>
                    <a:lstStyle/>
                    <a:p>
                      <a:pPr algn="l" fontAlgn="ctr"/>
                      <a:r>
                        <a:rPr lang="zh-CN" altLang="en-US" sz="800" u="none" strike="noStrike">
                          <a:effectLst/>
                        </a:rPr>
                        <a:t>备注：本单据一式两联，财务联</a:t>
                      </a:r>
                      <a:r>
                        <a:rPr lang="en-US" altLang="zh-CN" sz="800" u="none" strike="noStrike">
                          <a:effectLst/>
                        </a:rPr>
                        <a:t>+</a:t>
                      </a:r>
                      <a:r>
                        <a:rPr lang="zh-CN" altLang="en-US" sz="800" u="none" strike="noStrike">
                          <a:effectLst/>
                        </a:rPr>
                        <a:t>行政</a:t>
                      </a:r>
                      <a:r>
                        <a:rPr lang="en-US" altLang="zh-CN" sz="800" u="none" strike="noStrike">
                          <a:effectLst/>
                        </a:rPr>
                        <a:t>/</a:t>
                      </a:r>
                      <a:r>
                        <a:rPr lang="zh-CN" altLang="en-US" sz="800" u="none" strike="noStrike">
                          <a:effectLst/>
                        </a:rPr>
                        <a:t>仓库存档联；所有原始发票、采购入库单按顺序粘贴附后</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extLst>
                  <a:ext uri="{0D108BD9-81ED-4DB2-BD59-A6C34878D82A}">
                    <a16:rowId xmlns:a16="http://schemas.microsoft.com/office/drawing/2014/main" val="907319236"/>
                  </a:ext>
                </a:extLst>
              </a:tr>
              <a:tr h="229674">
                <a:tc>
                  <a:txBody>
                    <a:bodyPr/>
                    <a:lstStyle/>
                    <a:p>
                      <a:pPr algn="ctr" fontAlgn="ctr"/>
                      <a:r>
                        <a:rPr lang="zh-CN" altLang="en-US" sz="800" u="none" strike="noStrike">
                          <a:effectLst/>
                        </a:rPr>
                        <a:t>总经理终审</a:t>
                      </a:r>
                      <a:endParaRPr lang="zh-CN" altLang="en-US" sz="800" b="0" i="0" u="none" strike="noStrike">
                        <a:solidFill>
                          <a:srgbClr val="333333"/>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604" marR="6604" marT="6604" marB="0" anchor="ctr"/>
                </a:tc>
                <a:tc>
                  <a:txBody>
                    <a:bodyPr/>
                    <a:lstStyle/>
                    <a:p>
                      <a:pPr algn="l" fontAlgn="ctr"/>
                      <a:r>
                        <a:rPr lang="zh-CN" altLang="en-US" sz="800" u="none" strike="noStrike" dirty="0">
                          <a:effectLst/>
                        </a:rPr>
                        <a:t>　</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6604" marR="6604" marT="6604" marB="0" anchor="ctr"/>
                </a:tc>
                <a:tc gridSpan="5"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4012071015"/>
                  </a:ext>
                </a:extLst>
              </a:tr>
            </a:tbl>
          </a:graphicData>
        </a:graphic>
      </p:graphicFrame>
    </p:spTree>
    <p:extLst>
      <p:ext uri="{BB962C8B-B14F-4D97-AF65-F5344CB8AC3E}">
        <p14:creationId xmlns:p14="http://schemas.microsoft.com/office/powerpoint/2010/main" val="1984383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72DE1A2-0675-4CCE-B14D-EAD890FA8F99}"/>
              </a:ext>
            </a:extLst>
          </p:cNvPr>
          <p:cNvSpPr txBox="1"/>
          <p:nvPr/>
        </p:nvSpPr>
        <p:spPr>
          <a:xfrm>
            <a:off x="12086" y="21956"/>
            <a:ext cx="6696744" cy="461665"/>
          </a:xfrm>
          <a:prstGeom prst="rect">
            <a:avLst/>
          </a:prstGeom>
          <a:solidFill>
            <a:srgbClr val="FFFF00"/>
          </a:solidFill>
        </p:spPr>
        <p:txBody>
          <a:bodyPr wrap="square" rtlCol="0">
            <a:spAutoFit/>
          </a:bodyPr>
          <a:lstStyle/>
          <a:p>
            <a:r>
              <a:rPr lang="zh-CN" altLang="en-US" sz="2400" b="1" dirty="0">
                <a:solidFill>
                  <a:srgbClr val="FF0000"/>
                </a:solidFill>
              </a:rPr>
              <a:t>日常费用报销单（软件</a:t>
            </a:r>
            <a:r>
              <a:rPr lang="en-US" altLang="zh-CN" sz="2400" b="1" dirty="0">
                <a:solidFill>
                  <a:srgbClr val="FF0000"/>
                </a:solidFill>
              </a:rPr>
              <a:t>/</a:t>
            </a:r>
            <a:r>
              <a:rPr lang="zh-CN" altLang="en-US" sz="2400" b="1" dirty="0">
                <a:solidFill>
                  <a:srgbClr val="FF0000"/>
                </a:solidFill>
              </a:rPr>
              <a:t>服务</a:t>
            </a:r>
            <a:r>
              <a:rPr lang="en-US" altLang="zh-CN" sz="2400" b="1" dirty="0">
                <a:solidFill>
                  <a:srgbClr val="FF0000"/>
                </a:solidFill>
              </a:rPr>
              <a:t>/</a:t>
            </a:r>
            <a:r>
              <a:rPr lang="zh-CN" altLang="en-US" sz="2400" b="1" dirty="0">
                <a:solidFill>
                  <a:srgbClr val="FF0000"/>
                </a:solidFill>
              </a:rPr>
              <a:t>非实物采购）</a:t>
            </a:r>
            <a:r>
              <a:rPr lang="en-US" altLang="zh-CN" sz="2400" b="1" dirty="0">
                <a:solidFill>
                  <a:srgbClr val="FF0000"/>
                </a:solidFill>
              </a:rPr>
              <a:t>4-7</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876BD99D-0A11-4FC6-A735-D12A2CECD724}"/>
              </a:ext>
            </a:extLst>
          </p:cNvPr>
          <p:cNvGraphicFramePr>
            <a:graphicFrameLocks noGrp="1"/>
          </p:cNvGraphicFramePr>
          <p:nvPr>
            <p:extLst>
              <p:ext uri="{D42A27DB-BD31-4B8C-83A1-F6EECF244321}">
                <p14:modId xmlns:p14="http://schemas.microsoft.com/office/powerpoint/2010/main" val="3789224328"/>
              </p:ext>
            </p:extLst>
          </p:nvPr>
        </p:nvGraphicFramePr>
        <p:xfrm>
          <a:off x="911424" y="471898"/>
          <a:ext cx="10729191" cy="6209819"/>
        </p:xfrm>
        <a:graphic>
          <a:graphicData uri="http://schemas.openxmlformats.org/drawingml/2006/table">
            <a:tbl>
              <a:tblPr>
                <a:tableStyleId>{5C22544A-7EE6-4342-B048-85BDC9FD1C3A}</a:tableStyleId>
              </a:tblPr>
              <a:tblGrid>
                <a:gridCol w="1742652">
                  <a:extLst>
                    <a:ext uri="{9D8B030D-6E8A-4147-A177-3AD203B41FA5}">
                      <a16:colId xmlns:a16="http://schemas.microsoft.com/office/drawing/2014/main" val="2867487962"/>
                    </a:ext>
                  </a:extLst>
                </a:gridCol>
                <a:gridCol w="1584229">
                  <a:extLst>
                    <a:ext uri="{9D8B030D-6E8A-4147-A177-3AD203B41FA5}">
                      <a16:colId xmlns:a16="http://schemas.microsoft.com/office/drawing/2014/main" val="2372984880"/>
                    </a:ext>
                  </a:extLst>
                </a:gridCol>
                <a:gridCol w="1457491">
                  <a:extLst>
                    <a:ext uri="{9D8B030D-6E8A-4147-A177-3AD203B41FA5}">
                      <a16:colId xmlns:a16="http://schemas.microsoft.com/office/drawing/2014/main" val="2016162717"/>
                    </a:ext>
                  </a:extLst>
                </a:gridCol>
                <a:gridCol w="1631756">
                  <a:extLst>
                    <a:ext uri="{9D8B030D-6E8A-4147-A177-3AD203B41FA5}">
                      <a16:colId xmlns:a16="http://schemas.microsoft.com/office/drawing/2014/main" val="2131528717"/>
                    </a:ext>
                  </a:extLst>
                </a:gridCol>
                <a:gridCol w="1378279">
                  <a:extLst>
                    <a:ext uri="{9D8B030D-6E8A-4147-A177-3AD203B41FA5}">
                      <a16:colId xmlns:a16="http://schemas.microsoft.com/office/drawing/2014/main" val="1567212177"/>
                    </a:ext>
                  </a:extLst>
                </a:gridCol>
                <a:gridCol w="2934784">
                  <a:extLst>
                    <a:ext uri="{9D8B030D-6E8A-4147-A177-3AD203B41FA5}">
                      <a16:colId xmlns:a16="http://schemas.microsoft.com/office/drawing/2014/main" val="573395796"/>
                    </a:ext>
                  </a:extLst>
                </a:gridCol>
              </a:tblGrid>
              <a:tr h="285126">
                <a:tc gridSpan="6">
                  <a:txBody>
                    <a:bodyPr/>
                    <a:lstStyle/>
                    <a:p>
                      <a:pPr algn="ctr" fontAlgn="ctr"/>
                      <a:r>
                        <a:rPr lang="zh-CN" altLang="en-US" sz="1300" u="none" strike="noStrike" dirty="0">
                          <a:effectLst/>
                        </a:rPr>
                        <a:t>日常费用（软件</a:t>
                      </a:r>
                      <a:r>
                        <a:rPr lang="en-US" altLang="zh-CN" sz="1300" u="none" strike="noStrike" dirty="0">
                          <a:effectLst/>
                        </a:rPr>
                        <a:t>/</a:t>
                      </a:r>
                      <a:r>
                        <a:rPr lang="zh-CN" altLang="en-US" sz="1300" u="none" strike="noStrike" dirty="0">
                          <a:effectLst/>
                        </a:rPr>
                        <a:t>服务</a:t>
                      </a:r>
                      <a:r>
                        <a:rPr lang="en-US" altLang="zh-CN" sz="1300" u="none" strike="noStrike" dirty="0">
                          <a:effectLst/>
                        </a:rPr>
                        <a:t>/</a:t>
                      </a:r>
                      <a:r>
                        <a:rPr lang="zh-CN" altLang="en-US" sz="1300" u="none" strike="noStrike" dirty="0">
                          <a:effectLst/>
                        </a:rPr>
                        <a:t>非实物采购）报销单</a:t>
                      </a:r>
                      <a:endParaRPr lang="zh-CN" altLang="en-US" sz="1300" b="1" i="0" u="none" strike="noStrike" dirty="0">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81031017"/>
                  </a:ext>
                </a:extLst>
              </a:tr>
              <a:tr h="285126">
                <a:tc gridSpan="2">
                  <a:txBody>
                    <a:bodyPr/>
                    <a:lstStyle/>
                    <a:p>
                      <a:pPr algn="l" fontAlgn="ctr"/>
                      <a:r>
                        <a:rPr lang="zh-CN" altLang="en-US" sz="900" u="none" strike="noStrike">
                          <a:effectLst/>
                        </a:rPr>
                        <a:t>单据编号：</a:t>
                      </a:r>
                      <a:endParaRPr lang="zh-CN" altLang="en-US" sz="900" b="0" i="0" u="none" strike="noStrike">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gridSpan="2">
                  <a:txBody>
                    <a:bodyPr/>
                    <a:lstStyle/>
                    <a:p>
                      <a:pPr algn="l" fontAlgn="ctr"/>
                      <a:r>
                        <a:rPr lang="zh-CN" altLang="en-US" sz="900" u="none" strike="noStrike">
                          <a:effectLst/>
                        </a:rPr>
                        <a:t>报销日期：</a:t>
                      </a:r>
                      <a:endParaRPr lang="zh-CN" altLang="en-US" sz="900" b="0" i="0" u="none" strike="noStrike">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gridSpan="2">
                  <a:txBody>
                    <a:bodyPr/>
                    <a:lstStyle/>
                    <a:p>
                      <a:pPr algn="l" fontAlgn="ctr"/>
                      <a:r>
                        <a:rPr lang="zh-CN" altLang="en-US" sz="900" u="none" strike="noStrike">
                          <a:effectLst/>
                        </a:rPr>
                        <a:t>申请人：</a:t>
                      </a:r>
                      <a:endParaRPr lang="zh-CN" altLang="en-US" sz="900" b="0" i="0" u="none" strike="noStrike">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extLst>
                  <a:ext uri="{0D108BD9-81ED-4DB2-BD59-A6C34878D82A}">
                    <a16:rowId xmlns:a16="http://schemas.microsoft.com/office/drawing/2014/main" val="3583872777"/>
                  </a:ext>
                </a:extLst>
              </a:tr>
              <a:tr h="285126">
                <a:tc gridSpan="2">
                  <a:txBody>
                    <a:bodyPr/>
                    <a:lstStyle/>
                    <a:p>
                      <a:pPr algn="l" fontAlgn="ctr"/>
                      <a:r>
                        <a:rPr lang="zh-CN" altLang="en-US" sz="900" u="none" strike="noStrike">
                          <a:effectLst/>
                        </a:rPr>
                        <a:t>所属部门：</a:t>
                      </a:r>
                      <a:endParaRPr lang="zh-CN" altLang="en-US" sz="900" b="0" i="0" u="none" strike="noStrike">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gridSpan="2">
                  <a:txBody>
                    <a:bodyPr/>
                    <a:lstStyle/>
                    <a:p>
                      <a:pPr algn="l" fontAlgn="ctr"/>
                      <a:r>
                        <a:rPr lang="zh-CN" altLang="en-US" sz="900" u="none" strike="noStrike">
                          <a:effectLst/>
                        </a:rPr>
                        <a:t>联系电话：</a:t>
                      </a:r>
                      <a:endParaRPr lang="zh-CN" altLang="en-US" sz="900" b="0" i="0" u="none" strike="noStrike">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gridSpan="2">
                  <a:txBody>
                    <a:bodyPr/>
                    <a:lstStyle/>
                    <a:p>
                      <a:pPr algn="l" fontAlgn="ctr"/>
                      <a:r>
                        <a:rPr lang="zh-CN" altLang="en-US" sz="900" u="none" strike="noStrike" dirty="0">
                          <a:effectLst/>
                        </a:rPr>
                        <a:t>费用发生期间：     年     月   </a:t>
                      </a:r>
                      <a:endParaRPr lang="zh-CN" altLang="en-US" sz="900" b="0" i="0" u="none" strike="noStrike" dirty="0">
                        <a:solidFill>
                          <a:srgbClr val="333333"/>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extLst>
                  <a:ext uri="{0D108BD9-81ED-4DB2-BD59-A6C34878D82A}">
                    <a16:rowId xmlns:a16="http://schemas.microsoft.com/office/drawing/2014/main" val="2251821249"/>
                  </a:ext>
                </a:extLst>
              </a:tr>
              <a:tr h="285126">
                <a:tc>
                  <a:txBody>
                    <a:bodyPr/>
                    <a:lstStyle/>
                    <a:p>
                      <a:pPr algn="ctr" fontAlgn="ctr"/>
                      <a:r>
                        <a:rPr lang="zh-CN" altLang="en-US" sz="900" u="none" strike="noStrike">
                          <a:effectLst/>
                        </a:rPr>
                        <a:t>费用项目</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明细说明</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票据张数</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报销含税金额</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备注</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项目名称</a:t>
                      </a:r>
                      <a:r>
                        <a:rPr lang="en-US" altLang="zh-CN" sz="900" u="none" strike="noStrike">
                          <a:effectLst/>
                        </a:rPr>
                        <a:t>/</a:t>
                      </a:r>
                      <a:r>
                        <a:rPr lang="zh-CN" altLang="en-US" sz="900" u="none" strike="noStrike">
                          <a:effectLst/>
                        </a:rPr>
                        <a:t>成本归属</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1566686790"/>
                  </a:ext>
                </a:extLst>
              </a:tr>
              <a:tr h="285126">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2825254847"/>
                  </a:ext>
                </a:extLst>
              </a:tr>
              <a:tr h="285126">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2887280542"/>
                  </a:ext>
                </a:extLst>
              </a:tr>
              <a:tr h="285126">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2353708070"/>
                  </a:ext>
                </a:extLst>
              </a:tr>
              <a:tr h="285126">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1546963378"/>
                  </a:ext>
                </a:extLst>
              </a:tr>
              <a:tr h="285126">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2521412280"/>
                  </a:ext>
                </a:extLst>
              </a:tr>
              <a:tr h="285126">
                <a:tc>
                  <a:txBody>
                    <a:bodyPr/>
                    <a:lstStyle/>
                    <a:p>
                      <a:pPr algn="l" fontAlgn="ctr"/>
                      <a:r>
                        <a:rPr lang="zh-CN" altLang="en-US" sz="900" u="none" strike="noStrike">
                          <a:effectLst/>
                        </a:rPr>
                        <a:t>合计（元）</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r" fontAlgn="ctr"/>
                      <a:r>
                        <a:rPr lang="zh-CN" altLang="en-US" sz="900" u="none" strike="noStrike">
                          <a:effectLst/>
                        </a:rPr>
                        <a:t>报销总额小写：</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en-US" altLang="zh-CN" sz="900" u="sng" strike="noStrike">
                          <a:effectLst/>
                        </a:rPr>
                        <a:t>¥0.00</a:t>
                      </a:r>
                      <a:endParaRPr lang="en-US" altLang="zh-CN" sz="900" b="0" i="0" u="sng"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en-US" altLang="zh-CN" sz="900" u="none" strike="noStrike">
                          <a:effectLst/>
                        </a:rPr>
                        <a:t>¥0.00</a:t>
                      </a:r>
                      <a:endParaRPr lang="en-US" altLang="zh-CN"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报销总额大写：</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人民币 </a:t>
                      </a:r>
                      <a:r>
                        <a:rPr lang="zh-CN" altLang="en-US" sz="900" u="sng" strike="noStrike">
                          <a:effectLst/>
                        </a:rPr>
                        <a:t>              </a:t>
                      </a:r>
                      <a:r>
                        <a:rPr lang="zh-CN" altLang="en-US" sz="900" u="none" strike="noStrike">
                          <a:effectLst/>
                        </a:rPr>
                        <a:t> 元整</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3165144420"/>
                  </a:ext>
                </a:extLst>
              </a:tr>
              <a:tr h="285126">
                <a:tc gridSpan="6">
                  <a:txBody>
                    <a:bodyPr/>
                    <a:lstStyle/>
                    <a:p>
                      <a:pPr algn="l" fontAlgn="ctr"/>
                      <a:r>
                        <a:rPr lang="zh-CN" altLang="en-US" sz="900" u="none" strike="noStrike">
                          <a:effectLst/>
                        </a:rPr>
                        <a:t>借款抵扣信息</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4752083"/>
                  </a:ext>
                </a:extLst>
              </a:tr>
              <a:tr h="285126">
                <a:tc>
                  <a:txBody>
                    <a:bodyPr/>
                    <a:lstStyle/>
                    <a:p>
                      <a:pPr algn="l" fontAlgn="ctr"/>
                      <a:r>
                        <a:rPr lang="zh-CN" altLang="en-US" sz="900" u="none" strike="noStrike">
                          <a:effectLst/>
                        </a:rPr>
                        <a:t>□ 无预借备用金</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gridSpan="2">
                  <a:txBody>
                    <a:bodyPr/>
                    <a:lstStyle/>
                    <a:p>
                      <a:pPr algn="l" fontAlgn="ctr"/>
                      <a:r>
                        <a:rPr lang="zh-CN" altLang="en-US" sz="900" u="none" strike="noStrike">
                          <a:effectLst/>
                        </a:rPr>
                        <a:t>□ 已借备用金金额：</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gridSpan="3">
                  <a:txBody>
                    <a:bodyPr/>
                    <a:lstStyle/>
                    <a:p>
                      <a:pPr algn="l" fontAlgn="ctr"/>
                      <a:r>
                        <a:rPr lang="zh-CN" altLang="en-US" sz="900" u="none" strike="noStrike">
                          <a:effectLst/>
                        </a:rPr>
                        <a:t>本次报销冲抵借款：</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3547818"/>
                  </a:ext>
                </a:extLst>
              </a:tr>
              <a:tr h="285126">
                <a:tc gridSpan="3">
                  <a:txBody>
                    <a:bodyPr/>
                    <a:lstStyle/>
                    <a:p>
                      <a:pPr algn="l" fontAlgn="ctr"/>
                      <a:r>
                        <a:rPr lang="zh-CN" altLang="en-US" sz="900" u="none" strike="noStrike">
                          <a:effectLst/>
                        </a:rPr>
                        <a:t>需补退回公司金额：</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900" u="none" strike="noStrike">
                          <a:effectLst/>
                        </a:rPr>
                        <a:t>公司需补付个人金额：</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85007321"/>
                  </a:ext>
                </a:extLst>
              </a:tr>
              <a:tr h="269502">
                <a:tc gridSpan="6">
                  <a:txBody>
                    <a:bodyPr/>
                    <a:lstStyle/>
                    <a:p>
                      <a:pPr algn="l" fontAlgn="ctr"/>
                      <a:r>
                        <a:rPr lang="zh-CN" altLang="en-US" sz="900" u="none" strike="noStrike">
                          <a:effectLst/>
                        </a:rPr>
                        <a:t>报销承诺：本人承诺，本次报销所附票据均真实、合法、有效，费用均为公司经营实际发生，符合公司</a:t>
                      </a:r>
                      <a:r>
                        <a:rPr lang="en-US" altLang="zh-CN" sz="900" u="none" strike="noStrike">
                          <a:effectLst/>
                        </a:rPr>
                        <a:t>《</a:t>
                      </a:r>
                      <a:r>
                        <a:rPr lang="zh-CN" altLang="en-US" sz="900" u="none" strike="noStrike">
                          <a:effectLst/>
                        </a:rPr>
                        <a:t>费用报销管理办法</a:t>
                      </a:r>
                      <a:r>
                        <a:rPr lang="en-US" altLang="zh-CN" sz="900" u="none" strike="noStrike">
                          <a:effectLst/>
                        </a:rPr>
                        <a:t>》</a:t>
                      </a:r>
                      <a:r>
                        <a:rPr lang="zh-CN" altLang="en-US" sz="900" u="none" strike="noStrike">
                          <a:effectLst/>
                        </a:rPr>
                        <a:t>相关规定，如有虚假报销、票据不合规等情况，自愿承担全部责任，并接受公司相关制度处罚。</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61442928"/>
                  </a:ext>
                </a:extLst>
              </a:tr>
              <a:tr h="225448">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报销人签字：</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3345904643"/>
                  </a:ext>
                </a:extLst>
              </a:tr>
              <a:tr h="285126">
                <a:tc gridSpan="4">
                  <a:txBody>
                    <a:bodyPr/>
                    <a:lstStyle/>
                    <a:p>
                      <a:pPr algn="ctr" fontAlgn="ctr"/>
                      <a:r>
                        <a:rPr lang="zh-CN" altLang="en-US" sz="900" u="none" strike="noStrike">
                          <a:effectLst/>
                        </a:rPr>
                        <a:t>审批意见</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fontAlgn="ctr"/>
                      <a:r>
                        <a:rPr lang="zh-CN" altLang="en-US" sz="900" u="none" strike="noStrike">
                          <a:effectLst/>
                        </a:rPr>
                        <a:t>财务结算记录（财务填写）</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extLst>
                  <a:ext uri="{0D108BD9-81ED-4DB2-BD59-A6C34878D82A}">
                    <a16:rowId xmlns:a16="http://schemas.microsoft.com/office/drawing/2014/main" val="1577665430"/>
                  </a:ext>
                </a:extLst>
              </a:tr>
              <a:tr h="285126">
                <a:tc>
                  <a:txBody>
                    <a:bodyPr/>
                    <a:lstStyle/>
                    <a:p>
                      <a:pPr algn="l" fontAlgn="ctr"/>
                      <a:r>
                        <a:rPr lang="zh-CN" altLang="en-US" sz="900" u="none" strike="noStrike">
                          <a:effectLst/>
                        </a:rPr>
                        <a:t>审批岗位</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签字</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日期</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审核意见</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实付金额：</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137983713"/>
                  </a:ext>
                </a:extLst>
              </a:tr>
              <a:tr h="285126">
                <a:tc>
                  <a:txBody>
                    <a:bodyPr/>
                    <a:lstStyle/>
                    <a:p>
                      <a:pPr algn="l" fontAlgn="ctr"/>
                      <a:r>
                        <a:rPr lang="zh-CN" altLang="en-US" sz="900" u="none" strike="noStrike">
                          <a:effectLst/>
                        </a:rPr>
                        <a:t>部门负责人审核</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付款方式：</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□现金 □银行转账 □微信</a:t>
                      </a:r>
                      <a:r>
                        <a:rPr lang="en-US" altLang="zh-CN" sz="900" u="none" strike="noStrike">
                          <a:effectLst/>
                        </a:rPr>
                        <a:t>/</a:t>
                      </a:r>
                      <a:r>
                        <a:rPr lang="zh-CN" altLang="en-US" sz="900" u="none" strike="noStrike">
                          <a:effectLst/>
                        </a:rPr>
                        <a:t>支付宝</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3102677498"/>
                  </a:ext>
                </a:extLst>
              </a:tr>
              <a:tr h="285126">
                <a:tc>
                  <a:txBody>
                    <a:bodyPr/>
                    <a:lstStyle/>
                    <a:p>
                      <a:pPr algn="l" fontAlgn="ctr"/>
                      <a:r>
                        <a:rPr lang="zh-CN" altLang="en-US" sz="900" u="none" strike="noStrike">
                          <a:effectLst/>
                        </a:rPr>
                        <a:t>财务票据审核</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付款凭证号：</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2011629403"/>
                  </a:ext>
                </a:extLst>
              </a:tr>
              <a:tr h="285126">
                <a:tc>
                  <a:txBody>
                    <a:bodyPr/>
                    <a:lstStyle/>
                    <a:p>
                      <a:pPr algn="l" fontAlgn="ctr"/>
                      <a:r>
                        <a:rPr lang="zh-CN" altLang="en-US" sz="900" u="none" strike="noStrike">
                          <a:effectLst/>
                        </a:rPr>
                        <a:t>财务负责人审批</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财务经办人：</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3165782862"/>
                  </a:ext>
                </a:extLst>
              </a:tr>
              <a:tr h="285126">
                <a:tc>
                  <a:txBody>
                    <a:bodyPr/>
                    <a:lstStyle/>
                    <a:p>
                      <a:pPr algn="l" fontAlgn="ctr"/>
                      <a:r>
                        <a:rPr lang="zh-CN" altLang="en-US" sz="900" u="none" strike="noStrike">
                          <a:effectLst/>
                        </a:rPr>
                        <a:t>总经理终审</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　</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ctr" fontAlgn="ctr"/>
                      <a:r>
                        <a:rPr lang="zh-CN" altLang="en-US" sz="900" u="none" strike="noStrike">
                          <a:effectLst/>
                        </a:rPr>
                        <a:t>结清状态：</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tc>
                  <a:txBody>
                    <a:bodyPr/>
                    <a:lstStyle/>
                    <a:p>
                      <a:pPr algn="l" fontAlgn="ctr"/>
                      <a:r>
                        <a:rPr lang="zh-CN" altLang="en-US" sz="900" u="none" strike="noStrike">
                          <a:effectLst/>
                        </a:rPr>
                        <a:t>□已全部结清 □待补款</a:t>
                      </a:r>
                      <a:r>
                        <a:rPr lang="en-US" altLang="zh-CN" sz="900" u="none" strike="noStrike">
                          <a:effectLst/>
                        </a:rPr>
                        <a:t>/</a:t>
                      </a:r>
                      <a:r>
                        <a:rPr lang="zh-CN" altLang="en-US" sz="900" u="none" strike="noStrike">
                          <a:effectLst/>
                        </a:rPr>
                        <a:t>退款</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31" marR="7531" marT="7531" marB="0" anchor="ctr"/>
                </a:tc>
                <a:extLst>
                  <a:ext uri="{0D108BD9-81ED-4DB2-BD59-A6C34878D82A}">
                    <a16:rowId xmlns:a16="http://schemas.microsoft.com/office/drawing/2014/main" val="1109981596"/>
                  </a:ext>
                </a:extLst>
              </a:tr>
              <a:tr h="285126">
                <a:tc gridSpan="6">
                  <a:txBody>
                    <a:bodyPr/>
                    <a:lstStyle/>
                    <a:p>
                      <a:pPr algn="l" fontAlgn="ctr"/>
                      <a:r>
                        <a:rPr lang="zh-CN" altLang="en-US" sz="800" u="none" strike="noStrike" dirty="0">
                          <a:effectLst/>
                        </a:rPr>
                        <a:t>备注：本单据一式两联，财务联</a:t>
                      </a:r>
                      <a:r>
                        <a:rPr lang="en-US" altLang="zh-CN" sz="800" u="none" strike="noStrike" dirty="0">
                          <a:effectLst/>
                        </a:rPr>
                        <a:t>+</a:t>
                      </a:r>
                      <a:r>
                        <a:rPr lang="zh-CN" altLang="en-US" sz="800" u="none" strike="noStrike" dirty="0">
                          <a:effectLst/>
                        </a:rPr>
                        <a:t>申请部门存档联；所有原始发票按顺序粘贴附后，与单据一同提交审批</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7531" marR="7531" marT="753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126519060"/>
                  </a:ext>
                </a:extLst>
              </a:tr>
            </a:tbl>
          </a:graphicData>
        </a:graphic>
      </p:graphicFrame>
    </p:spTree>
    <p:extLst>
      <p:ext uri="{BB962C8B-B14F-4D97-AF65-F5344CB8AC3E}">
        <p14:creationId xmlns:p14="http://schemas.microsoft.com/office/powerpoint/2010/main" val="2011087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BE869FB4-319E-4CC7-9C8A-C28A0DC02D10}"/>
              </a:ext>
            </a:extLst>
          </p:cNvPr>
          <p:cNvSpPr/>
          <p:nvPr/>
        </p:nvSpPr>
        <p:spPr>
          <a:xfrm>
            <a:off x="3791744" y="2036586"/>
            <a:ext cx="7992888" cy="42864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highlight>
                <a:srgbClr val="FFFF00"/>
              </a:highlight>
            </a:endParaRPr>
          </a:p>
        </p:txBody>
      </p:sp>
      <p:pic>
        <p:nvPicPr>
          <p:cNvPr id="13" name="图片 12">
            <a:extLst>
              <a:ext uri="{FF2B5EF4-FFF2-40B4-BE49-F238E27FC236}">
                <a16:creationId xmlns:a16="http://schemas.microsoft.com/office/drawing/2014/main" id="{465DDDA2-5AD1-4E33-BCAB-AA80C4E365D1}"/>
              </a:ext>
            </a:extLst>
          </p:cNvPr>
          <p:cNvPicPr>
            <a:picLocks noChangeAspect="1"/>
          </p:cNvPicPr>
          <p:nvPr/>
        </p:nvPicPr>
        <p:blipFill>
          <a:blip r:embed="rId2"/>
          <a:stretch>
            <a:fillRect/>
          </a:stretch>
        </p:blipFill>
        <p:spPr>
          <a:xfrm>
            <a:off x="5626036" y="908222"/>
            <a:ext cx="2304258" cy="732586"/>
          </a:xfrm>
          <a:prstGeom prst="rect">
            <a:avLst/>
          </a:prstGeom>
        </p:spPr>
      </p:pic>
      <p:pic>
        <p:nvPicPr>
          <p:cNvPr id="12" name="图片 11">
            <a:extLst>
              <a:ext uri="{FF2B5EF4-FFF2-40B4-BE49-F238E27FC236}">
                <a16:creationId xmlns:a16="http://schemas.microsoft.com/office/drawing/2014/main" id="{62F90C70-82DA-4D46-B8A3-9C868DDF61C4}"/>
              </a:ext>
            </a:extLst>
          </p:cNvPr>
          <p:cNvPicPr>
            <a:picLocks noChangeAspect="1"/>
          </p:cNvPicPr>
          <p:nvPr/>
        </p:nvPicPr>
        <p:blipFill>
          <a:blip r:embed="rId2"/>
          <a:stretch>
            <a:fillRect/>
          </a:stretch>
        </p:blipFill>
        <p:spPr>
          <a:xfrm>
            <a:off x="839416" y="945122"/>
            <a:ext cx="3312368" cy="732587"/>
          </a:xfrm>
          <a:prstGeom prst="rect">
            <a:avLst/>
          </a:prstGeom>
        </p:spPr>
      </p:pic>
      <p:sp>
        <p:nvSpPr>
          <p:cNvPr id="3" name="object 3"/>
          <p:cNvSpPr txBox="1"/>
          <p:nvPr/>
        </p:nvSpPr>
        <p:spPr>
          <a:xfrm>
            <a:off x="4871864" y="1075404"/>
            <a:ext cx="10537802" cy="423193"/>
          </a:xfrm>
          <a:prstGeom prst="rect">
            <a:avLst/>
          </a:prstGeom>
        </p:spPr>
        <p:txBody>
          <a:bodyPr vert="horz" wrap="square" lIns="0" tIns="0" rIns="0" bIns="0" rtlCol="0">
            <a:spAutoFit/>
          </a:bodyPr>
          <a:lstStyle/>
          <a:p>
            <a:pPr marL="1011237" marR="0">
              <a:lnSpc>
                <a:spcPts val="3339"/>
              </a:lnSpc>
              <a:spcBef>
                <a:spcPts val="3872"/>
              </a:spcBef>
              <a:spcAft>
                <a:spcPts val="0"/>
              </a:spcAft>
            </a:pPr>
            <a:r>
              <a:rPr lang="zh-CN" altLang="en-US" sz="3200" b="1" dirty="0">
                <a:solidFill>
                  <a:srgbClr val="000099"/>
                </a:solidFill>
                <a:highlight>
                  <a:srgbClr val="FFFF00"/>
                </a:highlight>
                <a:latin typeface="OAKHCI+MicrosoftYaHei-Bold"/>
                <a:cs typeface="OAKHCI+MicrosoftYaHei-Bold"/>
              </a:rPr>
              <a:t>流程设计</a:t>
            </a:r>
          </a:p>
        </p:txBody>
      </p:sp>
      <p:sp>
        <p:nvSpPr>
          <p:cNvPr id="4" name="object 4"/>
          <p:cNvSpPr txBox="1"/>
          <p:nvPr/>
        </p:nvSpPr>
        <p:spPr>
          <a:xfrm>
            <a:off x="335360" y="2504407"/>
            <a:ext cx="3168352" cy="386003"/>
          </a:xfrm>
          <a:prstGeom prst="rect">
            <a:avLst/>
          </a:prstGeom>
        </p:spPr>
        <p:txBody>
          <a:bodyPr vert="horz" wrap="square" lIns="0" tIns="0" rIns="0" bIns="0" rtlCol="0">
            <a:spAutoFit/>
          </a:bodyPr>
          <a:lstStyle/>
          <a:p>
            <a:pPr marL="76" marR="0">
              <a:lnSpc>
                <a:spcPts val="3339"/>
              </a:lnSpc>
              <a:spcBef>
                <a:spcPts val="0"/>
              </a:spcBef>
              <a:spcAft>
                <a:spcPts val="0"/>
              </a:spcAft>
            </a:pPr>
            <a:r>
              <a:rPr sz="2400" dirty="0">
                <a:solidFill>
                  <a:srgbClr val="000099"/>
                </a:solidFill>
                <a:highlight>
                  <a:srgbClr val="FFFF00"/>
                </a:highlight>
                <a:latin typeface="PKMLHR+MicrosoftYaHei"/>
                <a:cs typeface="PKMLHR+MicrosoftYaHei"/>
              </a:rPr>
              <a:t>1 </a:t>
            </a:r>
            <a:r>
              <a:rPr lang="zh-CN" altLang="en-US" sz="2400" dirty="0">
                <a:solidFill>
                  <a:srgbClr val="000099"/>
                </a:solidFill>
                <a:highlight>
                  <a:srgbClr val="FFFF00"/>
                </a:highlight>
                <a:latin typeface="PKMLHR+MicrosoftYaHei"/>
                <a:cs typeface="PKMLHR+MicrosoftYaHei"/>
              </a:rPr>
              <a:t>研发项目基础信息</a:t>
            </a:r>
            <a:endParaRPr lang="en-US" altLang="zh-CN" sz="2400" dirty="0">
              <a:solidFill>
                <a:srgbClr val="000099"/>
              </a:solidFill>
              <a:highlight>
                <a:srgbClr val="FFFF00"/>
              </a:highlight>
              <a:latin typeface="PKMLHR+MicrosoftYaHei"/>
              <a:cs typeface="PKMLHR+MicrosoftYaHei"/>
            </a:endParaRPr>
          </a:p>
        </p:txBody>
      </p:sp>
      <p:sp>
        <p:nvSpPr>
          <p:cNvPr id="5" name="object 5"/>
          <p:cNvSpPr txBox="1"/>
          <p:nvPr/>
        </p:nvSpPr>
        <p:spPr>
          <a:xfrm>
            <a:off x="4067908" y="2254744"/>
            <a:ext cx="7416824" cy="4609595"/>
          </a:xfrm>
          <a:prstGeom prst="rect">
            <a:avLst/>
          </a:prstGeom>
        </p:spPr>
        <p:txBody>
          <a:bodyPr vert="horz" wrap="square" lIns="0" tIns="0" rIns="0" bIns="0" rtlCol="0">
            <a:spAutoFit/>
          </a:bodyPr>
          <a:lstStyle/>
          <a:p>
            <a:pPr marL="76" marR="0">
              <a:lnSpc>
                <a:spcPts val="3339"/>
              </a:lnSpc>
              <a:spcBef>
                <a:spcPts val="0"/>
              </a:spcBef>
              <a:spcAft>
                <a:spcPts val="0"/>
              </a:spcAft>
            </a:pPr>
            <a:r>
              <a:rPr lang="zh-CN" altLang="en-US" sz="2000" dirty="0">
                <a:solidFill>
                  <a:srgbClr val="000099"/>
                </a:solidFill>
                <a:highlight>
                  <a:srgbClr val="FFFF00"/>
                </a:highlight>
                <a:latin typeface="PKMLHR+MicrosoftYaHei"/>
                <a:cs typeface="PKMLHR+MicrosoftYaHei"/>
              </a:rPr>
              <a:t>研发项目基础信息表：按照项目名称立项建档、参与人员、研发投入预算、研发预期成果等</a:t>
            </a: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en-US" altLang="zh-CN" sz="2000" dirty="0">
              <a:solidFill>
                <a:srgbClr val="000099"/>
              </a:solidFill>
              <a:highlight>
                <a:srgbClr val="FFFF00"/>
              </a:highlight>
              <a:latin typeface="PKMLHR+MicrosoftYaHei"/>
              <a:cs typeface="PKMLHR+MicrosoftYaHei"/>
            </a:endParaRPr>
          </a:p>
          <a:p>
            <a:pPr marL="76">
              <a:lnSpc>
                <a:spcPts val="3339"/>
              </a:lnSpc>
            </a:pPr>
            <a:r>
              <a:rPr lang="zh-CN" altLang="en-US" sz="2000" dirty="0">
                <a:solidFill>
                  <a:srgbClr val="000099"/>
                </a:solidFill>
                <a:highlight>
                  <a:srgbClr val="FFFF00"/>
                </a:highlight>
                <a:latin typeface="PKMLHR+MicrosoftYaHei"/>
                <a:cs typeface="PKMLHR+MicrosoftYaHei"/>
              </a:rPr>
              <a:t>单研发项目投入明细表：按月统计各项目投入人工、直接费用、折旧</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摊销、委外研发、新产品</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实验费、其他研发费用明细等</a:t>
            </a:r>
            <a:endParaRPr lang="en-US" altLang="zh-CN" sz="2000" dirty="0">
              <a:solidFill>
                <a:srgbClr val="000099"/>
              </a:solidFill>
              <a:highlight>
                <a:srgbClr val="FFFF00"/>
              </a:highlight>
              <a:latin typeface="PKMLHR+MicrosoftYaHei"/>
              <a:cs typeface="PKMLHR+MicrosoftYaHei"/>
            </a:endParaRPr>
          </a:p>
          <a:p>
            <a:pPr marL="76">
              <a:lnSpc>
                <a:spcPts val="3339"/>
              </a:lnSpc>
            </a:pPr>
            <a:endParaRPr lang="en-US" altLang="zh-CN" sz="2000" dirty="0">
              <a:solidFill>
                <a:srgbClr val="000099"/>
              </a:solidFill>
              <a:highlight>
                <a:srgbClr val="FFFF00"/>
              </a:highlight>
              <a:latin typeface="PKMLHR+MicrosoftYaHei"/>
              <a:cs typeface="PKMLHR+MicrosoftYaHei"/>
            </a:endParaRPr>
          </a:p>
          <a:p>
            <a:pPr marL="76">
              <a:lnSpc>
                <a:spcPts val="3339"/>
              </a:lnSpc>
            </a:pPr>
            <a:r>
              <a:rPr lang="zh-CN" altLang="en-US" sz="2000" dirty="0">
                <a:solidFill>
                  <a:srgbClr val="000099"/>
                </a:solidFill>
                <a:highlight>
                  <a:srgbClr val="FFFF00"/>
                </a:highlight>
                <a:latin typeface="PKMLHR+MicrosoftYaHei"/>
                <a:cs typeface="PKMLHR+MicrosoftYaHei"/>
              </a:rPr>
              <a:t>研发费用台账：多项目汇总表，按月统计并合理分配各项目投入人工、直接费用、折旧</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摊销、委外研发、新产品</a:t>
            </a:r>
            <a:r>
              <a:rPr lang="en-US" altLang="zh-CN" sz="2000" dirty="0">
                <a:solidFill>
                  <a:srgbClr val="000099"/>
                </a:solidFill>
                <a:highlight>
                  <a:srgbClr val="FFFF00"/>
                </a:highlight>
                <a:latin typeface="PKMLHR+MicrosoftYaHei"/>
                <a:cs typeface="PKMLHR+MicrosoftYaHei"/>
              </a:rPr>
              <a:t>/</a:t>
            </a:r>
            <a:r>
              <a:rPr lang="zh-CN" altLang="en-US" sz="2000" dirty="0">
                <a:solidFill>
                  <a:srgbClr val="000099"/>
                </a:solidFill>
                <a:highlight>
                  <a:srgbClr val="FFFF00"/>
                </a:highlight>
                <a:latin typeface="PKMLHR+MicrosoftYaHei"/>
                <a:cs typeface="PKMLHR+MicrosoftYaHei"/>
              </a:rPr>
              <a:t>实验费、其他研发费用明细等</a:t>
            </a:r>
            <a:endParaRPr lang="en-US" altLang="zh-CN" sz="2000" dirty="0">
              <a:solidFill>
                <a:srgbClr val="000099"/>
              </a:solidFill>
              <a:highlight>
                <a:srgbClr val="FFFF00"/>
              </a:highlight>
              <a:latin typeface="PKMLHR+MicrosoftYaHei"/>
              <a:cs typeface="PKMLHR+MicrosoftYaHei"/>
            </a:endParaRPr>
          </a:p>
          <a:p>
            <a:pPr marL="76">
              <a:lnSpc>
                <a:spcPts val="3339"/>
              </a:lnSpc>
            </a:pPr>
            <a:endParaRPr lang="en-US" altLang="zh-CN" sz="20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zh-CN" altLang="en-US" sz="2000" dirty="0">
              <a:solidFill>
                <a:srgbClr val="000099"/>
              </a:solidFill>
              <a:highlight>
                <a:srgbClr val="FFFF00"/>
              </a:highlight>
              <a:latin typeface="PKMLHR+MicrosoftYaHei"/>
              <a:cs typeface="PKMLHR+MicrosoftYaHei"/>
            </a:endParaRPr>
          </a:p>
        </p:txBody>
      </p:sp>
      <p:sp>
        <p:nvSpPr>
          <p:cNvPr id="10" name="object 3">
            <a:extLst>
              <a:ext uri="{FF2B5EF4-FFF2-40B4-BE49-F238E27FC236}">
                <a16:creationId xmlns:a16="http://schemas.microsoft.com/office/drawing/2014/main" id="{0E82262C-0AE2-4CA2-B38F-1C0FA0135D52}"/>
              </a:ext>
            </a:extLst>
          </p:cNvPr>
          <p:cNvSpPr txBox="1"/>
          <p:nvPr/>
        </p:nvSpPr>
        <p:spPr>
          <a:xfrm>
            <a:off x="119336" y="156929"/>
            <a:ext cx="4176464" cy="1346522"/>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a:solidFill>
                  <a:srgbClr val="FF0000"/>
                </a:solidFill>
                <a:latin typeface="OAKHCI+MicrosoftYaHei-Bold"/>
                <a:cs typeface="OAKHCI+MicrosoftYaHei-Bold"/>
              </a:rPr>
              <a:t>财务管控体系</a:t>
            </a:r>
          </a:p>
          <a:p>
            <a:pPr marL="1011237" marR="0">
              <a:lnSpc>
                <a:spcPts val="3339"/>
              </a:lnSpc>
              <a:spcBef>
                <a:spcPts val="3872"/>
              </a:spcBef>
              <a:spcAft>
                <a:spcPts val="0"/>
              </a:spcAft>
            </a:pPr>
            <a:r>
              <a:rPr lang="zh-CN" altLang="en-US" sz="2800" b="1" dirty="0">
                <a:solidFill>
                  <a:srgbClr val="000099"/>
                </a:solidFill>
                <a:highlight>
                  <a:srgbClr val="FFFF00"/>
                </a:highlight>
                <a:latin typeface="OAKHCI+MicrosoftYaHei-Bold"/>
                <a:cs typeface="OAKHCI+MicrosoftYaHei-Bold"/>
              </a:rPr>
              <a:t>五、研发项目管理</a:t>
            </a:r>
            <a:endParaRPr sz="2800" b="1" dirty="0">
              <a:solidFill>
                <a:srgbClr val="000099"/>
              </a:solidFill>
              <a:highlight>
                <a:srgbClr val="FFFF00"/>
              </a:highlight>
              <a:latin typeface="OAKHCI+MicrosoftYaHei-Bold"/>
              <a:cs typeface="OAKHCI+MicrosoftYaHei-Bold"/>
            </a:endParaRPr>
          </a:p>
        </p:txBody>
      </p:sp>
      <p:sp>
        <p:nvSpPr>
          <p:cNvPr id="9" name="箭头: 下 8">
            <a:extLst>
              <a:ext uri="{FF2B5EF4-FFF2-40B4-BE49-F238E27FC236}">
                <a16:creationId xmlns:a16="http://schemas.microsoft.com/office/drawing/2014/main" id="{EB33E272-035D-40A8-92A1-7BE85EACC16C}"/>
              </a:ext>
            </a:extLst>
          </p:cNvPr>
          <p:cNvSpPr/>
          <p:nvPr/>
        </p:nvSpPr>
        <p:spPr>
          <a:xfrm>
            <a:off x="1313420" y="3016004"/>
            <a:ext cx="318084" cy="5869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62C752B6-C46D-4708-A2F9-B0770BA43F17}"/>
              </a:ext>
            </a:extLst>
          </p:cNvPr>
          <p:cNvSpPr/>
          <p:nvPr/>
        </p:nvSpPr>
        <p:spPr>
          <a:xfrm>
            <a:off x="4943872" y="3140968"/>
            <a:ext cx="318084" cy="432048"/>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F578EF0E-2967-4F72-B187-48A0680620A0}"/>
              </a:ext>
            </a:extLst>
          </p:cNvPr>
          <p:cNvSpPr/>
          <p:nvPr/>
        </p:nvSpPr>
        <p:spPr>
          <a:xfrm>
            <a:off x="5057014" y="4377253"/>
            <a:ext cx="318084" cy="432048"/>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箭头: 右 1">
            <a:extLst>
              <a:ext uri="{FF2B5EF4-FFF2-40B4-BE49-F238E27FC236}">
                <a16:creationId xmlns:a16="http://schemas.microsoft.com/office/drawing/2014/main" id="{667476B6-0D5F-485C-8646-BD8F401E436A}"/>
              </a:ext>
            </a:extLst>
          </p:cNvPr>
          <p:cNvSpPr/>
          <p:nvPr/>
        </p:nvSpPr>
        <p:spPr>
          <a:xfrm>
            <a:off x="3334378" y="2631725"/>
            <a:ext cx="348172" cy="2195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1C147C6F-14E2-417D-B95E-7F9EF0DF7442}"/>
              </a:ext>
            </a:extLst>
          </p:cNvPr>
          <p:cNvSpPr/>
          <p:nvPr/>
        </p:nvSpPr>
        <p:spPr>
          <a:xfrm>
            <a:off x="3431704" y="3752647"/>
            <a:ext cx="324436" cy="184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690DCB07-D51A-40DA-B8F6-EC449FF22824}"/>
              </a:ext>
            </a:extLst>
          </p:cNvPr>
          <p:cNvSpPr/>
          <p:nvPr/>
        </p:nvSpPr>
        <p:spPr>
          <a:xfrm flipV="1">
            <a:off x="3431704" y="5022077"/>
            <a:ext cx="348172" cy="2195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bject 4">
            <a:extLst>
              <a:ext uri="{FF2B5EF4-FFF2-40B4-BE49-F238E27FC236}">
                <a16:creationId xmlns:a16="http://schemas.microsoft.com/office/drawing/2014/main" id="{A5032366-7C8A-4412-8406-9C35A2B5E0F3}"/>
              </a:ext>
            </a:extLst>
          </p:cNvPr>
          <p:cNvSpPr txBox="1"/>
          <p:nvPr/>
        </p:nvSpPr>
        <p:spPr>
          <a:xfrm>
            <a:off x="405003" y="4885663"/>
            <a:ext cx="3168352" cy="386003"/>
          </a:xfrm>
          <a:prstGeom prst="rect">
            <a:avLst/>
          </a:prstGeom>
        </p:spPr>
        <p:txBody>
          <a:bodyPr vert="horz" wrap="square" lIns="0" tIns="0" rIns="0" bIns="0" rtlCol="0">
            <a:spAutoFit/>
          </a:bodyPr>
          <a:lstStyle/>
          <a:p>
            <a:pPr marL="0" marR="0">
              <a:lnSpc>
                <a:spcPts val="3339"/>
              </a:lnSpc>
              <a:spcBef>
                <a:spcPts val="4397"/>
              </a:spcBef>
              <a:spcAft>
                <a:spcPts val="0"/>
              </a:spcAft>
            </a:pPr>
            <a:r>
              <a:rPr lang="en-US" altLang="zh-CN" sz="2400" dirty="0">
                <a:solidFill>
                  <a:srgbClr val="000099"/>
                </a:solidFill>
                <a:highlight>
                  <a:srgbClr val="FFFF00"/>
                </a:highlight>
                <a:latin typeface="PKMLHR+MicrosoftYaHei"/>
                <a:cs typeface="PKMLHR+MicrosoftYaHei"/>
              </a:rPr>
              <a:t>3 </a:t>
            </a:r>
            <a:r>
              <a:rPr lang="zh-CN" altLang="en-US" sz="2400" dirty="0">
                <a:solidFill>
                  <a:srgbClr val="000099"/>
                </a:solidFill>
                <a:highlight>
                  <a:srgbClr val="FFFF00"/>
                </a:highlight>
                <a:latin typeface="PKMLHR+MicrosoftYaHei"/>
                <a:cs typeface="PKMLHR+MicrosoftYaHei"/>
              </a:rPr>
              <a:t>多研发项目投入汇总</a:t>
            </a:r>
          </a:p>
        </p:txBody>
      </p:sp>
      <p:sp>
        <p:nvSpPr>
          <p:cNvPr id="20" name="object 4">
            <a:extLst>
              <a:ext uri="{FF2B5EF4-FFF2-40B4-BE49-F238E27FC236}">
                <a16:creationId xmlns:a16="http://schemas.microsoft.com/office/drawing/2014/main" id="{3C1F0F45-478A-433C-B187-29A75F419681}"/>
              </a:ext>
            </a:extLst>
          </p:cNvPr>
          <p:cNvSpPr txBox="1"/>
          <p:nvPr/>
        </p:nvSpPr>
        <p:spPr>
          <a:xfrm>
            <a:off x="335360" y="3637422"/>
            <a:ext cx="3168352" cy="386003"/>
          </a:xfrm>
          <a:prstGeom prst="rect">
            <a:avLst/>
          </a:prstGeom>
        </p:spPr>
        <p:txBody>
          <a:bodyPr vert="horz" wrap="square" lIns="0" tIns="0" rIns="0" bIns="0" rtlCol="0">
            <a:spAutoFit/>
          </a:bodyPr>
          <a:lstStyle/>
          <a:p>
            <a:pPr marL="12700" marR="0">
              <a:lnSpc>
                <a:spcPts val="3339"/>
              </a:lnSpc>
              <a:spcBef>
                <a:spcPts val="4692"/>
              </a:spcBef>
              <a:spcAft>
                <a:spcPts val="0"/>
              </a:spcAft>
            </a:pPr>
            <a:r>
              <a:rPr sz="2400" dirty="0">
                <a:solidFill>
                  <a:srgbClr val="000099"/>
                </a:solidFill>
                <a:highlight>
                  <a:srgbClr val="FFFF00"/>
                </a:highlight>
                <a:latin typeface="PKMLHR+MicrosoftYaHei"/>
                <a:cs typeface="PKMLHR+MicrosoftYaHei"/>
              </a:rPr>
              <a:t>2 </a:t>
            </a:r>
            <a:r>
              <a:rPr lang="zh-CN" altLang="en-US" sz="2400" dirty="0">
                <a:solidFill>
                  <a:srgbClr val="000099"/>
                </a:solidFill>
                <a:highlight>
                  <a:srgbClr val="FFFF00"/>
                </a:highlight>
                <a:latin typeface="PKMLHR+MicrosoftYaHei"/>
                <a:cs typeface="PKMLHR+MicrosoftYaHei"/>
              </a:rPr>
              <a:t>单研发项目投入明细</a:t>
            </a:r>
            <a:endParaRPr sz="2400" dirty="0">
              <a:solidFill>
                <a:srgbClr val="000099"/>
              </a:solidFill>
              <a:highlight>
                <a:srgbClr val="FFFF00"/>
              </a:highlight>
              <a:latin typeface="PKMLHR+MicrosoftYaHei"/>
              <a:cs typeface="PKMLHR+MicrosoftYaHei"/>
            </a:endParaRPr>
          </a:p>
        </p:txBody>
      </p:sp>
      <p:sp>
        <p:nvSpPr>
          <p:cNvPr id="21" name="箭头: 下 20">
            <a:extLst>
              <a:ext uri="{FF2B5EF4-FFF2-40B4-BE49-F238E27FC236}">
                <a16:creationId xmlns:a16="http://schemas.microsoft.com/office/drawing/2014/main" id="{E95B5054-B862-41B6-9B91-1BB08E99010A}"/>
              </a:ext>
            </a:extLst>
          </p:cNvPr>
          <p:cNvSpPr/>
          <p:nvPr/>
        </p:nvSpPr>
        <p:spPr>
          <a:xfrm>
            <a:off x="1385428" y="4161072"/>
            <a:ext cx="318084" cy="58694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6592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FF2B0BC-6425-4766-ABC3-E304B0E959F9}"/>
              </a:ext>
            </a:extLst>
          </p:cNvPr>
          <p:cNvSpPr txBox="1"/>
          <p:nvPr/>
        </p:nvSpPr>
        <p:spPr>
          <a:xfrm>
            <a:off x="33754" y="0"/>
            <a:ext cx="11246822" cy="461665"/>
          </a:xfrm>
          <a:prstGeom prst="rect">
            <a:avLst/>
          </a:prstGeom>
          <a:solidFill>
            <a:srgbClr val="FFFF00"/>
          </a:solidFill>
        </p:spPr>
        <p:txBody>
          <a:bodyPr wrap="square" rtlCol="0">
            <a:spAutoFit/>
          </a:bodyPr>
          <a:lstStyle/>
          <a:p>
            <a:r>
              <a:rPr lang="zh-CN" altLang="en-US" sz="2400" b="1" dirty="0">
                <a:solidFill>
                  <a:srgbClr val="FF0000"/>
                </a:solidFill>
              </a:rPr>
              <a:t>研发项目基础信息表</a:t>
            </a:r>
            <a:r>
              <a:rPr lang="en-US" altLang="zh-CN" sz="2400" b="1" dirty="0">
                <a:solidFill>
                  <a:srgbClr val="FF0000"/>
                </a:solidFill>
              </a:rPr>
              <a:t>5-1</a:t>
            </a:r>
            <a:r>
              <a:rPr lang="zh-CN" altLang="en-US" sz="2400" b="1" dirty="0">
                <a:solidFill>
                  <a:srgbClr val="FF0000"/>
                </a:solidFill>
              </a:rPr>
              <a:t>：立项、预算投入、研发团队、预期成果等</a:t>
            </a:r>
          </a:p>
        </p:txBody>
      </p:sp>
      <p:graphicFrame>
        <p:nvGraphicFramePr>
          <p:cNvPr id="3" name="表格 2">
            <a:extLst>
              <a:ext uri="{FF2B5EF4-FFF2-40B4-BE49-F238E27FC236}">
                <a16:creationId xmlns:a16="http://schemas.microsoft.com/office/drawing/2014/main" id="{15B7463C-C5A5-4A3C-A4D9-66D7D42BFEDF}"/>
              </a:ext>
            </a:extLst>
          </p:cNvPr>
          <p:cNvGraphicFramePr>
            <a:graphicFrameLocks noGrp="1"/>
          </p:cNvGraphicFramePr>
          <p:nvPr>
            <p:extLst>
              <p:ext uri="{D42A27DB-BD31-4B8C-83A1-F6EECF244321}">
                <p14:modId xmlns:p14="http://schemas.microsoft.com/office/powerpoint/2010/main" val="1030559236"/>
              </p:ext>
            </p:extLst>
          </p:nvPr>
        </p:nvGraphicFramePr>
        <p:xfrm>
          <a:off x="479376" y="491118"/>
          <a:ext cx="11089233" cy="5890211"/>
        </p:xfrm>
        <a:graphic>
          <a:graphicData uri="http://schemas.openxmlformats.org/drawingml/2006/table">
            <a:tbl>
              <a:tblPr>
                <a:tableStyleId>{5C22544A-7EE6-4342-B048-85BDC9FD1C3A}</a:tableStyleId>
              </a:tblPr>
              <a:tblGrid>
                <a:gridCol w="1049053">
                  <a:extLst>
                    <a:ext uri="{9D8B030D-6E8A-4147-A177-3AD203B41FA5}">
                      <a16:colId xmlns:a16="http://schemas.microsoft.com/office/drawing/2014/main" val="1154763284"/>
                    </a:ext>
                  </a:extLst>
                </a:gridCol>
                <a:gridCol w="1515299">
                  <a:extLst>
                    <a:ext uri="{9D8B030D-6E8A-4147-A177-3AD203B41FA5}">
                      <a16:colId xmlns:a16="http://schemas.microsoft.com/office/drawing/2014/main" val="2486053762"/>
                    </a:ext>
                  </a:extLst>
                </a:gridCol>
                <a:gridCol w="837124">
                  <a:extLst>
                    <a:ext uri="{9D8B030D-6E8A-4147-A177-3AD203B41FA5}">
                      <a16:colId xmlns:a16="http://schemas.microsoft.com/office/drawing/2014/main" val="2434527237"/>
                    </a:ext>
                  </a:extLst>
                </a:gridCol>
                <a:gridCol w="890106">
                  <a:extLst>
                    <a:ext uri="{9D8B030D-6E8A-4147-A177-3AD203B41FA5}">
                      <a16:colId xmlns:a16="http://schemas.microsoft.com/office/drawing/2014/main" val="759953694"/>
                    </a:ext>
                  </a:extLst>
                </a:gridCol>
                <a:gridCol w="837124">
                  <a:extLst>
                    <a:ext uri="{9D8B030D-6E8A-4147-A177-3AD203B41FA5}">
                      <a16:colId xmlns:a16="http://schemas.microsoft.com/office/drawing/2014/main" val="1636732379"/>
                    </a:ext>
                  </a:extLst>
                </a:gridCol>
                <a:gridCol w="2503421">
                  <a:extLst>
                    <a:ext uri="{9D8B030D-6E8A-4147-A177-3AD203B41FA5}">
                      <a16:colId xmlns:a16="http://schemas.microsoft.com/office/drawing/2014/main" val="3794164697"/>
                    </a:ext>
                  </a:extLst>
                </a:gridCol>
                <a:gridCol w="945737">
                  <a:extLst>
                    <a:ext uri="{9D8B030D-6E8A-4147-A177-3AD203B41FA5}">
                      <a16:colId xmlns:a16="http://schemas.microsoft.com/office/drawing/2014/main" val="2431642524"/>
                    </a:ext>
                  </a:extLst>
                </a:gridCol>
                <a:gridCol w="614596">
                  <a:extLst>
                    <a:ext uri="{9D8B030D-6E8A-4147-A177-3AD203B41FA5}">
                      <a16:colId xmlns:a16="http://schemas.microsoft.com/office/drawing/2014/main" val="3272234464"/>
                    </a:ext>
                  </a:extLst>
                </a:gridCol>
                <a:gridCol w="1896773">
                  <a:extLst>
                    <a:ext uri="{9D8B030D-6E8A-4147-A177-3AD203B41FA5}">
                      <a16:colId xmlns:a16="http://schemas.microsoft.com/office/drawing/2014/main" val="14331553"/>
                    </a:ext>
                  </a:extLst>
                </a:gridCol>
              </a:tblGrid>
              <a:tr h="431323">
                <a:tc gridSpan="9">
                  <a:txBody>
                    <a:bodyPr/>
                    <a:lstStyle/>
                    <a:p>
                      <a:pPr algn="ctr" fontAlgn="ctr"/>
                      <a:r>
                        <a:rPr lang="zh-CN" altLang="en-US" sz="700" u="none" strike="noStrike" dirty="0">
                          <a:effectLst/>
                        </a:rPr>
                        <a:t>昕彤赋能（长沙）研发项目基础信息表（基础档案）</a:t>
                      </a:r>
                      <a:endParaRPr lang="zh-CN" altLang="en-US" sz="700" b="1" i="0" u="none" strike="noStrike" dirty="0">
                        <a:solidFill>
                          <a:srgbClr val="000000"/>
                        </a:solidFill>
                        <a:effectLst/>
                        <a:latin typeface="等线" panose="02010600030101010101" pitchFamily="2" charset="-122"/>
                        <a:ea typeface="等线" panose="02010600030101010101" pitchFamily="2" charset="-122"/>
                      </a:endParaRPr>
                    </a:p>
                  </a:txBody>
                  <a:tcPr marL="4874" marR="4874" marT="487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9116558"/>
                  </a:ext>
                </a:extLst>
              </a:tr>
              <a:tr h="375002">
                <a:tc>
                  <a:txBody>
                    <a:bodyPr/>
                    <a:lstStyle/>
                    <a:p>
                      <a:pPr algn="ctr" fontAlgn="ctr"/>
                      <a:r>
                        <a:rPr lang="zh-CN" altLang="en-US" sz="600" u="none" strike="noStrike">
                          <a:effectLst/>
                        </a:rPr>
                        <a:t>项目编号</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项目名称</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立项日期</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计划完成日期</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项目负责人</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研发人员名单</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项目预算金额 </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项目状态</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备注</a:t>
                      </a:r>
                      <a:endParaRPr lang="zh-CN" altLang="en-US" sz="6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1642768129"/>
                  </a:ext>
                </a:extLst>
              </a:tr>
              <a:tr h="825569">
                <a:tc>
                  <a:txBody>
                    <a:bodyPr/>
                    <a:lstStyle/>
                    <a:p>
                      <a:pPr algn="ctr" fontAlgn="ctr"/>
                      <a:r>
                        <a:rPr lang="en-US" sz="600" u="none" strike="noStrike">
                          <a:effectLst/>
                        </a:rPr>
                        <a:t>YF-2025-001</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工业因果决策智能体云平台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2025/6/1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2025/12/31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皮直平 </a:t>
                      </a:r>
                      <a:br>
                        <a:rPr lang="zh-CN" altLang="en-US" sz="600" u="none" strike="noStrike">
                          <a:effectLst/>
                        </a:rPr>
                      </a:br>
                      <a:r>
                        <a:rPr lang="en-US" altLang="zh-CN" sz="600" u="none" strike="noStrike">
                          <a:effectLst/>
                        </a:rPr>
                        <a:t>13925213343</a:t>
                      </a:r>
                      <a:br>
                        <a:rPr lang="en-US" altLang="zh-CN" sz="600" u="none" strike="noStrike">
                          <a:effectLst/>
                        </a:rPr>
                      </a:br>
                      <a:r>
                        <a:rPr lang="en-US" altLang="zh-CN" sz="600" u="none" strike="noStrike">
                          <a:effectLst/>
                        </a:rPr>
                        <a:t>  </a:t>
                      </a:r>
                      <a:r>
                        <a:rPr lang="zh-CN" altLang="en-US" sz="600" u="none" strike="noStrike">
                          <a:effectLst/>
                        </a:rPr>
                        <a:t>颜建帮  </a:t>
                      </a:r>
                      <a:br>
                        <a:rPr lang="zh-CN" altLang="en-US" sz="600" u="none" strike="noStrike">
                          <a:effectLst/>
                        </a:rPr>
                      </a:br>
                      <a:r>
                        <a:rPr lang="en-US" altLang="zh-CN" sz="600" u="none" strike="noStrike">
                          <a:effectLst/>
                        </a:rPr>
                        <a:t>13728631617</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l" fontAlgn="ctr"/>
                      <a:r>
                        <a:rPr lang="zh-CN" altLang="en-US" sz="500" u="none" strike="noStrike">
                          <a:effectLst/>
                        </a:rPr>
                        <a:t>皮直平、李庭树、颜建帮、李帅辉、张水波、梁振武、杨金建、肖邵雷、张贵、王猛、罗梓亮、刘芯、晏兵、欧春辉、刘冷波、董瀚、卢桂林、黄驰、柏彬、柳博、刘露、皮细威、周辉、戴俊荣、申旭、赵章硕、张朝阳、刘波、唐宁湘、李浩、王迪、张干、秦梦、粟磊、李杨洋、梁兴宇、欧嘉薪、唐泽齐、顾家成、李湖、刘清、高宇鑫、刘润洋、秦龙川、高越、袁楚渝、陈伟毅</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已结束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l" fontAlgn="ctr"/>
                      <a:r>
                        <a:rPr lang="zh-CN" altLang="en-US" sz="500" u="none" strike="noStrike">
                          <a:effectLst/>
                        </a:rPr>
                        <a:t>核心指标</a:t>
                      </a:r>
                      <a:r>
                        <a:rPr lang="en-US" altLang="zh-CN" sz="500" u="none" strike="noStrike">
                          <a:effectLst/>
                        </a:rPr>
                        <a:t>:1.</a:t>
                      </a:r>
                      <a:r>
                        <a:rPr lang="zh-CN" altLang="en-US" sz="500" u="none" strike="noStrike">
                          <a:effectLst/>
                        </a:rPr>
                        <a:t>支持</a:t>
                      </a:r>
                      <a:r>
                        <a:rPr lang="en-US" altLang="zh-CN" sz="500" u="none" strike="noStrike">
                          <a:effectLst/>
                        </a:rPr>
                        <a:t>5+</a:t>
                      </a:r>
                      <a:r>
                        <a:rPr lang="zh-CN" altLang="en-US" sz="500" u="none" strike="noStrike">
                          <a:effectLst/>
                        </a:rPr>
                        <a:t>工业领域智能体自动生成</a:t>
                      </a:r>
                      <a:r>
                        <a:rPr lang="en-US" altLang="zh-CN" sz="500" u="none" strike="noStrike">
                          <a:effectLst/>
                        </a:rPr>
                        <a:t>(</a:t>
                      </a:r>
                      <a:r>
                        <a:rPr lang="zh-CN" altLang="en-US" sz="500" u="none" strike="noStrike">
                          <a:effectLst/>
                        </a:rPr>
                        <a:t>水务</a:t>
                      </a:r>
                      <a:r>
                        <a:rPr lang="en-US" altLang="zh-CN" sz="500" u="none" strike="noStrike">
                          <a:effectLst/>
                        </a:rPr>
                        <a:t>/</a:t>
                      </a:r>
                      <a:r>
                        <a:rPr lang="zh-CN" altLang="en-US" sz="500" u="none" strike="noStrike">
                          <a:effectLst/>
                        </a:rPr>
                        <a:t>化工</a:t>
                      </a:r>
                      <a:r>
                        <a:rPr lang="en-US" altLang="zh-CN" sz="500" u="none" strike="noStrike">
                          <a:effectLst/>
                        </a:rPr>
                        <a:t>/</a:t>
                      </a:r>
                      <a:r>
                        <a:rPr lang="zh-CN" altLang="en-US" sz="500" u="none" strike="noStrike">
                          <a:effectLst/>
                        </a:rPr>
                        <a:t>钢铁</a:t>
                      </a:r>
                      <a:r>
                        <a:rPr lang="en-US" altLang="zh-CN" sz="500" u="none" strike="noStrike">
                          <a:effectLst/>
                        </a:rPr>
                        <a:t>/</a:t>
                      </a:r>
                      <a:r>
                        <a:rPr lang="zh-CN" altLang="en-US" sz="500" u="none" strike="noStrike">
                          <a:effectLst/>
                        </a:rPr>
                        <a:t>煤炭</a:t>
                      </a:r>
                      <a:r>
                        <a:rPr lang="en-US" altLang="zh-CN" sz="500" u="none" strike="noStrike">
                          <a:effectLst/>
                        </a:rPr>
                        <a:t>/</a:t>
                      </a:r>
                      <a:r>
                        <a:rPr lang="zh-CN" altLang="en-US" sz="500" u="none" strike="noStrike">
                          <a:effectLst/>
                        </a:rPr>
                        <a:t>电力</a:t>
                      </a:r>
                      <a:r>
                        <a:rPr lang="en-US" altLang="zh-CN" sz="500" u="none" strike="noStrike">
                          <a:effectLst/>
                        </a:rPr>
                        <a:t>)2.</a:t>
                      </a:r>
                      <a:r>
                        <a:rPr lang="zh-CN" altLang="en-US" sz="500" u="none" strike="noStrike">
                          <a:effectLst/>
                        </a:rPr>
                        <a:t>智能体训练效率提升</a:t>
                      </a:r>
                      <a:r>
                        <a:rPr lang="en-US" altLang="zh-CN" sz="500" u="none" strike="noStrike">
                          <a:effectLst/>
                        </a:rPr>
                        <a:t>50%(</a:t>
                      </a:r>
                      <a:r>
                        <a:rPr lang="zh-CN" altLang="en-US" sz="500" u="none" strike="noStrike">
                          <a:effectLst/>
                        </a:rPr>
                        <a:t>对比传统强化学习</a:t>
                      </a:r>
                      <a:r>
                        <a:rPr lang="en-US" altLang="zh-CN" sz="500" u="none" strike="noStrike">
                          <a:effectLst/>
                        </a:rPr>
                        <a:t>)3.</a:t>
                      </a:r>
                      <a:r>
                        <a:rPr lang="zh-CN" altLang="en-US" sz="500" u="none" strike="noStrike">
                          <a:effectLst/>
                        </a:rPr>
                        <a:t>通过</a:t>
                      </a:r>
                      <a:r>
                        <a:rPr lang="en-US" altLang="zh-CN" sz="500" u="none" strike="noStrike">
                          <a:effectLst/>
                        </a:rPr>
                        <a:t>IS0 23247</a:t>
                      </a:r>
                      <a:r>
                        <a:rPr lang="zh-CN" altLang="en-US" sz="500" u="none" strike="noStrike">
                          <a:effectLst/>
                        </a:rPr>
                        <a:t>数字李生系统兼容性认证（已提交所有研发资料）</a:t>
                      </a:r>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1390778579"/>
                  </a:ext>
                </a:extLst>
              </a:tr>
              <a:tr h="515804">
                <a:tc>
                  <a:txBody>
                    <a:bodyPr/>
                    <a:lstStyle/>
                    <a:p>
                      <a:pPr algn="ctr" fontAlgn="ctr"/>
                      <a:r>
                        <a:rPr lang="en-US" sz="600" u="none" strike="noStrike">
                          <a:effectLst/>
                        </a:rPr>
                        <a:t>YF-2026-001</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混溟</a:t>
                      </a:r>
                      <a:r>
                        <a:rPr lang="en-US" sz="600" u="none" strike="noStrike">
                          <a:effectLst/>
                        </a:rPr>
                        <a:t>AI</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卢桂林</a:t>
                      </a:r>
                      <a:r>
                        <a:rPr lang="en-US" altLang="zh-CN" sz="600" u="none" strike="noStrike">
                          <a:effectLst/>
                        </a:rPr>
                        <a:t>18894145646</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梁振武、王猛、罗梓亮、董瀚、卢桂林、柳博、刘露、戴俊荣、申旭、赵章硕、张朝阳、张干、欧嘉薪、李湖、刘清</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2080000.00 </a:t>
                      </a:r>
                      <a:endParaRPr lang="en-US" altLang="zh-CN" sz="600" b="0" i="0" u="none" strike="noStrike">
                        <a:solidFill>
                          <a:srgbClr val="0F0F0F"/>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770798286"/>
                  </a:ext>
                </a:extLst>
              </a:tr>
              <a:tr h="515804">
                <a:tc>
                  <a:txBody>
                    <a:bodyPr/>
                    <a:lstStyle/>
                    <a:p>
                      <a:pPr algn="ctr" fontAlgn="ctr"/>
                      <a:r>
                        <a:rPr lang="en-US" sz="600" u="none" strike="noStrike">
                          <a:effectLst/>
                        </a:rPr>
                        <a:t>YF-2026-002</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sz="600" u="none" strike="noStrike">
                          <a:effectLst/>
                        </a:rPr>
                        <a:t>Veridix Cloud </a:t>
                      </a:r>
                      <a:r>
                        <a:rPr lang="zh-CN" altLang="en-US" sz="600" u="none" strike="noStrike">
                          <a:effectLst/>
                        </a:rPr>
                        <a:t>因果智能体云平台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卢桂林</a:t>
                      </a:r>
                      <a:r>
                        <a:rPr lang="en-US" altLang="zh-CN" sz="600" u="none" strike="noStrike">
                          <a:effectLst/>
                        </a:rPr>
                        <a:t>18894145646</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王猛、李湖、梁振武、董瀚、卢桂林、李庭树、张水波、罗梓亮、晏兵、申旭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1680000.00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2388267186"/>
                  </a:ext>
                </a:extLst>
              </a:tr>
              <a:tr h="515804">
                <a:tc>
                  <a:txBody>
                    <a:bodyPr/>
                    <a:lstStyle/>
                    <a:p>
                      <a:pPr algn="ctr" fontAlgn="ctr"/>
                      <a:r>
                        <a:rPr lang="en-US" sz="600" u="none" strike="noStrike">
                          <a:effectLst/>
                        </a:rPr>
                        <a:t>YF-2026-003</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可信数据空间与数据资产服务平台</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卢桂林</a:t>
                      </a:r>
                      <a:r>
                        <a:rPr lang="en-US" altLang="zh-CN" sz="600" u="none" strike="noStrike">
                          <a:effectLst/>
                        </a:rPr>
                        <a:t>18894145646</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梁振武、王猛、罗梓亮、董瀚、卢桂林、柳博、刘露、申旭、李湖、秦龙川</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1060000.00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322280807"/>
                  </a:ext>
                </a:extLst>
              </a:tr>
              <a:tr h="647689">
                <a:tc>
                  <a:txBody>
                    <a:bodyPr/>
                    <a:lstStyle/>
                    <a:p>
                      <a:pPr algn="ctr" fontAlgn="ctr"/>
                      <a:r>
                        <a:rPr lang="en-US" sz="600" u="none" strike="noStrike">
                          <a:effectLst/>
                        </a:rPr>
                        <a:t>YF-2026-004</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基于多智能体协同与因果推断的泛工业工艺智控关键技术研究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2026/1/2</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颜建帮</a:t>
                      </a:r>
                      <a:r>
                        <a:rPr lang="en-US" altLang="zh-CN" sz="600" u="none" strike="noStrike">
                          <a:effectLst/>
                        </a:rPr>
                        <a:t>13728631617</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皮直平、李庭树、颜建帮、李帅辉、张水波、梁振武、肖邵雷、王猛、李浩、罗梓亮、刘芯、晏兵、董瀚、黄驰、皮细威、周辉、王迪、秦梦、李杨洋、梁兴宇、杨金建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1500000.00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3395274272"/>
                  </a:ext>
                </a:extLst>
              </a:tr>
              <a:tr h="515804">
                <a:tc>
                  <a:txBody>
                    <a:bodyPr/>
                    <a:lstStyle/>
                    <a:p>
                      <a:pPr algn="ctr" fontAlgn="ctr"/>
                      <a:r>
                        <a:rPr lang="en-US" sz="600" u="none" strike="noStrike">
                          <a:effectLst/>
                        </a:rPr>
                        <a:t>YF-2026-005</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基于大语言模型与物联网网关的工业智能监控与报警分析关键技术研究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2026/1/3</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2028/1/1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颜建帮</a:t>
                      </a:r>
                      <a:r>
                        <a:rPr lang="en-US" altLang="zh-CN" sz="600" u="none" strike="noStrike">
                          <a:effectLst/>
                        </a:rPr>
                        <a:t>13728631617</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皮直平、颜建帮、张水波、肖邵雷、罗梓亮、晏兵、董瀚、黄驰、周辉、杨金建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900000.00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846543731"/>
                  </a:ext>
                </a:extLst>
              </a:tr>
              <a:tr h="515804">
                <a:tc>
                  <a:txBody>
                    <a:bodyPr/>
                    <a:lstStyle/>
                    <a:p>
                      <a:pPr algn="ctr" fontAlgn="ctr"/>
                      <a:r>
                        <a:rPr lang="en-US" sz="600" u="none" strike="noStrike">
                          <a:effectLst/>
                        </a:rPr>
                        <a:t>YF-2026-006</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基于数字孪生的工业监控多源数据融合与实时可视化关键技术研究</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颜建帮</a:t>
                      </a:r>
                      <a:r>
                        <a:rPr lang="en-US" altLang="zh-CN" sz="600" u="none" strike="noStrike">
                          <a:effectLst/>
                        </a:rPr>
                        <a:t>13728631617</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皮直平、颜建帮、王猛、罗梓亮、刘芯、晏兵、董瀚、李湖、杨金建</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800000.00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2035469647"/>
                  </a:ext>
                </a:extLst>
              </a:tr>
              <a:tr h="515804">
                <a:tc>
                  <a:txBody>
                    <a:bodyPr/>
                    <a:lstStyle/>
                    <a:p>
                      <a:pPr algn="ctr" fontAlgn="ctr"/>
                      <a:r>
                        <a:rPr lang="en-US" sz="600" u="none" strike="noStrike">
                          <a:effectLst/>
                        </a:rPr>
                        <a:t>YF-2026-007</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剑企</a:t>
                      </a:r>
                      <a:r>
                        <a:rPr lang="en-US" altLang="zh-CN" sz="600" u="none" strike="noStrike">
                          <a:effectLst/>
                        </a:rPr>
                        <a:t>®</a:t>
                      </a:r>
                      <a:r>
                        <a:rPr lang="en-US" sz="600" u="none" strike="noStrike">
                          <a:effectLst/>
                        </a:rPr>
                        <a:t>AI-OS（W-2）</a:t>
                      </a:r>
                      <a:r>
                        <a:rPr lang="zh-CN" altLang="en-US" sz="600" u="none" strike="noStrike">
                          <a:effectLst/>
                        </a:rPr>
                        <a:t>生产智管操作系统</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张贵    </a:t>
                      </a:r>
                      <a:r>
                        <a:rPr lang="en-US" altLang="zh-CN" sz="600" u="none" strike="noStrike">
                          <a:effectLst/>
                        </a:rPr>
                        <a:t>15920068078</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张贵、欧春辉、柏彬、李帅辉、刘芯、梁振武、李杨洋、柳博</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2378000.00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a:effectLst/>
                        </a:rPr>
                        <a:t>已提交立项资料，已补充</a:t>
                      </a:r>
                      <a:r>
                        <a:rPr lang="en-US" altLang="zh-CN" sz="500" u="none" strike="noStrike">
                          <a:effectLst/>
                        </a:rPr>
                        <a:t>2026.1</a:t>
                      </a:r>
                      <a:r>
                        <a:rPr lang="zh-CN" altLang="en-US" sz="500" u="none" strike="noStrike">
                          <a:effectLst/>
                        </a:rPr>
                        <a:t>月</a:t>
                      </a:r>
                      <a:r>
                        <a:rPr lang="en-US" altLang="zh-CN" sz="500" u="none" strike="noStrike">
                          <a:effectLst/>
                        </a:rPr>
                        <a:t>-2026.3</a:t>
                      </a:r>
                      <a:r>
                        <a:rPr lang="zh-CN" altLang="en-US" sz="500" u="none" strike="noStrike">
                          <a:effectLst/>
                        </a:rPr>
                        <a:t>月</a:t>
                      </a:r>
                      <a:r>
                        <a:rPr lang="en-US" altLang="zh-CN" sz="500" u="none" strike="noStrike">
                          <a:effectLst/>
                        </a:rPr>
                        <a:t>《</a:t>
                      </a:r>
                      <a:r>
                        <a:rPr lang="zh-CN" altLang="en-US" sz="500" u="none" strike="noStrike">
                          <a:effectLst/>
                        </a:rPr>
                        <a:t>研发投入明细表</a:t>
                      </a:r>
                      <a:r>
                        <a:rPr lang="en-US" altLang="zh-CN" sz="500" u="none" strike="noStrike">
                          <a:effectLst/>
                        </a:rPr>
                        <a:t>》</a:t>
                      </a:r>
                      <a:endParaRPr lang="en-US" altLang="zh-CN" sz="500" b="1"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1038872614"/>
                  </a:ext>
                </a:extLst>
              </a:tr>
              <a:tr h="515804">
                <a:tc>
                  <a:txBody>
                    <a:bodyPr/>
                    <a:lstStyle/>
                    <a:p>
                      <a:pPr algn="ctr" fontAlgn="ctr"/>
                      <a:r>
                        <a:rPr lang="en-US" sz="600" u="none" strike="noStrike">
                          <a:effectLst/>
                        </a:rPr>
                        <a:t>YF-2026-008</a:t>
                      </a:r>
                      <a:endParaRPr 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sz="600" u="none" strike="noStrike">
                          <a:effectLst/>
                        </a:rPr>
                        <a:t>PMS</a:t>
                      </a:r>
                      <a:r>
                        <a:rPr lang="zh-CN" altLang="en-US" sz="600" u="none" strike="noStrike">
                          <a:effectLst/>
                        </a:rPr>
                        <a:t>业财一体化</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2026/1/1</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2027/12/30</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张贵    </a:t>
                      </a:r>
                      <a:r>
                        <a:rPr lang="en-US" altLang="zh-CN" sz="600" u="none" strike="noStrike">
                          <a:effectLst/>
                        </a:rPr>
                        <a:t>15920068078</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张贵、欧春辉、柏彬、李帅辉、刘芯、罗梓亮、柳博</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en-US" altLang="zh-CN" sz="600" u="none" strike="noStrike">
                          <a:effectLst/>
                        </a:rPr>
                        <a:t>1352000.00 </a:t>
                      </a:r>
                      <a:endParaRPr lang="en-US" altLang="zh-CN"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600" u="none" strike="noStrike">
                          <a:effectLst/>
                        </a:rPr>
                        <a:t>研发中</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4874" marR="4874" marT="4874" marB="0" anchor="ctr"/>
                </a:tc>
                <a:tc>
                  <a:txBody>
                    <a:bodyPr/>
                    <a:lstStyle/>
                    <a:p>
                      <a:pPr algn="ctr" fontAlgn="ctr"/>
                      <a:r>
                        <a:rPr lang="zh-CN" altLang="en-US" sz="500" u="none" strike="noStrike" dirty="0">
                          <a:effectLst/>
                        </a:rPr>
                        <a:t>已提交立项资料，已补充</a:t>
                      </a:r>
                      <a:r>
                        <a:rPr lang="en-US" altLang="zh-CN" sz="500" u="none" strike="noStrike" dirty="0">
                          <a:effectLst/>
                        </a:rPr>
                        <a:t>2026.1</a:t>
                      </a:r>
                      <a:r>
                        <a:rPr lang="zh-CN" altLang="en-US" sz="500" u="none" strike="noStrike" dirty="0">
                          <a:effectLst/>
                        </a:rPr>
                        <a:t>月</a:t>
                      </a:r>
                      <a:r>
                        <a:rPr lang="en-US" altLang="zh-CN" sz="500" u="none" strike="noStrike" dirty="0">
                          <a:effectLst/>
                        </a:rPr>
                        <a:t>-2026.3</a:t>
                      </a:r>
                      <a:r>
                        <a:rPr lang="zh-CN" altLang="en-US" sz="500" u="none" strike="noStrike" dirty="0">
                          <a:effectLst/>
                        </a:rPr>
                        <a:t>月</a:t>
                      </a:r>
                      <a:r>
                        <a:rPr lang="en-US" altLang="zh-CN" sz="500" u="none" strike="noStrike" dirty="0">
                          <a:effectLst/>
                        </a:rPr>
                        <a:t>《</a:t>
                      </a:r>
                      <a:r>
                        <a:rPr lang="zh-CN" altLang="en-US" sz="500" u="none" strike="noStrike" dirty="0">
                          <a:effectLst/>
                        </a:rPr>
                        <a:t>研发投入明细表</a:t>
                      </a:r>
                      <a:r>
                        <a:rPr lang="en-US" altLang="zh-CN" sz="500" u="none" strike="noStrike" dirty="0">
                          <a:effectLst/>
                        </a:rPr>
                        <a:t>》</a:t>
                      </a:r>
                      <a:endParaRPr lang="en-US" altLang="zh-CN" sz="500" b="1" i="0" u="none" strike="noStrike" dirty="0">
                        <a:solidFill>
                          <a:srgbClr val="000000"/>
                        </a:solidFill>
                        <a:effectLst/>
                        <a:latin typeface="等线" panose="02010600030101010101" pitchFamily="2" charset="-122"/>
                        <a:ea typeface="等线" panose="02010600030101010101" pitchFamily="2" charset="-122"/>
                      </a:endParaRPr>
                    </a:p>
                  </a:txBody>
                  <a:tcPr marL="4874" marR="4874" marT="4874" marB="0" anchor="ctr"/>
                </a:tc>
                <a:extLst>
                  <a:ext uri="{0D108BD9-81ED-4DB2-BD59-A6C34878D82A}">
                    <a16:rowId xmlns:a16="http://schemas.microsoft.com/office/drawing/2014/main" val="2486453152"/>
                  </a:ext>
                </a:extLst>
              </a:tr>
            </a:tbl>
          </a:graphicData>
        </a:graphic>
      </p:graphicFrame>
    </p:spTree>
    <p:extLst>
      <p:ext uri="{BB962C8B-B14F-4D97-AF65-F5344CB8AC3E}">
        <p14:creationId xmlns:p14="http://schemas.microsoft.com/office/powerpoint/2010/main" val="15379481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9C0AA9-F8B5-42FB-820A-CCD8DF2A800B}"/>
              </a:ext>
            </a:extLst>
          </p:cNvPr>
          <p:cNvSpPr txBox="1"/>
          <p:nvPr/>
        </p:nvSpPr>
        <p:spPr>
          <a:xfrm>
            <a:off x="0" y="0"/>
            <a:ext cx="6960096" cy="461665"/>
          </a:xfrm>
          <a:prstGeom prst="rect">
            <a:avLst/>
          </a:prstGeom>
          <a:solidFill>
            <a:srgbClr val="FFFF00"/>
          </a:solidFill>
        </p:spPr>
        <p:txBody>
          <a:bodyPr wrap="square" rtlCol="0">
            <a:spAutoFit/>
          </a:bodyPr>
          <a:lstStyle/>
          <a:p>
            <a:r>
              <a:rPr lang="zh-CN" altLang="en-US" sz="2400" b="1" dirty="0">
                <a:solidFill>
                  <a:srgbClr val="FF0000"/>
                </a:solidFill>
              </a:rPr>
              <a:t>单研发项目月投入明细表</a:t>
            </a:r>
            <a:r>
              <a:rPr lang="en-US" altLang="zh-CN" sz="2400" b="1" dirty="0">
                <a:solidFill>
                  <a:srgbClr val="FF0000"/>
                </a:solidFill>
              </a:rPr>
              <a:t>5-2-1</a:t>
            </a:r>
            <a:r>
              <a:rPr lang="zh-CN" altLang="en-US" sz="2400" b="1" dirty="0">
                <a:solidFill>
                  <a:srgbClr val="FF0000"/>
                </a:solidFill>
              </a:rPr>
              <a:t>：人工工时投入</a:t>
            </a:r>
          </a:p>
        </p:txBody>
      </p:sp>
      <p:graphicFrame>
        <p:nvGraphicFramePr>
          <p:cNvPr id="3" name="表格 2">
            <a:extLst>
              <a:ext uri="{FF2B5EF4-FFF2-40B4-BE49-F238E27FC236}">
                <a16:creationId xmlns:a16="http://schemas.microsoft.com/office/drawing/2014/main" id="{F6534665-EEC2-4858-8DB7-2EC5C2B0616F}"/>
              </a:ext>
            </a:extLst>
          </p:cNvPr>
          <p:cNvGraphicFramePr>
            <a:graphicFrameLocks noGrp="1"/>
          </p:cNvGraphicFramePr>
          <p:nvPr/>
        </p:nvGraphicFramePr>
        <p:xfrm>
          <a:off x="695400" y="548680"/>
          <a:ext cx="10250470" cy="5687324"/>
        </p:xfrm>
        <a:graphic>
          <a:graphicData uri="http://schemas.openxmlformats.org/drawingml/2006/table">
            <a:tbl>
              <a:tblPr>
                <a:tableStyleId>{5C22544A-7EE6-4342-B048-85BDC9FD1C3A}</a:tableStyleId>
              </a:tblPr>
              <a:tblGrid>
                <a:gridCol w="397449">
                  <a:extLst>
                    <a:ext uri="{9D8B030D-6E8A-4147-A177-3AD203B41FA5}">
                      <a16:colId xmlns:a16="http://schemas.microsoft.com/office/drawing/2014/main" val="3666353167"/>
                    </a:ext>
                  </a:extLst>
                </a:gridCol>
                <a:gridCol w="1349476">
                  <a:extLst>
                    <a:ext uri="{9D8B030D-6E8A-4147-A177-3AD203B41FA5}">
                      <a16:colId xmlns:a16="http://schemas.microsoft.com/office/drawing/2014/main" val="908728308"/>
                    </a:ext>
                  </a:extLst>
                </a:gridCol>
                <a:gridCol w="545336">
                  <a:extLst>
                    <a:ext uri="{9D8B030D-6E8A-4147-A177-3AD203B41FA5}">
                      <a16:colId xmlns:a16="http://schemas.microsoft.com/office/drawing/2014/main" val="2039843241"/>
                    </a:ext>
                  </a:extLst>
                </a:gridCol>
                <a:gridCol w="1506605">
                  <a:extLst>
                    <a:ext uri="{9D8B030D-6E8A-4147-A177-3AD203B41FA5}">
                      <a16:colId xmlns:a16="http://schemas.microsoft.com/office/drawing/2014/main" val="3128695047"/>
                    </a:ext>
                  </a:extLst>
                </a:gridCol>
                <a:gridCol w="1330990">
                  <a:extLst>
                    <a:ext uri="{9D8B030D-6E8A-4147-A177-3AD203B41FA5}">
                      <a16:colId xmlns:a16="http://schemas.microsoft.com/office/drawing/2014/main" val="130892119"/>
                    </a:ext>
                  </a:extLst>
                </a:gridCol>
                <a:gridCol w="1654494">
                  <a:extLst>
                    <a:ext uri="{9D8B030D-6E8A-4147-A177-3AD203B41FA5}">
                      <a16:colId xmlns:a16="http://schemas.microsoft.com/office/drawing/2014/main" val="466353795"/>
                    </a:ext>
                  </a:extLst>
                </a:gridCol>
                <a:gridCol w="2763653">
                  <a:extLst>
                    <a:ext uri="{9D8B030D-6E8A-4147-A177-3AD203B41FA5}">
                      <a16:colId xmlns:a16="http://schemas.microsoft.com/office/drawing/2014/main" val="3593544408"/>
                    </a:ext>
                  </a:extLst>
                </a:gridCol>
                <a:gridCol w="702467">
                  <a:extLst>
                    <a:ext uri="{9D8B030D-6E8A-4147-A177-3AD203B41FA5}">
                      <a16:colId xmlns:a16="http://schemas.microsoft.com/office/drawing/2014/main" val="1100734933"/>
                    </a:ext>
                  </a:extLst>
                </a:gridCol>
              </a:tblGrid>
              <a:tr h="136735">
                <a:tc rowSpan="2" gridSpan="6">
                  <a:txBody>
                    <a:bodyPr/>
                    <a:lstStyle/>
                    <a:p>
                      <a:pPr algn="ctr" fontAlgn="ctr"/>
                      <a:r>
                        <a:rPr lang="en-US" altLang="zh-CN" sz="600" u="none" strike="noStrike" dirty="0">
                          <a:effectLst/>
                        </a:rPr>
                        <a:t>4.1.1 </a:t>
                      </a:r>
                      <a:r>
                        <a:rPr lang="zh-CN" altLang="en-US" sz="600" u="none" strike="noStrike" dirty="0">
                          <a:effectLst/>
                        </a:rPr>
                        <a:t>研发人员工时投入统计表</a:t>
                      </a:r>
                      <a:endParaRPr lang="zh-CN" altLang="en-US" sz="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gridSpan="2">
                  <a:txBody>
                    <a:bodyPr/>
                    <a:lstStyle/>
                    <a:p>
                      <a:pPr algn="ctr" fontAlgn="ctr"/>
                      <a:r>
                        <a:rPr lang="zh-CN" altLang="en-US" sz="600" u="none" strike="noStrike">
                          <a:effectLst/>
                        </a:rPr>
                        <a:t>费用期间</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hMerge="1">
                  <a:txBody>
                    <a:bodyPr/>
                    <a:lstStyle/>
                    <a:p>
                      <a:endParaRPr lang="zh-CN" altLang="en-US"/>
                    </a:p>
                  </a:txBody>
                  <a:tcPr/>
                </a:tc>
                <a:extLst>
                  <a:ext uri="{0D108BD9-81ED-4DB2-BD59-A6C34878D82A}">
                    <a16:rowId xmlns:a16="http://schemas.microsoft.com/office/drawing/2014/main" val="771346461"/>
                  </a:ext>
                </a:extLst>
              </a:tr>
              <a:tr h="136735">
                <a:tc gridSpan="6"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en-US" altLang="zh-CN" sz="600" u="none" strike="noStrike">
                          <a:effectLst/>
                        </a:rPr>
                        <a:t>2026</a:t>
                      </a:r>
                      <a:r>
                        <a:rPr lang="zh-CN" altLang="en-US" sz="600" u="none" strike="noStrike">
                          <a:effectLst/>
                        </a:rPr>
                        <a:t>年</a:t>
                      </a:r>
                      <a:r>
                        <a:rPr lang="en-US" altLang="zh-CN" sz="600" u="none" strike="noStrike">
                          <a:effectLst/>
                        </a:rPr>
                        <a:t>1</a:t>
                      </a:r>
                      <a:r>
                        <a:rPr lang="zh-CN" altLang="en-US" sz="600" u="none" strike="noStrike">
                          <a:effectLst/>
                        </a:rPr>
                        <a:t>月</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hMerge="1">
                  <a:txBody>
                    <a:bodyPr/>
                    <a:lstStyle/>
                    <a:p>
                      <a:endParaRPr lang="zh-CN" altLang="en-US"/>
                    </a:p>
                  </a:txBody>
                  <a:tcPr/>
                </a:tc>
                <a:extLst>
                  <a:ext uri="{0D108BD9-81ED-4DB2-BD59-A6C34878D82A}">
                    <a16:rowId xmlns:a16="http://schemas.microsoft.com/office/drawing/2014/main" val="157157061"/>
                  </a:ext>
                </a:extLst>
              </a:tr>
              <a:tr h="136735">
                <a:tc gridSpan="2">
                  <a:txBody>
                    <a:bodyPr/>
                    <a:lstStyle/>
                    <a:p>
                      <a:pPr algn="ctr" fontAlgn="ctr"/>
                      <a:r>
                        <a:rPr lang="zh-CN" altLang="en-US" sz="600" u="none" strike="noStrike">
                          <a:effectLst/>
                        </a:rPr>
                        <a:t>研发项目（课题）编号：</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hMerge="1">
                  <a:txBody>
                    <a:bodyPr/>
                    <a:lstStyle/>
                    <a:p>
                      <a:endParaRPr lang="zh-CN" altLang="en-US"/>
                    </a:p>
                  </a:txBody>
                  <a:tcPr/>
                </a:tc>
                <a:tc gridSpan="2">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hMerge="1">
                  <a:txBody>
                    <a:bodyPr/>
                    <a:lstStyle/>
                    <a:p>
                      <a:endParaRPr lang="zh-CN" altLang="en-US"/>
                    </a:p>
                  </a:txBody>
                  <a:tcPr/>
                </a:tc>
                <a:tc>
                  <a:txBody>
                    <a:bodyPr/>
                    <a:lstStyle/>
                    <a:p>
                      <a:pPr algn="ctr" fontAlgn="ctr"/>
                      <a:r>
                        <a:rPr lang="zh-CN" altLang="en-US" sz="600" u="none" strike="noStrike">
                          <a:effectLst/>
                        </a:rPr>
                        <a:t>研发项目（课题）名称：</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gridSpan="3">
                  <a:txBody>
                    <a:bodyPr/>
                    <a:lstStyle/>
                    <a:p>
                      <a:pPr algn="l" fontAlgn="ctr"/>
                      <a:r>
                        <a:rPr lang="zh-CN" altLang="en-US" sz="600" u="none" strike="noStrike">
                          <a:effectLst/>
                        </a:rPr>
                        <a:t>　</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34542646"/>
                  </a:ext>
                </a:extLst>
              </a:tr>
              <a:tr h="136735">
                <a:tc>
                  <a:txBody>
                    <a:bodyPr/>
                    <a:lstStyle/>
                    <a:p>
                      <a:pPr algn="ctr" fontAlgn="ctr"/>
                      <a:r>
                        <a:rPr lang="zh-CN" altLang="en-US" sz="600" u="none" strike="noStrike">
                          <a:effectLst/>
                        </a:rPr>
                        <a:t>序号</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所属项目（部门）</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姓名</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项目（课题）组职位</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当月总工时（天）</a:t>
                      </a:r>
                      <a:endParaRPr lang="zh-CN" altLang="en-US" sz="600" b="1" i="0" u="none" strike="noStrike">
                        <a:solidFill>
                          <a:srgbClr val="C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当月研发活动投入工时（天）</a:t>
                      </a:r>
                      <a:endParaRPr lang="zh-CN" altLang="en-US" sz="600" b="1" i="0" u="none" strike="noStrike">
                        <a:solidFill>
                          <a:srgbClr val="C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当月研发活动主要工作内容</a:t>
                      </a:r>
                      <a:endParaRPr lang="zh-CN" altLang="en-US" sz="600" b="1" i="0" u="none" strike="noStrike">
                        <a:solidFill>
                          <a:srgbClr val="C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r>
                        <a:rPr lang="zh-CN" altLang="en-US" sz="600" u="none" strike="noStrike">
                          <a:effectLst/>
                        </a:rPr>
                        <a:t>备注</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6135" marR="6135" marT="6135" marB="0" anchor="ctr"/>
                </a:tc>
                <a:extLst>
                  <a:ext uri="{0D108BD9-81ED-4DB2-BD59-A6C34878D82A}">
                    <a16:rowId xmlns:a16="http://schemas.microsoft.com/office/drawing/2014/main" val="2162597353"/>
                  </a:ext>
                </a:extLst>
              </a:tr>
              <a:tr h="105658">
                <a:tc>
                  <a:txBody>
                    <a:bodyPr/>
                    <a:lstStyle/>
                    <a:p>
                      <a:pPr algn="ctr" fontAlgn="ctr"/>
                      <a:r>
                        <a:rPr lang="en-US" altLang="zh-CN" sz="600" u="none" strike="noStrike">
                          <a:effectLst/>
                        </a:rPr>
                        <a:t>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皮直平</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项目管理</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en-US" altLang="zh-CN" sz="600" u="none" strike="noStrike">
                          <a:effectLst/>
                        </a:rPr>
                        <a:t>21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智能生物池相关研究</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346923929"/>
                  </a:ext>
                </a:extLst>
              </a:tr>
              <a:tr h="105658">
                <a:tc>
                  <a:txBody>
                    <a:bodyPr/>
                    <a:lstStyle/>
                    <a:p>
                      <a:pPr algn="ctr" fontAlgn="ctr"/>
                      <a:r>
                        <a:rPr lang="en-US" altLang="zh-CN" sz="600" u="none" strike="noStrike">
                          <a:effectLst/>
                        </a:rPr>
                        <a:t>2</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李庭树</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软件开发</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协助完成智能生物池相关研究</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75478853"/>
                  </a:ext>
                </a:extLst>
              </a:tr>
              <a:tr h="105658">
                <a:tc>
                  <a:txBody>
                    <a:bodyPr/>
                    <a:lstStyle/>
                    <a:p>
                      <a:pPr algn="ctr" fontAlgn="ctr"/>
                      <a:r>
                        <a:rPr lang="en-US" altLang="zh-CN" sz="600" u="none" strike="noStrike">
                          <a:effectLst/>
                        </a:rPr>
                        <a:t>3</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产品部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颜建帮</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软件测试</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017557834"/>
                  </a:ext>
                </a:extLst>
              </a:tr>
              <a:tr h="133834">
                <a:tc>
                  <a:txBody>
                    <a:bodyPr/>
                    <a:lstStyle/>
                    <a:p>
                      <a:pPr algn="ctr" fontAlgn="ctr"/>
                      <a:r>
                        <a:rPr lang="en-US" altLang="zh-CN" sz="600" u="none" strike="noStrike">
                          <a:effectLst/>
                        </a:rPr>
                        <a:t>4</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李帅辉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760563400"/>
                  </a:ext>
                </a:extLst>
              </a:tr>
              <a:tr h="133834">
                <a:tc>
                  <a:txBody>
                    <a:bodyPr/>
                    <a:lstStyle/>
                    <a:p>
                      <a:pPr algn="ctr" fontAlgn="ctr"/>
                      <a:r>
                        <a:rPr lang="en-US" altLang="zh-CN" sz="600" u="none" strike="noStrike">
                          <a:effectLst/>
                        </a:rPr>
                        <a:t>5</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梁振武</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843568773"/>
                  </a:ext>
                </a:extLst>
              </a:tr>
              <a:tr h="133834">
                <a:tc>
                  <a:txBody>
                    <a:bodyPr/>
                    <a:lstStyle/>
                    <a:p>
                      <a:pPr algn="ctr" fontAlgn="ctr"/>
                      <a:r>
                        <a:rPr lang="en-US" altLang="zh-CN" sz="600" u="none" strike="noStrike">
                          <a:effectLst/>
                        </a:rPr>
                        <a:t>6</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杨金建</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305232464"/>
                  </a:ext>
                </a:extLst>
              </a:tr>
              <a:tr h="133834">
                <a:tc>
                  <a:txBody>
                    <a:bodyPr/>
                    <a:lstStyle/>
                    <a:p>
                      <a:pPr algn="ctr" fontAlgn="ctr"/>
                      <a:r>
                        <a:rPr lang="en-US" altLang="zh-CN" sz="600" u="none" strike="noStrike">
                          <a:effectLst/>
                        </a:rPr>
                        <a:t>7</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产品部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张贵</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662918632"/>
                  </a:ext>
                </a:extLst>
              </a:tr>
              <a:tr h="133834">
                <a:tc>
                  <a:txBody>
                    <a:bodyPr/>
                    <a:lstStyle/>
                    <a:p>
                      <a:pPr algn="ctr" fontAlgn="ctr"/>
                      <a:r>
                        <a:rPr lang="en-US" altLang="zh-CN" sz="600" u="none" strike="noStrike">
                          <a:effectLst/>
                        </a:rPr>
                        <a:t>8</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王猛</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849089356"/>
                  </a:ext>
                </a:extLst>
              </a:tr>
              <a:tr h="133834">
                <a:tc>
                  <a:txBody>
                    <a:bodyPr/>
                    <a:lstStyle/>
                    <a:p>
                      <a:pPr algn="ctr" fontAlgn="ctr"/>
                      <a:r>
                        <a:rPr lang="en-US" altLang="zh-CN" sz="600" u="none" strike="noStrike">
                          <a:effectLst/>
                        </a:rPr>
                        <a:t>9</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测试部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罗梓亮</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4038451798"/>
                  </a:ext>
                </a:extLst>
              </a:tr>
              <a:tr h="133834">
                <a:tc>
                  <a:txBody>
                    <a:bodyPr/>
                    <a:lstStyle/>
                    <a:p>
                      <a:pPr algn="ctr" fontAlgn="ctr"/>
                      <a:r>
                        <a:rPr lang="en-US" altLang="zh-CN" sz="600" u="none" strike="noStrike">
                          <a:effectLst/>
                        </a:rPr>
                        <a:t>10</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刘芯</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58994964"/>
                  </a:ext>
                </a:extLst>
              </a:tr>
              <a:tr h="133834">
                <a:tc>
                  <a:txBody>
                    <a:bodyPr/>
                    <a:lstStyle/>
                    <a:p>
                      <a:pPr algn="ctr" fontAlgn="ctr"/>
                      <a:r>
                        <a:rPr lang="en-US" altLang="zh-CN" sz="600" u="none" strike="noStrike">
                          <a:effectLst/>
                        </a:rPr>
                        <a:t>11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晏兵</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937951796"/>
                  </a:ext>
                </a:extLst>
              </a:tr>
              <a:tr h="133834">
                <a:tc>
                  <a:txBody>
                    <a:bodyPr/>
                    <a:lstStyle/>
                    <a:p>
                      <a:pPr algn="ctr" fontAlgn="ctr"/>
                      <a:r>
                        <a:rPr lang="en-US" altLang="zh-CN" sz="600" u="none" strike="noStrike">
                          <a:effectLst/>
                        </a:rPr>
                        <a:t>12</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欧春辉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4039040108"/>
                  </a:ext>
                </a:extLst>
              </a:tr>
              <a:tr h="133834">
                <a:tc>
                  <a:txBody>
                    <a:bodyPr/>
                    <a:lstStyle/>
                    <a:p>
                      <a:pPr algn="ctr" fontAlgn="ctr"/>
                      <a:r>
                        <a:rPr lang="en-US" altLang="zh-CN" sz="600" u="none" strike="noStrike">
                          <a:effectLst/>
                        </a:rPr>
                        <a:t>13</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产品部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董瀚</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608991980"/>
                  </a:ext>
                </a:extLst>
              </a:tr>
              <a:tr h="133834">
                <a:tc>
                  <a:txBody>
                    <a:bodyPr/>
                    <a:lstStyle/>
                    <a:p>
                      <a:pPr algn="ctr" fontAlgn="ctr"/>
                      <a:r>
                        <a:rPr lang="en-US" altLang="zh-CN" sz="600" u="none" strike="noStrike">
                          <a:effectLst/>
                        </a:rPr>
                        <a:t>14</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产品部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卢桂林</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801592290"/>
                  </a:ext>
                </a:extLst>
              </a:tr>
              <a:tr h="133834">
                <a:tc>
                  <a:txBody>
                    <a:bodyPr/>
                    <a:lstStyle/>
                    <a:p>
                      <a:pPr algn="ctr" fontAlgn="ctr"/>
                      <a:r>
                        <a:rPr lang="en-US" altLang="zh-CN" sz="600" u="none" strike="noStrike">
                          <a:effectLst/>
                        </a:rPr>
                        <a:t>15</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柏彬</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138436400"/>
                  </a:ext>
                </a:extLst>
              </a:tr>
              <a:tr h="133834">
                <a:tc>
                  <a:txBody>
                    <a:bodyPr/>
                    <a:lstStyle/>
                    <a:p>
                      <a:pPr algn="ctr" fontAlgn="ctr"/>
                      <a:r>
                        <a:rPr lang="en-US" altLang="zh-CN" sz="600" u="none" strike="noStrike">
                          <a:effectLst/>
                        </a:rPr>
                        <a:t>16</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测试部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柳博</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191308966"/>
                  </a:ext>
                </a:extLst>
              </a:tr>
              <a:tr h="133834">
                <a:tc>
                  <a:txBody>
                    <a:bodyPr/>
                    <a:lstStyle/>
                    <a:p>
                      <a:pPr algn="ctr" fontAlgn="ctr"/>
                      <a:r>
                        <a:rPr lang="en-US" altLang="zh-CN" sz="600" u="none" strike="noStrike">
                          <a:effectLst/>
                        </a:rPr>
                        <a:t>17</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刘露</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140799078"/>
                  </a:ext>
                </a:extLst>
              </a:tr>
              <a:tr h="133834">
                <a:tc>
                  <a:txBody>
                    <a:bodyPr/>
                    <a:lstStyle/>
                    <a:p>
                      <a:pPr algn="ctr" fontAlgn="ctr"/>
                      <a:r>
                        <a:rPr lang="en-US" altLang="zh-CN" sz="600" u="none" strike="noStrike">
                          <a:effectLst/>
                        </a:rPr>
                        <a:t>18</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戴俊荣</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882366235"/>
                  </a:ext>
                </a:extLst>
              </a:tr>
              <a:tr h="133834">
                <a:tc>
                  <a:txBody>
                    <a:bodyPr/>
                    <a:lstStyle/>
                    <a:p>
                      <a:pPr algn="ctr" fontAlgn="ctr"/>
                      <a:r>
                        <a:rPr lang="en-US" altLang="zh-CN" sz="600" u="none" strike="noStrike">
                          <a:effectLst/>
                        </a:rPr>
                        <a:t>19</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数据部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申旭</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411306510"/>
                  </a:ext>
                </a:extLst>
              </a:tr>
              <a:tr h="133834">
                <a:tc>
                  <a:txBody>
                    <a:bodyPr/>
                    <a:lstStyle/>
                    <a:p>
                      <a:pPr algn="ctr" fontAlgn="ctr"/>
                      <a:r>
                        <a:rPr lang="en-US" altLang="zh-CN" sz="600" u="none" strike="noStrike">
                          <a:effectLst/>
                        </a:rPr>
                        <a:t>20</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赵章硕</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360066313"/>
                  </a:ext>
                </a:extLst>
              </a:tr>
              <a:tr h="133834">
                <a:tc>
                  <a:txBody>
                    <a:bodyPr/>
                    <a:lstStyle/>
                    <a:p>
                      <a:pPr algn="ctr" fontAlgn="ctr"/>
                      <a:r>
                        <a:rPr lang="en-US" altLang="zh-CN" sz="600" u="none" strike="noStrike">
                          <a:effectLst/>
                        </a:rPr>
                        <a:t>21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张朝阳</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856183066"/>
                  </a:ext>
                </a:extLst>
              </a:tr>
              <a:tr h="133834">
                <a:tc>
                  <a:txBody>
                    <a:bodyPr/>
                    <a:lstStyle/>
                    <a:p>
                      <a:pPr algn="ctr" fontAlgn="ctr"/>
                      <a:r>
                        <a:rPr lang="en-US" altLang="zh-CN" sz="600" u="none" strike="noStrike">
                          <a:effectLst/>
                        </a:rPr>
                        <a:t>22</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李浩</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213518159"/>
                  </a:ext>
                </a:extLst>
              </a:tr>
              <a:tr h="133834">
                <a:tc>
                  <a:txBody>
                    <a:bodyPr/>
                    <a:lstStyle/>
                    <a:p>
                      <a:pPr algn="ctr" fontAlgn="ctr"/>
                      <a:r>
                        <a:rPr lang="en-US" altLang="zh-CN" sz="600" u="none" strike="noStrike">
                          <a:effectLst/>
                        </a:rPr>
                        <a:t>23</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王迪</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074407863"/>
                  </a:ext>
                </a:extLst>
              </a:tr>
              <a:tr h="133834">
                <a:tc>
                  <a:txBody>
                    <a:bodyPr/>
                    <a:lstStyle/>
                    <a:p>
                      <a:pPr algn="ctr" fontAlgn="ctr"/>
                      <a:r>
                        <a:rPr lang="en-US" altLang="zh-CN" sz="600" u="none" strike="noStrike">
                          <a:effectLst/>
                        </a:rPr>
                        <a:t>24</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张干</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463164395"/>
                  </a:ext>
                </a:extLst>
              </a:tr>
              <a:tr h="133834">
                <a:tc>
                  <a:txBody>
                    <a:bodyPr/>
                    <a:lstStyle/>
                    <a:p>
                      <a:pPr algn="ctr" fontAlgn="ctr"/>
                      <a:r>
                        <a:rPr lang="en-US" altLang="zh-CN" sz="600" u="none" strike="noStrike">
                          <a:effectLst/>
                        </a:rPr>
                        <a:t>25</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测试部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秦梦</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723087643"/>
                  </a:ext>
                </a:extLst>
              </a:tr>
              <a:tr h="133834">
                <a:tc>
                  <a:txBody>
                    <a:bodyPr/>
                    <a:lstStyle/>
                    <a:p>
                      <a:pPr algn="ctr" fontAlgn="ctr"/>
                      <a:r>
                        <a:rPr lang="en-US" altLang="zh-CN" sz="600" u="none" strike="noStrike">
                          <a:effectLst/>
                        </a:rPr>
                        <a:t>26</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产品部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李杨洋</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4040401400"/>
                  </a:ext>
                </a:extLst>
              </a:tr>
              <a:tr h="133834">
                <a:tc>
                  <a:txBody>
                    <a:bodyPr/>
                    <a:lstStyle/>
                    <a:p>
                      <a:pPr algn="ctr" fontAlgn="ctr"/>
                      <a:r>
                        <a:rPr lang="en-US" altLang="zh-CN" sz="600" u="none" strike="noStrike">
                          <a:effectLst/>
                        </a:rPr>
                        <a:t>27</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梁兴宇</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333912740"/>
                  </a:ext>
                </a:extLst>
              </a:tr>
              <a:tr h="133834">
                <a:tc>
                  <a:txBody>
                    <a:bodyPr/>
                    <a:lstStyle/>
                    <a:p>
                      <a:pPr algn="ctr" fontAlgn="ctr"/>
                      <a:r>
                        <a:rPr lang="en-US" altLang="zh-CN" sz="600" u="none" strike="noStrike">
                          <a:effectLst/>
                        </a:rPr>
                        <a:t>28</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欧嘉薪</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568552163"/>
                  </a:ext>
                </a:extLst>
              </a:tr>
              <a:tr h="133834">
                <a:tc>
                  <a:txBody>
                    <a:bodyPr/>
                    <a:lstStyle/>
                    <a:p>
                      <a:pPr algn="ctr" fontAlgn="ctr"/>
                      <a:r>
                        <a:rPr lang="en-US" altLang="zh-CN" sz="600" u="none" strike="noStrike">
                          <a:effectLst/>
                        </a:rPr>
                        <a:t>29</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顾家成</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557790049"/>
                  </a:ext>
                </a:extLst>
              </a:tr>
              <a:tr h="133834">
                <a:tc>
                  <a:txBody>
                    <a:bodyPr/>
                    <a:lstStyle/>
                    <a:p>
                      <a:pPr algn="ctr" fontAlgn="ctr"/>
                      <a:r>
                        <a:rPr lang="en-US" altLang="zh-CN" sz="600" u="none" strike="noStrike">
                          <a:effectLst/>
                        </a:rPr>
                        <a:t>30</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平台部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李湖</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644052163"/>
                  </a:ext>
                </a:extLst>
              </a:tr>
              <a:tr h="133834">
                <a:tc>
                  <a:txBody>
                    <a:bodyPr/>
                    <a:lstStyle/>
                    <a:p>
                      <a:pPr algn="ctr" fontAlgn="ctr"/>
                      <a:r>
                        <a:rPr lang="en-US" altLang="zh-CN" sz="600" u="none" strike="noStrike">
                          <a:effectLst/>
                        </a:rPr>
                        <a:t>31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刘清</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837295199"/>
                  </a:ext>
                </a:extLst>
              </a:tr>
              <a:tr h="133834">
                <a:tc>
                  <a:txBody>
                    <a:bodyPr/>
                    <a:lstStyle/>
                    <a:p>
                      <a:pPr algn="ctr" fontAlgn="ctr"/>
                      <a:r>
                        <a:rPr lang="en-US" altLang="zh-CN" sz="600" u="none" strike="noStrike">
                          <a:effectLst/>
                        </a:rPr>
                        <a:t>32</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数据部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秦龙川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492394056"/>
                  </a:ext>
                </a:extLst>
              </a:tr>
              <a:tr h="133834">
                <a:tc>
                  <a:txBody>
                    <a:bodyPr/>
                    <a:lstStyle/>
                    <a:p>
                      <a:pPr algn="ctr" fontAlgn="ctr"/>
                      <a:r>
                        <a:rPr lang="en-US" altLang="zh-CN" sz="600" u="none" strike="noStrike">
                          <a:effectLst/>
                        </a:rPr>
                        <a:t>33</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l" fontAlgn="ctr"/>
                      <a:r>
                        <a:rPr lang="zh-CN" altLang="en-US" sz="600" u="none" strike="noStrike">
                          <a:effectLst/>
                        </a:rPr>
                        <a:t>产品研发中心</a:t>
                      </a:r>
                      <a:r>
                        <a:rPr lang="en-US" altLang="zh-CN" sz="600" u="none" strike="noStrike">
                          <a:effectLst/>
                        </a:rPr>
                        <a:t>-</a:t>
                      </a:r>
                      <a:r>
                        <a:rPr lang="zh-CN" altLang="en-US" sz="600" u="none" strike="noStrike">
                          <a:effectLst/>
                        </a:rPr>
                        <a:t>算法部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高越</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088823150"/>
                  </a:ext>
                </a:extLst>
              </a:tr>
              <a:tr h="133834">
                <a:tc>
                  <a:txBody>
                    <a:bodyPr/>
                    <a:lstStyle/>
                    <a:p>
                      <a:pPr algn="ctr" fontAlgn="ctr"/>
                      <a:r>
                        <a:rPr lang="en-US" altLang="zh-CN" sz="600" u="none" strike="noStrike">
                          <a:effectLst/>
                        </a:rPr>
                        <a:t>34</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产品研发中心</a:t>
                      </a:r>
                      <a:r>
                        <a:rPr lang="en-US" altLang="zh-CN" sz="600" u="none" strike="noStrike">
                          <a:effectLst/>
                        </a:rPr>
                        <a:t>-</a:t>
                      </a:r>
                      <a:r>
                        <a:rPr lang="zh-CN" altLang="en-US" sz="600" u="none" strike="noStrike">
                          <a:effectLst/>
                        </a:rPr>
                        <a:t>测试部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袁楚渝</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180323531"/>
                  </a:ext>
                </a:extLst>
              </a:tr>
              <a:tr h="133834">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4102606793"/>
                  </a:ext>
                </a:extLst>
              </a:tr>
              <a:tr h="124304">
                <a:tc>
                  <a:txBody>
                    <a:bodyPr/>
                    <a:lstStyle/>
                    <a:p>
                      <a:pPr algn="ctr" fontAlgn="ctr"/>
                      <a:r>
                        <a:rPr lang="zh-CN" altLang="en-US" sz="600" u="none" strike="noStrike">
                          <a:effectLst/>
                        </a:rPr>
                        <a:t>合计</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en-US" altLang="zh-CN" sz="600" u="none" strike="noStrike">
                          <a:effectLst/>
                        </a:rPr>
                        <a:t>21</a:t>
                      </a:r>
                      <a:endParaRPr lang="en-US" altLang="zh-CN"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2165375650"/>
                  </a:ext>
                </a:extLst>
              </a:tr>
              <a:tr h="105658">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3091732955"/>
                  </a:ext>
                </a:extLst>
              </a:tr>
              <a:tr h="105658">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1458020687"/>
                  </a:ext>
                </a:extLst>
              </a:tr>
              <a:tr h="205102">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制表人（科技部门人员）：</a:t>
                      </a:r>
                      <a:endParaRPr lang="zh-CN" altLang="en-US" sz="600" b="1" i="0" u="none" strike="noStrike">
                        <a:solidFill>
                          <a:srgbClr val="C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dirty="0">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r>
                        <a:rPr lang="zh-CN" altLang="en-US" sz="600" u="none" strike="noStrike">
                          <a:effectLst/>
                        </a:rPr>
                        <a:t>研发项目（课题）负责人：</a:t>
                      </a:r>
                      <a:endParaRPr lang="zh-CN" altLang="en-US" sz="600" b="1" i="0" u="none" strike="noStrike">
                        <a:solidFill>
                          <a:srgbClr val="C00000"/>
                        </a:solidFill>
                        <a:effectLst/>
                        <a:latin typeface="微软雅黑" panose="020B0503020204020204" pitchFamily="34" charset="-122"/>
                        <a:ea typeface="微软雅黑" panose="020B0503020204020204" pitchFamily="34" charset="-122"/>
                      </a:endParaRPr>
                    </a:p>
                  </a:txBody>
                  <a:tcPr marL="6135" marR="6135" marT="6135" marB="0" anchor="ctr"/>
                </a:tc>
                <a:tc>
                  <a:txBody>
                    <a:bodyPr/>
                    <a:lstStyle/>
                    <a:p>
                      <a:pPr algn="ctr" fontAlgn="ct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6135" marR="6135" marT="6135" marB="0" anchor="ctr"/>
                </a:tc>
                <a:tc>
                  <a:txBody>
                    <a:bodyPr/>
                    <a:lstStyle/>
                    <a:p>
                      <a:pPr algn="ctr" fontAlgn="ctr"/>
                      <a:endParaRPr lang="zh-CN" altLang="en-US" sz="600" b="0" i="0" u="none" strike="noStrike" dirty="0">
                        <a:solidFill>
                          <a:srgbClr val="000000"/>
                        </a:solidFill>
                        <a:effectLst/>
                        <a:latin typeface="宋体" panose="02010600030101010101" pitchFamily="2" charset="-122"/>
                        <a:ea typeface="宋体" panose="02010600030101010101" pitchFamily="2" charset="-122"/>
                      </a:endParaRPr>
                    </a:p>
                  </a:txBody>
                  <a:tcPr marL="6135" marR="6135" marT="6135" marB="0" anchor="ctr"/>
                </a:tc>
                <a:extLst>
                  <a:ext uri="{0D108BD9-81ED-4DB2-BD59-A6C34878D82A}">
                    <a16:rowId xmlns:a16="http://schemas.microsoft.com/office/drawing/2014/main" val="472157393"/>
                  </a:ext>
                </a:extLst>
              </a:tr>
            </a:tbl>
          </a:graphicData>
        </a:graphic>
      </p:graphicFrame>
    </p:spTree>
    <p:extLst>
      <p:ext uri="{BB962C8B-B14F-4D97-AF65-F5344CB8AC3E}">
        <p14:creationId xmlns:p14="http://schemas.microsoft.com/office/powerpoint/2010/main" val="3647924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9C0AA9-F8B5-42FB-820A-CCD8DF2A800B}"/>
              </a:ext>
            </a:extLst>
          </p:cNvPr>
          <p:cNvSpPr txBox="1"/>
          <p:nvPr/>
        </p:nvSpPr>
        <p:spPr>
          <a:xfrm>
            <a:off x="-28418" y="-1"/>
            <a:ext cx="12220418" cy="461665"/>
          </a:xfrm>
          <a:prstGeom prst="rect">
            <a:avLst/>
          </a:prstGeom>
          <a:solidFill>
            <a:srgbClr val="FFFF00"/>
          </a:solidFill>
        </p:spPr>
        <p:txBody>
          <a:bodyPr wrap="square" rtlCol="0">
            <a:spAutoFit/>
          </a:bodyPr>
          <a:lstStyle/>
          <a:p>
            <a:r>
              <a:rPr lang="zh-CN" altLang="en-US" sz="2400" b="1" dirty="0">
                <a:solidFill>
                  <a:srgbClr val="FF0000"/>
                </a:solidFill>
              </a:rPr>
              <a:t>单研发项目按月投入明细表</a:t>
            </a:r>
            <a:r>
              <a:rPr lang="en-US" altLang="zh-CN" sz="2400" b="1" dirty="0">
                <a:solidFill>
                  <a:srgbClr val="FF0000"/>
                </a:solidFill>
              </a:rPr>
              <a:t>5-2-2</a:t>
            </a:r>
            <a:r>
              <a:rPr lang="zh-CN" altLang="en-US" sz="2400" b="1" dirty="0">
                <a:solidFill>
                  <a:srgbClr val="FF0000"/>
                </a:solidFill>
              </a:rPr>
              <a:t>：</a:t>
            </a:r>
            <a:r>
              <a:rPr lang="zh-CN" altLang="en-US" sz="2000" b="1" dirty="0">
                <a:solidFill>
                  <a:srgbClr val="FF0000"/>
                </a:solidFill>
              </a:rPr>
              <a:t>人工成本</a:t>
            </a:r>
            <a:r>
              <a:rPr lang="en-US" altLang="zh-CN" sz="2000" b="1" dirty="0">
                <a:solidFill>
                  <a:srgbClr val="FF0000"/>
                </a:solidFill>
              </a:rPr>
              <a:t>+</a:t>
            </a:r>
            <a:r>
              <a:rPr lang="zh-CN" altLang="en-US" sz="2000" b="1" dirty="0">
                <a:solidFill>
                  <a:srgbClr val="FF0000"/>
                </a:solidFill>
              </a:rPr>
              <a:t>直接投入费用</a:t>
            </a:r>
            <a:r>
              <a:rPr lang="en-US" altLang="zh-CN" sz="2000" b="1" dirty="0">
                <a:solidFill>
                  <a:srgbClr val="FF0000"/>
                </a:solidFill>
              </a:rPr>
              <a:t>+</a:t>
            </a:r>
            <a:r>
              <a:rPr lang="zh-CN" altLang="en-US" sz="2000" b="1" dirty="0">
                <a:solidFill>
                  <a:srgbClr val="FF0000"/>
                </a:solidFill>
              </a:rPr>
              <a:t>新产品设计</a:t>
            </a:r>
            <a:r>
              <a:rPr lang="en-US" altLang="zh-CN" sz="2000" b="1" dirty="0">
                <a:solidFill>
                  <a:srgbClr val="FF0000"/>
                </a:solidFill>
              </a:rPr>
              <a:t>/</a:t>
            </a:r>
            <a:r>
              <a:rPr lang="zh-CN" altLang="en-US" sz="2000" b="1" dirty="0">
                <a:solidFill>
                  <a:srgbClr val="FF0000"/>
                </a:solidFill>
              </a:rPr>
              <a:t>试制费用</a:t>
            </a:r>
            <a:r>
              <a:rPr lang="en-US" altLang="zh-CN" sz="2000" b="1" dirty="0">
                <a:solidFill>
                  <a:srgbClr val="FF0000"/>
                </a:solidFill>
              </a:rPr>
              <a:t>+</a:t>
            </a:r>
            <a:r>
              <a:rPr lang="zh-CN" altLang="en-US" sz="2000" b="1" dirty="0">
                <a:solidFill>
                  <a:srgbClr val="FF0000"/>
                </a:solidFill>
              </a:rPr>
              <a:t>委外费用</a:t>
            </a:r>
            <a:r>
              <a:rPr lang="en-US" altLang="zh-CN" sz="2000" b="1" dirty="0">
                <a:solidFill>
                  <a:srgbClr val="FF0000"/>
                </a:solidFill>
              </a:rPr>
              <a:t>+</a:t>
            </a:r>
            <a:r>
              <a:rPr lang="zh-CN" altLang="en-US" sz="2000" b="1" dirty="0">
                <a:solidFill>
                  <a:srgbClr val="FF0000"/>
                </a:solidFill>
              </a:rPr>
              <a:t>其他费</a:t>
            </a:r>
            <a:endParaRPr lang="zh-CN" altLang="en-US" sz="2400" b="1" dirty="0">
              <a:solidFill>
                <a:srgbClr val="FF0000"/>
              </a:solidFill>
            </a:endParaRPr>
          </a:p>
        </p:txBody>
      </p:sp>
      <p:graphicFrame>
        <p:nvGraphicFramePr>
          <p:cNvPr id="4" name="表格 3">
            <a:extLst>
              <a:ext uri="{FF2B5EF4-FFF2-40B4-BE49-F238E27FC236}">
                <a16:creationId xmlns:a16="http://schemas.microsoft.com/office/drawing/2014/main" id="{88D9F655-4AA1-400B-B509-B9FC0E3F4366}"/>
              </a:ext>
            </a:extLst>
          </p:cNvPr>
          <p:cNvGraphicFramePr>
            <a:graphicFrameLocks noGrp="1"/>
          </p:cNvGraphicFramePr>
          <p:nvPr>
            <p:extLst>
              <p:ext uri="{D42A27DB-BD31-4B8C-83A1-F6EECF244321}">
                <p14:modId xmlns:p14="http://schemas.microsoft.com/office/powerpoint/2010/main" val="2433575017"/>
              </p:ext>
            </p:extLst>
          </p:nvPr>
        </p:nvGraphicFramePr>
        <p:xfrm>
          <a:off x="263352" y="461664"/>
          <a:ext cx="11665295" cy="6207680"/>
        </p:xfrm>
        <a:graphic>
          <a:graphicData uri="http://schemas.openxmlformats.org/drawingml/2006/table">
            <a:tbl>
              <a:tblPr>
                <a:tableStyleId>{5C22544A-7EE6-4342-B048-85BDC9FD1C3A}</a:tableStyleId>
              </a:tblPr>
              <a:tblGrid>
                <a:gridCol w="378396">
                  <a:extLst>
                    <a:ext uri="{9D8B030D-6E8A-4147-A177-3AD203B41FA5}">
                      <a16:colId xmlns:a16="http://schemas.microsoft.com/office/drawing/2014/main" val="219519464"/>
                    </a:ext>
                  </a:extLst>
                </a:gridCol>
                <a:gridCol w="625721">
                  <a:extLst>
                    <a:ext uri="{9D8B030D-6E8A-4147-A177-3AD203B41FA5}">
                      <a16:colId xmlns:a16="http://schemas.microsoft.com/office/drawing/2014/main" val="2246615025"/>
                    </a:ext>
                  </a:extLst>
                </a:gridCol>
                <a:gridCol w="297474">
                  <a:extLst>
                    <a:ext uri="{9D8B030D-6E8A-4147-A177-3AD203B41FA5}">
                      <a16:colId xmlns:a16="http://schemas.microsoft.com/office/drawing/2014/main" val="1128995066"/>
                    </a:ext>
                  </a:extLst>
                </a:gridCol>
                <a:gridCol w="188057">
                  <a:extLst>
                    <a:ext uri="{9D8B030D-6E8A-4147-A177-3AD203B41FA5}">
                      <a16:colId xmlns:a16="http://schemas.microsoft.com/office/drawing/2014/main" val="1897370909"/>
                    </a:ext>
                  </a:extLst>
                </a:gridCol>
                <a:gridCol w="259861">
                  <a:extLst>
                    <a:ext uri="{9D8B030D-6E8A-4147-A177-3AD203B41FA5}">
                      <a16:colId xmlns:a16="http://schemas.microsoft.com/office/drawing/2014/main" val="3866512743"/>
                    </a:ext>
                  </a:extLst>
                </a:gridCol>
                <a:gridCol w="379535">
                  <a:extLst>
                    <a:ext uri="{9D8B030D-6E8A-4147-A177-3AD203B41FA5}">
                      <a16:colId xmlns:a16="http://schemas.microsoft.com/office/drawing/2014/main" val="614450675"/>
                    </a:ext>
                  </a:extLst>
                </a:gridCol>
                <a:gridCol w="376117">
                  <a:extLst>
                    <a:ext uri="{9D8B030D-6E8A-4147-A177-3AD203B41FA5}">
                      <a16:colId xmlns:a16="http://schemas.microsoft.com/office/drawing/2014/main" val="4052432736"/>
                    </a:ext>
                  </a:extLst>
                </a:gridCol>
                <a:gridCol w="352181">
                  <a:extLst>
                    <a:ext uri="{9D8B030D-6E8A-4147-A177-3AD203B41FA5}">
                      <a16:colId xmlns:a16="http://schemas.microsoft.com/office/drawing/2014/main" val="4058802903"/>
                    </a:ext>
                  </a:extLst>
                </a:gridCol>
                <a:gridCol w="364718">
                  <a:extLst>
                    <a:ext uri="{9D8B030D-6E8A-4147-A177-3AD203B41FA5}">
                      <a16:colId xmlns:a16="http://schemas.microsoft.com/office/drawing/2014/main" val="3215512456"/>
                    </a:ext>
                  </a:extLst>
                </a:gridCol>
                <a:gridCol w="378396">
                  <a:extLst>
                    <a:ext uri="{9D8B030D-6E8A-4147-A177-3AD203B41FA5}">
                      <a16:colId xmlns:a16="http://schemas.microsoft.com/office/drawing/2014/main" val="568311302"/>
                    </a:ext>
                  </a:extLst>
                </a:gridCol>
                <a:gridCol w="376117">
                  <a:extLst>
                    <a:ext uri="{9D8B030D-6E8A-4147-A177-3AD203B41FA5}">
                      <a16:colId xmlns:a16="http://schemas.microsoft.com/office/drawing/2014/main" val="3481530101"/>
                    </a:ext>
                  </a:extLst>
                </a:gridCol>
                <a:gridCol w="359019">
                  <a:extLst>
                    <a:ext uri="{9D8B030D-6E8A-4147-A177-3AD203B41FA5}">
                      <a16:colId xmlns:a16="http://schemas.microsoft.com/office/drawing/2014/main" val="3811461532"/>
                    </a:ext>
                  </a:extLst>
                </a:gridCol>
                <a:gridCol w="337364">
                  <a:extLst>
                    <a:ext uri="{9D8B030D-6E8A-4147-A177-3AD203B41FA5}">
                      <a16:colId xmlns:a16="http://schemas.microsoft.com/office/drawing/2014/main" val="1540193382"/>
                    </a:ext>
                  </a:extLst>
                </a:gridCol>
                <a:gridCol w="338504">
                  <a:extLst>
                    <a:ext uri="{9D8B030D-6E8A-4147-A177-3AD203B41FA5}">
                      <a16:colId xmlns:a16="http://schemas.microsoft.com/office/drawing/2014/main" val="4100292173"/>
                    </a:ext>
                  </a:extLst>
                </a:gridCol>
                <a:gridCol w="324827">
                  <a:extLst>
                    <a:ext uri="{9D8B030D-6E8A-4147-A177-3AD203B41FA5}">
                      <a16:colId xmlns:a16="http://schemas.microsoft.com/office/drawing/2014/main" val="1816831819"/>
                    </a:ext>
                  </a:extLst>
                </a:gridCol>
                <a:gridCol w="328247">
                  <a:extLst>
                    <a:ext uri="{9D8B030D-6E8A-4147-A177-3AD203B41FA5}">
                      <a16:colId xmlns:a16="http://schemas.microsoft.com/office/drawing/2014/main" val="3006473621"/>
                    </a:ext>
                  </a:extLst>
                </a:gridCol>
                <a:gridCol w="351041">
                  <a:extLst>
                    <a:ext uri="{9D8B030D-6E8A-4147-A177-3AD203B41FA5}">
                      <a16:colId xmlns:a16="http://schemas.microsoft.com/office/drawing/2014/main" val="406235603"/>
                    </a:ext>
                  </a:extLst>
                </a:gridCol>
                <a:gridCol w="364718">
                  <a:extLst>
                    <a:ext uri="{9D8B030D-6E8A-4147-A177-3AD203B41FA5}">
                      <a16:colId xmlns:a16="http://schemas.microsoft.com/office/drawing/2014/main" val="2193569421"/>
                    </a:ext>
                  </a:extLst>
                </a:gridCol>
                <a:gridCol w="460456">
                  <a:extLst>
                    <a:ext uri="{9D8B030D-6E8A-4147-A177-3AD203B41FA5}">
                      <a16:colId xmlns:a16="http://schemas.microsoft.com/office/drawing/2014/main" val="1946475245"/>
                    </a:ext>
                  </a:extLst>
                </a:gridCol>
                <a:gridCol w="461598">
                  <a:extLst>
                    <a:ext uri="{9D8B030D-6E8A-4147-A177-3AD203B41FA5}">
                      <a16:colId xmlns:a16="http://schemas.microsoft.com/office/drawing/2014/main" val="1505213521"/>
                    </a:ext>
                  </a:extLst>
                </a:gridCol>
                <a:gridCol w="444500">
                  <a:extLst>
                    <a:ext uri="{9D8B030D-6E8A-4147-A177-3AD203B41FA5}">
                      <a16:colId xmlns:a16="http://schemas.microsoft.com/office/drawing/2014/main" val="1495990871"/>
                    </a:ext>
                  </a:extLst>
                </a:gridCol>
                <a:gridCol w="460456">
                  <a:extLst>
                    <a:ext uri="{9D8B030D-6E8A-4147-A177-3AD203B41FA5}">
                      <a16:colId xmlns:a16="http://schemas.microsoft.com/office/drawing/2014/main" val="4039458697"/>
                    </a:ext>
                  </a:extLst>
                </a:gridCol>
                <a:gridCol w="461598">
                  <a:extLst>
                    <a:ext uri="{9D8B030D-6E8A-4147-A177-3AD203B41FA5}">
                      <a16:colId xmlns:a16="http://schemas.microsoft.com/office/drawing/2014/main" val="523674737"/>
                    </a:ext>
                  </a:extLst>
                </a:gridCol>
                <a:gridCol w="372696">
                  <a:extLst>
                    <a:ext uri="{9D8B030D-6E8A-4147-A177-3AD203B41FA5}">
                      <a16:colId xmlns:a16="http://schemas.microsoft.com/office/drawing/2014/main" val="3128595323"/>
                    </a:ext>
                  </a:extLst>
                </a:gridCol>
                <a:gridCol w="319129">
                  <a:extLst>
                    <a:ext uri="{9D8B030D-6E8A-4147-A177-3AD203B41FA5}">
                      <a16:colId xmlns:a16="http://schemas.microsoft.com/office/drawing/2014/main" val="1041024028"/>
                    </a:ext>
                  </a:extLst>
                </a:gridCol>
                <a:gridCol w="319129">
                  <a:extLst>
                    <a:ext uri="{9D8B030D-6E8A-4147-A177-3AD203B41FA5}">
                      <a16:colId xmlns:a16="http://schemas.microsoft.com/office/drawing/2014/main" val="1938060945"/>
                    </a:ext>
                  </a:extLst>
                </a:gridCol>
                <a:gridCol w="410309">
                  <a:extLst>
                    <a:ext uri="{9D8B030D-6E8A-4147-A177-3AD203B41FA5}">
                      <a16:colId xmlns:a16="http://schemas.microsoft.com/office/drawing/2014/main" val="3358882001"/>
                    </a:ext>
                  </a:extLst>
                </a:gridCol>
                <a:gridCol w="410309">
                  <a:extLst>
                    <a:ext uri="{9D8B030D-6E8A-4147-A177-3AD203B41FA5}">
                      <a16:colId xmlns:a16="http://schemas.microsoft.com/office/drawing/2014/main" val="4133287350"/>
                    </a:ext>
                  </a:extLst>
                </a:gridCol>
                <a:gridCol w="410309">
                  <a:extLst>
                    <a:ext uri="{9D8B030D-6E8A-4147-A177-3AD203B41FA5}">
                      <a16:colId xmlns:a16="http://schemas.microsoft.com/office/drawing/2014/main" val="1715182163"/>
                    </a:ext>
                  </a:extLst>
                </a:gridCol>
                <a:gridCol w="378396">
                  <a:extLst>
                    <a:ext uri="{9D8B030D-6E8A-4147-A177-3AD203B41FA5}">
                      <a16:colId xmlns:a16="http://schemas.microsoft.com/office/drawing/2014/main" val="2219477753"/>
                    </a:ext>
                  </a:extLst>
                </a:gridCol>
                <a:gridCol w="376117">
                  <a:extLst>
                    <a:ext uri="{9D8B030D-6E8A-4147-A177-3AD203B41FA5}">
                      <a16:colId xmlns:a16="http://schemas.microsoft.com/office/drawing/2014/main" val="2917952544"/>
                    </a:ext>
                  </a:extLst>
                </a:gridCol>
              </a:tblGrid>
              <a:tr h="116099">
                <a:tc rowSpan="2" gridSpan="29">
                  <a:txBody>
                    <a:bodyPr/>
                    <a:lstStyle/>
                    <a:p>
                      <a:pPr algn="ctr" fontAlgn="ctr"/>
                      <a:r>
                        <a:rPr lang="zh-CN" altLang="en-US" sz="300" u="none" strike="noStrike">
                          <a:effectLst/>
                        </a:rPr>
                        <a:t> 研发人员薪酬费用分摊计算表</a:t>
                      </a:r>
                      <a:endParaRPr lang="zh-CN" altLang="en-US" sz="300" b="1"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gridSpan="2">
                  <a:txBody>
                    <a:bodyPr/>
                    <a:lstStyle/>
                    <a:p>
                      <a:pPr algn="ctr" fontAlgn="ctr"/>
                      <a:r>
                        <a:rPr lang="zh-CN" altLang="en-US" sz="300" u="none" strike="noStrike">
                          <a:effectLst/>
                        </a:rPr>
                        <a:t>费用期间</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extLst>
                  <a:ext uri="{0D108BD9-81ED-4DB2-BD59-A6C34878D82A}">
                    <a16:rowId xmlns:a16="http://schemas.microsoft.com/office/drawing/2014/main" val="1078205927"/>
                  </a:ext>
                </a:extLst>
              </a:tr>
              <a:tr h="116099">
                <a:tc gridSpan="29"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en-US" altLang="zh-CN" sz="300" u="none" strike="noStrike">
                          <a:effectLst/>
                        </a:rPr>
                        <a:t>2026</a:t>
                      </a:r>
                      <a:r>
                        <a:rPr lang="zh-CN" altLang="en-US" sz="300" u="none" strike="noStrike">
                          <a:effectLst/>
                        </a:rPr>
                        <a:t>年</a:t>
                      </a:r>
                      <a:r>
                        <a:rPr lang="en-US" altLang="zh-CN" sz="300" u="none" strike="noStrike">
                          <a:effectLst/>
                        </a:rPr>
                        <a:t>1</a:t>
                      </a:r>
                      <a:r>
                        <a:rPr lang="zh-CN" altLang="en-US" sz="300" u="none" strike="noStrike">
                          <a:effectLst/>
                        </a:rPr>
                        <a:t>月</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extLst>
                  <a:ext uri="{0D108BD9-81ED-4DB2-BD59-A6C34878D82A}">
                    <a16:rowId xmlns:a16="http://schemas.microsoft.com/office/drawing/2014/main" val="1239586524"/>
                  </a:ext>
                </a:extLst>
              </a:tr>
              <a:tr h="345472">
                <a:tc>
                  <a:txBody>
                    <a:bodyPr/>
                    <a:lstStyle/>
                    <a:p>
                      <a:pPr algn="l" fontAlgn="ctr"/>
                      <a:r>
                        <a:rPr lang="zh-CN" altLang="en-US" sz="300" u="none" strike="noStrike">
                          <a:effectLst/>
                        </a:rPr>
                        <a:t>研发项目（课题）编号：</a:t>
                      </a:r>
                      <a:endParaRPr lang="zh-CN" altLang="en-US" sz="300" b="1"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gridSpan="9">
                  <a:txBody>
                    <a:bodyPr/>
                    <a:lstStyle/>
                    <a:p>
                      <a:pPr algn="ctr" fontAlgn="ctr"/>
                      <a:r>
                        <a:rPr lang="zh-CN" altLang="en-US" sz="200" u="none" strike="noStrike">
                          <a:effectLst/>
                        </a:rPr>
                        <a:t>　</a:t>
                      </a:r>
                      <a:endParaRPr lang="zh-CN" altLang="en-US" sz="2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ctr"/>
                      <a:r>
                        <a:rPr lang="zh-CN" altLang="en-US" sz="300" u="none" strike="noStrike">
                          <a:effectLst/>
                        </a:rPr>
                        <a:t>研发项目（课题）名称：</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r>
                        <a:rPr lang="zh-CN" altLang="en-US" sz="300" u="none" strike="noStrike">
                          <a:effectLst/>
                        </a:rPr>
                        <a:t>　</a:t>
                      </a:r>
                      <a:endParaRPr lang="zh-CN" altLang="en-US" sz="300" b="1"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r>
                        <a:rPr lang="zh-CN" altLang="en-US" sz="300" u="none" strike="noStrike" dirty="0">
                          <a:effectLst/>
                        </a:rPr>
                        <a:t>　</a:t>
                      </a:r>
                      <a:endParaRPr lang="zh-CN" altLang="en-US" sz="3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gridSpan="17">
                  <a:txBody>
                    <a:bodyPr/>
                    <a:lstStyle/>
                    <a:p>
                      <a:pPr algn="l" fontAlgn="ctr"/>
                      <a:r>
                        <a:rPr lang="zh-CN" altLang="en-US" sz="300" u="none" strike="noStrike" dirty="0">
                          <a:effectLst/>
                        </a:rPr>
                        <a:t>　</a:t>
                      </a:r>
                      <a:endParaRPr lang="zh-CN" altLang="en-US" sz="300" b="1" i="0" u="none" strike="noStrike" dirty="0">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58945417"/>
                  </a:ext>
                </a:extLst>
              </a:tr>
              <a:tr h="225501">
                <a:tc rowSpan="2">
                  <a:txBody>
                    <a:bodyPr/>
                    <a:lstStyle/>
                    <a:p>
                      <a:pPr algn="ctr" fontAlgn="ctr"/>
                      <a:r>
                        <a:rPr lang="zh-CN" altLang="en-US" sz="300" u="none" strike="noStrike">
                          <a:effectLst/>
                        </a:rPr>
                        <a:t>序号</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rowSpan="2">
                  <a:txBody>
                    <a:bodyPr/>
                    <a:lstStyle/>
                    <a:p>
                      <a:pPr algn="ctr" fontAlgn="ctr"/>
                      <a:r>
                        <a:rPr lang="zh-CN" altLang="en-US" sz="300" u="none" strike="noStrike">
                          <a:effectLst/>
                        </a:rPr>
                        <a:t>所属项目（部门）</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rowSpan="2">
                  <a:txBody>
                    <a:bodyPr/>
                    <a:lstStyle/>
                    <a:p>
                      <a:pPr algn="ctr" fontAlgn="ctr"/>
                      <a:r>
                        <a:rPr lang="zh-CN" altLang="en-US" sz="300" u="none" strike="noStrike">
                          <a:effectLst/>
                        </a:rPr>
                        <a:t>姓名</a:t>
                      </a:r>
                      <a:endParaRPr lang="zh-CN" altLang="en-US" sz="300" b="0" i="0" u="none" strike="noStrike">
                        <a:solidFill>
                          <a:srgbClr val="000000"/>
                        </a:solidFill>
                        <a:effectLst/>
                        <a:latin typeface="微软雅黑" panose="020B0503020204020204" pitchFamily="34" charset="-122"/>
                        <a:ea typeface="微软雅黑" panose="020B0503020204020204" pitchFamily="34" charset="-122"/>
                      </a:endParaRPr>
                    </a:p>
                  </a:txBody>
                  <a:tcPr marL="2094" marR="2094" marT="2094" marB="0" anchor="ctr"/>
                </a:tc>
                <a:tc rowSpan="2">
                  <a:txBody>
                    <a:bodyPr/>
                    <a:lstStyle/>
                    <a:p>
                      <a:pPr algn="ctr" fontAlgn="ctr"/>
                      <a:r>
                        <a:rPr lang="zh-CN" altLang="en-US" sz="300" u="none" strike="noStrike">
                          <a:effectLst/>
                        </a:rPr>
                        <a:t>当月总工时</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rowSpan="2">
                  <a:txBody>
                    <a:bodyPr/>
                    <a:lstStyle/>
                    <a:p>
                      <a:pPr algn="ctr" fontAlgn="ctr"/>
                      <a:r>
                        <a:rPr lang="zh-CN" altLang="en-US" sz="300" u="none" strike="noStrike">
                          <a:effectLst/>
                        </a:rPr>
                        <a:t>当月研发活动投入工时</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gridSpan="2">
                  <a:txBody>
                    <a:bodyPr/>
                    <a:lstStyle/>
                    <a:p>
                      <a:pPr algn="ctr" fontAlgn="ctr"/>
                      <a:r>
                        <a:rPr lang="zh-CN" altLang="en-US" sz="300" u="none" strike="noStrike">
                          <a:effectLst/>
                        </a:rPr>
                        <a:t>工资薪金</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养老保险费</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医疗保险费</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失业保险费</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工伤保险费</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生育保险费</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住房公积金</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直接投入（材料</a:t>
                      </a:r>
                      <a:r>
                        <a:rPr lang="en-US" altLang="zh-CN" sz="300" u="none" strike="noStrike">
                          <a:effectLst/>
                        </a:rPr>
                        <a:t>/</a:t>
                      </a:r>
                      <a:r>
                        <a:rPr lang="zh-CN" altLang="en-US" sz="300" u="none" strike="noStrike">
                          <a:effectLst/>
                        </a:rPr>
                        <a:t>测试组件</a:t>
                      </a:r>
                      <a:r>
                        <a:rPr lang="en-US" altLang="zh-CN" sz="300" u="none" strike="noStrike">
                          <a:effectLst/>
                        </a:rPr>
                        <a:t>/</a:t>
                      </a:r>
                      <a:r>
                        <a:rPr lang="zh-CN" altLang="en-US" sz="300" u="none" strike="noStrike">
                          <a:effectLst/>
                        </a:rPr>
                        <a:t>样机等）</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直接投入（租赁</a:t>
                      </a:r>
                      <a:r>
                        <a:rPr lang="en-US" altLang="zh-CN" sz="300" u="none" strike="noStrike">
                          <a:effectLst/>
                        </a:rPr>
                        <a:t>/</a:t>
                      </a:r>
                      <a:r>
                        <a:rPr lang="zh-CN" altLang="en-US" sz="300" u="none" strike="noStrike">
                          <a:effectLst/>
                        </a:rPr>
                        <a:t>维保</a:t>
                      </a:r>
                      <a:r>
                        <a:rPr lang="en-US" altLang="zh-CN" sz="300" u="none" strike="noStrike">
                          <a:effectLst/>
                        </a:rPr>
                        <a:t>/</a:t>
                      </a:r>
                      <a:r>
                        <a:rPr lang="zh-CN" altLang="en-US" sz="300" u="none" strike="noStrike">
                          <a:effectLst/>
                        </a:rPr>
                        <a:t>燃料动力等）</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dirty="0">
                          <a:effectLst/>
                        </a:rPr>
                        <a:t>新产品设计 </a:t>
                      </a:r>
                      <a:r>
                        <a:rPr lang="en-US" altLang="zh-CN" sz="300" u="none" strike="noStrike" dirty="0">
                          <a:effectLst/>
                        </a:rPr>
                        <a:t>/ </a:t>
                      </a:r>
                      <a:r>
                        <a:rPr lang="zh-CN" altLang="en-US" sz="300" u="none" strike="noStrike" dirty="0">
                          <a:effectLst/>
                        </a:rPr>
                        <a:t>试验调试费</a:t>
                      </a:r>
                      <a:endParaRPr lang="zh-CN" altLang="en-US" sz="300" b="1" i="0" u="none" strike="noStrike" dirty="0">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委托外部研发费用</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a:effectLst/>
                        </a:rPr>
                        <a:t>其他费用（差旅</a:t>
                      </a:r>
                      <a:r>
                        <a:rPr lang="en-US" altLang="zh-CN" sz="300" u="none" strike="noStrike">
                          <a:effectLst/>
                        </a:rPr>
                        <a:t>/</a:t>
                      </a:r>
                      <a:r>
                        <a:rPr lang="zh-CN" altLang="en-US" sz="300" u="none" strike="noStrike">
                          <a:effectLst/>
                        </a:rPr>
                        <a:t>办公</a:t>
                      </a:r>
                      <a:r>
                        <a:rPr lang="en-US" altLang="zh-CN" sz="300" u="none" strike="noStrike">
                          <a:effectLst/>
                        </a:rPr>
                        <a:t>/</a:t>
                      </a:r>
                      <a:r>
                        <a:rPr lang="zh-CN" altLang="en-US" sz="300" u="none" strike="noStrike">
                          <a:effectLst/>
                        </a:rPr>
                        <a:t>知识产权）</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gridSpan="2">
                  <a:txBody>
                    <a:bodyPr/>
                    <a:lstStyle/>
                    <a:p>
                      <a:pPr algn="ctr" fontAlgn="ctr"/>
                      <a:r>
                        <a:rPr lang="zh-CN" altLang="en-US" sz="300" u="none" strike="noStrike" dirty="0">
                          <a:effectLst/>
                        </a:rPr>
                        <a:t>合计</a:t>
                      </a:r>
                      <a:endParaRPr lang="zh-CN" altLang="en-US" sz="300" b="1" i="0" u="none" strike="noStrike" dirty="0">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extLst>
                  <a:ext uri="{0D108BD9-81ED-4DB2-BD59-A6C34878D82A}">
                    <a16:rowId xmlns:a16="http://schemas.microsoft.com/office/drawing/2014/main" val="1501207175"/>
                  </a:ext>
                </a:extLst>
              </a:tr>
              <a:tr h="22550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当月</a:t>
                      </a:r>
                      <a:br>
                        <a:rPr lang="zh-CN" altLang="en-US" sz="300" u="none" strike="noStrike">
                          <a:effectLst/>
                        </a:rPr>
                      </a:br>
                      <a:r>
                        <a:rPr lang="zh-CN" altLang="en-US" sz="300" u="none" strike="noStrike">
                          <a:effectLst/>
                        </a:rPr>
                        <a:t>实际</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r>
                        <a:rPr lang="zh-CN" altLang="en-US" sz="300" u="none" strike="noStrike">
                          <a:effectLst/>
                        </a:rPr>
                        <a:t>研发</a:t>
                      </a:r>
                      <a:br>
                        <a:rPr lang="zh-CN" altLang="en-US" sz="300" u="none" strike="noStrike">
                          <a:effectLst/>
                        </a:rPr>
                      </a:br>
                      <a:r>
                        <a:rPr lang="zh-CN" altLang="en-US" sz="300" u="none" strike="noStrike">
                          <a:effectLst/>
                        </a:rPr>
                        <a:t>分摊</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extLst>
                  <a:ext uri="{0D108BD9-81ED-4DB2-BD59-A6C34878D82A}">
                    <a16:rowId xmlns:a16="http://schemas.microsoft.com/office/drawing/2014/main" val="1404043491"/>
                  </a:ext>
                </a:extLst>
              </a:tr>
              <a:tr h="135280">
                <a:tc>
                  <a:txBody>
                    <a:bodyPr/>
                    <a:lstStyle/>
                    <a:p>
                      <a:pPr algn="r" fontAlgn="ctr"/>
                      <a:r>
                        <a:rPr lang="en-US" altLang="zh-CN" sz="300" u="none" strike="noStrike">
                          <a:effectLst/>
                        </a:rPr>
                        <a:t>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皮直平</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21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28,578.25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1,600.00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800.00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70.00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90.00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70.00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800.00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32,008.25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4069264148"/>
                  </a:ext>
                </a:extLst>
              </a:tr>
              <a:tr h="135280">
                <a:tc>
                  <a:txBody>
                    <a:bodyPr/>
                    <a:lstStyle/>
                    <a:p>
                      <a:pPr algn="r" fontAlgn="ctr"/>
                      <a:r>
                        <a:rPr lang="en-US" altLang="zh-CN" sz="300" u="none" strike="noStrike">
                          <a:effectLst/>
                        </a:rPr>
                        <a:t>2</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李庭树</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20,680.00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22,213.01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85849584"/>
                  </a:ext>
                </a:extLst>
              </a:tr>
              <a:tr h="135280">
                <a:tc>
                  <a:txBody>
                    <a:bodyPr/>
                    <a:lstStyle/>
                    <a:p>
                      <a:pPr algn="r" fontAlgn="ctr"/>
                      <a:r>
                        <a:rPr lang="en-US" altLang="zh-CN" sz="300" u="none" strike="noStrike">
                          <a:effectLst/>
                        </a:rPr>
                        <a:t>3</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产品部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颜建帮</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17,720.00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dirty="0">
                          <a:effectLst/>
                        </a:rPr>
                        <a:t>　</a:t>
                      </a:r>
                      <a:endParaRPr lang="zh-CN" altLang="en-US" sz="200" b="0" i="0" u="none" strike="noStrike" dirty="0">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19,253.01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492743837"/>
                  </a:ext>
                </a:extLst>
              </a:tr>
              <a:tr h="135280">
                <a:tc>
                  <a:txBody>
                    <a:bodyPr/>
                    <a:lstStyle/>
                    <a:p>
                      <a:pPr algn="r" fontAlgn="ctr"/>
                      <a:r>
                        <a:rPr lang="en-US" altLang="zh-CN" sz="300" u="none" strike="noStrike">
                          <a:effectLst/>
                        </a:rPr>
                        <a:t>4</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李帅辉</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15,115.17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16,648.18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340204044"/>
                  </a:ext>
                </a:extLst>
              </a:tr>
              <a:tr h="135280">
                <a:tc>
                  <a:txBody>
                    <a:bodyPr/>
                    <a:lstStyle/>
                    <a:p>
                      <a:pPr algn="r" fontAlgn="ctr"/>
                      <a:r>
                        <a:rPr lang="en-US" altLang="zh-CN" sz="300" u="none" strike="noStrike">
                          <a:effectLst/>
                        </a:rPr>
                        <a:t>5</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梁振武</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17,908.97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19,441.98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519022101"/>
                  </a:ext>
                </a:extLst>
              </a:tr>
              <a:tr h="135280">
                <a:tc>
                  <a:txBody>
                    <a:bodyPr/>
                    <a:lstStyle/>
                    <a:p>
                      <a:pPr algn="r" fontAlgn="ctr"/>
                      <a:r>
                        <a:rPr lang="en-US" altLang="zh-CN" sz="300" u="none" strike="noStrike">
                          <a:effectLst/>
                        </a:rPr>
                        <a:t>6</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杨金建</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12,500.00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14,033.01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491542722"/>
                  </a:ext>
                </a:extLst>
              </a:tr>
              <a:tr h="135280">
                <a:tc>
                  <a:txBody>
                    <a:bodyPr/>
                    <a:lstStyle/>
                    <a:p>
                      <a:pPr algn="r" fontAlgn="ctr"/>
                      <a:r>
                        <a:rPr lang="en-US" altLang="zh-CN" sz="300" u="none" strike="noStrike">
                          <a:effectLst/>
                        </a:rPr>
                        <a:t>7</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产品部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张贵</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15,315.72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16,848.73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453279779"/>
                  </a:ext>
                </a:extLst>
              </a:tr>
              <a:tr h="135280">
                <a:tc>
                  <a:txBody>
                    <a:bodyPr/>
                    <a:lstStyle/>
                    <a:p>
                      <a:pPr algn="r" fontAlgn="ctr"/>
                      <a:r>
                        <a:rPr lang="en-US" altLang="zh-CN" sz="300" u="none" strike="noStrike">
                          <a:effectLst/>
                        </a:rPr>
                        <a:t>8</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王猛</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19,260.00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20,793.01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664143063"/>
                  </a:ext>
                </a:extLst>
              </a:tr>
              <a:tr h="135280">
                <a:tc>
                  <a:txBody>
                    <a:bodyPr/>
                    <a:lstStyle/>
                    <a:p>
                      <a:pPr algn="r" fontAlgn="ctr"/>
                      <a:r>
                        <a:rPr lang="en-US" altLang="zh-CN" sz="300" u="none" strike="noStrike">
                          <a:effectLst/>
                        </a:rPr>
                        <a:t>9</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测试部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罗梓亮</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11,440.00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12,973.01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883803425"/>
                  </a:ext>
                </a:extLst>
              </a:tr>
              <a:tr h="135280">
                <a:tc>
                  <a:txBody>
                    <a:bodyPr/>
                    <a:lstStyle/>
                    <a:p>
                      <a:pPr algn="r" fontAlgn="ctr"/>
                      <a:r>
                        <a:rPr lang="en-US" altLang="zh-CN" sz="300" u="none" strike="noStrike">
                          <a:effectLst/>
                        </a:rPr>
                        <a:t>10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刘芯</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13,080.00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14,613.01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220512923"/>
                  </a:ext>
                </a:extLst>
              </a:tr>
              <a:tr h="135280">
                <a:tc>
                  <a:txBody>
                    <a:bodyPr/>
                    <a:lstStyle/>
                    <a:p>
                      <a:pPr algn="r" fontAlgn="ctr"/>
                      <a:r>
                        <a:rPr lang="en-US" altLang="zh-CN" sz="300" u="none" strike="noStrike">
                          <a:effectLst/>
                        </a:rPr>
                        <a:t>11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晏兵</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9,720.00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11,253.01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2868153"/>
                  </a:ext>
                </a:extLst>
              </a:tr>
              <a:tr h="135280">
                <a:tc>
                  <a:txBody>
                    <a:bodyPr/>
                    <a:lstStyle/>
                    <a:p>
                      <a:pPr algn="r" fontAlgn="ctr"/>
                      <a:r>
                        <a:rPr lang="en-US" altLang="zh-CN" sz="300" u="none" strike="noStrike">
                          <a:effectLst/>
                        </a:rPr>
                        <a:t>12</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欧春辉</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18,908.97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20,441.98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785844089"/>
                  </a:ext>
                </a:extLst>
              </a:tr>
              <a:tr h="135280">
                <a:tc>
                  <a:txBody>
                    <a:bodyPr/>
                    <a:lstStyle/>
                    <a:p>
                      <a:pPr algn="r" fontAlgn="ctr"/>
                      <a:r>
                        <a:rPr lang="en-US" altLang="zh-CN" sz="300" u="none" strike="noStrike">
                          <a:effectLst/>
                        </a:rPr>
                        <a:t>13</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产品部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董瀚</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10,485.72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12,018.73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927322956"/>
                  </a:ext>
                </a:extLst>
              </a:tr>
              <a:tr h="135280">
                <a:tc>
                  <a:txBody>
                    <a:bodyPr/>
                    <a:lstStyle/>
                    <a:p>
                      <a:pPr algn="r" fontAlgn="ctr"/>
                      <a:r>
                        <a:rPr lang="en-US" altLang="zh-CN" sz="300" u="none" strike="noStrike">
                          <a:effectLst/>
                        </a:rPr>
                        <a:t>14</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产品部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卢桂林</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15,740.00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17,273.01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203417558"/>
                  </a:ext>
                </a:extLst>
              </a:tr>
              <a:tr h="135280">
                <a:tc>
                  <a:txBody>
                    <a:bodyPr/>
                    <a:lstStyle/>
                    <a:p>
                      <a:pPr algn="r" fontAlgn="ctr"/>
                      <a:r>
                        <a:rPr lang="en-US" altLang="zh-CN" sz="300" u="none" strike="noStrike">
                          <a:effectLst/>
                        </a:rPr>
                        <a:t>15</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柏彬</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18,148.97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19,681.98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068860183"/>
                  </a:ext>
                </a:extLst>
              </a:tr>
              <a:tr h="135280">
                <a:tc>
                  <a:txBody>
                    <a:bodyPr/>
                    <a:lstStyle/>
                    <a:p>
                      <a:pPr algn="r" fontAlgn="ctr"/>
                      <a:r>
                        <a:rPr lang="en-US" altLang="zh-CN" sz="300" u="none" strike="noStrike">
                          <a:effectLst/>
                        </a:rPr>
                        <a:t>16</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测试部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柳博</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9,423.45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10,956.46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4093090250"/>
                  </a:ext>
                </a:extLst>
              </a:tr>
              <a:tr h="135280">
                <a:tc>
                  <a:txBody>
                    <a:bodyPr/>
                    <a:lstStyle/>
                    <a:p>
                      <a:pPr algn="r" fontAlgn="ctr"/>
                      <a:r>
                        <a:rPr lang="en-US" altLang="zh-CN" sz="300" u="none" strike="noStrike">
                          <a:effectLst/>
                        </a:rPr>
                        <a:t>17</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刘露</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13,740.00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15,273.01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200794418"/>
                  </a:ext>
                </a:extLst>
              </a:tr>
              <a:tr h="135280">
                <a:tc>
                  <a:txBody>
                    <a:bodyPr/>
                    <a:lstStyle/>
                    <a:p>
                      <a:pPr algn="r" fontAlgn="ctr"/>
                      <a:r>
                        <a:rPr lang="en-US" altLang="zh-CN" sz="300" u="none" strike="noStrike">
                          <a:effectLst/>
                        </a:rPr>
                        <a:t>18</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戴俊荣</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19,466.90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20,999.91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063838786"/>
                  </a:ext>
                </a:extLst>
              </a:tr>
              <a:tr h="135280">
                <a:tc>
                  <a:txBody>
                    <a:bodyPr/>
                    <a:lstStyle/>
                    <a:p>
                      <a:pPr algn="r" fontAlgn="ctr"/>
                      <a:r>
                        <a:rPr lang="en-US" altLang="zh-CN" sz="300" u="none" strike="noStrike">
                          <a:effectLst/>
                        </a:rPr>
                        <a:t>19</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数据部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申旭</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15,720.00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17,253.01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35492372"/>
                  </a:ext>
                </a:extLst>
              </a:tr>
              <a:tr h="135280">
                <a:tc>
                  <a:txBody>
                    <a:bodyPr/>
                    <a:lstStyle/>
                    <a:p>
                      <a:pPr algn="r" fontAlgn="ctr"/>
                      <a:r>
                        <a:rPr lang="en-US" altLang="zh-CN" sz="300" u="none" strike="noStrike">
                          <a:effectLst/>
                        </a:rPr>
                        <a:t>20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赵章硕</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16,160.00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17,693.01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236688545"/>
                  </a:ext>
                </a:extLst>
              </a:tr>
              <a:tr h="135280">
                <a:tc>
                  <a:txBody>
                    <a:bodyPr/>
                    <a:lstStyle/>
                    <a:p>
                      <a:pPr algn="r" fontAlgn="ctr"/>
                      <a:r>
                        <a:rPr lang="en-US" altLang="zh-CN" sz="300" u="none" strike="noStrike">
                          <a:effectLst/>
                        </a:rPr>
                        <a:t>21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张朝阳</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11,120.00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12,653.01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908990989"/>
                  </a:ext>
                </a:extLst>
              </a:tr>
              <a:tr h="135280">
                <a:tc>
                  <a:txBody>
                    <a:bodyPr/>
                    <a:lstStyle/>
                    <a:p>
                      <a:pPr algn="r" fontAlgn="ctr"/>
                      <a:r>
                        <a:rPr lang="en-US" altLang="zh-CN" sz="300" u="none" strike="noStrike">
                          <a:effectLst/>
                        </a:rPr>
                        <a:t>22</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李浩</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17,231.03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18,764.04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447727191"/>
                  </a:ext>
                </a:extLst>
              </a:tr>
              <a:tr h="135280">
                <a:tc>
                  <a:txBody>
                    <a:bodyPr/>
                    <a:lstStyle/>
                    <a:p>
                      <a:pPr algn="r" fontAlgn="ctr"/>
                      <a:r>
                        <a:rPr lang="en-US" altLang="zh-CN" sz="300" u="none" strike="noStrike">
                          <a:effectLst/>
                        </a:rPr>
                        <a:t>23</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王迪</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13,297.24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14,830.25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528688624"/>
                  </a:ext>
                </a:extLst>
              </a:tr>
              <a:tr h="135280">
                <a:tc>
                  <a:txBody>
                    <a:bodyPr/>
                    <a:lstStyle/>
                    <a:p>
                      <a:pPr algn="r" fontAlgn="ctr"/>
                      <a:r>
                        <a:rPr lang="en-US" altLang="zh-CN" sz="300" u="none" strike="noStrike">
                          <a:effectLst/>
                        </a:rPr>
                        <a:t>24</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张干</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14,815.17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16,348.18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321925098"/>
                  </a:ext>
                </a:extLst>
              </a:tr>
              <a:tr h="135280">
                <a:tc>
                  <a:txBody>
                    <a:bodyPr/>
                    <a:lstStyle/>
                    <a:p>
                      <a:pPr algn="r" fontAlgn="ctr"/>
                      <a:r>
                        <a:rPr lang="en-US" altLang="zh-CN" sz="300" u="none" strike="noStrike">
                          <a:effectLst/>
                        </a:rPr>
                        <a:t>25</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测试部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秦梦</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8,920.00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10,453.01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419888666"/>
                  </a:ext>
                </a:extLst>
              </a:tr>
              <a:tr h="135280">
                <a:tc>
                  <a:txBody>
                    <a:bodyPr/>
                    <a:lstStyle/>
                    <a:p>
                      <a:pPr algn="r" fontAlgn="ctr"/>
                      <a:r>
                        <a:rPr lang="en-US" altLang="zh-CN" sz="300" u="none" strike="noStrike">
                          <a:effectLst/>
                        </a:rPr>
                        <a:t>26</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产品部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李杨洋</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7,500.00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689.28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344.64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r>
                        <a:rPr lang="en-US" altLang="zh-CN" sz="200" u="none" strike="noStrike">
                          <a:effectLst/>
                        </a:rPr>
                        <a:t>38.77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30.16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r>
                        <a:rPr lang="en-US" altLang="zh-CN" sz="200" u="none" strike="noStrike">
                          <a:effectLst/>
                        </a:rPr>
                        <a:t>400.00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9,033.01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84532294"/>
                  </a:ext>
                </a:extLst>
              </a:tr>
              <a:tr h="135280">
                <a:tc>
                  <a:txBody>
                    <a:bodyPr/>
                    <a:lstStyle/>
                    <a:p>
                      <a:pPr algn="r" fontAlgn="ctr"/>
                      <a:r>
                        <a:rPr lang="en-US" altLang="zh-CN" sz="300" u="none" strike="noStrike">
                          <a:effectLst/>
                        </a:rPr>
                        <a:t>27</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梁兴宇</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10,270.00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10,270.00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71977820"/>
                  </a:ext>
                </a:extLst>
              </a:tr>
              <a:tr h="135280">
                <a:tc>
                  <a:txBody>
                    <a:bodyPr/>
                    <a:lstStyle/>
                    <a:p>
                      <a:pPr algn="r" fontAlgn="ctr"/>
                      <a:r>
                        <a:rPr lang="en-US" altLang="zh-CN" sz="300" u="none" strike="noStrike">
                          <a:effectLst/>
                        </a:rPr>
                        <a:t>28</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欧嘉薪</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7,450.00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7,450.00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631496258"/>
                  </a:ext>
                </a:extLst>
              </a:tr>
              <a:tr h="135280">
                <a:tc>
                  <a:txBody>
                    <a:bodyPr/>
                    <a:lstStyle/>
                    <a:p>
                      <a:pPr algn="r" fontAlgn="ctr"/>
                      <a:r>
                        <a:rPr lang="en-US" altLang="zh-CN" sz="300" u="none" strike="noStrike">
                          <a:effectLst/>
                        </a:rPr>
                        <a:t>29</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顾家成</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8,370.00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8,370.00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866859387"/>
                  </a:ext>
                </a:extLst>
              </a:tr>
              <a:tr h="135280">
                <a:tc>
                  <a:txBody>
                    <a:bodyPr/>
                    <a:lstStyle/>
                    <a:p>
                      <a:pPr algn="r" fontAlgn="ctr"/>
                      <a:r>
                        <a:rPr lang="en-US" altLang="zh-CN" sz="300" u="none" strike="noStrike">
                          <a:effectLst/>
                        </a:rPr>
                        <a:t>30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平台部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李湖</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8,150.00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8,150.00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941714663"/>
                  </a:ext>
                </a:extLst>
              </a:tr>
              <a:tr h="135280">
                <a:tc>
                  <a:txBody>
                    <a:bodyPr/>
                    <a:lstStyle/>
                    <a:p>
                      <a:pPr algn="r" fontAlgn="ctr"/>
                      <a:r>
                        <a:rPr lang="en-US" altLang="zh-CN" sz="300" u="none" strike="noStrike">
                          <a:effectLst/>
                        </a:rPr>
                        <a:t>31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刘清</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4,917.14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4,917.14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4052858505"/>
                  </a:ext>
                </a:extLst>
              </a:tr>
              <a:tr h="135280">
                <a:tc>
                  <a:txBody>
                    <a:bodyPr/>
                    <a:lstStyle/>
                    <a:p>
                      <a:pPr algn="r" fontAlgn="ctr"/>
                      <a:r>
                        <a:rPr lang="en-US" altLang="zh-CN" sz="300" u="none" strike="noStrike">
                          <a:effectLst/>
                        </a:rPr>
                        <a:t>32</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数据部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秦龙川</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5,320.00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5,320.00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44758312"/>
                  </a:ext>
                </a:extLst>
              </a:tr>
              <a:tr h="135280">
                <a:tc>
                  <a:txBody>
                    <a:bodyPr/>
                    <a:lstStyle/>
                    <a:p>
                      <a:pPr algn="r" fontAlgn="ctr"/>
                      <a:r>
                        <a:rPr lang="en-US" altLang="zh-CN" sz="300" u="none" strike="noStrike">
                          <a:effectLst/>
                        </a:rPr>
                        <a:t>33</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算法部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高越</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13,977.24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b"/>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ctr" fontAlgn="ctr"/>
                      <a:r>
                        <a:rPr lang="zh-CN" altLang="en-US" sz="200" u="none" strike="noStrike">
                          <a:effectLst/>
                        </a:rPr>
                        <a:t>　</a:t>
                      </a:r>
                      <a:endParaRPr lang="zh-CN" altLang="en-US" sz="200" b="0" i="0" u="none" strike="noStrike">
                        <a:solidFill>
                          <a:srgbClr val="022433"/>
                        </a:solidFill>
                        <a:effectLst/>
                        <a:latin typeface="MicrosoftYaHei"/>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22433"/>
                        </a:solidFill>
                        <a:effectLst/>
                        <a:latin typeface="MicrosoftYaHei"/>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13,977.24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4053893617"/>
                  </a:ext>
                </a:extLst>
              </a:tr>
              <a:tr h="135280">
                <a:tc>
                  <a:txBody>
                    <a:bodyPr/>
                    <a:lstStyle/>
                    <a:p>
                      <a:pPr algn="r" fontAlgn="ctr"/>
                      <a:r>
                        <a:rPr lang="en-US" altLang="zh-CN" sz="300" u="none" strike="noStrike">
                          <a:effectLst/>
                        </a:rPr>
                        <a:t>34</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产品研发中心</a:t>
                      </a:r>
                      <a:r>
                        <a:rPr lang="en-US" altLang="zh-CN" sz="300" u="none" strike="noStrike">
                          <a:effectLst/>
                        </a:rPr>
                        <a:t>-</a:t>
                      </a:r>
                      <a:r>
                        <a:rPr lang="zh-CN" altLang="en-US" sz="300" u="none" strike="noStrike">
                          <a:effectLst/>
                        </a:rPr>
                        <a:t>测试部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袁楚渝</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b"/>
                      <a:r>
                        <a:rPr lang="zh-CN" altLang="en-US" sz="200" u="none" strike="noStrike">
                          <a:effectLst/>
                        </a:rPr>
                        <a:t>    </a:t>
                      </a:r>
                      <a:r>
                        <a:rPr lang="en-US" altLang="zh-CN" sz="200" u="none" strike="noStrike">
                          <a:effectLst/>
                        </a:rPr>
                        <a:t>2,820.00 </a:t>
                      </a:r>
                      <a:endParaRPr lang="en-US" altLang="zh-CN"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b"/>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2,820.00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718877082"/>
                  </a:ext>
                </a:extLst>
              </a:tr>
              <a:tr h="135280">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526245077"/>
                  </a:ext>
                </a:extLst>
              </a:tr>
              <a:tr h="135280">
                <a:tc>
                  <a:txBody>
                    <a:bodyPr/>
                    <a:lstStyle/>
                    <a:p>
                      <a:pPr algn="l" fontAlgn="ctr"/>
                      <a:r>
                        <a:rPr lang="zh-CN" altLang="en-US" sz="300" u="none" strike="noStrike">
                          <a:effectLst/>
                        </a:rPr>
                        <a:t>合计</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21</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en-US" altLang="zh-CN" sz="300" u="none" strike="noStrike">
                          <a:effectLst/>
                        </a:rPr>
                        <a:t>0</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453,269.94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18,832.00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9,416.00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824.00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1,059.25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824.00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10,800.00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495,025.19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300" u="none" strike="noStrike">
                          <a:effectLst/>
                        </a:rPr>
                        <a:t>         </a:t>
                      </a:r>
                      <a:r>
                        <a:rPr lang="en-US" altLang="zh-CN" sz="300" u="none" strike="noStrike">
                          <a:effectLst/>
                        </a:rPr>
                        <a:t>-   </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1326897821"/>
                  </a:ext>
                </a:extLst>
              </a:tr>
              <a:tr h="93890">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3821449203"/>
                  </a:ext>
                </a:extLst>
              </a:tr>
              <a:tr h="93890">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l" fontAlgn="ctr"/>
                      <a:r>
                        <a:rPr lang="zh-CN" altLang="en-US" sz="200" u="none" strike="noStrike">
                          <a:effectLst/>
                        </a:rPr>
                        <a:t>　</a:t>
                      </a: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443300953"/>
                  </a:ext>
                </a:extLst>
              </a:tr>
              <a:tr h="121148">
                <a:tc>
                  <a:txBody>
                    <a:bodyPr/>
                    <a:lstStyle/>
                    <a:p>
                      <a:pPr algn="l" fontAlgn="ct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gridSpan="2">
                  <a:txBody>
                    <a:bodyPr/>
                    <a:lstStyle/>
                    <a:p>
                      <a:pPr algn="l" fontAlgn="ctr"/>
                      <a:r>
                        <a:rPr lang="zh-CN" altLang="en-US" sz="300" u="none" strike="noStrike">
                          <a:effectLst/>
                        </a:rPr>
                        <a:t>制表人（人力资源部人员）：</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a:txBody>
                    <a:bodyPr/>
                    <a:lstStyle/>
                    <a:p>
                      <a:pPr algn="ctr" fontAlgn="ctr"/>
                      <a:endParaRPr lang="zh-CN" altLang="en-US" sz="200" b="0" i="0" u="none" strike="noStrike">
                        <a:solidFill>
                          <a:srgbClr val="000000"/>
                        </a:solidFill>
                        <a:effectLst/>
                        <a:latin typeface="宋体" panose="02010600030101010101" pitchFamily="2" charset="-122"/>
                        <a:ea typeface="宋体" panose="02010600030101010101" pitchFamily="2" charset="-122"/>
                      </a:endParaRPr>
                    </a:p>
                  </a:txBody>
                  <a:tcPr marL="2094" marR="2094" marT="2094" marB="0" anchor="ctr"/>
                </a:tc>
                <a:tc>
                  <a:txBody>
                    <a:bodyPr/>
                    <a:lstStyle/>
                    <a:p>
                      <a:pPr algn="ctr"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dirty="0">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dirty="0">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gridSpan="2">
                  <a:txBody>
                    <a:bodyPr/>
                    <a:lstStyle/>
                    <a:p>
                      <a:pPr algn="l" fontAlgn="ctr"/>
                      <a:r>
                        <a:rPr lang="zh-CN" altLang="en-US" sz="300" u="none" strike="noStrike">
                          <a:effectLst/>
                        </a:rPr>
                        <a:t>人力资源负责人：</a:t>
                      </a: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hMerge="1">
                  <a:txBody>
                    <a:bodyPr/>
                    <a:lstStyle/>
                    <a:p>
                      <a:endParaRPr lang="zh-CN" altLang="en-US"/>
                    </a:p>
                  </a:txBody>
                  <a:tcP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dirty="0">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ctr"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300" b="1" i="0" u="none" strike="noStrike">
                        <a:solidFill>
                          <a:srgbClr val="C00000"/>
                        </a:solidFill>
                        <a:effectLst/>
                        <a:latin typeface="微软雅黑" panose="020B0503020204020204" pitchFamily="34" charset="-122"/>
                        <a:ea typeface="微软雅黑" panose="020B0503020204020204" pitchFamily="34" charset="-122"/>
                      </a:endParaRPr>
                    </a:p>
                  </a:txBody>
                  <a:tcPr marL="2094" marR="2094" marT="2094" marB="0" anchor="ctr"/>
                </a:tc>
                <a:tc>
                  <a:txBody>
                    <a:bodyPr/>
                    <a:lstStyle/>
                    <a:p>
                      <a:pPr algn="l" fontAlgn="ctr"/>
                      <a:endParaRPr lang="zh-CN" altLang="en-US" sz="200" b="0" i="0" u="none" strike="noStrike" dirty="0">
                        <a:solidFill>
                          <a:srgbClr val="000000"/>
                        </a:solidFill>
                        <a:effectLst/>
                        <a:latin typeface="宋体" panose="02010600030101010101" pitchFamily="2" charset="-122"/>
                        <a:ea typeface="宋体" panose="02010600030101010101" pitchFamily="2" charset="-122"/>
                      </a:endParaRPr>
                    </a:p>
                  </a:txBody>
                  <a:tcPr marL="2094" marR="2094" marT="2094" marB="0" anchor="ctr"/>
                </a:tc>
                <a:extLst>
                  <a:ext uri="{0D108BD9-81ED-4DB2-BD59-A6C34878D82A}">
                    <a16:rowId xmlns:a16="http://schemas.microsoft.com/office/drawing/2014/main" val="2746134031"/>
                  </a:ext>
                </a:extLst>
              </a:tr>
            </a:tbl>
          </a:graphicData>
        </a:graphic>
      </p:graphicFrame>
    </p:spTree>
    <p:extLst>
      <p:ext uri="{BB962C8B-B14F-4D97-AF65-F5344CB8AC3E}">
        <p14:creationId xmlns:p14="http://schemas.microsoft.com/office/powerpoint/2010/main" val="1051411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9C0AA9-F8B5-42FB-820A-CCD8DF2A800B}"/>
              </a:ext>
            </a:extLst>
          </p:cNvPr>
          <p:cNvSpPr txBox="1"/>
          <p:nvPr/>
        </p:nvSpPr>
        <p:spPr>
          <a:xfrm>
            <a:off x="0" y="0"/>
            <a:ext cx="12192000" cy="461665"/>
          </a:xfrm>
          <a:prstGeom prst="rect">
            <a:avLst/>
          </a:prstGeom>
          <a:solidFill>
            <a:srgbClr val="FFFF00"/>
          </a:solidFill>
        </p:spPr>
        <p:txBody>
          <a:bodyPr wrap="square" rtlCol="0">
            <a:spAutoFit/>
          </a:bodyPr>
          <a:lstStyle/>
          <a:p>
            <a:r>
              <a:rPr lang="zh-CN" altLang="en-US" sz="2400" b="1" dirty="0">
                <a:solidFill>
                  <a:srgbClr val="FF0000"/>
                </a:solidFill>
              </a:rPr>
              <a:t>单研发项目月投入明细表</a:t>
            </a:r>
            <a:r>
              <a:rPr lang="en-US" altLang="zh-CN" sz="2400" b="1" dirty="0">
                <a:solidFill>
                  <a:srgbClr val="FF0000"/>
                </a:solidFill>
              </a:rPr>
              <a:t>5-2-3</a:t>
            </a:r>
            <a:r>
              <a:rPr lang="zh-CN" altLang="en-US" sz="2400" b="1" dirty="0">
                <a:solidFill>
                  <a:srgbClr val="FF0000"/>
                </a:solidFill>
              </a:rPr>
              <a:t>：固定资产折旧</a:t>
            </a:r>
            <a:r>
              <a:rPr lang="en-US" altLang="zh-CN" sz="2400" b="1" dirty="0">
                <a:solidFill>
                  <a:srgbClr val="FF0000"/>
                </a:solidFill>
              </a:rPr>
              <a:t>+</a:t>
            </a:r>
            <a:r>
              <a:rPr lang="zh-CN" altLang="en-US" sz="2400" b="1" dirty="0">
                <a:solidFill>
                  <a:srgbClr val="FF0000"/>
                </a:solidFill>
              </a:rPr>
              <a:t>无形资产摊销</a:t>
            </a:r>
          </a:p>
        </p:txBody>
      </p:sp>
      <p:graphicFrame>
        <p:nvGraphicFramePr>
          <p:cNvPr id="4" name="表格 3">
            <a:extLst>
              <a:ext uri="{FF2B5EF4-FFF2-40B4-BE49-F238E27FC236}">
                <a16:creationId xmlns:a16="http://schemas.microsoft.com/office/drawing/2014/main" id="{E5C3C1BA-3E1F-46EA-9BFC-8649EDCF6087}"/>
              </a:ext>
            </a:extLst>
          </p:cNvPr>
          <p:cNvGraphicFramePr>
            <a:graphicFrameLocks noGrp="1"/>
          </p:cNvGraphicFramePr>
          <p:nvPr>
            <p:extLst>
              <p:ext uri="{D42A27DB-BD31-4B8C-83A1-F6EECF244321}">
                <p14:modId xmlns:p14="http://schemas.microsoft.com/office/powerpoint/2010/main" val="1520657747"/>
              </p:ext>
            </p:extLst>
          </p:nvPr>
        </p:nvGraphicFramePr>
        <p:xfrm>
          <a:off x="191344" y="466075"/>
          <a:ext cx="11737306" cy="6197103"/>
        </p:xfrm>
        <a:graphic>
          <a:graphicData uri="http://schemas.openxmlformats.org/drawingml/2006/table">
            <a:tbl>
              <a:tblPr>
                <a:tableStyleId>{5C22544A-7EE6-4342-B048-85BDC9FD1C3A}</a:tableStyleId>
              </a:tblPr>
              <a:tblGrid>
                <a:gridCol w="814800">
                  <a:extLst>
                    <a:ext uri="{9D8B030D-6E8A-4147-A177-3AD203B41FA5}">
                      <a16:colId xmlns:a16="http://schemas.microsoft.com/office/drawing/2014/main" val="1663218193"/>
                    </a:ext>
                  </a:extLst>
                </a:gridCol>
                <a:gridCol w="1967265">
                  <a:extLst>
                    <a:ext uri="{9D8B030D-6E8A-4147-A177-3AD203B41FA5}">
                      <a16:colId xmlns:a16="http://schemas.microsoft.com/office/drawing/2014/main" val="1580301654"/>
                    </a:ext>
                  </a:extLst>
                </a:gridCol>
                <a:gridCol w="858843">
                  <a:extLst>
                    <a:ext uri="{9D8B030D-6E8A-4147-A177-3AD203B41FA5}">
                      <a16:colId xmlns:a16="http://schemas.microsoft.com/office/drawing/2014/main" val="755025557"/>
                    </a:ext>
                  </a:extLst>
                </a:gridCol>
                <a:gridCol w="1115764">
                  <a:extLst>
                    <a:ext uri="{9D8B030D-6E8A-4147-A177-3AD203B41FA5}">
                      <a16:colId xmlns:a16="http://schemas.microsoft.com/office/drawing/2014/main" val="4106411652"/>
                    </a:ext>
                  </a:extLst>
                </a:gridCol>
                <a:gridCol w="1130445">
                  <a:extLst>
                    <a:ext uri="{9D8B030D-6E8A-4147-A177-3AD203B41FA5}">
                      <a16:colId xmlns:a16="http://schemas.microsoft.com/office/drawing/2014/main" val="2929125324"/>
                    </a:ext>
                  </a:extLst>
                </a:gridCol>
                <a:gridCol w="1159807">
                  <a:extLst>
                    <a:ext uri="{9D8B030D-6E8A-4147-A177-3AD203B41FA5}">
                      <a16:colId xmlns:a16="http://schemas.microsoft.com/office/drawing/2014/main" val="4141239625"/>
                    </a:ext>
                  </a:extLst>
                </a:gridCol>
                <a:gridCol w="1981946">
                  <a:extLst>
                    <a:ext uri="{9D8B030D-6E8A-4147-A177-3AD203B41FA5}">
                      <a16:colId xmlns:a16="http://schemas.microsoft.com/office/drawing/2014/main" val="1136381644"/>
                    </a:ext>
                  </a:extLst>
                </a:gridCol>
                <a:gridCol w="792779">
                  <a:extLst>
                    <a:ext uri="{9D8B030D-6E8A-4147-A177-3AD203B41FA5}">
                      <a16:colId xmlns:a16="http://schemas.microsoft.com/office/drawing/2014/main" val="332383484"/>
                    </a:ext>
                  </a:extLst>
                </a:gridCol>
                <a:gridCol w="836822">
                  <a:extLst>
                    <a:ext uri="{9D8B030D-6E8A-4147-A177-3AD203B41FA5}">
                      <a16:colId xmlns:a16="http://schemas.microsoft.com/office/drawing/2014/main" val="421399421"/>
                    </a:ext>
                  </a:extLst>
                </a:gridCol>
                <a:gridCol w="1012995">
                  <a:extLst>
                    <a:ext uri="{9D8B030D-6E8A-4147-A177-3AD203B41FA5}">
                      <a16:colId xmlns:a16="http://schemas.microsoft.com/office/drawing/2014/main" val="2340824081"/>
                    </a:ext>
                  </a:extLst>
                </a:gridCol>
                <a:gridCol w="65840">
                  <a:extLst>
                    <a:ext uri="{9D8B030D-6E8A-4147-A177-3AD203B41FA5}">
                      <a16:colId xmlns:a16="http://schemas.microsoft.com/office/drawing/2014/main" val="3655121948"/>
                    </a:ext>
                  </a:extLst>
                </a:gridCol>
              </a:tblGrid>
              <a:tr h="140553">
                <a:tc rowSpan="2" gridSpan="9">
                  <a:txBody>
                    <a:bodyPr/>
                    <a:lstStyle/>
                    <a:p>
                      <a:pPr algn="ctr" fontAlgn="ctr"/>
                      <a:r>
                        <a:rPr lang="en-US" altLang="zh-CN" sz="900" u="none" strike="noStrike" dirty="0">
                          <a:effectLst/>
                        </a:rPr>
                        <a:t>4.3.1 </a:t>
                      </a:r>
                      <a:r>
                        <a:rPr lang="zh-CN" altLang="en-US" sz="900" u="none" strike="noStrike" dirty="0">
                          <a:effectLst/>
                        </a:rPr>
                        <a:t>固定资产折旧分摊计算表</a:t>
                      </a:r>
                      <a:endParaRPr lang="zh-CN" altLang="en-US" sz="9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gridSpan="2">
                  <a:txBody>
                    <a:bodyPr/>
                    <a:lstStyle/>
                    <a:p>
                      <a:pPr algn="ctr" fontAlgn="ctr"/>
                      <a:r>
                        <a:rPr lang="zh-CN" altLang="en-US" sz="700" u="none" strike="noStrike">
                          <a:effectLst/>
                        </a:rPr>
                        <a:t>费用期间</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hMerge="1">
                  <a:txBody>
                    <a:bodyPr/>
                    <a:lstStyle/>
                    <a:p>
                      <a:endParaRPr lang="zh-CN" altLang="en-US"/>
                    </a:p>
                  </a:txBody>
                  <a:tcPr/>
                </a:tc>
                <a:extLst>
                  <a:ext uri="{0D108BD9-81ED-4DB2-BD59-A6C34878D82A}">
                    <a16:rowId xmlns:a16="http://schemas.microsoft.com/office/drawing/2014/main" val="2976832915"/>
                  </a:ext>
                </a:extLst>
              </a:tr>
              <a:tr h="140553">
                <a:tc gridSpan="9"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a:txBody>
                    <a:bodyPr/>
                    <a:lstStyle/>
                    <a:p>
                      <a:pPr algn="ctr" fontAlgn="ctr"/>
                      <a:r>
                        <a:rPr lang="en-US" altLang="zh-CN" sz="700" u="none" strike="noStrike">
                          <a:effectLst/>
                        </a:rPr>
                        <a:t>2026</a:t>
                      </a:r>
                      <a:r>
                        <a:rPr lang="zh-CN" altLang="en-US" sz="700" u="none" strike="noStrike">
                          <a:effectLst/>
                        </a:rPr>
                        <a:t>年</a:t>
                      </a:r>
                      <a:r>
                        <a:rPr lang="en-US" altLang="zh-CN" sz="700" u="none" strike="noStrike">
                          <a:effectLst/>
                        </a:rPr>
                        <a:t>1</a:t>
                      </a:r>
                      <a:r>
                        <a:rPr lang="zh-CN" altLang="en-US" sz="700" u="none" strike="noStrike">
                          <a:effectLst/>
                        </a:rPr>
                        <a:t>月</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008075705"/>
                  </a:ext>
                </a:extLst>
              </a:tr>
              <a:tr h="178886">
                <a:tc gridSpan="2">
                  <a:txBody>
                    <a:bodyPr/>
                    <a:lstStyle/>
                    <a:p>
                      <a:pPr algn="ctr" fontAlgn="ctr"/>
                      <a:r>
                        <a:rPr lang="zh-CN" altLang="en-US" sz="800" u="none" strike="noStrike">
                          <a:effectLst/>
                        </a:rPr>
                        <a:t>研发项目（课题）编号：</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hMerge="1">
                  <a:txBody>
                    <a:bodyPr/>
                    <a:lstStyle/>
                    <a:p>
                      <a:endParaRPr lang="zh-CN" altLang="en-US"/>
                    </a:p>
                  </a:txBody>
                  <a:tcPr/>
                </a:tc>
                <a:tc gridSpan="2">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hMerge="1">
                  <a:txBody>
                    <a:bodyPr/>
                    <a:lstStyle/>
                    <a:p>
                      <a:endParaRPr lang="zh-CN" altLang="en-US"/>
                    </a:p>
                  </a:txBody>
                  <a:tcPr/>
                </a:tc>
                <a:tc gridSpan="2">
                  <a:txBody>
                    <a:bodyPr/>
                    <a:lstStyle/>
                    <a:p>
                      <a:pPr algn="ctr" fontAlgn="ctr"/>
                      <a:r>
                        <a:rPr lang="zh-CN" altLang="en-US" sz="800" u="none" strike="noStrike">
                          <a:effectLst/>
                        </a:rPr>
                        <a:t>研发项目（课题）名称：</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hMerge="1">
                  <a:txBody>
                    <a:bodyPr/>
                    <a:lstStyle/>
                    <a:p>
                      <a:endParaRPr lang="zh-CN" altLang="en-US"/>
                    </a:p>
                  </a:txBody>
                  <a:tcPr/>
                </a:tc>
                <a:tc gridSpan="4">
                  <a:txBody>
                    <a:bodyPr/>
                    <a:lstStyle/>
                    <a:p>
                      <a:pPr algn="ctr" fontAlgn="ctr"/>
                      <a:r>
                        <a:rPr lang="zh-CN" altLang="en-US" sz="800" u="none" strike="noStrike">
                          <a:effectLst/>
                        </a:rPr>
                        <a:t>　</a:t>
                      </a:r>
                      <a:endParaRPr lang="zh-CN" altLang="en-US" sz="800" b="1"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4666208"/>
                  </a:ext>
                </a:extLst>
              </a:tr>
              <a:tr h="146942">
                <a:tc rowSpan="2">
                  <a:txBody>
                    <a:bodyPr/>
                    <a:lstStyle/>
                    <a:p>
                      <a:pPr algn="ctr" fontAlgn="ctr"/>
                      <a:r>
                        <a:rPr lang="zh-CN" altLang="en-US" sz="800" u="none" strike="noStrike">
                          <a:effectLst/>
                        </a:rPr>
                        <a:t>序号 </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a:txBody>
                    <a:bodyPr/>
                    <a:lstStyle/>
                    <a:p>
                      <a:pPr algn="ctr" fontAlgn="ctr"/>
                      <a:r>
                        <a:rPr lang="zh-CN" altLang="en-US" sz="800" u="none" strike="noStrike">
                          <a:effectLst/>
                        </a:rPr>
                        <a:t>固定资产名称</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a:txBody>
                    <a:bodyPr/>
                    <a:lstStyle/>
                    <a:p>
                      <a:pPr algn="ctr" fontAlgn="ctr"/>
                      <a:r>
                        <a:rPr lang="zh-CN" altLang="en-US" sz="800" u="none" strike="noStrike">
                          <a:effectLst/>
                        </a:rPr>
                        <a:t> 购置日期</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a:txBody>
                    <a:bodyPr/>
                    <a:lstStyle/>
                    <a:p>
                      <a:pPr algn="ctr" fontAlgn="ctr"/>
                      <a:r>
                        <a:rPr lang="zh-CN" altLang="en-US" sz="800" u="none" strike="noStrike">
                          <a:effectLst/>
                        </a:rPr>
                        <a:t>资产原值</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a:txBody>
                    <a:bodyPr/>
                    <a:lstStyle/>
                    <a:p>
                      <a:pPr algn="ctr" fontAlgn="ctr"/>
                      <a:r>
                        <a:rPr lang="zh-CN" altLang="en-US" sz="800" u="none" strike="noStrike">
                          <a:effectLst/>
                        </a:rPr>
                        <a:t>本年累计折旧</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rowSpan="2">
                  <a:txBody>
                    <a:bodyPr/>
                    <a:lstStyle/>
                    <a:p>
                      <a:pPr algn="ctr" fontAlgn="ctr"/>
                      <a:r>
                        <a:rPr lang="zh-CN" altLang="en-US" sz="800" u="none" strike="noStrike">
                          <a:effectLst/>
                        </a:rPr>
                        <a:t>当月折旧</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dirty="0">
                          <a:effectLst/>
                        </a:rPr>
                        <a:t>研发投入分摊</a:t>
                      </a:r>
                      <a:endParaRPr lang="zh-CN" altLang="en-US" sz="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378271200"/>
                  </a:ext>
                </a:extLst>
              </a:tr>
              <a:tr h="15333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800" u="none" strike="noStrike">
                          <a:effectLst/>
                        </a:rPr>
                        <a:t>投入部位及用途</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使用量</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分摊比例</a:t>
                      </a:r>
                      <a:endParaRPr lang="zh-CN" altLang="en-US" sz="8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金额</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432158115"/>
                  </a:ext>
                </a:extLst>
              </a:tr>
              <a:tr h="129053">
                <a:tc>
                  <a:txBody>
                    <a:bodyPr/>
                    <a:lstStyle/>
                    <a:p>
                      <a:pPr algn="ctr" fontAlgn="ctr"/>
                      <a:r>
                        <a:rPr lang="en-US" altLang="zh-CN" sz="800" u="none" strike="noStrike">
                          <a:effectLst/>
                        </a:rPr>
                        <a:t>1</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电脑整机</a:t>
                      </a:r>
                      <a:r>
                        <a:rPr lang="en-US" altLang="zh-CN" sz="700" u="none" strike="noStrike">
                          <a:effectLst/>
                        </a:rPr>
                        <a:t>-</a:t>
                      </a:r>
                      <a:r>
                        <a:rPr lang="zh-CN" altLang="en-US" sz="700" u="none" strike="noStrike">
                          <a:effectLst/>
                        </a:rPr>
                        <a:t>程序开发</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en-US" altLang="zh-CN" sz="700" u="none" strike="noStrike">
                          <a:effectLst/>
                        </a:rPr>
                        <a:t>100%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213.86</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696332430"/>
                  </a:ext>
                </a:extLst>
              </a:tr>
              <a:tr h="146942">
                <a:tc>
                  <a:txBody>
                    <a:bodyPr/>
                    <a:lstStyle/>
                    <a:p>
                      <a:pPr algn="ctr" fontAlgn="ctr"/>
                      <a:r>
                        <a:rPr lang="en-US" altLang="zh-CN" sz="800" u="none" strike="noStrike">
                          <a:effectLst/>
                        </a:rPr>
                        <a:t>2</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电脑整机</a:t>
                      </a:r>
                      <a:r>
                        <a:rPr lang="en-US" altLang="zh-CN" sz="700" u="none" strike="noStrike">
                          <a:effectLst/>
                        </a:rPr>
                        <a:t>-</a:t>
                      </a:r>
                      <a:r>
                        <a:rPr lang="zh-CN" altLang="en-US" sz="700" u="none" strike="noStrike">
                          <a:effectLst/>
                        </a:rPr>
                        <a:t>程序测试</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919460832"/>
                  </a:ext>
                </a:extLst>
              </a:tr>
              <a:tr h="129053">
                <a:tc>
                  <a:txBody>
                    <a:bodyPr/>
                    <a:lstStyle/>
                    <a:p>
                      <a:pPr algn="ctr" fontAlgn="ctr"/>
                      <a:r>
                        <a:rPr lang="en-US" altLang="zh-CN" sz="800" u="none" strike="noStrike">
                          <a:effectLst/>
                        </a:rPr>
                        <a:t>3</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7,899.00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141564251"/>
                  </a:ext>
                </a:extLst>
              </a:tr>
              <a:tr h="129053">
                <a:tc>
                  <a:txBody>
                    <a:bodyPr/>
                    <a:lstStyle/>
                    <a:p>
                      <a:pPr algn="ctr" fontAlgn="ctr"/>
                      <a:r>
                        <a:rPr lang="en-US" altLang="zh-CN" sz="800" u="none" strike="noStrike">
                          <a:effectLst/>
                        </a:rPr>
                        <a:t>4</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7,899.00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219.42</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71449566"/>
                  </a:ext>
                </a:extLst>
              </a:tr>
              <a:tr h="129053">
                <a:tc>
                  <a:txBody>
                    <a:bodyPr/>
                    <a:lstStyle/>
                    <a:p>
                      <a:pPr algn="ctr" fontAlgn="ctr"/>
                      <a:r>
                        <a:rPr lang="en-US" altLang="zh-CN" sz="800" u="none" strike="noStrike">
                          <a:effectLst/>
                        </a:rPr>
                        <a:t>5</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899655281"/>
                  </a:ext>
                </a:extLst>
              </a:tr>
              <a:tr h="129053">
                <a:tc>
                  <a:txBody>
                    <a:bodyPr/>
                    <a:lstStyle/>
                    <a:p>
                      <a:pPr algn="ctr" fontAlgn="ctr"/>
                      <a:r>
                        <a:rPr lang="en-US" altLang="zh-CN" sz="800" u="none" strike="noStrike">
                          <a:effectLst/>
                        </a:rPr>
                        <a:t>6</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165104492"/>
                  </a:ext>
                </a:extLst>
              </a:tr>
              <a:tr h="129053">
                <a:tc>
                  <a:txBody>
                    <a:bodyPr/>
                    <a:lstStyle/>
                    <a:p>
                      <a:pPr algn="ctr" fontAlgn="ctr"/>
                      <a:r>
                        <a:rPr lang="en-US" altLang="zh-CN" sz="800" u="none" strike="noStrike">
                          <a:effectLst/>
                        </a:rPr>
                        <a:t>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982893529"/>
                  </a:ext>
                </a:extLst>
              </a:tr>
              <a:tr h="129053">
                <a:tc>
                  <a:txBody>
                    <a:bodyPr/>
                    <a:lstStyle/>
                    <a:p>
                      <a:pPr algn="ctr" fontAlgn="ctr"/>
                      <a:r>
                        <a:rPr lang="en-US" altLang="zh-CN" sz="800" u="none" strike="noStrike">
                          <a:effectLst/>
                        </a:rPr>
                        <a:t>8</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167255461"/>
                  </a:ext>
                </a:extLst>
              </a:tr>
              <a:tr h="129053">
                <a:tc>
                  <a:txBody>
                    <a:bodyPr/>
                    <a:lstStyle/>
                    <a:p>
                      <a:pPr algn="ctr" fontAlgn="ctr"/>
                      <a:r>
                        <a:rPr lang="en-US" altLang="zh-CN" sz="800" u="none" strike="noStrike">
                          <a:effectLst/>
                        </a:rPr>
                        <a:t>9</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触摸一体机</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9,380.00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260.56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260.56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260.56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96634424"/>
                  </a:ext>
                </a:extLst>
              </a:tr>
              <a:tr h="129053">
                <a:tc>
                  <a:txBody>
                    <a:bodyPr/>
                    <a:lstStyle/>
                    <a:p>
                      <a:pPr algn="ctr" fontAlgn="ctr"/>
                      <a:r>
                        <a:rPr lang="en-US" altLang="zh-CN" sz="800" u="none" strike="noStrike">
                          <a:effectLst/>
                        </a:rPr>
                        <a:t>10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575315916"/>
                  </a:ext>
                </a:extLst>
              </a:tr>
              <a:tr h="129053">
                <a:tc>
                  <a:txBody>
                    <a:bodyPr/>
                    <a:lstStyle/>
                    <a:p>
                      <a:pPr algn="ctr" fontAlgn="ctr"/>
                      <a:r>
                        <a:rPr lang="en-US" altLang="zh-CN" sz="800" u="none" strike="noStrike">
                          <a:effectLst/>
                        </a:rPr>
                        <a:t>11</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001748248"/>
                  </a:ext>
                </a:extLst>
              </a:tr>
              <a:tr h="129053">
                <a:tc>
                  <a:txBody>
                    <a:bodyPr/>
                    <a:lstStyle/>
                    <a:p>
                      <a:pPr algn="ctr" fontAlgn="ctr"/>
                      <a:r>
                        <a:rPr lang="en-US" altLang="zh-CN" sz="800" u="none" strike="noStrike">
                          <a:effectLst/>
                        </a:rPr>
                        <a:t>12</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947417450"/>
                  </a:ext>
                </a:extLst>
              </a:tr>
              <a:tr h="129053">
                <a:tc>
                  <a:txBody>
                    <a:bodyPr/>
                    <a:lstStyle/>
                    <a:p>
                      <a:pPr algn="ctr" fontAlgn="ctr"/>
                      <a:r>
                        <a:rPr lang="en-US" altLang="zh-CN" sz="800" u="none" strike="noStrike">
                          <a:effectLst/>
                        </a:rPr>
                        <a:t>13</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184991780"/>
                  </a:ext>
                </a:extLst>
              </a:tr>
              <a:tr h="129053">
                <a:tc>
                  <a:txBody>
                    <a:bodyPr/>
                    <a:lstStyle/>
                    <a:p>
                      <a:pPr algn="ctr" fontAlgn="ctr"/>
                      <a:r>
                        <a:rPr lang="en-US" altLang="zh-CN" sz="800" u="none" strike="noStrike">
                          <a:effectLst/>
                        </a:rPr>
                        <a:t>14</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4,980.00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138.33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138.33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138.33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768299636"/>
                  </a:ext>
                </a:extLst>
              </a:tr>
              <a:tr h="129053">
                <a:tc>
                  <a:txBody>
                    <a:bodyPr/>
                    <a:lstStyle/>
                    <a:p>
                      <a:pPr algn="ctr" fontAlgn="ctr"/>
                      <a:r>
                        <a:rPr lang="en-US" altLang="zh-CN" sz="800" u="none" strike="noStrike">
                          <a:effectLst/>
                        </a:rPr>
                        <a:t>15</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2,980.00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604918483"/>
                  </a:ext>
                </a:extLst>
              </a:tr>
              <a:tr h="129053">
                <a:tc>
                  <a:txBody>
                    <a:bodyPr/>
                    <a:lstStyle/>
                    <a:p>
                      <a:pPr algn="ctr" fontAlgn="ctr"/>
                      <a:r>
                        <a:rPr lang="en-US" altLang="zh-CN" sz="800" u="none" strike="noStrike">
                          <a:effectLst/>
                        </a:rPr>
                        <a:t>16</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47359094"/>
                  </a:ext>
                </a:extLst>
              </a:tr>
              <a:tr h="129053">
                <a:tc>
                  <a:txBody>
                    <a:bodyPr/>
                    <a:lstStyle/>
                    <a:p>
                      <a:pPr algn="ctr" fontAlgn="ctr"/>
                      <a:r>
                        <a:rPr lang="en-US" altLang="zh-CN" sz="800" u="none" strike="noStrike">
                          <a:effectLst/>
                        </a:rPr>
                        <a:t>17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932480526"/>
                  </a:ext>
                </a:extLst>
              </a:tr>
              <a:tr h="134164">
                <a:tc>
                  <a:txBody>
                    <a:bodyPr/>
                    <a:lstStyle/>
                    <a:p>
                      <a:pPr algn="ctr" fontAlgn="ctr"/>
                      <a:r>
                        <a:rPr lang="en-US" altLang="zh-CN" sz="800" u="none" strike="noStrike">
                          <a:effectLst/>
                        </a:rPr>
                        <a:t>18</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 </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565930745"/>
                  </a:ext>
                </a:extLst>
              </a:tr>
              <a:tr h="134164">
                <a:tc>
                  <a:txBody>
                    <a:bodyPr/>
                    <a:lstStyle/>
                    <a:p>
                      <a:pPr algn="ctr" fontAlgn="ctr"/>
                      <a:r>
                        <a:rPr lang="en-US" altLang="zh-CN" sz="800" u="none" strike="noStrike">
                          <a:effectLst/>
                        </a:rPr>
                        <a:t>19</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2,980.00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854651886"/>
                  </a:ext>
                </a:extLst>
              </a:tr>
              <a:tr h="134164">
                <a:tc>
                  <a:txBody>
                    <a:bodyPr/>
                    <a:lstStyle/>
                    <a:p>
                      <a:pPr algn="ctr" fontAlgn="ctr"/>
                      <a:r>
                        <a:rPr lang="en-US" altLang="zh-CN" sz="800" u="none" strike="noStrike">
                          <a:effectLst/>
                        </a:rPr>
                        <a:t>20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sz="700" u="none" strike="noStrike">
                          <a:effectLst/>
                        </a:rPr>
                        <a:t>MacBook Air </a:t>
                      </a:r>
                      <a:endParaRPr 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7,999.00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219.97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219.97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219.97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7742956"/>
                  </a:ext>
                </a:extLst>
              </a:tr>
              <a:tr h="129053">
                <a:tc>
                  <a:txBody>
                    <a:bodyPr/>
                    <a:lstStyle/>
                    <a:p>
                      <a:pPr algn="ctr" fontAlgn="ctr"/>
                      <a:r>
                        <a:rPr lang="en-US" altLang="zh-CN" sz="800" u="none" strike="noStrike">
                          <a:effectLst/>
                        </a:rPr>
                        <a:t>21</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2,980.00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82.78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4138256352"/>
                  </a:ext>
                </a:extLst>
              </a:tr>
              <a:tr h="129053">
                <a:tc>
                  <a:txBody>
                    <a:bodyPr/>
                    <a:lstStyle/>
                    <a:p>
                      <a:pPr algn="ctr" fontAlgn="ctr"/>
                      <a:r>
                        <a:rPr lang="en-US" altLang="zh-CN" sz="800" u="none" strike="noStrike">
                          <a:effectLst/>
                        </a:rPr>
                        <a:t>22</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812663566"/>
                  </a:ext>
                </a:extLst>
              </a:tr>
              <a:tr h="129053">
                <a:tc>
                  <a:txBody>
                    <a:bodyPr/>
                    <a:lstStyle/>
                    <a:p>
                      <a:pPr algn="ctr" fontAlgn="ctr"/>
                      <a:r>
                        <a:rPr lang="en-US" altLang="zh-CN" sz="800" u="none" strike="noStrike">
                          <a:effectLst/>
                        </a:rPr>
                        <a:t>23</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296247841"/>
                  </a:ext>
                </a:extLst>
              </a:tr>
              <a:tr h="129053">
                <a:tc>
                  <a:txBody>
                    <a:bodyPr/>
                    <a:lstStyle/>
                    <a:p>
                      <a:pPr algn="ctr" fontAlgn="ctr"/>
                      <a:r>
                        <a:rPr lang="en-US" altLang="zh-CN" sz="800" u="none" strike="noStrike">
                          <a:effectLst/>
                        </a:rPr>
                        <a:t>24</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302661289"/>
                  </a:ext>
                </a:extLst>
              </a:tr>
              <a:tr h="129053">
                <a:tc>
                  <a:txBody>
                    <a:bodyPr/>
                    <a:lstStyle/>
                    <a:p>
                      <a:pPr algn="ctr" fontAlgn="ctr"/>
                      <a:r>
                        <a:rPr lang="en-US" altLang="zh-CN" sz="800" u="none" strike="noStrike">
                          <a:effectLst/>
                        </a:rPr>
                        <a:t>25</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902194992"/>
                  </a:ext>
                </a:extLst>
              </a:tr>
              <a:tr h="129053">
                <a:tc>
                  <a:txBody>
                    <a:bodyPr/>
                    <a:lstStyle/>
                    <a:p>
                      <a:pPr algn="ctr" fontAlgn="ctr"/>
                      <a:r>
                        <a:rPr lang="en-US" altLang="zh-CN" sz="800" u="none" strike="noStrike">
                          <a:effectLst/>
                        </a:rPr>
                        <a:t>26</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722659670"/>
                  </a:ext>
                </a:extLst>
              </a:tr>
              <a:tr h="129053">
                <a:tc>
                  <a:txBody>
                    <a:bodyPr/>
                    <a:lstStyle/>
                    <a:p>
                      <a:pPr algn="ctr" fontAlgn="ctr"/>
                      <a:r>
                        <a:rPr lang="en-US" altLang="zh-CN" sz="800" u="none" strike="noStrike">
                          <a:effectLst/>
                        </a:rPr>
                        <a:t>27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2025.8</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7,699.00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4097340265"/>
                  </a:ext>
                </a:extLst>
              </a:tr>
              <a:tr h="129053">
                <a:tc>
                  <a:txBody>
                    <a:bodyPr/>
                    <a:lstStyle/>
                    <a:p>
                      <a:pPr algn="ctr" fontAlgn="ctr"/>
                      <a:r>
                        <a:rPr lang="en-US" altLang="zh-CN" sz="800" u="none" strike="noStrike">
                          <a:effectLst/>
                        </a:rPr>
                        <a:t>28</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2025.9</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7,500.00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208.33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208.33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208.33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631238561"/>
                  </a:ext>
                </a:extLst>
              </a:tr>
              <a:tr h="129053">
                <a:tc>
                  <a:txBody>
                    <a:bodyPr/>
                    <a:lstStyle/>
                    <a:p>
                      <a:pPr algn="ctr" fontAlgn="ctr"/>
                      <a:r>
                        <a:rPr lang="en-US" altLang="zh-CN" sz="800" u="none" strike="noStrike">
                          <a:effectLst/>
                        </a:rPr>
                        <a:t>29</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13,500.00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800" u="none" strike="noStrike">
                          <a:effectLst/>
                        </a:rPr>
                        <a:t>356.25</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800" u="none" strike="noStrike">
                          <a:effectLst/>
                        </a:rPr>
                        <a:t>356.25</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356.25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425145722"/>
                  </a:ext>
                </a:extLst>
              </a:tr>
              <a:tr h="129053">
                <a:tc>
                  <a:txBody>
                    <a:bodyPr/>
                    <a:lstStyle/>
                    <a:p>
                      <a:pPr algn="ctr" fontAlgn="ctr"/>
                      <a:r>
                        <a:rPr lang="en-US" altLang="zh-CN" sz="800" u="none" strike="noStrike">
                          <a:effectLst/>
                        </a:rPr>
                        <a:t>30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6,800.00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179.44</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179.44</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179.44</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357452769"/>
                  </a:ext>
                </a:extLst>
              </a:tr>
              <a:tr h="129053">
                <a:tc>
                  <a:txBody>
                    <a:bodyPr/>
                    <a:lstStyle/>
                    <a:p>
                      <a:pPr algn="ctr" fontAlgn="ctr"/>
                      <a:r>
                        <a:rPr lang="en-US" altLang="zh-CN" sz="800" u="none" strike="noStrike">
                          <a:effectLst/>
                        </a:rPr>
                        <a:t>31</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平板电脑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9,600.00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253.33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253.33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253.33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869748352"/>
                  </a:ext>
                </a:extLst>
              </a:tr>
              <a:tr h="129053">
                <a:tc>
                  <a:txBody>
                    <a:bodyPr/>
                    <a:lstStyle/>
                    <a:p>
                      <a:pPr algn="ctr" fontAlgn="ctr"/>
                      <a:r>
                        <a:rPr lang="en-US" altLang="zh-CN" sz="800" u="none" strike="noStrike">
                          <a:effectLst/>
                        </a:rPr>
                        <a:t>32</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笔记本电脑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11,960.00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315.61</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315.61</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315.61</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338290089"/>
                  </a:ext>
                </a:extLst>
              </a:tr>
              <a:tr h="129053">
                <a:tc>
                  <a:txBody>
                    <a:bodyPr/>
                    <a:lstStyle/>
                    <a:p>
                      <a:pPr algn="ctr" fontAlgn="ctr"/>
                      <a:r>
                        <a:rPr lang="en-US" altLang="zh-CN" sz="800" u="none" strike="noStrike">
                          <a:effectLst/>
                        </a:rPr>
                        <a:t>33</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计算机配套产品</a:t>
                      </a:r>
                      <a:r>
                        <a:rPr lang="en-US" altLang="zh-CN" sz="700" u="none" strike="noStrike">
                          <a:effectLst/>
                        </a:rPr>
                        <a:t>-</a:t>
                      </a:r>
                      <a:r>
                        <a:rPr lang="zh-CN" altLang="en-US" sz="700" u="none" strike="noStrike">
                          <a:effectLst/>
                        </a:rPr>
                        <a:t>显卡</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2,650.00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69.93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69.93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69.93</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40247569"/>
                  </a:ext>
                </a:extLst>
              </a:tr>
              <a:tr h="129053">
                <a:tc>
                  <a:txBody>
                    <a:bodyPr/>
                    <a:lstStyle/>
                    <a:p>
                      <a:pPr algn="ctr" fontAlgn="ctr"/>
                      <a:r>
                        <a:rPr lang="en-US" altLang="zh-CN" sz="800" u="none" strike="noStrike">
                          <a:effectLst/>
                        </a:rPr>
                        <a:t>34</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笔记本电脑</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b"/>
                </a:tc>
                <a:tc>
                  <a:txBody>
                    <a:bodyPr/>
                    <a:lstStyle/>
                    <a:p>
                      <a:pPr algn="ctr" fontAlgn="ctr"/>
                      <a:r>
                        <a:rPr lang="en-US" altLang="zh-CN" sz="700" u="none" strike="noStrike">
                          <a:effectLst/>
                        </a:rPr>
                        <a:t>2025.11</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15,998.00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800" u="none" strike="noStrike">
                          <a:effectLst/>
                        </a:rPr>
                        <a:t>422.17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422.17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422.17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776611012"/>
                  </a:ext>
                </a:extLst>
              </a:tr>
              <a:tr h="129053">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l" fontAlgn="ctr"/>
                      <a:r>
                        <a:rPr lang="zh-CN" altLang="en-US" sz="700" u="none" strike="noStrike">
                          <a:effectLst/>
                        </a:rPr>
                        <a:t>算力服务器电脑</a:t>
                      </a:r>
                      <a:endParaRPr lang="zh-CN" altLang="en-US" sz="700" b="0" i="0" u="none" strike="noStrike">
                        <a:solidFill>
                          <a:srgbClr val="022433"/>
                        </a:solidFill>
                        <a:effectLst/>
                        <a:latin typeface="Arial" panose="020B0604020202020204" pitchFamily="34" charset="0"/>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2025.11</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34,430.00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800" u="none" strike="noStrike">
                          <a:effectLst/>
                        </a:rPr>
                        <a:t>908.57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800" u="none" strike="noStrike">
                          <a:effectLst/>
                        </a:rPr>
                        <a:t>908.57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908.57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921899998"/>
                  </a:ext>
                </a:extLst>
              </a:tr>
              <a:tr h="129053">
                <a:tc>
                  <a:txBody>
                    <a:bodyPr/>
                    <a:lstStyle/>
                    <a:p>
                      <a:pPr algn="ctr" fontAlgn="ctr"/>
                      <a:r>
                        <a:rPr lang="en-US" altLang="zh-CN" sz="800" u="none" strike="noStrike">
                          <a:effectLst/>
                        </a:rPr>
                        <a:t>36</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sz="700" u="none" strike="noStrike">
                          <a:effectLst/>
                        </a:rPr>
                        <a:t>PandaX</a:t>
                      </a:r>
                      <a:r>
                        <a:rPr lang="zh-CN" altLang="en-US" sz="700" u="none" strike="noStrike">
                          <a:effectLst/>
                        </a:rPr>
                        <a:t>物联网平台旗舰版</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2025.4</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17,000.00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141.67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141.67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物联网软件</a:t>
                      </a:r>
                      <a:r>
                        <a:rPr lang="en-US" altLang="zh-CN" sz="700" u="none" strike="noStrike">
                          <a:effectLst/>
                        </a:rPr>
                        <a:t>-</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141.67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791145720"/>
                  </a:ext>
                </a:extLst>
              </a:tr>
              <a:tr h="129053">
                <a:tc>
                  <a:txBody>
                    <a:bodyPr/>
                    <a:lstStyle/>
                    <a:p>
                      <a:pPr algn="ctr" fontAlgn="ctr"/>
                      <a:r>
                        <a:rPr lang="en-US" altLang="zh-CN" sz="800" u="none" strike="noStrike">
                          <a:effectLst/>
                        </a:rPr>
                        <a:t>37</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剑企商标</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2025.5</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7,208.00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71.37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71.37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商标使用权</a:t>
                      </a:r>
                      <a:r>
                        <a:rPr lang="en-US" altLang="zh-CN" sz="700" u="none" strike="noStrike">
                          <a:effectLst/>
                        </a:rPr>
                        <a:t>-</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71.37</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302783681"/>
                  </a:ext>
                </a:extLst>
              </a:tr>
              <a:tr h="129053">
                <a:tc>
                  <a:txBody>
                    <a:bodyPr/>
                    <a:lstStyle/>
                    <a:p>
                      <a:pPr algn="ctr" fontAlgn="ctr"/>
                      <a:r>
                        <a:rPr lang="en-US" altLang="zh-CN" sz="800" u="none" strike="noStrike">
                          <a:effectLst/>
                        </a:rPr>
                        <a:t>38</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剑企商标</a:t>
                      </a:r>
                      <a:r>
                        <a:rPr lang="en-US" altLang="zh-CN" sz="700" u="none" strike="noStrike">
                          <a:effectLst/>
                        </a:rPr>
                        <a:t>-</a:t>
                      </a:r>
                      <a:r>
                        <a:rPr lang="zh-CN" altLang="en-US" sz="700" u="none" strike="noStrike">
                          <a:effectLst/>
                        </a:rPr>
                        <a:t>补提折旧</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2025.6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7,208.00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499.59</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en-US" altLang="zh-CN" sz="700" u="none" strike="noStrike">
                          <a:effectLst/>
                        </a:rPr>
                        <a:t>499.59</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商标使用权</a:t>
                      </a:r>
                      <a:r>
                        <a:rPr lang="en-US" altLang="zh-CN" sz="700" u="none" strike="noStrike">
                          <a:effectLst/>
                        </a:rPr>
                        <a:t>-</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en-US" altLang="zh-CN" sz="700" u="none" strike="noStrike">
                          <a:effectLst/>
                        </a:rPr>
                        <a:t>499.59</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en-US" altLang="zh-CN" sz="700" u="none" strike="noStrike">
                          <a:effectLst/>
                        </a:rPr>
                        <a:t>0</a:t>
                      </a:r>
                      <a:endParaRPr lang="en-US" altLang="zh-CN"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3724885174"/>
                  </a:ext>
                </a:extLst>
              </a:tr>
              <a:tr h="129053">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b"/>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b"/>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b"/>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1603782484"/>
                  </a:ext>
                </a:extLst>
              </a:tr>
              <a:tr h="118831">
                <a:tc>
                  <a:txBody>
                    <a:bodyPr/>
                    <a:lstStyle/>
                    <a:p>
                      <a:pPr algn="ctr" fontAlgn="ctr"/>
                      <a:r>
                        <a:rPr lang="zh-CN" altLang="en-US" sz="700" u="none" strike="noStrike">
                          <a:effectLst/>
                        </a:rPr>
                        <a:t>合计</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327,232.00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8,664.56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8,664.56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8,664.56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en-US" altLang="zh-CN" sz="700" u="none" strike="noStrike">
                          <a:effectLst/>
                        </a:rPr>
                        <a:t>213.86</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2427171029"/>
                  </a:ext>
                </a:extLst>
              </a:tr>
              <a:tr h="251718">
                <a:tc>
                  <a:txBody>
                    <a:bodyPr/>
                    <a:lstStyle/>
                    <a:p>
                      <a:pPr algn="ctr" fontAlgn="ctr"/>
                      <a:r>
                        <a:rPr lang="zh-CN" altLang="en-US" sz="800" u="none" strike="noStrike">
                          <a:effectLst/>
                        </a:rPr>
                        <a:t>制表人：</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研发项目（课题）负责人：</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资产归口管理部门：</a:t>
                      </a:r>
                      <a:endParaRPr lang="zh-CN" altLang="en-US" sz="800" b="1" i="0" u="none" strike="noStrike">
                        <a:solidFill>
                          <a:srgbClr val="C00000"/>
                        </a:solidFill>
                        <a:effectLst/>
                        <a:latin typeface="微软雅黑" panose="020B0503020204020204" pitchFamily="34" charset="-122"/>
                        <a:ea typeface="微软雅黑" panose="020B0503020204020204" pitchFamily="34"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389" marR="6389" marT="6389" marB="0" anchor="ctr"/>
                </a:tc>
                <a:tc>
                  <a:txBody>
                    <a:bodyPr/>
                    <a:lstStyle/>
                    <a:p>
                      <a:pPr algn="ctr" fontAlgn="ctr"/>
                      <a:r>
                        <a:rPr lang="zh-CN" altLang="en-US" sz="800" u="none" strike="noStrike" dirty="0">
                          <a:effectLst/>
                        </a:rPr>
                        <a:t>　</a:t>
                      </a:r>
                      <a:endParaRPr lang="zh-CN" altLang="en-US" sz="800" b="0" i="0" u="none" strike="noStrike" dirty="0">
                        <a:solidFill>
                          <a:srgbClr val="000000"/>
                        </a:solidFill>
                        <a:effectLst/>
                        <a:latin typeface="宋体" panose="02010600030101010101" pitchFamily="2" charset="-122"/>
                        <a:ea typeface="宋体" panose="02010600030101010101" pitchFamily="2" charset="-122"/>
                      </a:endParaRPr>
                    </a:p>
                  </a:txBody>
                  <a:tcPr marL="6389" marR="6389" marT="6389" marB="0" anchor="ctr"/>
                </a:tc>
                <a:extLst>
                  <a:ext uri="{0D108BD9-81ED-4DB2-BD59-A6C34878D82A}">
                    <a16:rowId xmlns:a16="http://schemas.microsoft.com/office/drawing/2014/main" val="721889023"/>
                  </a:ext>
                </a:extLst>
              </a:tr>
            </a:tbl>
          </a:graphicData>
        </a:graphic>
      </p:graphicFrame>
    </p:spTree>
    <p:extLst>
      <p:ext uri="{BB962C8B-B14F-4D97-AF65-F5344CB8AC3E}">
        <p14:creationId xmlns:p14="http://schemas.microsoft.com/office/powerpoint/2010/main" val="22494070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D9C0AA9-F8B5-42FB-820A-CCD8DF2A800B}"/>
              </a:ext>
            </a:extLst>
          </p:cNvPr>
          <p:cNvSpPr txBox="1"/>
          <p:nvPr/>
        </p:nvSpPr>
        <p:spPr>
          <a:xfrm>
            <a:off x="0" y="0"/>
            <a:ext cx="11208568" cy="461665"/>
          </a:xfrm>
          <a:prstGeom prst="rect">
            <a:avLst/>
          </a:prstGeom>
          <a:solidFill>
            <a:srgbClr val="FFFF00"/>
          </a:solidFill>
        </p:spPr>
        <p:txBody>
          <a:bodyPr wrap="square" rtlCol="0">
            <a:spAutoFit/>
          </a:bodyPr>
          <a:lstStyle/>
          <a:p>
            <a:r>
              <a:rPr lang="zh-CN" altLang="en-US" sz="2400" b="1" dirty="0">
                <a:solidFill>
                  <a:srgbClr val="FF0000"/>
                </a:solidFill>
              </a:rPr>
              <a:t>研发费用台账</a:t>
            </a:r>
            <a:r>
              <a:rPr lang="en-US" altLang="zh-CN" sz="2400" b="1" dirty="0">
                <a:solidFill>
                  <a:srgbClr val="FF0000"/>
                </a:solidFill>
              </a:rPr>
              <a:t>-</a:t>
            </a:r>
            <a:r>
              <a:rPr lang="zh-CN" altLang="en-US" sz="2400" b="1" dirty="0">
                <a:solidFill>
                  <a:srgbClr val="FF0000"/>
                </a:solidFill>
              </a:rPr>
              <a:t>多项目汇总表</a:t>
            </a:r>
            <a:r>
              <a:rPr lang="en-US" altLang="zh-CN" sz="2400" b="1" dirty="0">
                <a:solidFill>
                  <a:srgbClr val="FF0000"/>
                </a:solidFill>
              </a:rPr>
              <a:t>5-3</a:t>
            </a:r>
            <a:r>
              <a:rPr lang="zh-CN" altLang="en-US" sz="2400" b="1" dirty="0">
                <a:solidFill>
                  <a:srgbClr val="FF0000"/>
                </a:solidFill>
              </a:rPr>
              <a:t>：全部研发项目、研发费用投入统计（按月）</a:t>
            </a:r>
          </a:p>
        </p:txBody>
      </p:sp>
      <p:graphicFrame>
        <p:nvGraphicFramePr>
          <p:cNvPr id="3" name="表格 2">
            <a:extLst>
              <a:ext uri="{FF2B5EF4-FFF2-40B4-BE49-F238E27FC236}">
                <a16:creationId xmlns:a16="http://schemas.microsoft.com/office/drawing/2014/main" id="{05924E6B-DA97-4303-A488-EFB9EEB33AC8}"/>
              </a:ext>
            </a:extLst>
          </p:cNvPr>
          <p:cNvGraphicFramePr>
            <a:graphicFrameLocks noGrp="1"/>
          </p:cNvGraphicFramePr>
          <p:nvPr>
            <p:extLst>
              <p:ext uri="{D42A27DB-BD31-4B8C-83A1-F6EECF244321}">
                <p14:modId xmlns:p14="http://schemas.microsoft.com/office/powerpoint/2010/main" val="3933661547"/>
              </p:ext>
            </p:extLst>
          </p:nvPr>
        </p:nvGraphicFramePr>
        <p:xfrm>
          <a:off x="335360" y="548680"/>
          <a:ext cx="11665292" cy="5976684"/>
        </p:xfrm>
        <a:graphic>
          <a:graphicData uri="http://schemas.openxmlformats.org/drawingml/2006/table">
            <a:tbl>
              <a:tblPr>
                <a:tableStyleId>{5C22544A-7EE6-4342-B048-85BDC9FD1C3A}</a:tableStyleId>
              </a:tblPr>
              <a:tblGrid>
                <a:gridCol w="729799">
                  <a:extLst>
                    <a:ext uri="{9D8B030D-6E8A-4147-A177-3AD203B41FA5}">
                      <a16:colId xmlns:a16="http://schemas.microsoft.com/office/drawing/2014/main" val="205493685"/>
                    </a:ext>
                  </a:extLst>
                </a:gridCol>
                <a:gridCol w="718307">
                  <a:extLst>
                    <a:ext uri="{9D8B030D-6E8A-4147-A177-3AD203B41FA5}">
                      <a16:colId xmlns:a16="http://schemas.microsoft.com/office/drawing/2014/main" val="759705059"/>
                    </a:ext>
                  </a:extLst>
                </a:gridCol>
                <a:gridCol w="729799">
                  <a:extLst>
                    <a:ext uri="{9D8B030D-6E8A-4147-A177-3AD203B41FA5}">
                      <a16:colId xmlns:a16="http://schemas.microsoft.com/office/drawing/2014/main" val="3490741054"/>
                    </a:ext>
                  </a:extLst>
                </a:gridCol>
                <a:gridCol w="729799">
                  <a:extLst>
                    <a:ext uri="{9D8B030D-6E8A-4147-A177-3AD203B41FA5}">
                      <a16:colId xmlns:a16="http://schemas.microsoft.com/office/drawing/2014/main" val="2973305462"/>
                    </a:ext>
                  </a:extLst>
                </a:gridCol>
                <a:gridCol w="729799">
                  <a:extLst>
                    <a:ext uri="{9D8B030D-6E8A-4147-A177-3AD203B41FA5}">
                      <a16:colId xmlns:a16="http://schemas.microsoft.com/office/drawing/2014/main" val="4257057078"/>
                    </a:ext>
                  </a:extLst>
                </a:gridCol>
                <a:gridCol w="729799">
                  <a:extLst>
                    <a:ext uri="{9D8B030D-6E8A-4147-A177-3AD203B41FA5}">
                      <a16:colId xmlns:a16="http://schemas.microsoft.com/office/drawing/2014/main" val="2891286761"/>
                    </a:ext>
                  </a:extLst>
                </a:gridCol>
                <a:gridCol w="729799">
                  <a:extLst>
                    <a:ext uri="{9D8B030D-6E8A-4147-A177-3AD203B41FA5}">
                      <a16:colId xmlns:a16="http://schemas.microsoft.com/office/drawing/2014/main" val="3776347207"/>
                    </a:ext>
                  </a:extLst>
                </a:gridCol>
                <a:gridCol w="729799">
                  <a:extLst>
                    <a:ext uri="{9D8B030D-6E8A-4147-A177-3AD203B41FA5}">
                      <a16:colId xmlns:a16="http://schemas.microsoft.com/office/drawing/2014/main" val="4141976807"/>
                    </a:ext>
                  </a:extLst>
                </a:gridCol>
                <a:gridCol w="729799">
                  <a:extLst>
                    <a:ext uri="{9D8B030D-6E8A-4147-A177-3AD203B41FA5}">
                      <a16:colId xmlns:a16="http://schemas.microsoft.com/office/drawing/2014/main" val="1383223257"/>
                    </a:ext>
                  </a:extLst>
                </a:gridCol>
                <a:gridCol w="729799">
                  <a:extLst>
                    <a:ext uri="{9D8B030D-6E8A-4147-A177-3AD203B41FA5}">
                      <a16:colId xmlns:a16="http://schemas.microsoft.com/office/drawing/2014/main" val="1507522744"/>
                    </a:ext>
                  </a:extLst>
                </a:gridCol>
                <a:gridCol w="729799">
                  <a:extLst>
                    <a:ext uri="{9D8B030D-6E8A-4147-A177-3AD203B41FA5}">
                      <a16:colId xmlns:a16="http://schemas.microsoft.com/office/drawing/2014/main" val="1450792501"/>
                    </a:ext>
                  </a:extLst>
                </a:gridCol>
                <a:gridCol w="729799">
                  <a:extLst>
                    <a:ext uri="{9D8B030D-6E8A-4147-A177-3AD203B41FA5}">
                      <a16:colId xmlns:a16="http://schemas.microsoft.com/office/drawing/2014/main" val="1093087136"/>
                    </a:ext>
                  </a:extLst>
                </a:gridCol>
                <a:gridCol w="729799">
                  <a:extLst>
                    <a:ext uri="{9D8B030D-6E8A-4147-A177-3AD203B41FA5}">
                      <a16:colId xmlns:a16="http://schemas.microsoft.com/office/drawing/2014/main" val="917126257"/>
                    </a:ext>
                  </a:extLst>
                </a:gridCol>
                <a:gridCol w="729799">
                  <a:extLst>
                    <a:ext uri="{9D8B030D-6E8A-4147-A177-3AD203B41FA5}">
                      <a16:colId xmlns:a16="http://schemas.microsoft.com/office/drawing/2014/main" val="2626732587"/>
                    </a:ext>
                  </a:extLst>
                </a:gridCol>
                <a:gridCol w="729799">
                  <a:extLst>
                    <a:ext uri="{9D8B030D-6E8A-4147-A177-3AD203B41FA5}">
                      <a16:colId xmlns:a16="http://schemas.microsoft.com/office/drawing/2014/main" val="2549436991"/>
                    </a:ext>
                  </a:extLst>
                </a:gridCol>
                <a:gridCol w="729799">
                  <a:extLst>
                    <a:ext uri="{9D8B030D-6E8A-4147-A177-3AD203B41FA5}">
                      <a16:colId xmlns:a16="http://schemas.microsoft.com/office/drawing/2014/main" val="3594857952"/>
                    </a:ext>
                  </a:extLst>
                </a:gridCol>
              </a:tblGrid>
              <a:tr h="142302">
                <a:tc gridSpan="16">
                  <a:txBody>
                    <a:bodyPr/>
                    <a:lstStyle/>
                    <a:p>
                      <a:pPr algn="ctr" fontAlgn="ctr"/>
                      <a:r>
                        <a:rPr lang="zh-CN" altLang="en-US" sz="400" u="none" strike="noStrike">
                          <a:effectLst/>
                        </a:rPr>
                        <a:t>昕彤赋能（长沙）研发项目</a:t>
                      </a:r>
                      <a:r>
                        <a:rPr lang="en-US" altLang="zh-CN" sz="400" u="none" strike="noStrike">
                          <a:effectLst/>
                        </a:rPr>
                        <a:t>-</a:t>
                      </a:r>
                      <a:r>
                        <a:rPr lang="zh-CN" altLang="en-US" sz="400" u="none" strike="noStrike">
                          <a:effectLst/>
                        </a:rPr>
                        <a:t>研发费用台账（每月更新）</a:t>
                      </a:r>
                      <a:endParaRPr lang="zh-CN" altLang="en-US" sz="4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08141483"/>
                  </a:ext>
                </a:extLst>
              </a:tr>
              <a:tr h="142302">
                <a:tc>
                  <a:txBody>
                    <a:bodyPr/>
                    <a:lstStyle/>
                    <a:p>
                      <a:pPr algn="ctr" fontAlgn="ctr"/>
                      <a:r>
                        <a:rPr lang="zh-CN" altLang="en-US" sz="300" u="none" strike="noStrike">
                          <a:effectLst/>
                        </a:rPr>
                        <a:t>项目编号</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项目名称</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分摊费用项目</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2026/1</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2026/2</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2026/3</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2026/4</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2026/5</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2026/6</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2026/7</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2026/8</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2026/9</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2026/10</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2026/11</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2026/12</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年汇总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625389356"/>
                  </a:ext>
                </a:extLst>
              </a:tr>
              <a:tr h="142302">
                <a:tc rowSpan="10">
                  <a:txBody>
                    <a:bodyPr/>
                    <a:lstStyle/>
                    <a:p>
                      <a:pPr algn="ctr" fontAlgn="ctr"/>
                      <a:r>
                        <a:rPr lang="en-US" sz="300" u="none" strike="noStrike">
                          <a:effectLst/>
                        </a:rPr>
                        <a:t>YF-2026-001</a:t>
                      </a:r>
                      <a:endParaRPr 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rowSpan="10">
                  <a:txBody>
                    <a:bodyPr/>
                    <a:lstStyle/>
                    <a:p>
                      <a:pPr algn="ctr" fontAlgn="ctr"/>
                      <a:r>
                        <a:rPr lang="zh-CN" altLang="en-US" sz="300" u="none" strike="noStrike">
                          <a:effectLst/>
                        </a:rPr>
                        <a:t>混溟</a:t>
                      </a:r>
                      <a:r>
                        <a:rPr lang="en-US" altLang="zh-CN" sz="300" u="none" strike="noStrike">
                          <a:effectLst/>
                        </a:rPr>
                        <a:t>AI(</a:t>
                      </a:r>
                      <a:r>
                        <a:rPr lang="zh-CN" altLang="en-US" sz="300" u="none" strike="noStrike">
                          <a:effectLst/>
                        </a:rPr>
                        <a:t>项目经理：（卢桂林）</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研发工资</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103868.99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103770.03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103581.44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dirty="0">
                          <a:effectLst/>
                        </a:rPr>
                        <a:t>　</a:t>
                      </a:r>
                      <a:endParaRPr lang="zh-CN" altLang="en-US" sz="300" b="0" i="0" u="none" strike="noStrike" dirty="0">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311220.45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488074330"/>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研发五险一金</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9827.42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9810.57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9787.73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29425.73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28535974"/>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折旧</a:t>
                      </a:r>
                      <a:r>
                        <a:rPr lang="en-US" altLang="zh-CN" sz="300" u="none" strike="noStrike">
                          <a:effectLst/>
                        </a:rPr>
                        <a:t>/</a:t>
                      </a:r>
                      <a:r>
                        <a:rPr lang="zh-CN" altLang="en-US" sz="300" u="none" strike="noStrike">
                          <a:effectLst/>
                        </a:rPr>
                        <a:t>摊销</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1080.42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1080.42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1080.42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3241.26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67673528"/>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人工小计</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1080.42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114661.02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114449.59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230191.03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423685582"/>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直接投入（材料</a:t>
                      </a:r>
                      <a:r>
                        <a:rPr lang="en-US" altLang="zh-CN" sz="300" u="none" strike="noStrike">
                          <a:effectLst/>
                        </a:rPr>
                        <a:t>/</a:t>
                      </a:r>
                      <a:r>
                        <a:rPr lang="zh-CN" altLang="en-US" sz="300" u="none" strike="noStrike">
                          <a:effectLst/>
                        </a:rPr>
                        <a:t>小额设备</a:t>
                      </a:r>
                      <a:r>
                        <a:rPr lang="en-US" altLang="zh-CN" sz="300" u="none" strike="noStrike">
                          <a:effectLst/>
                        </a:rPr>
                        <a:t>/</a:t>
                      </a:r>
                      <a:r>
                        <a:rPr lang="zh-CN" altLang="en-US" sz="300" u="none" strike="noStrike">
                          <a:effectLst/>
                        </a:rPr>
                        <a:t>测试组件</a:t>
                      </a:r>
                      <a:r>
                        <a:rPr lang="en-US" altLang="zh-CN" sz="300" u="none" strike="noStrike">
                          <a:effectLst/>
                        </a:rPr>
                        <a:t>/</a:t>
                      </a:r>
                      <a:r>
                        <a:rPr lang="zh-CN" altLang="en-US" sz="300" u="none" strike="noStrike">
                          <a:effectLst/>
                        </a:rPr>
                        <a:t>样机）</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397138028"/>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直接投入（租赁</a:t>
                      </a:r>
                      <a:r>
                        <a:rPr lang="en-US" altLang="zh-CN" sz="300" u="none" strike="noStrike">
                          <a:effectLst/>
                        </a:rPr>
                        <a:t>/</a:t>
                      </a:r>
                      <a:r>
                        <a:rPr lang="zh-CN" altLang="en-US" sz="300" u="none" strike="noStrike">
                          <a:effectLst/>
                        </a:rPr>
                        <a:t>维保</a:t>
                      </a:r>
                      <a:r>
                        <a:rPr lang="en-US" altLang="zh-CN" sz="300" u="none" strike="noStrike">
                          <a:effectLst/>
                        </a:rPr>
                        <a:t>/</a:t>
                      </a:r>
                      <a:r>
                        <a:rPr lang="zh-CN" altLang="en-US" sz="300" u="none" strike="noStrike">
                          <a:effectLst/>
                        </a:rPr>
                        <a:t>燃料动力等）</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34772921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新产品设计 </a:t>
                      </a:r>
                      <a:r>
                        <a:rPr lang="en-US" altLang="zh-CN" sz="300" u="none" strike="noStrike">
                          <a:effectLst/>
                        </a:rPr>
                        <a:t>/ </a:t>
                      </a:r>
                      <a:r>
                        <a:rPr lang="zh-CN" altLang="en-US" sz="300" u="none" strike="noStrike">
                          <a:effectLst/>
                        </a:rPr>
                        <a:t>试验调试费</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615051176"/>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委托外部研发费用</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971132821"/>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其他费用（差旅</a:t>
                      </a:r>
                      <a:r>
                        <a:rPr lang="en-US" altLang="zh-CN" sz="300" u="none" strike="noStrike">
                          <a:effectLst/>
                        </a:rPr>
                        <a:t>/</a:t>
                      </a:r>
                      <a:r>
                        <a:rPr lang="zh-CN" altLang="en-US" sz="300" u="none" strike="noStrike">
                          <a:effectLst/>
                        </a:rPr>
                        <a:t>办公</a:t>
                      </a:r>
                      <a:r>
                        <a:rPr lang="en-US" altLang="zh-CN" sz="300" u="none" strike="noStrike">
                          <a:effectLst/>
                        </a:rPr>
                        <a:t>/</a:t>
                      </a:r>
                      <a:r>
                        <a:rPr lang="zh-CN" altLang="en-US" sz="300" u="none" strike="noStrike">
                          <a:effectLst/>
                        </a:rPr>
                        <a:t>知识产权）</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007309943"/>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月汇总</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624486972"/>
                  </a:ext>
                </a:extLst>
              </a:tr>
              <a:tr h="142302">
                <a:tc rowSpan="10">
                  <a:txBody>
                    <a:bodyPr/>
                    <a:lstStyle/>
                    <a:p>
                      <a:pPr algn="ctr" fontAlgn="ctr"/>
                      <a:r>
                        <a:rPr lang="en-US" sz="300" u="none" strike="noStrike">
                          <a:effectLst/>
                        </a:rPr>
                        <a:t>YF-2026-002</a:t>
                      </a:r>
                      <a:endParaRPr 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rowSpan="10">
                  <a:txBody>
                    <a:bodyPr/>
                    <a:lstStyle/>
                    <a:p>
                      <a:pPr algn="ctr" fontAlgn="ctr"/>
                      <a:r>
                        <a:rPr lang="en-US" sz="300" u="none" strike="noStrike">
                          <a:effectLst/>
                        </a:rPr>
                        <a:t>Veridix Cloud </a:t>
                      </a:r>
                      <a:r>
                        <a:rPr lang="zh-CN" altLang="en-US" sz="300" u="none" strike="noStrike">
                          <a:effectLst/>
                        </a:rPr>
                        <a:t>因果智能体云平台                  </a:t>
                      </a:r>
                      <a:r>
                        <a:rPr lang="en-US" altLang="zh-CN" sz="300" u="none" strike="noStrike">
                          <a:effectLst/>
                        </a:rPr>
                        <a:t>(</a:t>
                      </a:r>
                      <a:r>
                        <a:rPr lang="zh-CN" altLang="en-US" sz="300" u="none" strike="noStrike">
                          <a:effectLst/>
                        </a:rPr>
                        <a:t>项目经理：卢桂林）</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研发工资</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30095.05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30275.29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29815.04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90185.39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45538746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研发五险一金</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2469.25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2484.98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2427.54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7381.77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408531755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折旧</a:t>
                      </a:r>
                      <a:r>
                        <a:rPr lang="en-US" altLang="zh-CN" sz="300" u="none" strike="noStrike">
                          <a:effectLst/>
                        </a:rPr>
                        <a:t>/</a:t>
                      </a:r>
                      <a:r>
                        <a:rPr lang="zh-CN" altLang="en-US" sz="300" u="none" strike="noStrike">
                          <a:effectLst/>
                        </a:rPr>
                        <a:t>摊销</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1550.15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1550.15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1550.15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4650.45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55043185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人工小计</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34114.46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34310.42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33792.73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102217.61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87670470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直接投入（材料</a:t>
                      </a:r>
                      <a:r>
                        <a:rPr lang="en-US" altLang="zh-CN" sz="300" u="none" strike="noStrike">
                          <a:effectLst/>
                        </a:rPr>
                        <a:t>/</a:t>
                      </a:r>
                      <a:r>
                        <a:rPr lang="zh-CN" altLang="en-US" sz="300" u="none" strike="noStrike">
                          <a:effectLst/>
                        </a:rPr>
                        <a:t>小额设备</a:t>
                      </a:r>
                      <a:r>
                        <a:rPr lang="en-US" altLang="zh-CN" sz="300" u="none" strike="noStrike">
                          <a:effectLst/>
                        </a:rPr>
                        <a:t>/</a:t>
                      </a:r>
                      <a:r>
                        <a:rPr lang="zh-CN" altLang="en-US" sz="300" u="none" strike="noStrike">
                          <a:effectLst/>
                        </a:rPr>
                        <a:t>测试组件</a:t>
                      </a:r>
                      <a:r>
                        <a:rPr lang="en-US" altLang="zh-CN" sz="300" u="none" strike="noStrike">
                          <a:effectLst/>
                        </a:rPr>
                        <a:t>/</a:t>
                      </a:r>
                      <a:r>
                        <a:rPr lang="zh-CN" altLang="en-US" sz="300" u="none" strike="noStrike">
                          <a:effectLst/>
                        </a:rPr>
                        <a:t>样机）</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21764765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直接投入（租赁</a:t>
                      </a:r>
                      <a:r>
                        <a:rPr lang="en-US" altLang="zh-CN" sz="300" u="none" strike="noStrike">
                          <a:effectLst/>
                        </a:rPr>
                        <a:t>/</a:t>
                      </a:r>
                      <a:r>
                        <a:rPr lang="zh-CN" altLang="en-US" sz="300" u="none" strike="noStrike">
                          <a:effectLst/>
                        </a:rPr>
                        <a:t>维保</a:t>
                      </a:r>
                      <a:r>
                        <a:rPr lang="en-US" altLang="zh-CN" sz="300" u="none" strike="noStrike">
                          <a:effectLst/>
                        </a:rPr>
                        <a:t>/</a:t>
                      </a:r>
                      <a:r>
                        <a:rPr lang="zh-CN" altLang="en-US" sz="300" u="none" strike="noStrike">
                          <a:effectLst/>
                        </a:rPr>
                        <a:t>燃料动力等）</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949724123"/>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新产品设计 </a:t>
                      </a:r>
                      <a:r>
                        <a:rPr lang="en-US" altLang="zh-CN" sz="300" u="none" strike="noStrike">
                          <a:effectLst/>
                        </a:rPr>
                        <a:t>/ </a:t>
                      </a:r>
                      <a:r>
                        <a:rPr lang="zh-CN" altLang="en-US" sz="300" u="none" strike="noStrike">
                          <a:effectLst/>
                        </a:rPr>
                        <a:t>试验调试费</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490433008"/>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委托外部研发费用</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10496854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其他费用（差旅</a:t>
                      </a:r>
                      <a:r>
                        <a:rPr lang="en-US" altLang="zh-CN" sz="300" u="none" strike="noStrike">
                          <a:effectLst/>
                        </a:rPr>
                        <a:t>/</a:t>
                      </a:r>
                      <a:r>
                        <a:rPr lang="zh-CN" altLang="en-US" sz="300" u="none" strike="noStrike">
                          <a:effectLst/>
                        </a:rPr>
                        <a:t>办公</a:t>
                      </a:r>
                      <a:r>
                        <a:rPr lang="en-US" altLang="zh-CN" sz="300" u="none" strike="noStrike">
                          <a:effectLst/>
                        </a:rPr>
                        <a:t>/</a:t>
                      </a:r>
                      <a:r>
                        <a:rPr lang="zh-CN" altLang="en-US" sz="300" u="none" strike="noStrike">
                          <a:effectLst/>
                        </a:rPr>
                        <a:t>知识产权）</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403473222"/>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月汇总</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209278194"/>
                  </a:ext>
                </a:extLst>
              </a:tr>
              <a:tr h="142302">
                <a:tc rowSpan="10">
                  <a:txBody>
                    <a:bodyPr/>
                    <a:lstStyle/>
                    <a:p>
                      <a:pPr algn="ctr" fontAlgn="ctr"/>
                      <a:r>
                        <a:rPr lang="en-US" sz="300" u="none" strike="noStrike">
                          <a:effectLst/>
                        </a:rPr>
                        <a:t>YF-2026-003</a:t>
                      </a:r>
                      <a:endParaRPr 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rowSpan="10">
                  <a:txBody>
                    <a:bodyPr/>
                    <a:lstStyle/>
                    <a:p>
                      <a:pPr algn="ctr" fontAlgn="ctr"/>
                      <a:r>
                        <a:rPr lang="zh-CN" altLang="en-US" sz="300" u="none" strike="noStrike">
                          <a:effectLst/>
                        </a:rPr>
                        <a:t>可信数据空间与数据资产服务平台             </a:t>
                      </a:r>
                      <a:r>
                        <a:rPr lang="en-US" altLang="zh-CN" sz="300" u="none" strike="noStrike">
                          <a:effectLst/>
                        </a:rPr>
                        <a:t>(</a:t>
                      </a:r>
                      <a:r>
                        <a:rPr lang="zh-CN" altLang="en-US" sz="300" u="none" strike="noStrike">
                          <a:effectLst/>
                        </a:rPr>
                        <a:t>项目经理：卢桂林）</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研发工资</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16415.65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16235.74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16609.02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49260.42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262479862"/>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研发五险一金</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1579.30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1559.77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1608.77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4747.85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400333372"/>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折旧</a:t>
                      </a:r>
                      <a:r>
                        <a:rPr lang="en-US" altLang="zh-CN" sz="300" u="none" strike="noStrike">
                          <a:effectLst/>
                        </a:rPr>
                        <a:t>/</a:t>
                      </a:r>
                      <a:r>
                        <a:rPr lang="zh-CN" altLang="en-US" sz="300" u="none" strike="noStrike">
                          <a:effectLst/>
                        </a:rPr>
                        <a:t>摊销</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688.28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688.28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688.28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2064.84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688441990"/>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人工小计</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18683.23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18483.80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18906.08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56073.11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60391717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直接投入（材料</a:t>
                      </a:r>
                      <a:r>
                        <a:rPr lang="en-US" altLang="zh-CN" sz="300" u="none" strike="noStrike">
                          <a:effectLst/>
                        </a:rPr>
                        <a:t>/</a:t>
                      </a:r>
                      <a:r>
                        <a:rPr lang="zh-CN" altLang="en-US" sz="300" u="none" strike="noStrike">
                          <a:effectLst/>
                        </a:rPr>
                        <a:t>小额设备</a:t>
                      </a:r>
                      <a:r>
                        <a:rPr lang="en-US" altLang="zh-CN" sz="300" u="none" strike="noStrike">
                          <a:effectLst/>
                        </a:rPr>
                        <a:t>/</a:t>
                      </a:r>
                      <a:r>
                        <a:rPr lang="zh-CN" altLang="en-US" sz="300" u="none" strike="noStrike">
                          <a:effectLst/>
                        </a:rPr>
                        <a:t>测试组件</a:t>
                      </a:r>
                      <a:r>
                        <a:rPr lang="en-US" altLang="zh-CN" sz="300" u="none" strike="noStrike">
                          <a:effectLst/>
                        </a:rPr>
                        <a:t>/</a:t>
                      </a:r>
                      <a:r>
                        <a:rPr lang="zh-CN" altLang="en-US" sz="300" u="none" strike="noStrike">
                          <a:effectLst/>
                        </a:rPr>
                        <a:t>样机）</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351945700"/>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直接投入（租赁</a:t>
                      </a:r>
                      <a:r>
                        <a:rPr lang="en-US" altLang="zh-CN" sz="300" u="none" strike="noStrike">
                          <a:effectLst/>
                        </a:rPr>
                        <a:t>/</a:t>
                      </a:r>
                      <a:r>
                        <a:rPr lang="zh-CN" altLang="en-US" sz="300" u="none" strike="noStrike">
                          <a:effectLst/>
                        </a:rPr>
                        <a:t>维保</a:t>
                      </a:r>
                      <a:r>
                        <a:rPr lang="en-US" altLang="zh-CN" sz="300" u="none" strike="noStrike">
                          <a:effectLst/>
                        </a:rPr>
                        <a:t>/</a:t>
                      </a:r>
                      <a:r>
                        <a:rPr lang="zh-CN" altLang="en-US" sz="300" u="none" strike="noStrike">
                          <a:effectLst/>
                        </a:rPr>
                        <a:t>燃料动力等）</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60803774"/>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新产品设计 </a:t>
                      </a:r>
                      <a:r>
                        <a:rPr lang="en-US" altLang="zh-CN" sz="300" u="none" strike="noStrike">
                          <a:effectLst/>
                        </a:rPr>
                        <a:t>/ </a:t>
                      </a:r>
                      <a:r>
                        <a:rPr lang="zh-CN" altLang="en-US" sz="300" u="none" strike="noStrike">
                          <a:effectLst/>
                        </a:rPr>
                        <a:t>试验调试费</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4003201118"/>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委托外部研发费用</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944650593"/>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其他费用（差旅</a:t>
                      </a:r>
                      <a:r>
                        <a:rPr lang="en-US" altLang="zh-CN" sz="300" u="none" strike="noStrike">
                          <a:effectLst/>
                        </a:rPr>
                        <a:t>/</a:t>
                      </a:r>
                      <a:r>
                        <a:rPr lang="zh-CN" altLang="en-US" sz="300" u="none" strike="noStrike">
                          <a:effectLst/>
                        </a:rPr>
                        <a:t>办公</a:t>
                      </a:r>
                      <a:r>
                        <a:rPr lang="en-US" altLang="zh-CN" sz="300" u="none" strike="noStrike">
                          <a:effectLst/>
                        </a:rPr>
                        <a:t>/</a:t>
                      </a:r>
                      <a:r>
                        <a:rPr lang="zh-CN" altLang="en-US" sz="300" u="none" strike="noStrike">
                          <a:effectLst/>
                        </a:rPr>
                        <a:t>知识产权）</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18435961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月汇总</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444222865"/>
                  </a:ext>
                </a:extLst>
              </a:tr>
              <a:tr h="142302">
                <a:tc rowSpan="10">
                  <a:txBody>
                    <a:bodyPr/>
                    <a:lstStyle/>
                    <a:p>
                      <a:pPr algn="ctr" fontAlgn="ctr"/>
                      <a:r>
                        <a:rPr lang="en-US" sz="300" u="none" strike="noStrike">
                          <a:effectLst/>
                        </a:rPr>
                        <a:t>YF-2026-004</a:t>
                      </a:r>
                      <a:endParaRPr 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rowSpan="10">
                  <a:txBody>
                    <a:bodyPr/>
                    <a:lstStyle/>
                    <a:p>
                      <a:pPr algn="ctr" fontAlgn="ctr"/>
                      <a:r>
                        <a:rPr lang="zh-CN" altLang="en-US" sz="300" u="none" strike="noStrike">
                          <a:effectLst/>
                        </a:rPr>
                        <a:t>基于多智能体协同与因果推断的泛工业工艺智控关键技术研究                                         </a:t>
                      </a:r>
                      <a:r>
                        <a:rPr lang="en-US" altLang="zh-CN" sz="300" u="none" strike="noStrike">
                          <a:effectLst/>
                        </a:rPr>
                        <a:t>(</a:t>
                      </a:r>
                      <a:r>
                        <a:rPr lang="zh-CN" altLang="en-US" sz="300" u="none" strike="noStrike">
                          <a:effectLst/>
                        </a:rPr>
                        <a:t>项目经理：颜建帮）</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研发工资</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74335.35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75218.08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73815.03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223368.46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690915376"/>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研发五险一金</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5349.39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5463.48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5305.86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16118.72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37418756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折旧</a:t>
                      </a:r>
                      <a:r>
                        <a:rPr lang="en-US" altLang="zh-CN" sz="300" u="none" strike="noStrike">
                          <a:effectLst/>
                        </a:rPr>
                        <a:t>/</a:t>
                      </a:r>
                      <a:r>
                        <a:rPr lang="zh-CN" altLang="en-US" sz="300" u="none" strike="noStrike">
                          <a:effectLst/>
                        </a:rPr>
                        <a:t>摊销</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1085.38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1085.38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1085.38 </a:t>
                      </a:r>
                      <a:endParaRPr lang="en-US" altLang="zh-CN"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3256.14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170210728"/>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人工小计</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80770.12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81766.93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80206.27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en-US" altLang="zh-CN" sz="300" u="none" strike="noStrike">
                          <a:effectLst/>
                        </a:rPr>
                        <a:t>242743.32 </a:t>
                      </a:r>
                      <a:endParaRPr lang="en-US" altLang="zh-CN"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44387920"/>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直接投入（材料</a:t>
                      </a:r>
                      <a:r>
                        <a:rPr lang="en-US" altLang="zh-CN" sz="300" u="none" strike="noStrike">
                          <a:effectLst/>
                        </a:rPr>
                        <a:t>/</a:t>
                      </a:r>
                      <a:r>
                        <a:rPr lang="zh-CN" altLang="en-US" sz="300" u="none" strike="noStrike">
                          <a:effectLst/>
                        </a:rPr>
                        <a:t>小额设备</a:t>
                      </a:r>
                      <a:r>
                        <a:rPr lang="en-US" altLang="zh-CN" sz="300" u="none" strike="noStrike">
                          <a:effectLst/>
                        </a:rPr>
                        <a:t>/</a:t>
                      </a:r>
                      <a:r>
                        <a:rPr lang="zh-CN" altLang="en-US" sz="300" u="none" strike="noStrike">
                          <a:effectLst/>
                        </a:rPr>
                        <a:t>测试组件</a:t>
                      </a:r>
                      <a:r>
                        <a:rPr lang="en-US" altLang="zh-CN" sz="300" u="none" strike="noStrike">
                          <a:effectLst/>
                        </a:rPr>
                        <a:t>/</a:t>
                      </a:r>
                      <a:r>
                        <a:rPr lang="zh-CN" altLang="en-US" sz="300" u="none" strike="noStrike">
                          <a:effectLst/>
                        </a:rPr>
                        <a:t>样机）</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814450375"/>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直接投入（租赁</a:t>
                      </a:r>
                      <a:r>
                        <a:rPr lang="en-US" altLang="zh-CN" sz="300" u="none" strike="noStrike">
                          <a:effectLst/>
                        </a:rPr>
                        <a:t>/</a:t>
                      </a:r>
                      <a:r>
                        <a:rPr lang="zh-CN" altLang="en-US" sz="300" u="none" strike="noStrike">
                          <a:effectLst/>
                        </a:rPr>
                        <a:t>维保</a:t>
                      </a:r>
                      <a:r>
                        <a:rPr lang="en-US" altLang="zh-CN" sz="300" u="none" strike="noStrike">
                          <a:effectLst/>
                        </a:rPr>
                        <a:t>/</a:t>
                      </a:r>
                      <a:r>
                        <a:rPr lang="zh-CN" altLang="en-US" sz="300" u="none" strike="noStrike">
                          <a:effectLst/>
                        </a:rPr>
                        <a:t>燃料动力等）</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621091023"/>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新产品设计 </a:t>
                      </a:r>
                      <a:r>
                        <a:rPr lang="en-US" altLang="zh-CN" sz="300" u="none" strike="noStrike">
                          <a:effectLst/>
                        </a:rPr>
                        <a:t>/ </a:t>
                      </a:r>
                      <a:r>
                        <a:rPr lang="zh-CN" altLang="en-US" sz="300" u="none" strike="noStrike">
                          <a:effectLst/>
                        </a:rPr>
                        <a:t>试验调试费</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30950227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委托外部研发费用</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3741293137"/>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其他费用（差旅</a:t>
                      </a:r>
                      <a:r>
                        <a:rPr lang="en-US" altLang="zh-CN" sz="300" u="none" strike="noStrike">
                          <a:effectLst/>
                        </a:rPr>
                        <a:t>/</a:t>
                      </a:r>
                      <a:r>
                        <a:rPr lang="zh-CN" altLang="en-US" sz="300" u="none" strike="noStrike">
                          <a:effectLst/>
                        </a:rPr>
                        <a:t>办公</a:t>
                      </a:r>
                      <a:r>
                        <a:rPr lang="en-US" altLang="zh-CN" sz="300" u="none" strike="noStrike">
                          <a:effectLst/>
                        </a:rPr>
                        <a:t>/</a:t>
                      </a:r>
                      <a:r>
                        <a:rPr lang="zh-CN" altLang="en-US" sz="300" u="none" strike="noStrike">
                          <a:effectLst/>
                        </a:rPr>
                        <a:t>知识产权）</a:t>
                      </a:r>
                      <a:endParaRPr lang="zh-CN" altLang="en-US" sz="300" b="0"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2676922146"/>
                  </a:ext>
                </a:extLst>
              </a:tr>
              <a:tr h="14230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300" u="none" strike="noStrike">
                          <a:effectLst/>
                        </a:rPr>
                        <a:t>月汇总</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a:effectLst/>
                        </a:rPr>
                        <a:t>　</a:t>
                      </a:r>
                      <a:endParaRPr lang="zh-CN" altLang="en-US" sz="300" b="1" i="0" u="none" strike="noStrike">
                        <a:solidFill>
                          <a:srgbClr val="000000"/>
                        </a:solidFill>
                        <a:effectLst/>
                        <a:latin typeface="等线" panose="02010600030101010101" pitchFamily="2" charset="-122"/>
                        <a:ea typeface="等线" panose="02010600030101010101" pitchFamily="2" charset="-122"/>
                      </a:endParaRPr>
                    </a:p>
                  </a:txBody>
                  <a:tcPr marL="2511" marR="2511" marT="2511" marB="0" anchor="ctr"/>
                </a:tc>
                <a:tc>
                  <a:txBody>
                    <a:bodyPr/>
                    <a:lstStyle/>
                    <a:p>
                      <a:pPr algn="ctr" fontAlgn="ctr"/>
                      <a:r>
                        <a:rPr lang="zh-CN" altLang="en-US" sz="300" u="none" strike="noStrike" dirty="0">
                          <a:effectLst/>
                        </a:rPr>
                        <a:t>　</a:t>
                      </a:r>
                      <a:endParaRPr lang="zh-CN" altLang="en-US" sz="300" b="1" i="0" u="none" strike="noStrike" dirty="0">
                        <a:solidFill>
                          <a:srgbClr val="000000"/>
                        </a:solidFill>
                        <a:effectLst/>
                        <a:latin typeface="等线" panose="02010600030101010101" pitchFamily="2" charset="-122"/>
                        <a:ea typeface="等线" panose="02010600030101010101" pitchFamily="2" charset="-122"/>
                      </a:endParaRPr>
                    </a:p>
                  </a:txBody>
                  <a:tcPr marL="2511" marR="2511" marT="2511" marB="0" anchor="ctr"/>
                </a:tc>
                <a:extLst>
                  <a:ext uri="{0D108BD9-81ED-4DB2-BD59-A6C34878D82A}">
                    <a16:rowId xmlns:a16="http://schemas.microsoft.com/office/drawing/2014/main" val="107934471"/>
                  </a:ext>
                </a:extLst>
              </a:tr>
            </a:tbl>
          </a:graphicData>
        </a:graphic>
      </p:graphicFrame>
    </p:spTree>
    <p:extLst>
      <p:ext uri="{BB962C8B-B14F-4D97-AF65-F5344CB8AC3E}">
        <p14:creationId xmlns:p14="http://schemas.microsoft.com/office/powerpoint/2010/main" val="933841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64BD3341-A409-4F1E-BD34-C0A020B2D207}"/>
              </a:ext>
            </a:extLst>
          </p:cNvPr>
          <p:cNvPicPr>
            <a:picLocks noChangeAspect="1"/>
          </p:cNvPicPr>
          <p:nvPr/>
        </p:nvPicPr>
        <p:blipFill>
          <a:blip r:embed="rId2"/>
          <a:stretch>
            <a:fillRect/>
          </a:stretch>
        </p:blipFill>
        <p:spPr>
          <a:xfrm>
            <a:off x="3069978" y="1886854"/>
            <a:ext cx="7850558" cy="2539157"/>
          </a:xfrm>
          <a:prstGeom prst="rect">
            <a:avLst/>
          </a:prstGeom>
        </p:spPr>
      </p:pic>
      <p:pic>
        <p:nvPicPr>
          <p:cNvPr id="18" name="图片 17">
            <a:extLst>
              <a:ext uri="{FF2B5EF4-FFF2-40B4-BE49-F238E27FC236}">
                <a16:creationId xmlns:a16="http://schemas.microsoft.com/office/drawing/2014/main" id="{6C4A63E2-D52E-4D3D-9130-904FBE8496B3}"/>
              </a:ext>
            </a:extLst>
          </p:cNvPr>
          <p:cNvPicPr>
            <a:picLocks noChangeAspect="1"/>
          </p:cNvPicPr>
          <p:nvPr/>
        </p:nvPicPr>
        <p:blipFill>
          <a:blip r:embed="rId2"/>
          <a:stretch>
            <a:fillRect/>
          </a:stretch>
        </p:blipFill>
        <p:spPr>
          <a:xfrm>
            <a:off x="3135552" y="4797152"/>
            <a:ext cx="8145024" cy="1245864"/>
          </a:xfrm>
          <a:prstGeom prst="rect">
            <a:avLst/>
          </a:prstGeom>
        </p:spPr>
      </p:pic>
      <p:pic>
        <p:nvPicPr>
          <p:cNvPr id="10" name="图片 9">
            <a:extLst>
              <a:ext uri="{FF2B5EF4-FFF2-40B4-BE49-F238E27FC236}">
                <a16:creationId xmlns:a16="http://schemas.microsoft.com/office/drawing/2014/main" id="{D73CC9ED-86C1-4E5E-AE40-56DA892DCE64}"/>
              </a:ext>
            </a:extLst>
          </p:cNvPr>
          <p:cNvPicPr>
            <a:picLocks noChangeAspect="1"/>
          </p:cNvPicPr>
          <p:nvPr/>
        </p:nvPicPr>
        <p:blipFill>
          <a:blip r:embed="rId2"/>
          <a:stretch>
            <a:fillRect/>
          </a:stretch>
        </p:blipFill>
        <p:spPr>
          <a:xfrm>
            <a:off x="335360" y="814984"/>
            <a:ext cx="3744416" cy="830997"/>
          </a:xfrm>
          <a:prstGeom prst="rect">
            <a:avLst/>
          </a:prstGeom>
        </p:spPr>
      </p:pic>
      <p:sp>
        <p:nvSpPr>
          <p:cNvPr id="4" name="object 4"/>
          <p:cNvSpPr txBox="1"/>
          <p:nvPr/>
        </p:nvSpPr>
        <p:spPr>
          <a:xfrm>
            <a:off x="598758" y="993336"/>
            <a:ext cx="10537802" cy="423193"/>
          </a:xfrm>
          <a:prstGeom prst="rect">
            <a:avLst/>
          </a:prstGeom>
        </p:spPr>
        <p:txBody>
          <a:bodyPr vert="horz" wrap="square" lIns="0" tIns="0" rIns="0" bIns="0" rtlCol="0">
            <a:spAutoFit/>
          </a:bodyPr>
          <a:lstStyle/>
          <a:p>
            <a:pPr marL="0" marR="0">
              <a:lnSpc>
                <a:spcPts val="3339"/>
              </a:lnSpc>
              <a:spcBef>
                <a:spcPts val="0"/>
              </a:spcBef>
              <a:spcAft>
                <a:spcPts val="0"/>
              </a:spcAft>
            </a:pPr>
            <a:r>
              <a:rPr lang="zh-CN" altLang="en-US" sz="3200" b="1" dirty="0">
                <a:solidFill>
                  <a:srgbClr val="000099"/>
                </a:solidFill>
                <a:latin typeface="OAKHCI+MicrosoftYaHei-Bold"/>
                <a:cs typeface="OAKHCI+MicrosoftYaHei-Bold"/>
              </a:rPr>
              <a:t>六、</a:t>
            </a:r>
            <a:r>
              <a:rPr sz="3200" b="1" dirty="0" err="1">
                <a:solidFill>
                  <a:srgbClr val="000099"/>
                </a:solidFill>
                <a:latin typeface="OAKHCI+MicrosoftYaHei-Bold"/>
                <a:cs typeface="OAKHCI+MicrosoftYaHei-Bold"/>
              </a:rPr>
              <a:t>管理报表设计</a:t>
            </a:r>
            <a:r>
              <a:rPr lang="zh-CN" altLang="en-US" sz="3200" b="1" dirty="0">
                <a:solidFill>
                  <a:srgbClr val="000099"/>
                </a:solidFill>
                <a:latin typeface="OAKHCI+MicrosoftYaHei-Bold"/>
                <a:cs typeface="OAKHCI+MicrosoftYaHei-Bold"/>
              </a:rPr>
              <a:t>：老板管控报表 </a:t>
            </a:r>
            <a:r>
              <a:rPr lang="en-US" altLang="zh-CN" sz="3200" b="1" dirty="0">
                <a:solidFill>
                  <a:srgbClr val="000099"/>
                </a:solidFill>
                <a:latin typeface="OAKHCI+MicrosoftYaHei-Bold"/>
                <a:cs typeface="OAKHCI+MicrosoftYaHei-Bold"/>
              </a:rPr>
              <a:t>     </a:t>
            </a:r>
            <a:r>
              <a:rPr lang="zh-CN" altLang="en-US" sz="3200" b="1" dirty="0">
                <a:solidFill>
                  <a:srgbClr val="000099"/>
                </a:solidFill>
                <a:latin typeface="OAKHCI+MicrosoftYaHei-Bold"/>
                <a:cs typeface="OAKHCI+MicrosoftYaHei-Bold"/>
              </a:rPr>
              <a:t>财务报告</a:t>
            </a:r>
            <a:endParaRPr sz="3200" b="1" dirty="0">
              <a:solidFill>
                <a:srgbClr val="000099"/>
              </a:solidFill>
              <a:latin typeface="OAKHCI+MicrosoftYaHei-Bold"/>
              <a:cs typeface="OAKHCI+MicrosoftYaHei-Bold"/>
            </a:endParaRPr>
          </a:p>
        </p:txBody>
      </p:sp>
      <p:sp>
        <p:nvSpPr>
          <p:cNvPr id="5" name="object 5"/>
          <p:cNvSpPr txBox="1"/>
          <p:nvPr/>
        </p:nvSpPr>
        <p:spPr>
          <a:xfrm>
            <a:off x="3331614" y="2116307"/>
            <a:ext cx="4263967" cy="2539157"/>
          </a:xfrm>
          <a:prstGeom prst="rect">
            <a:avLst/>
          </a:prstGeom>
        </p:spPr>
        <p:txBody>
          <a:bodyPr vert="horz" wrap="square" lIns="0" tIns="0" rIns="0" bIns="0" rtlCol="0">
            <a:spAutoFit/>
          </a:bodyPr>
          <a:lstStyle/>
          <a:p>
            <a:pPr marL="76" marR="0">
              <a:lnSpc>
                <a:spcPts val="3339"/>
              </a:lnSpc>
              <a:spcBef>
                <a:spcPts val="0"/>
              </a:spcBef>
              <a:spcAft>
                <a:spcPts val="0"/>
              </a:spcAft>
            </a:pPr>
            <a:r>
              <a:rPr lang="en-US" altLang="zh-CN" sz="2800" dirty="0">
                <a:solidFill>
                  <a:srgbClr val="000099"/>
                </a:solidFill>
                <a:highlight>
                  <a:srgbClr val="FFFF00"/>
                </a:highlight>
                <a:latin typeface="PKMLHR+MicrosoftYaHei"/>
                <a:cs typeface="PKMLHR+MicrosoftYaHei"/>
              </a:rPr>
              <a:t>1 </a:t>
            </a:r>
            <a:r>
              <a:rPr lang="zh-CN" altLang="en-US" sz="2800" dirty="0">
                <a:solidFill>
                  <a:srgbClr val="000099"/>
                </a:solidFill>
                <a:highlight>
                  <a:srgbClr val="FFFF00"/>
                </a:highlight>
                <a:latin typeface="PKMLHR+MicrosoftYaHei"/>
                <a:cs typeface="PKMLHR+MicrosoftYaHei"/>
              </a:rPr>
              <a:t>税种税负统计表</a:t>
            </a:r>
            <a:endParaRPr lang="en-US" altLang="zh-CN" sz="28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en-US" sz="28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en-US" sz="2800" dirty="0">
                <a:solidFill>
                  <a:srgbClr val="000099"/>
                </a:solidFill>
                <a:highlight>
                  <a:srgbClr val="FFFF00"/>
                </a:highlight>
                <a:latin typeface="PKMLHR+MicrosoftYaHei"/>
                <a:cs typeface="PKMLHR+MicrosoftYaHei"/>
              </a:rPr>
              <a:t>2 </a:t>
            </a:r>
            <a:r>
              <a:rPr lang="zh-CN" altLang="en-US" sz="2800" dirty="0">
                <a:solidFill>
                  <a:srgbClr val="000099"/>
                </a:solidFill>
                <a:highlight>
                  <a:srgbClr val="FFFF00"/>
                </a:highlight>
                <a:latin typeface="PKMLHR+MicrosoftYaHei"/>
                <a:cs typeface="PKMLHR+MicrosoftYaHei"/>
              </a:rPr>
              <a:t>费用结构统计分析表</a:t>
            </a:r>
            <a:endParaRPr lang="en-US" altLang="zh-CN" sz="28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en-US" sz="28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r>
              <a:rPr lang="en-US" sz="2800" dirty="0">
                <a:solidFill>
                  <a:srgbClr val="000099"/>
                </a:solidFill>
                <a:highlight>
                  <a:srgbClr val="FFFF00"/>
                </a:highlight>
                <a:latin typeface="PKMLHR+MicrosoftYaHei"/>
                <a:cs typeface="PKMLHR+MicrosoftYaHei"/>
              </a:rPr>
              <a:t>3 </a:t>
            </a:r>
            <a:r>
              <a:rPr lang="zh-CN" altLang="en-US" sz="2800" dirty="0">
                <a:solidFill>
                  <a:srgbClr val="000099"/>
                </a:solidFill>
                <a:highlight>
                  <a:srgbClr val="FFFF00"/>
                </a:highlight>
                <a:latin typeface="PKMLHR+MicrosoftYaHei"/>
                <a:cs typeface="PKMLHR+MicrosoftYaHei"/>
              </a:rPr>
              <a:t>收入结构分析表</a:t>
            </a:r>
            <a:endParaRPr lang="en-US" altLang="zh-CN" sz="2800" dirty="0">
              <a:solidFill>
                <a:srgbClr val="000099"/>
              </a:solidFill>
              <a:highlight>
                <a:srgbClr val="FFFF00"/>
              </a:highlight>
              <a:latin typeface="PKMLHR+MicrosoftYaHei"/>
              <a:cs typeface="PKMLHR+MicrosoftYaHei"/>
            </a:endParaRPr>
          </a:p>
          <a:p>
            <a:pPr marL="76" marR="0">
              <a:lnSpc>
                <a:spcPts val="3339"/>
              </a:lnSpc>
              <a:spcBef>
                <a:spcPts val="0"/>
              </a:spcBef>
              <a:spcAft>
                <a:spcPts val="0"/>
              </a:spcAft>
            </a:pPr>
            <a:endParaRPr lang="en-US" sz="2800" dirty="0">
              <a:solidFill>
                <a:srgbClr val="000099"/>
              </a:solidFill>
              <a:highlight>
                <a:srgbClr val="FFFF00"/>
              </a:highlight>
              <a:latin typeface="PKMLHR+MicrosoftYaHei"/>
              <a:cs typeface="PKMLHR+MicrosoftYaHei"/>
            </a:endParaRPr>
          </a:p>
        </p:txBody>
      </p:sp>
      <p:sp>
        <p:nvSpPr>
          <p:cNvPr id="6" name="object 6"/>
          <p:cNvSpPr txBox="1"/>
          <p:nvPr/>
        </p:nvSpPr>
        <p:spPr>
          <a:xfrm>
            <a:off x="7082599" y="2157629"/>
            <a:ext cx="4486009" cy="2115964"/>
          </a:xfrm>
          <a:prstGeom prst="rect">
            <a:avLst/>
          </a:prstGeom>
        </p:spPr>
        <p:txBody>
          <a:bodyPr vert="horz" wrap="square" lIns="0" tIns="0" rIns="0" bIns="0" rtlCol="0">
            <a:spAutoFit/>
          </a:bodyPr>
          <a:lstStyle/>
          <a:p>
            <a:pPr marL="75">
              <a:lnSpc>
                <a:spcPts val="3339"/>
              </a:lnSpc>
            </a:pPr>
            <a:r>
              <a:rPr lang="en-US" altLang="zh-CN" sz="2800" dirty="0">
                <a:solidFill>
                  <a:srgbClr val="000099"/>
                </a:solidFill>
                <a:highlight>
                  <a:srgbClr val="FFFF00"/>
                </a:highlight>
                <a:latin typeface="PKMLHR+MicrosoftYaHei"/>
                <a:cs typeface="PKMLHR+MicrosoftYaHei"/>
              </a:rPr>
              <a:t>4 </a:t>
            </a:r>
            <a:r>
              <a:rPr lang="zh-CN" altLang="en-US" sz="2800" dirty="0">
                <a:solidFill>
                  <a:srgbClr val="000099"/>
                </a:solidFill>
                <a:highlight>
                  <a:srgbClr val="FFFF00"/>
                </a:highlight>
                <a:latin typeface="PKMLHR+MicrosoftYaHei"/>
                <a:cs typeface="PKMLHR+MicrosoftYaHei"/>
              </a:rPr>
              <a:t>预算执行对比统计表</a:t>
            </a:r>
          </a:p>
          <a:p>
            <a:pPr marL="75" marR="0">
              <a:lnSpc>
                <a:spcPts val="3339"/>
              </a:lnSpc>
              <a:spcBef>
                <a:spcPts val="0"/>
              </a:spcBef>
              <a:spcAft>
                <a:spcPts val="0"/>
              </a:spcAft>
            </a:pPr>
            <a:endParaRPr lang="en-US" sz="2800" dirty="0">
              <a:solidFill>
                <a:srgbClr val="000099"/>
              </a:solidFill>
              <a:highlight>
                <a:srgbClr val="FFFF00"/>
              </a:highlight>
              <a:latin typeface="PKMLHR+MicrosoftYaHei"/>
              <a:cs typeface="PKMLHR+MicrosoftYaHei"/>
            </a:endParaRPr>
          </a:p>
          <a:p>
            <a:pPr marL="75" marR="0">
              <a:lnSpc>
                <a:spcPts val="3339"/>
              </a:lnSpc>
              <a:spcBef>
                <a:spcPts val="0"/>
              </a:spcBef>
              <a:spcAft>
                <a:spcPts val="0"/>
              </a:spcAft>
            </a:pPr>
            <a:r>
              <a:rPr lang="en-US" sz="2800" dirty="0">
                <a:solidFill>
                  <a:srgbClr val="000099"/>
                </a:solidFill>
                <a:highlight>
                  <a:srgbClr val="FFFF00"/>
                </a:highlight>
                <a:latin typeface="PKMLHR+MicrosoftYaHei"/>
                <a:cs typeface="PKMLHR+MicrosoftYaHei"/>
              </a:rPr>
              <a:t>5 </a:t>
            </a:r>
            <a:r>
              <a:rPr lang="zh-CN" altLang="en-US" sz="2800" dirty="0">
                <a:solidFill>
                  <a:srgbClr val="000099"/>
                </a:solidFill>
                <a:highlight>
                  <a:srgbClr val="FFFF00"/>
                </a:highlight>
                <a:latin typeface="PKMLHR+MicrosoftYaHei"/>
                <a:cs typeface="PKMLHR+MicrosoftYaHei"/>
              </a:rPr>
              <a:t>资金使用计划表</a:t>
            </a:r>
            <a:endParaRPr lang="en-US" altLang="zh-CN" sz="2800" dirty="0">
              <a:solidFill>
                <a:srgbClr val="000099"/>
              </a:solidFill>
              <a:highlight>
                <a:srgbClr val="FFFF00"/>
              </a:highlight>
              <a:latin typeface="PKMLHR+MicrosoftYaHei"/>
              <a:cs typeface="PKMLHR+MicrosoftYaHei"/>
            </a:endParaRPr>
          </a:p>
          <a:p>
            <a:pPr marL="75" marR="0">
              <a:lnSpc>
                <a:spcPts val="3339"/>
              </a:lnSpc>
              <a:spcBef>
                <a:spcPts val="0"/>
              </a:spcBef>
              <a:spcAft>
                <a:spcPts val="0"/>
              </a:spcAft>
            </a:pPr>
            <a:endParaRPr lang="en-US" sz="2800" dirty="0">
              <a:solidFill>
                <a:srgbClr val="000099"/>
              </a:solidFill>
              <a:highlight>
                <a:srgbClr val="FFFF00"/>
              </a:highlight>
              <a:latin typeface="PKMLHR+MicrosoftYaHei"/>
              <a:cs typeface="PKMLHR+MicrosoftYaHei"/>
            </a:endParaRPr>
          </a:p>
          <a:p>
            <a:pPr marL="75" marR="0">
              <a:lnSpc>
                <a:spcPts val="3339"/>
              </a:lnSpc>
              <a:spcBef>
                <a:spcPts val="0"/>
              </a:spcBef>
              <a:spcAft>
                <a:spcPts val="0"/>
              </a:spcAft>
            </a:pPr>
            <a:r>
              <a:rPr lang="en-US" sz="2800" dirty="0">
                <a:solidFill>
                  <a:srgbClr val="000099"/>
                </a:solidFill>
                <a:highlight>
                  <a:srgbClr val="FFFF00"/>
                </a:highlight>
                <a:latin typeface="PKMLHR+MicrosoftYaHei"/>
                <a:cs typeface="PKMLHR+MicrosoftYaHei"/>
              </a:rPr>
              <a:t>6 </a:t>
            </a:r>
            <a:r>
              <a:rPr lang="zh-CN" altLang="en-US" sz="2800" dirty="0">
                <a:solidFill>
                  <a:srgbClr val="000099"/>
                </a:solidFill>
                <a:highlight>
                  <a:srgbClr val="FFFF00"/>
                </a:highlight>
                <a:latin typeface="PKMLHR+MicrosoftYaHei"/>
                <a:cs typeface="PKMLHR+MicrosoftYaHei"/>
              </a:rPr>
              <a:t>财务回报率分析系统</a:t>
            </a:r>
            <a:endParaRPr sz="2800" dirty="0">
              <a:solidFill>
                <a:srgbClr val="000099"/>
              </a:solidFill>
              <a:highlight>
                <a:srgbClr val="FFFF00"/>
              </a:highlight>
              <a:latin typeface="PKMLHR+MicrosoftYaHei"/>
              <a:cs typeface="PKMLHR+MicrosoftYaHei"/>
            </a:endParaRPr>
          </a:p>
        </p:txBody>
      </p:sp>
      <p:sp>
        <p:nvSpPr>
          <p:cNvPr id="9" name="object 3">
            <a:extLst>
              <a:ext uri="{FF2B5EF4-FFF2-40B4-BE49-F238E27FC236}">
                <a16:creationId xmlns:a16="http://schemas.microsoft.com/office/drawing/2014/main" id="{362B9509-A6C9-4892-961E-9C162A06AA98}"/>
              </a:ext>
            </a:extLst>
          </p:cNvPr>
          <p:cNvSpPr txBox="1"/>
          <p:nvPr/>
        </p:nvSpPr>
        <p:spPr>
          <a:xfrm>
            <a:off x="335360" y="263040"/>
            <a:ext cx="10537802" cy="423193"/>
          </a:xfrm>
          <a:prstGeom prst="rect">
            <a:avLst/>
          </a:prstGeom>
        </p:spPr>
        <p:txBody>
          <a:bodyPr vert="horz" wrap="square" lIns="0" tIns="0" rIns="0" bIns="0" rtlCol="0">
            <a:spAutoFit/>
          </a:bodyPr>
          <a:lstStyle/>
          <a:p>
            <a:pPr marL="0" marR="0">
              <a:lnSpc>
                <a:spcPts val="3339"/>
              </a:lnSpc>
              <a:spcBef>
                <a:spcPts val="0"/>
              </a:spcBef>
              <a:spcAft>
                <a:spcPts val="0"/>
              </a:spcAft>
            </a:pPr>
            <a:r>
              <a:rPr sz="3200" dirty="0" err="1">
                <a:solidFill>
                  <a:srgbClr val="FF0000"/>
                </a:solidFill>
                <a:latin typeface="OAKHCI+MicrosoftYaHei-Bold"/>
                <a:cs typeface="OAKHCI+MicrosoftYaHei-Bold"/>
              </a:rPr>
              <a:t>财务管控体系</a:t>
            </a:r>
            <a:endParaRPr sz="3200" dirty="0">
              <a:solidFill>
                <a:srgbClr val="FF0000"/>
              </a:solidFill>
              <a:latin typeface="OAKHCI+MicrosoftYaHei-Bold"/>
              <a:cs typeface="OAKHCI+MicrosoftYaHei-Bold"/>
            </a:endParaRPr>
          </a:p>
        </p:txBody>
      </p:sp>
      <p:sp>
        <p:nvSpPr>
          <p:cNvPr id="15" name="文本框 14">
            <a:extLst>
              <a:ext uri="{FF2B5EF4-FFF2-40B4-BE49-F238E27FC236}">
                <a16:creationId xmlns:a16="http://schemas.microsoft.com/office/drawing/2014/main" id="{4DE00EDB-B27E-4D2C-ADD2-E21887B61E1E}"/>
              </a:ext>
            </a:extLst>
          </p:cNvPr>
          <p:cNvSpPr txBox="1"/>
          <p:nvPr/>
        </p:nvSpPr>
        <p:spPr>
          <a:xfrm>
            <a:off x="3351866" y="4949956"/>
            <a:ext cx="5581128" cy="830997"/>
          </a:xfrm>
          <a:prstGeom prst="rect">
            <a:avLst/>
          </a:prstGeom>
          <a:noFill/>
        </p:spPr>
        <p:txBody>
          <a:bodyPr wrap="square" rtlCol="0">
            <a:spAutoFit/>
          </a:bodyPr>
          <a:lstStyle/>
          <a:p>
            <a:r>
              <a:rPr lang="zh-CN" altLang="en-US" sz="2400" b="1" dirty="0">
                <a:solidFill>
                  <a:srgbClr val="000099"/>
                </a:solidFill>
                <a:highlight>
                  <a:srgbClr val="FFFF00"/>
                </a:highlight>
                <a:latin typeface="PKMLHR+MicrosoftYaHei"/>
                <a:cs typeface="PKMLHR+MicrosoftYaHei"/>
              </a:rPr>
              <a:t>季度</a:t>
            </a:r>
            <a:r>
              <a:rPr lang="en-US" altLang="zh-CN" sz="2400" b="1" dirty="0">
                <a:solidFill>
                  <a:srgbClr val="000099"/>
                </a:solidFill>
                <a:highlight>
                  <a:srgbClr val="FFFF00"/>
                </a:highlight>
                <a:latin typeface="PKMLHR+MicrosoftYaHei"/>
                <a:cs typeface="PKMLHR+MicrosoftYaHei"/>
              </a:rPr>
              <a:t>/</a:t>
            </a:r>
            <a:r>
              <a:rPr lang="zh-CN" altLang="en-US" sz="2400" b="1" dirty="0">
                <a:solidFill>
                  <a:srgbClr val="000099"/>
                </a:solidFill>
                <a:highlight>
                  <a:srgbClr val="FFFF00"/>
                </a:highlight>
                <a:latin typeface="PKMLHR+MicrosoftYaHei"/>
                <a:cs typeface="PKMLHR+MicrosoftYaHei"/>
              </a:rPr>
              <a:t>年度出具财务报告，分析期间企业经 营情况，后期财务及经营建议</a:t>
            </a:r>
            <a:endParaRPr lang="zh-CN" altLang="en-US" sz="2400" b="1" dirty="0">
              <a:highlight>
                <a:srgbClr val="FFFF00"/>
              </a:highlight>
            </a:endParaRPr>
          </a:p>
        </p:txBody>
      </p:sp>
      <p:sp>
        <p:nvSpPr>
          <p:cNvPr id="21" name="文本框 20">
            <a:extLst>
              <a:ext uri="{FF2B5EF4-FFF2-40B4-BE49-F238E27FC236}">
                <a16:creationId xmlns:a16="http://schemas.microsoft.com/office/drawing/2014/main" id="{BFFFBC87-624C-4333-B98C-3EBFB238C593}"/>
              </a:ext>
            </a:extLst>
          </p:cNvPr>
          <p:cNvSpPr txBox="1"/>
          <p:nvPr/>
        </p:nvSpPr>
        <p:spPr>
          <a:xfrm>
            <a:off x="623392" y="2453987"/>
            <a:ext cx="1584176" cy="830997"/>
          </a:xfrm>
          <a:prstGeom prst="rect">
            <a:avLst/>
          </a:prstGeom>
          <a:solidFill>
            <a:srgbClr val="92D050"/>
          </a:solidFill>
        </p:spPr>
        <p:txBody>
          <a:bodyPr wrap="square">
            <a:spAutoFit/>
          </a:bodyPr>
          <a:lstStyle/>
          <a:p>
            <a:r>
              <a:rPr lang="zh-CN" altLang="en-US" sz="2400" b="1" dirty="0">
                <a:solidFill>
                  <a:srgbClr val="FF0000"/>
                </a:solidFill>
                <a:latin typeface="OAKHCI+MicrosoftYaHei-Bold"/>
                <a:cs typeface="OAKHCI+MicrosoftYaHei-Bold"/>
              </a:rPr>
              <a:t>老板管控：</a:t>
            </a:r>
            <a:endParaRPr lang="en-US" altLang="zh-CN" sz="2400" b="1" dirty="0">
              <a:solidFill>
                <a:srgbClr val="FF0000"/>
              </a:solidFill>
              <a:latin typeface="OAKHCI+MicrosoftYaHei-Bold"/>
              <a:cs typeface="OAKHCI+MicrosoftYaHei-Bold"/>
            </a:endParaRPr>
          </a:p>
          <a:p>
            <a:r>
              <a:rPr lang="zh-CN" altLang="en-US" sz="2400" b="1" dirty="0">
                <a:solidFill>
                  <a:srgbClr val="FF0000"/>
                </a:solidFill>
                <a:latin typeface="OAKHCI+MicrosoftYaHei-Bold"/>
                <a:cs typeface="OAKHCI+MicrosoftYaHei-Bold"/>
              </a:rPr>
              <a:t>财务报表 </a:t>
            </a:r>
            <a:endParaRPr lang="zh-CN" altLang="en-US" sz="2400" dirty="0">
              <a:solidFill>
                <a:srgbClr val="FF0000"/>
              </a:solidFill>
            </a:endParaRPr>
          </a:p>
        </p:txBody>
      </p:sp>
      <p:sp>
        <p:nvSpPr>
          <p:cNvPr id="13" name="文本框 12">
            <a:extLst>
              <a:ext uri="{FF2B5EF4-FFF2-40B4-BE49-F238E27FC236}">
                <a16:creationId xmlns:a16="http://schemas.microsoft.com/office/drawing/2014/main" id="{C4D4FE10-C755-41EE-8D0A-FF2E6F86CBC7}"/>
              </a:ext>
            </a:extLst>
          </p:cNvPr>
          <p:cNvSpPr txBox="1"/>
          <p:nvPr/>
        </p:nvSpPr>
        <p:spPr>
          <a:xfrm>
            <a:off x="623392" y="5033667"/>
            <a:ext cx="1757544" cy="830997"/>
          </a:xfrm>
          <a:prstGeom prst="rect">
            <a:avLst/>
          </a:prstGeom>
          <a:solidFill>
            <a:srgbClr val="92D050"/>
          </a:solidFill>
        </p:spPr>
        <p:txBody>
          <a:bodyPr wrap="square">
            <a:spAutoFit/>
          </a:bodyPr>
          <a:lstStyle/>
          <a:p>
            <a:r>
              <a:rPr lang="zh-CN" altLang="en-US" sz="2400" b="1" dirty="0">
                <a:solidFill>
                  <a:srgbClr val="FF0000"/>
                </a:solidFill>
                <a:latin typeface="OAKHCI+MicrosoftYaHei-Bold"/>
                <a:cs typeface="OAKHCI+MicrosoftYaHei-Bold"/>
              </a:rPr>
              <a:t>老板管控：</a:t>
            </a:r>
            <a:endParaRPr lang="en-US" altLang="zh-CN" sz="2400" b="1" dirty="0">
              <a:solidFill>
                <a:srgbClr val="FF0000"/>
              </a:solidFill>
              <a:latin typeface="OAKHCI+MicrosoftYaHei-Bold"/>
              <a:cs typeface="OAKHCI+MicrosoftYaHei-Bold"/>
            </a:endParaRPr>
          </a:p>
          <a:p>
            <a:r>
              <a:rPr lang="zh-CN" altLang="en-US" sz="2400" b="1" dirty="0">
                <a:solidFill>
                  <a:srgbClr val="FF0000"/>
                </a:solidFill>
                <a:latin typeface="PKMLHR+MicrosoftYaHei"/>
                <a:cs typeface="PKMLHR+MicrosoftYaHei"/>
              </a:rPr>
              <a:t>财务报告</a:t>
            </a:r>
            <a:endParaRPr lang="zh-CN" altLang="en-US" sz="2400" dirty="0">
              <a:solidFill>
                <a:srgbClr val="FF0000"/>
              </a:solidFill>
            </a:endParaRPr>
          </a:p>
        </p:txBody>
      </p:sp>
      <p:sp>
        <p:nvSpPr>
          <p:cNvPr id="14" name="箭头: 右 13">
            <a:extLst>
              <a:ext uri="{FF2B5EF4-FFF2-40B4-BE49-F238E27FC236}">
                <a16:creationId xmlns:a16="http://schemas.microsoft.com/office/drawing/2014/main" id="{5B23C2D4-82D3-4032-B009-03C3E660F9A8}"/>
              </a:ext>
            </a:extLst>
          </p:cNvPr>
          <p:cNvSpPr/>
          <p:nvPr/>
        </p:nvSpPr>
        <p:spPr>
          <a:xfrm>
            <a:off x="2512975" y="5365455"/>
            <a:ext cx="49053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D5420780-0C8C-41B7-BF80-371BCFBB9EFF}"/>
              </a:ext>
            </a:extLst>
          </p:cNvPr>
          <p:cNvSpPr/>
          <p:nvPr/>
        </p:nvSpPr>
        <p:spPr>
          <a:xfrm>
            <a:off x="2398054" y="2655392"/>
            <a:ext cx="49053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3036975-F903-4117-A7A5-7F72FC7068E0}"/>
              </a:ext>
            </a:extLst>
          </p:cNvPr>
          <p:cNvSpPr txBox="1"/>
          <p:nvPr/>
        </p:nvSpPr>
        <p:spPr>
          <a:xfrm>
            <a:off x="0" y="0"/>
            <a:ext cx="5303912" cy="461665"/>
          </a:xfrm>
          <a:prstGeom prst="rect">
            <a:avLst/>
          </a:prstGeom>
          <a:solidFill>
            <a:srgbClr val="FFFF00"/>
          </a:solidFill>
        </p:spPr>
        <p:txBody>
          <a:bodyPr wrap="square" rtlCol="0">
            <a:spAutoFit/>
          </a:bodyPr>
          <a:lstStyle/>
          <a:p>
            <a:r>
              <a:rPr lang="zh-CN" altLang="en-US" sz="2400" b="1" dirty="0">
                <a:solidFill>
                  <a:srgbClr val="FF0000"/>
                </a:solidFill>
              </a:rPr>
              <a:t>税种税负统计表</a:t>
            </a:r>
            <a:r>
              <a:rPr lang="en-US" altLang="zh-CN" sz="2400" b="1" dirty="0">
                <a:solidFill>
                  <a:srgbClr val="FF0000"/>
                </a:solidFill>
              </a:rPr>
              <a:t>6-1</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AC94CEBF-A696-41C5-BEBE-817FA585909F}"/>
              </a:ext>
            </a:extLst>
          </p:cNvPr>
          <p:cNvGraphicFramePr>
            <a:graphicFrameLocks noGrp="1"/>
          </p:cNvGraphicFramePr>
          <p:nvPr>
            <p:extLst>
              <p:ext uri="{D42A27DB-BD31-4B8C-83A1-F6EECF244321}">
                <p14:modId xmlns:p14="http://schemas.microsoft.com/office/powerpoint/2010/main" val="2891996546"/>
              </p:ext>
            </p:extLst>
          </p:nvPr>
        </p:nvGraphicFramePr>
        <p:xfrm>
          <a:off x="623392" y="461665"/>
          <a:ext cx="11161242" cy="6135720"/>
        </p:xfrm>
        <a:graphic>
          <a:graphicData uri="http://schemas.openxmlformats.org/drawingml/2006/table">
            <a:tbl>
              <a:tblPr>
                <a:tableStyleId>{5C22544A-7EE6-4342-B048-85BDC9FD1C3A}</a:tableStyleId>
              </a:tblPr>
              <a:tblGrid>
                <a:gridCol w="1489770">
                  <a:extLst>
                    <a:ext uri="{9D8B030D-6E8A-4147-A177-3AD203B41FA5}">
                      <a16:colId xmlns:a16="http://schemas.microsoft.com/office/drawing/2014/main" val="2928133838"/>
                    </a:ext>
                  </a:extLst>
                </a:gridCol>
                <a:gridCol w="2248875">
                  <a:extLst>
                    <a:ext uri="{9D8B030D-6E8A-4147-A177-3AD203B41FA5}">
                      <a16:colId xmlns:a16="http://schemas.microsoft.com/office/drawing/2014/main" val="3132484783"/>
                    </a:ext>
                  </a:extLst>
                </a:gridCol>
                <a:gridCol w="570969">
                  <a:extLst>
                    <a:ext uri="{9D8B030D-6E8A-4147-A177-3AD203B41FA5}">
                      <a16:colId xmlns:a16="http://schemas.microsoft.com/office/drawing/2014/main" val="1736774349"/>
                    </a:ext>
                  </a:extLst>
                </a:gridCol>
                <a:gridCol w="570969">
                  <a:extLst>
                    <a:ext uri="{9D8B030D-6E8A-4147-A177-3AD203B41FA5}">
                      <a16:colId xmlns:a16="http://schemas.microsoft.com/office/drawing/2014/main" val="1904794786"/>
                    </a:ext>
                  </a:extLst>
                </a:gridCol>
                <a:gridCol w="570969">
                  <a:extLst>
                    <a:ext uri="{9D8B030D-6E8A-4147-A177-3AD203B41FA5}">
                      <a16:colId xmlns:a16="http://schemas.microsoft.com/office/drawing/2014/main" val="4272001625"/>
                    </a:ext>
                  </a:extLst>
                </a:gridCol>
                <a:gridCol w="570969">
                  <a:extLst>
                    <a:ext uri="{9D8B030D-6E8A-4147-A177-3AD203B41FA5}">
                      <a16:colId xmlns:a16="http://schemas.microsoft.com/office/drawing/2014/main" val="3904476923"/>
                    </a:ext>
                  </a:extLst>
                </a:gridCol>
                <a:gridCol w="570969">
                  <a:extLst>
                    <a:ext uri="{9D8B030D-6E8A-4147-A177-3AD203B41FA5}">
                      <a16:colId xmlns:a16="http://schemas.microsoft.com/office/drawing/2014/main" val="301649957"/>
                    </a:ext>
                  </a:extLst>
                </a:gridCol>
                <a:gridCol w="570969">
                  <a:extLst>
                    <a:ext uri="{9D8B030D-6E8A-4147-A177-3AD203B41FA5}">
                      <a16:colId xmlns:a16="http://schemas.microsoft.com/office/drawing/2014/main" val="3585965911"/>
                    </a:ext>
                  </a:extLst>
                </a:gridCol>
                <a:gridCol w="570969">
                  <a:extLst>
                    <a:ext uri="{9D8B030D-6E8A-4147-A177-3AD203B41FA5}">
                      <a16:colId xmlns:a16="http://schemas.microsoft.com/office/drawing/2014/main" val="4168823713"/>
                    </a:ext>
                  </a:extLst>
                </a:gridCol>
                <a:gridCol w="570969">
                  <a:extLst>
                    <a:ext uri="{9D8B030D-6E8A-4147-A177-3AD203B41FA5}">
                      <a16:colId xmlns:a16="http://schemas.microsoft.com/office/drawing/2014/main" val="1282804434"/>
                    </a:ext>
                  </a:extLst>
                </a:gridCol>
                <a:gridCol w="570969">
                  <a:extLst>
                    <a:ext uri="{9D8B030D-6E8A-4147-A177-3AD203B41FA5}">
                      <a16:colId xmlns:a16="http://schemas.microsoft.com/office/drawing/2014/main" val="2311737572"/>
                    </a:ext>
                  </a:extLst>
                </a:gridCol>
                <a:gridCol w="570969">
                  <a:extLst>
                    <a:ext uri="{9D8B030D-6E8A-4147-A177-3AD203B41FA5}">
                      <a16:colId xmlns:a16="http://schemas.microsoft.com/office/drawing/2014/main" val="315321921"/>
                    </a:ext>
                  </a:extLst>
                </a:gridCol>
                <a:gridCol w="570969">
                  <a:extLst>
                    <a:ext uri="{9D8B030D-6E8A-4147-A177-3AD203B41FA5}">
                      <a16:colId xmlns:a16="http://schemas.microsoft.com/office/drawing/2014/main" val="1810928306"/>
                    </a:ext>
                  </a:extLst>
                </a:gridCol>
                <a:gridCol w="570969">
                  <a:extLst>
                    <a:ext uri="{9D8B030D-6E8A-4147-A177-3AD203B41FA5}">
                      <a16:colId xmlns:a16="http://schemas.microsoft.com/office/drawing/2014/main" val="3484644773"/>
                    </a:ext>
                  </a:extLst>
                </a:gridCol>
                <a:gridCol w="570969">
                  <a:extLst>
                    <a:ext uri="{9D8B030D-6E8A-4147-A177-3AD203B41FA5}">
                      <a16:colId xmlns:a16="http://schemas.microsoft.com/office/drawing/2014/main" val="4148541325"/>
                    </a:ext>
                  </a:extLst>
                </a:gridCol>
              </a:tblGrid>
              <a:tr h="153393">
                <a:tc gridSpan="15">
                  <a:txBody>
                    <a:bodyPr/>
                    <a:lstStyle/>
                    <a:p>
                      <a:pPr algn="ctr" fontAlgn="ctr"/>
                      <a:r>
                        <a:rPr lang="zh-CN" altLang="en-US" sz="600" u="none" strike="noStrike">
                          <a:effectLst/>
                        </a:rPr>
                        <a:t>企业月度 </a:t>
                      </a:r>
                      <a:r>
                        <a:rPr lang="en-US" altLang="zh-CN" sz="600" u="none" strike="noStrike">
                          <a:effectLst/>
                        </a:rPr>
                        <a:t>/ </a:t>
                      </a:r>
                      <a:r>
                        <a:rPr lang="zh-CN" altLang="en-US" sz="600" u="none" strike="noStrike">
                          <a:effectLst/>
                        </a:rPr>
                        <a:t>年度各项税负统计表</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90019008"/>
                  </a:ext>
                </a:extLst>
              </a:tr>
              <a:tr h="153393">
                <a:tc gridSpan="3">
                  <a:txBody>
                    <a:bodyPr/>
                    <a:lstStyle/>
                    <a:p>
                      <a:pPr algn="l" fontAlgn="ctr"/>
                      <a:r>
                        <a:rPr lang="zh-CN" altLang="en-US" sz="500" u="none" strike="noStrike">
                          <a:effectLst/>
                        </a:rPr>
                        <a:t>统计周期：</a:t>
                      </a:r>
                      <a:r>
                        <a:rPr lang="en-US" altLang="zh-CN" sz="500" u="none" strike="noStrike">
                          <a:effectLst/>
                        </a:rPr>
                        <a:t>__________</a:t>
                      </a:r>
                      <a:r>
                        <a:rPr lang="zh-CN" altLang="en-US" sz="500" u="none" strike="noStrike">
                          <a:effectLst/>
                        </a:rPr>
                        <a:t>年</a:t>
                      </a:r>
                      <a:r>
                        <a:rPr lang="en-US" altLang="zh-CN" sz="500" u="none" strike="noStrike">
                          <a:effectLst/>
                        </a:rPr>
                        <a:t>________</a:t>
                      </a:r>
                      <a:r>
                        <a:rPr lang="zh-CN" altLang="en-US" sz="500" u="none" strike="noStrike">
                          <a:effectLst/>
                        </a:rPr>
                        <a:t>月至</a:t>
                      </a:r>
                      <a:r>
                        <a:rPr lang="en-US" altLang="zh-CN" sz="500" u="none" strike="noStrike">
                          <a:effectLst/>
                        </a:rPr>
                        <a:t>_________</a:t>
                      </a:r>
                      <a:r>
                        <a:rPr lang="zh-CN" altLang="en-US" sz="500" u="none" strike="noStrike">
                          <a:effectLst/>
                        </a:rPr>
                        <a:t>年</a:t>
                      </a:r>
                      <a:r>
                        <a:rPr lang="en-US" altLang="zh-CN" sz="500" u="none" strike="noStrike">
                          <a:effectLst/>
                        </a:rPr>
                        <a:t>________</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制表人：</a:t>
                      </a:r>
                      <a:r>
                        <a:rPr lang="en-US" altLang="zh-CN" sz="500" u="none" strike="noStrike">
                          <a:effectLst/>
                        </a:rPr>
                        <a:t>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复核人：</a:t>
                      </a:r>
                      <a:r>
                        <a:rPr lang="en-US" altLang="zh-CN" sz="500" u="none" strike="noStrike">
                          <a:effectLst/>
                        </a:rPr>
                        <a:t>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财务负责人：</a:t>
                      </a:r>
                      <a:r>
                        <a:rPr lang="en-US" altLang="zh-CN" sz="500" u="none" strike="noStrike">
                          <a:effectLst/>
                        </a:rPr>
                        <a:t>________</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500" u="none" strike="noStrike">
                          <a:effectLst/>
                        </a:rPr>
                        <a:t>单位：元</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6090969"/>
                  </a:ext>
                </a:extLst>
              </a:tr>
              <a:tr h="153393">
                <a:tc gridSpan="15">
                  <a:txBody>
                    <a:bodyPr/>
                    <a:lstStyle/>
                    <a:p>
                      <a:pPr algn="ctr" fontAlgn="ctr"/>
                      <a:r>
                        <a:rPr lang="zh-CN" altLang="en-US" sz="500" u="none" strike="noStrike">
                          <a:effectLst/>
                        </a:rPr>
                        <a:t>一、增值税税负测算表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38624765"/>
                  </a:ext>
                </a:extLst>
              </a:tr>
              <a:tr h="153393">
                <a:tc>
                  <a:txBody>
                    <a:bodyPr/>
                    <a:lstStyle/>
                    <a:p>
                      <a:pPr algn="ctr" fontAlgn="ctr"/>
                      <a:r>
                        <a:rPr lang="zh-CN" altLang="en-US" sz="500" u="none" strike="noStrike">
                          <a:effectLst/>
                        </a:rPr>
                        <a:t>项目</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备注（计税依据</a:t>
                      </a:r>
                      <a:r>
                        <a:rPr lang="en-US" altLang="zh-CN" sz="500" u="none" strike="noStrike">
                          <a:effectLst/>
                        </a:rPr>
                        <a:t>/</a:t>
                      </a:r>
                      <a:r>
                        <a:rPr lang="zh-CN" altLang="en-US" sz="500" u="none" strike="noStrike">
                          <a:effectLst/>
                        </a:rPr>
                        <a:t>征收率</a:t>
                      </a:r>
                      <a:r>
                        <a:rPr lang="en-US" altLang="zh-CN" sz="500" u="none" strike="noStrike">
                          <a:effectLst/>
                        </a:rPr>
                        <a:t>/</a:t>
                      </a:r>
                      <a:r>
                        <a:rPr lang="zh-CN" altLang="en-US" sz="500" u="none" strike="noStrike">
                          <a:effectLst/>
                        </a:rPr>
                        <a:t>计算公式等）</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3</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4</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5</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6</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7</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8</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9</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10</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533401044"/>
                  </a:ext>
                </a:extLst>
              </a:tr>
              <a:tr h="153393">
                <a:tc>
                  <a:txBody>
                    <a:bodyPr/>
                    <a:lstStyle/>
                    <a:p>
                      <a:pPr algn="l" fontAlgn="ctr"/>
                      <a:r>
                        <a:rPr lang="zh-CN" altLang="en-US" sz="500" u="none" strike="noStrike">
                          <a:effectLst/>
                        </a:rPr>
                        <a:t>一、应税销售收入（不含税）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1</a:t>
                      </a:r>
                      <a:r>
                        <a:rPr lang="zh-CN" altLang="en-US" sz="500" u="none" strike="noStrike">
                          <a:effectLst/>
                        </a:rPr>
                        <a:t>、账面主营业务收入 </a:t>
                      </a:r>
                      <a:r>
                        <a:rPr lang="en-US" altLang="zh-CN" sz="500" u="none" strike="noStrike">
                          <a:effectLst/>
                        </a:rPr>
                        <a:t>+ </a:t>
                      </a:r>
                      <a:r>
                        <a:rPr lang="zh-CN" altLang="en-US" sz="500" u="none" strike="noStrike">
                          <a:effectLst/>
                        </a:rPr>
                        <a:t>其他业务收入</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054172910"/>
                  </a:ext>
                </a:extLst>
              </a:tr>
              <a:tr h="153393">
                <a:tc>
                  <a:txBody>
                    <a:bodyPr/>
                    <a:lstStyle/>
                    <a:p>
                      <a:pPr algn="l" fontAlgn="ctr"/>
                      <a:r>
                        <a:rPr lang="zh-CN" altLang="en-US" sz="500" u="none" strike="noStrike">
                          <a:effectLst/>
                        </a:rPr>
                        <a:t>销项税额合计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2</a:t>
                      </a:r>
                      <a:r>
                        <a:rPr lang="zh-CN" altLang="en-US" sz="500" u="none" strike="noStrike">
                          <a:effectLst/>
                        </a:rPr>
                        <a:t>、本期开票销项税额 </a:t>
                      </a:r>
                      <a:r>
                        <a:rPr lang="en-US" altLang="zh-CN" sz="500" u="none" strike="noStrike">
                          <a:effectLst/>
                        </a:rPr>
                        <a:t>+ </a:t>
                      </a:r>
                      <a:r>
                        <a:rPr lang="zh-CN" altLang="en-US" sz="500" u="none" strike="noStrike">
                          <a:effectLst/>
                        </a:rPr>
                        <a:t>未开票销项</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951783040"/>
                  </a:ext>
                </a:extLst>
              </a:tr>
              <a:tr h="153393">
                <a:tc>
                  <a:txBody>
                    <a:bodyPr/>
                    <a:lstStyle/>
                    <a:p>
                      <a:pPr algn="l" fontAlgn="ctr"/>
                      <a:r>
                        <a:rPr lang="zh-CN" altLang="en-US" sz="500" u="none" strike="noStrike">
                          <a:effectLst/>
                        </a:rPr>
                        <a:t>本期认证抵扣进项税额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3</a:t>
                      </a:r>
                      <a:r>
                        <a:rPr lang="zh-CN" altLang="en-US" sz="500" u="none" strike="noStrike">
                          <a:effectLst/>
                        </a:rPr>
                        <a:t>、进项专票抵扣税额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020243814"/>
                  </a:ext>
                </a:extLst>
              </a:tr>
              <a:tr h="153393">
                <a:tc>
                  <a:txBody>
                    <a:bodyPr/>
                    <a:lstStyle/>
                    <a:p>
                      <a:pPr algn="l" fontAlgn="ctr"/>
                      <a:r>
                        <a:rPr lang="zh-CN" altLang="en-US" sz="500" u="none" strike="noStrike">
                          <a:effectLst/>
                        </a:rPr>
                        <a:t>进项税额转出额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4</a:t>
                      </a:r>
                      <a:r>
                        <a:rPr lang="zh-CN" altLang="en-US" sz="500" u="none" strike="noStrike">
                          <a:effectLst/>
                        </a:rPr>
                        <a:t>、福利</a:t>
                      </a:r>
                      <a:r>
                        <a:rPr lang="en-US" altLang="zh-CN" sz="500" u="none" strike="noStrike">
                          <a:effectLst/>
                        </a:rPr>
                        <a:t>/</a:t>
                      </a:r>
                      <a:r>
                        <a:rPr lang="zh-CN" altLang="en-US" sz="500" u="none" strike="noStrike">
                          <a:effectLst/>
                        </a:rPr>
                        <a:t>免税</a:t>
                      </a:r>
                      <a:r>
                        <a:rPr lang="en-US" altLang="zh-CN" sz="500" u="none" strike="noStrike">
                          <a:effectLst/>
                        </a:rPr>
                        <a:t>/</a:t>
                      </a:r>
                      <a:r>
                        <a:rPr lang="zh-CN" altLang="en-US" sz="500" u="none" strike="noStrike">
                          <a:effectLst/>
                        </a:rPr>
                        <a:t>简易计税等不得抵扣部份</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813632633"/>
                  </a:ext>
                </a:extLst>
              </a:tr>
              <a:tr h="153393">
                <a:tc>
                  <a:txBody>
                    <a:bodyPr/>
                    <a:lstStyle/>
                    <a:p>
                      <a:pPr algn="l" fontAlgn="ctr"/>
                      <a:r>
                        <a:rPr lang="zh-CN" altLang="en-US" sz="500" u="none" strike="noStrike">
                          <a:effectLst/>
                        </a:rPr>
                        <a:t>上期留抵税额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5</a:t>
                      </a:r>
                      <a:r>
                        <a:rPr lang="zh-CN" altLang="en-US" sz="500" u="none" strike="noStrike">
                          <a:effectLst/>
                        </a:rPr>
                        <a:t>、上期结转可抵扣留抵</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4044416298"/>
                  </a:ext>
                </a:extLst>
              </a:tr>
              <a:tr h="153393">
                <a:tc>
                  <a:txBody>
                    <a:bodyPr/>
                    <a:lstStyle/>
                    <a:p>
                      <a:pPr algn="l" fontAlgn="ctr"/>
                      <a:r>
                        <a:rPr lang="zh-CN" altLang="en-US" sz="500" u="none" strike="noStrike">
                          <a:effectLst/>
                        </a:rPr>
                        <a:t>本期实际应交增值税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6</a:t>
                      </a:r>
                      <a:r>
                        <a:rPr lang="zh-CN" altLang="en-US" sz="500" u="none" strike="noStrike">
                          <a:effectLst/>
                        </a:rPr>
                        <a:t>、</a:t>
                      </a:r>
                      <a:r>
                        <a:rPr lang="en-US" altLang="zh-CN" sz="500" u="none" strike="noStrike">
                          <a:effectLst/>
                        </a:rPr>
                        <a:t>=2-3+4-5</a:t>
                      </a:r>
                      <a:r>
                        <a:rPr lang="zh-CN" altLang="en-US" sz="500" u="none" strike="noStrike">
                          <a:effectLst/>
                        </a:rPr>
                        <a:t>（行次对应金额）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809443082"/>
                  </a:ext>
                </a:extLst>
              </a:tr>
              <a:tr h="153393">
                <a:tc>
                  <a:txBody>
                    <a:bodyPr/>
                    <a:lstStyle/>
                    <a:p>
                      <a:pPr algn="l" fontAlgn="ctr"/>
                      <a:r>
                        <a:rPr lang="zh-CN" altLang="en-US" sz="500" u="none" strike="noStrike">
                          <a:effectLst/>
                        </a:rPr>
                        <a:t>增值税税负率</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7</a:t>
                      </a:r>
                      <a:r>
                        <a:rPr lang="zh-CN" altLang="en-US" sz="500" u="none" strike="noStrike">
                          <a:effectLst/>
                        </a:rPr>
                        <a:t>、比率</a:t>
                      </a:r>
                      <a:r>
                        <a:rPr lang="en-US" altLang="zh-CN" sz="500" u="none" strike="noStrike">
                          <a:effectLst/>
                        </a:rPr>
                        <a:t>=6/1 </a:t>
                      </a:r>
                      <a:r>
                        <a:rPr lang="zh-CN" altLang="en-US" sz="500" u="none" strike="noStrike">
                          <a:effectLst/>
                        </a:rPr>
                        <a:t>（行次对应金额） </a:t>
                      </a:r>
                      <a:r>
                        <a:rPr lang="en-US" altLang="zh-CN" sz="500" u="none" strike="noStrike">
                          <a:effectLst/>
                        </a:rPr>
                        <a:t>%</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083736951"/>
                  </a:ext>
                </a:extLst>
              </a:tr>
              <a:tr h="153393">
                <a:tc>
                  <a:txBody>
                    <a:bodyPr/>
                    <a:lstStyle/>
                    <a:p>
                      <a:pPr algn="l" fontAlgn="ctr"/>
                      <a:r>
                        <a:rPr lang="zh-CN" altLang="en-US" sz="500" u="none" strike="noStrike">
                          <a:effectLst/>
                        </a:rPr>
                        <a:t>本行业参考税负率区间</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8</a:t>
                      </a:r>
                      <a:r>
                        <a:rPr lang="zh-CN" altLang="en-US" sz="500" u="none" strike="noStrike">
                          <a:effectLst/>
                        </a:rPr>
                        <a:t>、税务预警区间</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993954152"/>
                  </a:ext>
                </a:extLst>
              </a:tr>
              <a:tr h="153393">
                <a:tc>
                  <a:txBody>
                    <a:bodyPr/>
                    <a:lstStyle/>
                    <a:p>
                      <a:pPr algn="l" fontAlgn="ctr"/>
                      <a:r>
                        <a:rPr lang="zh-CN" altLang="en-US" sz="500" u="none" strike="noStrike">
                          <a:effectLst/>
                        </a:rPr>
                        <a:t>税负差异分析</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9</a:t>
                      </a:r>
                      <a:r>
                        <a:rPr lang="zh-CN" altLang="en-US" sz="500" u="none" strike="noStrike">
                          <a:effectLst/>
                        </a:rPr>
                        <a:t>、偏高 </a:t>
                      </a:r>
                      <a:r>
                        <a:rPr lang="en-US" altLang="zh-CN" sz="500" u="none" strike="noStrike">
                          <a:effectLst/>
                        </a:rPr>
                        <a:t>/ </a:t>
                      </a:r>
                      <a:r>
                        <a:rPr lang="zh-CN" altLang="en-US" sz="500" u="none" strike="noStrike">
                          <a:effectLst/>
                        </a:rPr>
                        <a:t>偏低，原因说明：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001158132"/>
                  </a:ext>
                </a:extLst>
              </a:tr>
              <a:tr h="153393">
                <a:tc gridSpan="15">
                  <a:txBody>
                    <a:bodyPr/>
                    <a:lstStyle/>
                    <a:p>
                      <a:pPr algn="ctr" fontAlgn="ctr"/>
                      <a:r>
                        <a:rPr lang="zh-CN" altLang="en-US" sz="500" u="none" strike="noStrike">
                          <a:effectLst/>
                        </a:rPr>
                        <a:t>二、附加税、其他税费计提</a:t>
                      </a:r>
                      <a:r>
                        <a:rPr lang="en-US" altLang="zh-CN" sz="500" u="none" strike="noStrike">
                          <a:effectLst/>
                        </a:rPr>
                        <a:t>/</a:t>
                      </a:r>
                      <a:r>
                        <a:rPr lang="zh-CN" altLang="en-US" sz="500" u="none" strike="noStrike">
                          <a:effectLst/>
                        </a:rPr>
                        <a:t>缴纳统计表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66112411"/>
                  </a:ext>
                </a:extLst>
              </a:tr>
              <a:tr h="153393">
                <a:tc>
                  <a:txBody>
                    <a:bodyPr/>
                    <a:lstStyle/>
                    <a:p>
                      <a:pPr algn="ctr" fontAlgn="ctr"/>
                      <a:r>
                        <a:rPr lang="zh-CN" altLang="en-US" sz="500" u="none" strike="noStrike">
                          <a:effectLst/>
                        </a:rPr>
                        <a:t>税种</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备注（计税依据</a:t>
                      </a:r>
                      <a:r>
                        <a:rPr lang="en-US" altLang="zh-CN" sz="500" u="none" strike="noStrike">
                          <a:effectLst/>
                        </a:rPr>
                        <a:t>/</a:t>
                      </a:r>
                      <a:r>
                        <a:rPr lang="zh-CN" altLang="en-US" sz="500" u="none" strike="noStrike">
                          <a:effectLst/>
                        </a:rPr>
                        <a:t>征收率</a:t>
                      </a:r>
                      <a:r>
                        <a:rPr lang="en-US" altLang="zh-CN" sz="500" u="none" strike="noStrike">
                          <a:effectLst/>
                        </a:rPr>
                        <a:t>/</a:t>
                      </a:r>
                      <a:r>
                        <a:rPr lang="zh-CN" altLang="en-US" sz="500" u="none" strike="noStrike">
                          <a:effectLst/>
                        </a:rPr>
                        <a:t>计算公式等）</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3</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4</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5</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6</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7</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8</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9</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10</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049835228"/>
                  </a:ext>
                </a:extLst>
              </a:tr>
              <a:tr h="153393">
                <a:tc>
                  <a:txBody>
                    <a:bodyPr/>
                    <a:lstStyle/>
                    <a:p>
                      <a:pPr algn="l" fontAlgn="ctr"/>
                      <a:r>
                        <a:rPr lang="zh-CN" altLang="en-US" sz="500" u="none" strike="noStrike">
                          <a:effectLst/>
                        </a:rPr>
                        <a:t>城市维护建设税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应交增值税</a:t>
                      </a:r>
                      <a:r>
                        <a:rPr lang="en-US" altLang="zh-CN" sz="500" u="none" strike="noStrike">
                          <a:effectLst/>
                        </a:rPr>
                        <a:t>7%/5%/1%</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803224940"/>
                  </a:ext>
                </a:extLst>
              </a:tr>
              <a:tr h="153393">
                <a:tc>
                  <a:txBody>
                    <a:bodyPr/>
                    <a:lstStyle/>
                    <a:p>
                      <a:pPr algn="l" fontAlgn="ctr"/>
                      <a:r>
                        <a:rPr lang="zh-CN" altLang="en-US" sz="500" u="none" strike="noStrike">
                          <a:effectLst/>
                        </a:rPr>
                        <a:t>教育费附加</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应交增值税</a:t>
                      </a:r>
                      <a:r>
                        <a:rPr lang="en-US" altLang="zh-CN" sz="500" u="none" strike="noStrike">
                          <a:effectLst/>
                        </a:rPr>
                        <a:t>3%</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601702993"/>
                  </a:ext>
                </a:extLst>
              </a:tr>
              <a:tr h="153393">
                <a:tc>
                  <a:txBody>
                    <a:bodyPr/>
                    <a:lstStyle/>
                    <a:p>
                      <a:pPr algn="l" fontAlgn="ctr"/>
                      <a:r>
                        <a:rPr lang="zh-CN" altLang="en-US" sz="500" u="none" strike="noStrike">
                          <a:effectLst/>
                        </a:rPr>
                        <a:t>地方教育附加</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应交增值税</a:t>
                      </a:r>
                      <a:r>
                        <a:rPr lang="en-US" altLang="zh-CN" sz="500" u="none" strike="noStrike">
                          <a:effectLst/>
                        </a:rPr>
                        <a:t>2%</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103622062"/>
                  </a:ext>
                </a:extLst>
              </a:tr>
              <a:tr h="153393">
                <a:tc>
                  <a:txBody>
                    <a:bodyPr/>
                    <a:lstStyle/>
                    <a:p>
                      <a:pPr algn="l" fontAlgn="ctr"/>
                      <a:r>
                        <a:rPr lang="zh-CN" altLang="en-US" sz="500" u="none" strike="noStrike">
                          <a:effectLst/>
                        </a:rPr>
                        <a:t>附加税费合计</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408187059"/>
                  </a:ext>
                </a:extLst>
              </a:tr>
              <a:tr h="153393">
                <a:tc>
                  <a:txBody>
                    <a:bodyPr/>
                    <a:lstStyle/>
                    <a:p>
                      <a:pPr algn="l" fontAlgn="ctr"/>
                      <a:r>
                        <a:rPr lang="zh-CN" altLang="en-US" sz="500" u="none" strike="noStrike">
                          <a:effectLst/>
                        </a:rPr>
                        <a:t>印花税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应税合同 </a:t>
                      </a:r>
                      <a:r>
                        <a:rPr lang="en-US" altLang="zh-CN" sz="500" u="none" strike="noStrike">
                          <a:effectLst/>
                        </a:rPr>
                        <a:t>/ </a:t>
                      </a:r>
                      <a:r>
                        <a:rPr lang="zh-CN" altLang="en-US" sz="500" u="none" strike="noStrike">
                          <a:effectLst/>
                        </a:rPr>
                        <a:t>实收资本等</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242261815"/>
                  </a:ext>
                </a:extLst>
              </a:tr>
              <a:tr h="153393">
                <a:tc>
                  <a:txBody>
                    <a:bodyPr/>
                    <a:lstStyle/>
                    <a:p>
                      <a:pPr algn="l" fontAlgn="ctr"/>
                      <a:r>
                        <a:rPr lang="zh-CN" altLang="en-US" sz="500" u="none" strike="noStrike">
                          <a:effectLst/>
                        </a:rPr>
                        <a:t>房产税、土地使用税等其他税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其他据实际业务计税情况</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684075896"/>
                  </a:ext>
                </a:extLst>
              </a:tr>
              <a:tr h="153393">
                <a:tc>
                  <a:txBody>
                    <a:bodyPr/>
                    <a:lstStyle/>
                    <a:p>
                      <a:pPr algn="l" fontAlgn="ctr"/>
                      <a:r>
                        <a:rPr lang="zh-CN" altLang="en-US" sz="500" u="none" strike="noStrike">
                          <a:effectLst/>
                        </a:rPr>
                        <a:t>其他各项税费合计</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282519284"/>
                  </a:ext>
                </a:extLst>
              </a:tr>
              <a:tr h="153393">
                <a:tc gridSpan="15">
                  <a:txBody>
                    <a:bodyPr/>
                    <a:lstStyle/>
                    <a:p>
                      <a:pPr algn="ctr" fontAlgn="ctr"/>
                      <a:r>
                        <a:rPr lang="zh-CN" altLang="en-US" sz="500" u="none" strike="noStrike">
                          <a:effectLst/>
                        </a:rPr>
                        <a:t>三、企业所得税税负测算表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545990104"/>
                  </a:ext>
                </a:extLst>
              </a:tr>
              <a:tr h="153393">
                <a:tc>
                  <a:txBody>
                    <a:bodyPr/>
                    <a:lstStyle/>
                    <a:p>
                      <a:pPr algn="ctr" fontAlgn="ctr"/>
                      <a:r>
                        <a:rPr lang="zh-CN" altLang="en-US" sz="500" u="none" strike="noStrike">
                          <a:effectLst/>
                        </a:rPr>
                        <a:t>项目</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备注（计税依据</a:t>
                      </a:r>
                      <a:r>
                        <a:rPr lang="en-US" altLang="zh-CN" sz="500" u="none" strike="noStrike">
                          <a:effectLst/>
                        </a:rPr>
                        <a:t>/</a:t>
                      </a:r>
                      <a:r>
                        <a:rPr lang="zh-CN" altLang="en-US" sz="500" u="none" strike="noStrike">
                          <a:effectLst/>
                        </a:rPr>
                        <a:t>征收率</a:t>
                      </a:r>
                      <a:r>
                        <a:rPr lang="en-US" altLang="zh-CN" sz="500" u="none" strike="noStrike">
                          <a:effectLst/>
                        </a:rPr>
                        <a:t>/</a:t>
                      </a:r>
                      <a:r>
                        <a:rPr lang="zh-CN" altLang="en-US" sz="500" u="none" strike="noStrike">
                          <a:effectLst/>
                        </a:rPr>
                        <a:t>计算公式等）</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3</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4</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5</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6</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7</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8</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9</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10</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4087252772"/>
                  </a:ext>
                </a:extLst>
              </a:tr>
              <a:tr h="153393">
                <a:tc>
                  <a:txBody>
                    <a:bodyPr/>
                    <a:lstStyle/>
                    <a:p>
                      <a:pPr algn="l" fontAlgn="ctr"/>
                      <a:r>
                        <a:rPr lang="zh-CN" altLang="en-US" sz="500" u="none" strike="noStrike">
                          <a:effectLst/>
                        </a:rPr>
                        <a:t>营业收入总额（不含税）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309546245"/>
                  </a:ext>
                </a:extLst>
              </a:tr>
              <a:tr h="153393">
                <a:tc>
                  <a:txBody>
                    <a:bodyPr/>
                    <a:lstStyle/>
                    <a:p>
                      <a:pPr algn="l" fontAlgn="ctr"/>
                      <a:r>
                        <a:rPr lang="zh-CN" altLang="en-US" sz="500" u="none" strike="noStrike">
                          <a:effectLst/>
                        </a:rPr>
                        <a:t>利润总额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832012394"/>
                  </a:ext>
                </a:extLst>
              </a:tr>
              <a:tr h="153393">
                <a:tc>
                  <a:txBody>
                    <a:bodyPr/>
                    <a:lstStyle/>
                    <a:p>
                      <a:pPr algn="l" fontAlgn="ctr"/>
                      <a:r>
                        <a:rPr lang="zh-CN" altLang="en-US" sz="500" u="none" strike="noStrike">
                          <a:effectLst/>
                        </a:rPr>
                        <a:t>纳税调增额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355468467"/>
                  </a:ext>
                </a:extLst>
              </a:tr>
              <a:tr h="153393">
                <a:tc>
                  <a:txBody>
                    <a:bodyPr/>
                    <a:lstStyle/>
                    <a:p>
                      <a:pPr algn="l" fontAlgn="ctr"/>
                      <a:r>
                        <a:rPr lang="zh-CN" altLang="en-US" sz="500" u="none" strike="noStrike">
                          <a:effectLst/>
                        </a:rPr>
                        <a:t>纳税调减额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66501873"/>
                  </a:ext>
                </a:extLst>
              </a:tr>
              <a:tr h="153393">
                <a:tc>
                  <a:txBody>
                    <a:bodyPr/>
                    <a:lstStyle/>
                    <a:p>
                      <a:pPr algn="l" fontAlgn="ctr"/>
                      <a:r>
                        <a:rPr lang="zh-CN" altLang="en-US" sz="500" u="none" strike="noStrike">
                          <a:effectLst/>
                        </a:rPr>
                        <a:t>应纳税所得额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609134618"/>
                  </a:ext>
                </a:extLst>
              </a:tr>
              <a:tr h="153393">
                <a:tc>
                  <a:txBody>
                    <a:bodyPr/>
                    <a:lstStyle/>
                    <a:p>
                      <a:pPr algn="l" fontAlgn="ctr"/>
                      <a:r>
                        <a:rPr lang="zh-CN" altLang="en-US" sz="500" u="none" strike="noStrike">
                          <a:effectLst/>
                        </a:rPr>
                        <a:t>企业所得税适用税率</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en-US" altLang="zh-CN" sz="500" u="none" strike="noStrike">
                          <a:effectLst/>
                        </a:rPr>
                        <a:t>26%/ </a:t>
                      </a:r>
                      <a:r>
                        <a:rPr lang="zh-CN" altLang="en-US" sz="500" u="none" strike="noStrike">
                          <a:effectLst/>
                        </a:rPr>
                        <a:t>小微企业优惠税率</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427816748"/>
                  </a:ext>
                </a:extLst>
              </a:tr>
              <a:tr h="153393">
                <a:tc>
                  <a:txBody>
                    <a:bodyPr/>
                    <a:lstStyle/>
                    <a:p>
                      <a:pPr algn="l" fontAlgn="ctr"/>
                      <a:r>
                        <a:rPr lang="zh-CN" altLang="en-US" sz="400" u="none" strike="noStrike">
                          <a:effectLst/>
                        </a:rPr>
                        <a:t>本期应纳企业所得税额</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2378479451"/>
                  </a:ext>
                </a:extLst>
              </a:tr>
              <a:tr h="153393">
                <a:tc>
                  <a:txBody>
                    <a:bodyPr/>
                    <a:lstStyle/>
                    <a:p>
                      <a:pPr algn="l" fontAlgn="ctr"/>
                      <a:r>
                        <a:rPr lang="zh-CN" altLang="en-US" sz="400" u="none" strike="noStrike">
                          <a:effectLst/>
                        </a:rPr>
                        <a:t>所得税税负率</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应纳所得税 </a:t>
                      </a:r>
                      <a:r>
                        <a:rPr lang="en-US" altLang="zh-CN" sz="400" u="none" strike="noStrike">
                          <a:effectLst/>
                        </a:rPr>
                        <a:t>÷ </a:t>
                      </a:r>
                      <a:r>
                        <a:rPr lang="zh-CN" altLang="en-US" sz="400" u="none" strike="noStrike">
                          <a:effectLst/>
                        </a:rPr>
                        <a:t>营业收入 </a:t>
                      </a:r>
                      <a:r>
                        <a:rPr lang="en-US" altLang="zh-CN" sz="400" u="none" strike="noStrike">
                          <a:effectLst/>
                        </a:rPr>
                        <a:t>×100%</a:t>
                      </a:r>
                      <a:endParaRPr lang="en-US" altLang="zh-CN"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955352989"/>
                  </a:ext>
                </a:extLst>
              </a:tr>
              <a:tr h="153393">
                <a:tc gridSpan="15">
                  <a:txBody>
                    <a:bodyPr/>
                    <a:lstStyle/>
                    <a:p>
                      <a:pPr algn="ctr" fontAlgn="ctr"/>
                      <a:r>
                        <a:rPr lang="zh-CN" altLang="en-US" sz="500" u="none" strike="noStrike">
                          <a:effectLst/>
                        </a:rPr>
                        <a:t>四、综合税负汇总表</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63856230"/>
                  </a:ext>
                </a:extLst>
              </a:tr>
              <a:tr h="153393">
                <a:tc>
                  <a:txBody>
                    <a:bodyPr/>
                    <a:lstStyle/>
                    <a:p>
                      <a:pPr algn="ctr" fontAlgn="ctr"/>
                      <a:r>
                        <a:rPr lang="zh-CN" altLang="en-US" sz="500" u="none" strike="noStrike">
                          <a:effectLst/>
                        </a:rPr>
                        <a:t>税负类型</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备注（计税依据</a:t>
                      </a:r>
                      <a:r>
                        <a:rPr lang="en-US" altLang="zh-CN" sz="500" u="none" strike="noStrike">
                          <a:effectLst/>
                        </a:rPr>
                        <a:t>/</a:t>
                      </a:r>
                      <a:r>
                        <a:rPr lang="zh-CN" altLang="en-US" sz="500" u="none" strike="noStrike">
                          <a:effectLst/>
                        </a:rPr>
                        <a:t>征收率</a:t>
                      </a:r>
                      <a:r>
                        <a:rPr lang="en-US" altLang="zh-CN" sz="500" u="none" strike="noStrike">
                          <a:effectLst/>
                        </a:rPr>
                        <a:t>/</a:t>
                      </a:r>
                      <a:r>
                        <a:rPr lang="zh-CN" altLang="en-US" sz="500" u="none" strike="noStrike">
                          <a:effectLst/>
                        </a:rPr>
                        <a:t>计算公式等）</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3</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4</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5</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6</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7</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8</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9</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10</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11</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en-US" altLang="zh-CN" sz="500" u="none" strike="noStrike">
                          <a:effectLst/>
                        </a:rPr>
                        <a:t>12</a:t>
                      </a:r>
                      <a:r>
                        <a:rPr lang="zh-CN" altLang="en-US" sz="500" u="none" strike="noStrike">
                          <a:effectLst/>
                        </a:rPr>
                        <a:t>月</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ctr" fontAlgn="ctr"/>
                      <a:r>
                        <a:rPr lang="zh-CN" altLang="en-US" sz="500" u="none" strike="noStrike">
                          <a:effectLst/>
                        </a:rPr>
                        <a:t>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683239629"/>
                  </a:ext>
                </a:extLst>
              </a:tr>
              <a:tr h="153393">
                <a:tc>
                  <a:txBody>
                    <a:bodyPr/>
                    <a:lstStyle/>
                    <a:p>
                      <a:pPr algn="l" fontAlgn="ctr"/>
                      <a:r>
                        <a:rPr lang="zh-CN" altLang="en-US" sz="500" u="none" strike="noStrike">
                          <a:effectLst/>
                        </a:rPr>
                        <a:t>增值税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从 增值税税负测算表中取数（第</a:t>
                      </a:r>
                      <a:r>
                        <a:rPr lang="en-US" altLang="zh-CN" sz="500" u="none" strike="noStrike">
                          <a:effectLst/>
                        </a:rPr>
                        <a:t>10</a:t>
                      </a:r>
                      <a:r>
                        <a:rPr lang="zh-CN" altLang="en-US" sz="500" u="none" strike="noStrike">
                          <a:effectLst/>
                        </a:rPr>
                        <a:t>行）</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835442112"/>
                  </a:ext>
                </a:extLst>
              </a:tr>
              <a:tr h="153393">
                <a:tc>
                  <a:txBody>
                    <a:bodyPr/>
                    <a:lstStyle/>
                    <a:p>
                      <a:pPr algn="l" fontAlgn="ctr"/>
                      <a:r>
                        <a:rPr lang="zh-CN" altLang="en-US" sz="500" u="none" strike="noStrike">
                          <a:effectLst/>
                        </a:rPr>
                        <a:t>附加税费合计</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从 附加税、其他税费计提</a:t>
                      </a:r>
                      <a:r>
                        <a:rPr lang="en-US" altLang="zh-CN" sz="500" u="none" strike="noStrike">
                          <a:effectLst/>
                        </a:rPr>
                        <a:t>/</a:t>
                      </a:r>
                      <a:r>
                        <a:rPr lang="zh-CN" altLang="en-US" sz="500" u="none" strike="noStrike">
                          <a:effectLst/>
                        </a:rPr>
                        <a:t>缴纳统计表中取数（第</a:t>
                      </a:r>
                      <a:r>
                        <a:rPr lang="en-US" altLang="zh-CN" sz="500" u="none" strike="noStrike">
                          <a:effectLst/>
                        </a:rPr>
                        <a:t>19</a:t>
                      </a:r>
                      <a:r>
                        <a:rPr lang="zh-CN" altLang="en-US" sz="500" u="none" strike="noStrike">
                          <a:effectLst/>
                        </a:rPr>
                        <a:t>行）</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845571536"/>
                  </a:ext>
                </a:extLst>
              </a:tr>
              <a:tr h="153393">
                <a:tc>
                  <a:txBody>
                    <a:bodyPr/>
                    <a:lstStyle/>
                    <a:p>
                      <a:pPr algn="l" fontAlgn="ctr"/>
                      <a:r>
                        <a:rPr lang="zh-CN" altLang="en-US" sz="500" u="none" strike="noStrike">
                          <a:effectLst/>
                        </a:rPr>
                        <a:t>企业所得税</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从 企业所得税税负表中取数（第</a:t>
                      </a:r>
                      <a:r>
                        <a:rPr lang="en-US" altLang="zh-CN" sz="500" u="none" strike="noStrike">
                          <a:effectLst/>
                        </a:rPr>
                        <a:t>31</a:t>
                      </a:r>
                      <a:r>
                        <a:rPr lang="zh-CN" altLang="en-US" sz="500" u="none" strike="noStrike">
                          <a:effectLst/>
                        </a:rPr>
                        <a:t>行）</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141787392"/>
                  </a:ext>
                </a:extLst>
              </a:tr>
              <a:tr h="153393">
                <a:tc>
                  <a:txBody>
                    <a:bodyPr/>
                    <a:lstStyle/>
                    <a:p>
                      <a:pPr algn="l" fontAlgn="ctr"/>
                      <a:r>
                        <a:rPr lang="zh-CN" altLang="en-US" sz="500" u="none" strike="noStrike">
                          <a:effectLst/>
                        </a:rPr>
                        <a:t>其他各项税费</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从 附加税、其他税费计提</a:t>
                      </a:r>
                      <a:r>
                        <a:rPr lang="en-US" altLang="zh-CN" sz="500" u="none" strike="noStrike">
                          <a:effectLst/>
                        </a:rPr>
                        <a:t>/</a:t>
                      </a:r>
                      <a:r>
                        <a:rPr lang="zh-CN" altLang="en-US" sz="500" u="none" strike="noStrike">
                          <a:effectLst/>
                        </a:rPr>
                        <a:t>缴纳统计表中取数（第</a:t>
                      </a:r>
                      <a:r>
                        <a:rPr lang="en-US" altLang="zh-CN" sz="500" u="none" strike="noStrike">
                          <a:effectLst/>
                        </a:rPr>
                        <a:t>22</a:t>
                      </a:r>
                      <a:r>
                        <a:rPr lang="zh-CN" altLang="en-US" sz="500" u="none" strike="noStrike">
                          <a:effectLst/>
                        </a:rPr>
                        <a:t>行）</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1360540923"/>
                  </a:ext>
                </a:extLst>
              </a:tr>
              <a:tr h="153393">
                <a:tc>
                  <a:txBody>
                    <a:bodyPr/>
                    <a:lstStyle/>
                    <a:p>
                      <a:pPr algn="l" fontAlgn="ctr"/>
                      <a:r>
                        <a:rPr lang="zh-CN" altLang="en-US" sz="500" u="none" strike="noStrike">
                          <a:effectLst/>
                        </a:rPr>
                        <a:t>税费总额合计</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所有税费累加金额</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345237399"/>
                  </a:ext>
                </a:extLst>
              </a:tr>
              <a:tr h="153393">
                <a:tc>
                  <a:txBody>
                    <a:bodyPr/>
                    <a:lstStyle/>
                    <a:p>
                      <a:pPr algn="l" fontAlgn="ctr"/>
                      <a:r>
                        <a:rPr lang="zh-CN" altLang="en-US" sz="500" u="none" strike="noStrike">
                          <a:effectLst/>
                        </a:rPr>
                        <a:t>综合整体税负率</a:t>
                      </a:r>
                      <a:endParaRPr lang="zh-CN" altLang="en-US" sz="500" b="1"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当期全部税费累加 </a:t>
                      </a:r>
                      <a:r>
                        <a:rPr lang="en-US" altLang="zh-CN" sz="500" u="none" strike="noStrike">
                          <a:effectLst/>
                        </a:rPr>
                        <a:t>÷ </a:t>
                      </a:r>
                      <a:r>
                        <a:rPr lang="zh-CN" altLang="en-US" sz="500" u="none" strike="noStrike">
                          <a:effectLst/>
                        </a:rPr>
                        <a:t>当期营业收入 </a:t>
                      </a:r>
                      <a:r>
                        <a:rPr lang="en-US" altLang="zh-CN" sz="500" u="none" strike="noStrike">
                          <a:effectLst/>
                        </a:rPr>
                        <a:t>×100%</a:t>
                      </a:r>
                      <a:endParaRPr lang="en-US" altLang="zh-CN"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500" u="none" strike="noStrike">
                          <a:effectLst/>
                        </a:rPr>
                        <a:t>　</a:t>
                      </a:r>
                      <a:endParaRPr lang="zh-CN" altLang="en-US" sz="5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a:effectLst/>
                        </a:rPr>
                        <a:t>　</a:t>
                      </a:r>
                      <a:endParaRPr lang="zh-CN" altLang="en-US" sz="400" b="0" i="0" u="none" strike="noStrike">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tc>
                  <a:txBody>
                    <a:bodyPr/>
                    <a:lstStyle/>
                    <a:p>
                      <a:pPr algn="l" fontAlgn="ctr"/>
                      <a:r>
                        <a:rPr lang="zh-CN" altLang="en-US" sz="400" u="none" strike="noStrike" dirty="0">
                          <a:effectLst/>
                        </a:rPr>
                        <a:t>　</a:t>
                      </a:r>
                      <a:endParaRPr lang="zh-CN" altLang="en-US" sz="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3836" marR="3836" marT="3836" marB="0" anchor="ctr"/>
                </a:tc>
                <a:extLst>
                  <a:ext uri="{0D108BD9-81ED-4DB2-BD59-A6C34878D82A}">
                    <a16:rowId xmlns:a16="http://schemas.microsoft.com/office/drawing/2014/main" val="3944242622"/>
                  </a:ext>
                </a:extLst>
              </a:tr>
            </a:tbl>
          </a:graphicData>
        </a:graphic>
      </p:graphicFrame>
    </p:spTree>
    <p:extLst>
      <p:ext uri="{BB962C8B-B14F-4D97-AF65-F5344CB8AC3E}">
        <p14:creationId xmlns:p14="http://schemas.microsoft.com/office/powerpoint/2010/main" val="721021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7E4F221-3C4C-4469-A0FE-4F761AF71EB1}"/>
              </a:ext>
            </a:extLst>
          </p:cNvPr>
          <p:cNvSpPr txBox="1"/>
          <p:nvPr/>
        </p:nvSpPr>
        <p:spPr>
          <a:xfrm>
            <a:off x="0" y="0"/>
            <a:ext cx="5303912" cy="461665"/>
          </a:xfrm>
          <a:prstGeom prst="rect">
            <a:avLst/>
          </a:prstGeom>
          <a:solidFill>
            <a:srgbClr val="FFFF00"/>
          </a:solidFill>
        </p:spPr>
        <p:txBody>
          <a:bodyPr wrap="square" rtlCol="0">
            <a:spAutoFit/>
          </a:bodyPr>
          <a:lstStyle/>
          <a:p>
            <a:r>
              <a:rPr lang="zh-CN" altLang="en-US" sz="2400" b="1" dirty="0">
                <a:solidFill>
                  <a:srgbClr val="FF0000"/>
                </a:solidFill>
              </a:rPr>
              <a:t>费用结构分析表：季度</a:t>
            </a:r>
            <a:r>
              <a:rPr lang="en-US" altLang="zh-CN" sz="2400" b="1" dirty="0">
                <a:solidFill>
                  <a:srgbClr val="FF0000"/>
                </a:solidFill>
              </a:rPr>
              <a:t>/</a:t>
            </a:r>
            <a:r>
              <a:rPr lang="zh-CN" altLang="en-US" sz="2400" b="1" dirty="0">
                <a:solidFill>
                  <a:srgbClr val="FF0000"/>
                </a:solidFill>
              </a:rPr>
              <a:t>年度</a:t>
            </a:r>
            <a:r>
              <a:rPr lang="en-US" altLang="zh-CN" sz="2400" b="1" dirty="0">
                <a:solidFill>
                  <a:srgbClr val="FF0000"/>
                </a:solidFill>
              </a:rPr>
              <a:t>6-2</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97707E4B-7FB0-455D-A4C2-5BDBCF4DE8B0}"/>
              </a:ext>
            </a:extLst>
          </p:cNvPr>
          <p:cNvGraphicFramePr>
            <a:graphicFrameLocks noGrp="1"/>
          </p:cNvGraphicFramePr>
          <p:nvPr>
            <p:extLst>
              <p:ext uri="{D42A27DB-BD31-4B8C-83A1-F6EECF244321}">
                <p14:modId xmlns:p14="http://schemas.microsoft.com/office/powerpoint/2010/main" val="3935675053"/>
              </p:ext>
            </p:extLst>
          </p:nvPr>
        </p:nvGraphicFramePr>
        <p:xfrm>
          <a:off x="695400" y="548680"/>
          <a:ext cx="11233246" cy="5951484"/>
        </p:xfrm>
        <a:graphic>
          <a:graphicData uri="http://schemas.openxmlformats.org/drawingml/2006/table">
            <a:tbl>
              <a:tblPr>
                <a:tableStyleId>{5C22544A-7EE6-4342-B048-85BDC9FD1C3A}</a:tableStyleId>
              </a:tblPr>
              <a:tblGrid>
                <a:gridCol w="1495082">
                  <a:extLst>
                    <a:ext uri="{9D8B030D-6E8A-4147-A177-3AD203B41FA5}">
                      <a16:colId xmlns:a16="http://schemas.microsoft.com/office/drawing/2014/main" val="2244395524"/>
                    </a:ext>
                  </a:extLst>
                </a:gridCol>
                <a:gridCol w="1380076">
                  <a:extLst>
                    <a:ext uri="{9D8B030D-6E8A-4147-A177-3AD203B41FA5}">
                      <a16:colId xmlns:a16="http://schemas.microsoft.com/office/drawing/2014/main" val="1758952728"/>
                    </a:ext>
                  </a:extLst>
                </a:gridCol>
                <a:gridCol w="1265070">
                  <a:extLst>
                    <a:ext uri="{9D8B030D-6E8A-4147-A177-3AD203B41FA5}">
                      <a16:colId xmlns:a16="http://schemas.microsoft.com/office/drawing/2014/main" val="2382933454"/>
                    </a:ext>
                  </a:extLst>
                </a:gridCol>
                <a:gridCol w="1267946">
                  <a:extLst>
                    <a:ext uri="{9D8B030D-6E8A-4147-A177-3AD203B41FA5}">
                      <a16:colId xmlns:a16="http://schemas.microsoft.com/office/drawing/2014/main" val="499972663"/>
                    </a:ext>
                  </a:extLst>
                </a:gridCol>
                <a:gridCol w="1095435">
                  <a:extLst>
                    <a:ext uri="{9D8B030D-6E8A-4147-A177-3AD203B41FA5}">
                      <a16:colId xmlns:a16="http://schemas.microsoft.com/office/drawing/2014/main" val="3297979363"/>
                    </a:ext>
                  </a:extLst>
                </a:gridCol>
                <a:gridCol w="1474957">
                  <a:extLst>
                    <a:ext uri="{9D8B030D-6E8A-4147-A177-3AD203B41FA5}">
                      <a16:colId xmlns:a16="http://schemas.microsoft.com/office/drawing/2014/main" val="3803782263"/>
                    </a:ext>
                  </a:extLst>
                </a:gridCol>
                <a:gridCol w="1207567">
                  <a:extLst>
                    <a:ext uri="{9D8B030D-6E8A-4147-A177-3AD203B41FA5}">
                      <a16:colId xmlns:a16="http://schemas.microsoft.com/office/drawing/2014/main" val="2644785955"/>
                    </a:ext>
                  </a:extLst>
                </a:gridCol>
                <a:gridCol w="2047113">
                  <a:extLst>
                    <a:ext uri="{9D8B030D-6E8A-4147-A177-3AD203B41FA5}">
                      <a16:colId xmlns:a16="http://schemas.microsoft.com/office/drawing/2014/main" val="1584176109"/>
                    </a:ext>
                  </a:extLst>
                </a:gridCol>
              </a:tblGrid>
              <a:tr h="212553">
                <a:tc gridSpan="8">
                  <a:txBody>
                    <a:bodyPr/>
                    <a:lstStyle/>
                    <a:p>
                      <a:pPr algn="ctr" fontAlgn="ctr"/>
                      <a:r>
                        <a:rPr lang="en-US" altLang="zh-CN" sz="900" u="none" strike="noStrike" dirty="0" err="1">
                          <a:effectLst/>
                        </a:rPr>
                        <a:t>xxxx</a:t>
                      </a:r>
                      <a:r>
                        <a:rPr lang="zh-CN" altLang="en-US" sz="900" u="none" strike="noStrike" dirty="0">
                          <a:effectLst/>
                        </a:rPr>
                        <a:t>季度</a:t>
                      </a:r>
                      <a:r>
                        <a:rPr lang="en-US" altLang="zh-CN" sz="900" u="none" strike="noStrike" dirty="0">
                          <a:effectLst/>
                        </a:rPr>
                        <a:t>/</a:t>
                      </a:r>
                      <a:r>
                        <a:rPr lang="zh-CN" altLang="en-US" sz="900" u="none" strike="noStrike" dirty="0">
                          <a:effectLst/>
                        </a:rPr>
                        <a:t>年度费用结构统计分析表</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5224" marR="5224" marT="5224"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60510021"/>
                  </a:ext>
                </a:extLst>
              </a:tr>
              <a:tr h="212553">
                <a:tc gridSpan="3">
                  <a:txBody>
                    <a:bodyPr/>
                    <a:lstStyle/>
                    <a:p>
                      <a:pPr algn="l" fontAlgn="ctr"/>
                      <a:r>
                        <a:rPr lang="zh-CN" altLang="en-US" sz="700" u="none" strike="noStrike">
                          <a:effectLst/>
                        </a:rPr>
                        <a:t>单位名称：</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700" u="none" strike="noStrike">
                          <a:effectLst/>
                        </a:rPr>
                        <a:t>统计周期：   年   月  </a:t>
                      </a:r>
                      <a:r>
                        <a:rPr lang="en-US" altLang="zh-CN" sz="700" u="none" strike="noStrike">
                          <a:effectLst/>
                        </a:rPr>
                        <a:t>—   </a:t>
                      </a:r>
                      <a:r>
                        <a:rPr lang="zh-CN" altLang="en-US" sz="700" u="none" strike="noStrike">
                          <a:effectLst/>
                        </a:rPr>
                        <a:t>年   月</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hMerge="1">
                  <a:txBody>
                    <a:bodyPr/>
                    <a:lstStyle/>
                    <a:p>
                      <a:endParaRPr lang="zh-CN" altLang="en-US"/>
                    </a:p>
                  </a:txBody>
                  <a:tcPr/>
                </a:tc>
                <a:tc hMerge="1">
                  <a:txBody>
                    <a:bodyPr/>
                    <a:lstStyle/>
                    <a:p>
                      <a:endParaRPr lang="zh-CN" altLang="en-US"/>
                    </a:p>
                  </a:txBody>
                  <a:tcPr/>
                </a:tc>
                <a:tc>
                  <a:txBody>
                    <a:bodyPr/>
                    <a:lstStyle/>
                    <a:p>
                      <a:pPr algn="l" fontAlgn="ctr"/>
                      <a:r>
                        <a:rPr lang="zh-CN" altLang="en-US" sz="600" u="none" strike="noStrike">
                          <a:effectLst/>
                        </a:rPr>
                        <a:t>金额从大到小列示</a:t>
                      </a:r>
                      <a:endParaRPr lang="zh-CN" altLang="en-US" sz="600" b="1" i="0" u="none" strike="noStrike">
                        <a:solidFill>
                          <a:srgbClr val="FF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单位（元）</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885198974"/>
                  </a:ext>
                </a:extLst>
              </a:tr>
              <a:tr h="212553">
                <a:tc>
                  <a:txBody>
                    <a:bodyPr/>
                    <a:lstStyle/>
                    <a:p>
                      <a:pPr algn="ctr" fontAlgn="ctr"/>
                      <a:r>
                        <a:rPr lang="zh-CN" altLang="en-US" sz="700" u="none" strike="noStrike">
                          <a:effectLst/>
                        </a:rPr>
                        <a:t>费用类目</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研发费用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管理费用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销售费用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财务费用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费用汇总</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占总费用比率</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备注</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530204171"/>
                  </a:ext>
                </a:extLst>
              </a:tr>
              <a:tr h="212553">
                <a:tc>
                  <a:txBody>
                    <a:bodyPr/>
                    <a:lstStyle/>
                    <a:p>
                      <a:pPr algn="ctr" fontAlgn="ctr"/>
                      <a:r>
                        <a:rPr lang="zh-CN" altLang="en-US" sz="700" u="none" strike="noStrike">
                          <a:effectLst/>
                        </a:rPr>
                        <a:t>职工薪酬</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工资及五险一金</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820601454"/>
                  </a:ext>
                </a:extLst>
              </a:tr>
              <a:tr h="212553">
                <a:tc>
                  <a:txBody>
                    <a:bodyPr/>
                    <a:lstStyle/>
                    <a:p>
                      <a:pPr algn="ctr" fontAlgn="ctr"/>
                      <a:r>
                        <a:rPr lang="zh-CN" altLang="en-US" sz="700" u="none" strike="noStrike">
                          <a:effectLst/>
                        </a:rPr>
                        <a:t>招待费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面对集团外部招待</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983851196"/>
                  </a:ext>
                </a:extLst>
              </a:tr>
              <a:tr h="212553">
                <a:tc>
                  <a:txBody>
                    <a:bodyPr/>
                    <a:lstStyle/>
                    <a:p>
                      <a:pPr algn="ctr" fontAlgn="ctr"/>
                      <a:r>
                        <a:rPr lang="zh-CN" altLang="en-US" sz="700" u="none" strike="noStrike">
                          <a:effectLst/>
                        </a:rPr>
                        <a:t>办公费及会议费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办公用品及会议开展</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98101837"/>
                  </a:ext>
                </a:extLst>
              </a:tr>
              <a:tr h="212553">
                <a:tc>
                  <a:txBody>
                    <a:bodyPr/>
                    <a:lstStyle/>
                    <a:p>
                      <a:pPr algn="ctr" fontAlgn="ctr"/>
                      <a:r>
                        <a:rPr lang="zh-CN" altLang="en-US" sz="700" u="none" strike="noStrike">
                          <a:effectLst/>
                        </a:rPr>
                        <a:t>三方服务费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外包技术费及大部分外部组织会费</a:t>
                      </a:r>
                      <a:r>
                        <a:rPr lang="en-US" altLang="zh-CN" sz="600" u="none" strike="noStrike">
                          <a:effectLst/>
                        </a:rPr>
                        <a:t>/</a:t>
                      </a:r>
                      <a:r>
                        <a:rPr lang="zh-CN" altLang="en-US" sz="600" u="none" strike="noStrike">
                          <a:effectLst/>
                        </a:rPr>
                        <a:t>充值卡</a:t>
                      </a:r>
                      <a:r>
                        <a:rPr lang="en-US" altLang="zh-CN" sz="600" u="none" strike="noStrike">
                          <a:effectLst/>
                        </a:rPr>
                        <a:t>/</a:t>
                      </a:r>
                      <a:r>
                        <a:rPr lang="zh-CN" altLang="en-US" sz="600" u="none" strike="noStrike">
                          <a:effectLst/>
                        </a:rPr>
                        <a:t>软件平台使用费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102346745"/>
                  </a:ext>
                </a:extLst>
              </a:tr>
              <a:tr h="212553">
                <a:tc>
                  <a:txBody>
                    <a:bodyPr/>
                    <a:lstStyle/>
                    <a:p>
                      <a:pPr algn="ctr" fontAlgn="ctr"/>
                      <a:r>
                        <a:rPr lang="zh-CN" altLang="en-US" sz="700" u="none" strike="noStrike">
                          <a:effectLst/>
                        </a:rPr>
                        <a:t>差旅费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en-US" altLang="zh-CN" sz="600" u="none" strike="noStrike">
                          <a:effectLst/>
                        </a:rPr>
                        <a:t>2025</a:t>
                      </a:r>
                      <a:r>
                        <a:rPr lang="zh-CN" altLang="en-US" sz="600" u="none" strike="noStrike">
                          <a:effectLst/>
                        </a:rPr>
                        <a:t>年只有境内差旅费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722473529"/>
                  </a:ext>
                </a:extLst>
              </a:tr>
              <a:tr h="212553">
                <a:tc>
                  <a:txBody>
                    <a:bodyPr/>
                    <a:lstStyle/>
                    <a:p>
                      <a:pPr algn="ctr" fontAlgn="ctr"/>
                      <a:r>
                        <a:rPr lang="zh-CN" altLang="en-US" sz="700" u="none" strike="noStrike">
                          <a:effectLst/>
                        </a:rPr>
                        <a:t>广宣费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主要市场部宣传和广告支出</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210130884"/>
                  </a:ext>
                </a:extLst>
              </a:tr>
              <a:tr h="212553">
                <a:tc>
                  <a:txBody>
                    <a:bodyPr/>
                    <a:lstStyle/>
                    <a:p>
                      <a:pPr algn="ctr" fontAlgn="ctr"/>
                      <a:r>
                        <a:rPr lang="zh-CN" altLang="en-US" sz="700" u="none" strike="noStrike">
                          <a:effectLst/>
                        </a:rPr>
                        <a:t>物业费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房租</a:t>
                      </a:r>
                      <a:r>
                        <a:rPr lang="en-US" altLang="zh-CN" sz="600" u="none" strike="noStrike">
                          <a:effectLst/>
                        </a:rPr>
                        <a:t>/</a:t>
                      </a:r>
                      <a:r>
                        <a:rPr lang="zh-CN" altLang="en-US" sz="600" u="none" strike="noStrike">
                          <a:effectLst/>
                        </a:rPr>
                        <a:t>物业费</a:t>
                      </a:r>
                      <a:r>
                        <a:rPr lang="en-US" altLang="zh-CN" sz="600" u="none" strike="noStrike">
                          <a:effectLst/>
                        </a:rPr>
                        <a:t>/</a:t>
                      </a:r>
                      <a:r>
                        <a:rPr lang="zh-CN" altLang="en-US" sz="600" u="none" strike="noStrike">
                          <a:effectLst/>
                        </a:rPr>
                        <a:t>水电</a:t>
                      </a:r>
                      <a:r>
                        <a:rPr lang="en-US" altLang="zh-CN" sz="600" u="none" strike="noStrike">
                          <a:effectLst/>
                        </a:rPr>
                        <a:t>/</a:t>
                      </a:r>
                      <a:r>
                        <a:rPr lang="zh-CN" altLang="en-US" sz="600" u="none" strike="noStrike">
                          <a:effectLst/>
                        </a:rPr>
                        <a:t>空调等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366081355"/>
                  </a:ext>
                </a:extLst>
              </a:tr>
              <a:tr h="212553">
                <a:tc>
                  <a:txBody>
                    <a:bodyPr/>
                    <a:lstStyle/>
                    <a:p>
                      <a:pPr algn="ctr" fontAlgn="ctr"/>
                      <a:r>
                        <a:rPr lang="zh-CN" altLang="en-US" sz="700" u="none" strike="noStrike">
                          <a:effectLst/>
                        </a:rPr>
                        <a:t>福利费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节假日福利</a:t>
                      </a:r>
                      <a:r>
                        <a:rPr lang="en-US" altLang="zh-CN" sz="600" u="none" strike="noStrike">
                          <a:effectLst/>
                        </a:rPr>
                        <a:t>/</a:t>
                      </a:r>
                      <a:r>
                        <a:rPr lang="zh-CN" altLang="en-US" sz="600" u="none" strike="noStrike">
                          <a:effectLst/>
                        </a:rPr>
                        <a:t>生日福利等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561438415"/>
                  </a:ext>
                </a:extLst>
              </a:tr>
              <a:tr h="212553">
                <a:tc>
                  <a:txBody>
                    <a:bodyPr/>
                    <a:lstStyle/>
                    <a:p>
                      <a:pPr algn="ctr" fontAlgn="ctr"/>
                      <a:r>
                        <a:rPr lang="zh-CN" altLang="en-US" sz="700" u="none" strike="noStrike">
                          <a:effectLst/>
                        </a:rPr>
                        <a:t>设备费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部门购置部分设备样机等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1681044200"/>
                  </a:ext>
                </a:extLst>
              </a:tr>
              <a:tr h="212553">
                <a:tc>
                  <a:txBody>
                    <a:bodyPr/>
                    <a:lstStyle/>
                    <a:p>
                      <a:pPr algn="ctr" fontAlgn="ctr"/>
                      <a:r>
                        <a:rPr lang="zh-CN" altLang="en-US" sz="700" u="none" strike="noStrike">
                          <a:effectLst/>
                        </a:rPr>
                        <a:t>固定资产折旧</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使用寿命超一年的电脑</a:t>
                      </a:r>
                      <a:r>
                        <a:rPr lang="en-US" altLang="zh-CN" sz="600" u="none" strike="noStrike">
                          <a:effectLst/>
                        </a:rPr>
                        <a:t>/</a:t>
                      </a:r>
                      <a:r>
                        <a:rPr lang="zh-CN" altLang="en-US" sz="600" u="none" strike="noStrike">
                          <a:effectLst/>
                        </a:rPr>
                        <a:t>硬件</a:t>
                      </a:r>
                      <a:r>
                        <a:rPr lang="en-US" altLang="zh-CN" sz="600" u="none" strike="noStrike">
                          <a:effectLst/>
                        </a:rPr>
                        <a:t>/</a:t>
                      </a:r>
                      <a:r>
                        <a:rPr lang="zh-CN" altLang="en-US" sz="600" u="none" strike="noStrike">
                          <a:effectLst/>
                        </a:rPr>
                        <a:t>软件平台</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542863520"/>
                  </a:ext>
                </a:extLst>
              </a:tr>
              <a:tr h="212553">
                <a:tc>
                  <a:txBody>
                    <a:bodyPr/>
                    <a:lstStyle/>
                    <a:p>
                      <a:pPr algn="ctr" fontAlgn="ctr"/>
                      <a:r>
                        <a:rPr lang="zh-CN" altLang="en-US" sz="700" u="none" strike="noStrike">
                          <a:effectLst/>
                        </a:rPr>
                        <a:t>职工培训费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内部职工培训学习深造等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937848603"/>
                  </a:ext>
                </a:extLst>
              </a:tr>
              <a:tr h="212553">
                <a:tc>
                  <a:txBody>
                    <a:bodyPr/>
                    <a:lstStyle/>
                    <a:p>
                      <a:pPr algn="ctr" fontAlgn="ctr"/>
                      <a:r>
                        <a:rPr lang="zh-CN" altLang="en-US" sz="700" u="none" strike="noStrike">
                          <a:effectLst/>
                        </a:rPr>
                        <a:t>车辆使用费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公司公车使用所有费用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313531191"/>
                  </a:ext>
                </a:extLst>
              </a:tr>
              <a:tr h="212553">
                <a:tc>
                  <a:txBody>
                    <a:bodyPr/>
                    <a:lstStyle/>
                    <a:p>
                      <a:pPr algn="ctr" fontAlgn="ctr"/>
                      <a:r>
                        <a:rPr lang="zh-CN" altLang="en-US" sz="700" u="none" strike="noStrike">
                          <a:effectLst/>
                        </a:rPr>
                        <a:t>招聘会</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各招聘平台充值费用</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1263247857"/>
                  </a:ext>
                </a:extLst>
              </a:tr>
              <a:tr h="212553">
                <a:tc>
                  <a:txBody>
                    <a:bodyPr/>
                    <a:lstStyle/>
                    <a:p>
                      <a:pPr algn="ctr" fontAlgn="ctr"/>
                      <a:r>
                        <a:rPr lang="zh-CN" altLang="en-US" sz="700" u="none" strike="noStrike">
                          <a:effectLst/>
                        </a:rPr>
                        <a:t>利息支出</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办公室长期租赁折算利息产生</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27257877"/>
                  </a:ext>
                </a:extLst>
              </a:tr>
              <a:tr h="212553">
                <a:tc>
                  <a:txBody>
                    <a:bodyPr/>
                    <a:lstStyle/>
                    <a:p>
                      <a:pPr algn="ctr" fontAlgn="ctr"/>
                      <a:r>
                        <a:rPr lang="zh-CN" altLang="en-US" sz="700" u="none" strike="noStrike">
                          <a:effectLst/>
                        </a:rPr>
                        <a:t>材料费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部分采购配件或者小型硬件支出</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249686750"/>
                  </a:ext>
                </a:extLst>
              </a:tr>
              <a:tr h="212553">
                <a:tc>
                  <a:txBody>
                    <a:bodyPr/>
                    <a:lstStyle/>
                    <a:p>
                      <a:pPr algn="ctr" fontAlgn="ctr"/>
                      <a:r>
                        <a:rPr lang="zh-CN" altLang="en-US" sz="700" u="none" strike="noStrike">
                          <a:effectLst/>
                        </a:rPr>
                        <a:t>租赁维护费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软件或者三方平台短期租金</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4013336873"/>
                  </a:ext>
                </a:extLst>
              </a:tr>
              <a:tr h="212553">
                <a:tc>
                  <a:txBody>
                    <a:bodyPr/>
                    <a:lstStyle/>
                    <a:p>
                      <a:pPr algn="ctr" fontAlgn="ctr"/>
                      <a:r>
                        <a:rPr lang="zh-CN" altLang="en-US" sz="700" u="none" strike="noStrike">
                          <a:effectLst/>
                        </a:rPr>
                        <a:t>公司团建</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公司及部门聚餐</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856323563"/>
                  </a:ext>
                </a:extLst>
              </a:tr>
              <a:tr h="212553">
                <a:tc>
                  <a:txBody>
                    <a:bodyPr/>
                    <a:lstStyle/>
                    <a:p>
                      <a:pPr algn="ctr" fontAlgn="ctr"/>
                      <a:r>
                        <a:rPr lang="zh-CN" altLang="en-US" sz="700" u="none" strike="noStrike">
                          <a:effectLst/>
                        </a:rPr>
                        <a:t>手续费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浙商银行支付手续费</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912902887"/>
                  </a:ext>
                </a:extLst>
              </a:tr>
              <a:tr h="212553">
                <a:tc>
                  <a:txBody>
                    <a:bodyPr/>
                    <a:lstStyle/>
                    <a:p>
                      <a:pPr algn="ctr" fontAlgn="ctr"/>
                      <a:r>
                        <a:rPr lang="zh-CN" altLang="en-US" sz="700" u="none" strike="noStrike">
                          <a:effectLst/>
                        </a:rPr>
                        <a:t>各种会费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小部分外部组织会费</a:t>
                      </a:r>
                      <a:r>
                        <a:rPr lang="en-US" altLang="zh-CN" sz="600" u="none" strike="noStrike">
                          <a:effectLst/>
                        </a:rPr>
                        <a:t>/</a:t>
                      </a:r>
                      <a:r>
                        <a:rPr lang="zh-CN" altLang="en-US" sz="600" u="none" strike="noStrike">
                          <a:effectLst/>
                        </a:rPr>
                        <a:t>充值卡等</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1533014404"/>
                  </a:ext>
                </a:extLst>
              </a:tr>
              <a:tr h="212553">
                <a:tc>
                  <a:txBody>
                    <a:bodyPr/>
                    <a:lstStyle/>
                    <a:p>
                      <a:pPr algn="ctr" fontAlgn="ctr"/>
                      <a:r>
                        <a:rPr lang="zh-CN" altLang="en-US" sz="700" u="none" strike="noStrike">
                          <a:effectLst/>
                        </a:rPr>
                        <a:t>无形资产摊销</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l" fontAlgn="ctr"/>
                      <a:r>
                        <a:rPr lang="en-US" altLang="zh-CN" sz="600" u="none" strike="noStrike">
                          <a:effectLst/>
                        </a:rPr>
                        <a:t>PandaX</a:t>
                      </a:r>
                      <a:r>
                        <a:rPr lang="zh-CN" altLang="en-US" sz="600" u="none" strike="noStrike">
                          <a:effectLst/>
                        </a:rPr>
                        <a:t>物联网平台每月摊销</a:t>
                      </a:r>
                      <a:endParaRPr lang="zh-CN" altLang="en-US" sz="600" b="0" i="0" u="none" strike="noStrike">
                        <a:solidFill>
                          <a:srgbClr val="022433"/>
                        </a:solidFill>
                        <a:effectLst/>
                        <a:latin typeface="Arial" panose="020B0604020202020204" pitchFamily="34" charset="0"/>
                        <a:ea typeface="等线" panose="02010600030101010101" pitchFamily="2" charset="-122"/>
                      </a:endParaRPr>
                    </a:p>
                  </a:txBody>
                  <a:tcPr marL="5224" marR="5224" marT="5224" marB="0" anchor="ctr"/>
                </a:tc>
                <a:extLst>
                  <a:ext uri="{0D108BD9-81ED-4DB2-BD59-A6C34878D82A}">
                    <a16:rowId xmlns:a16="http://schemas.microsoft.com/office/drawing/2014/main" val="2653758189"/>
                  </a:ext>
                </a:extLst>
              </a:tr>
              <a:tr h="212553">
                <a:tc>
                  <a:txBody>
                    <a:bodyPr/>
                    <a:lstStyle/>
                    <a:p>
                      <a:pPr algn="ctr" fontAlgn="ctr"/>
                      <a:r>
                        <a:rPr lang="zh-CN" altLang="en-US" sz="700" u="none" strike="noStrike">
                          <a:effectLst/>
                        </a:rPr>
                        <a:t>其他</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零星支出无法直接归类</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083449107"/>
                  </a:ext>
                </a:extLst>
              </a:tr>
              <a:tr h="212553">
                <a:tc>
                  <a:txBody>
                    <a:bodyPr/>
                    <a:lstStyle/>
                    <a:p>
                      <a:pPr algn="ctr" fontAlgn="ctr"/>
                      <a:r>
                        <a:rPr lang="zh-CN" altLang="en-US" sz="700" u="none" strike="noStrike">
                          <a:effectLst/>
                        </a:rPr>
                        <a:t>劳务费</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办公室隔板拆除费</a:t>
                      </a:r>
                      <a:endParaRPr lang="zh-CN" altLang="en-US" sz="600" b="0" i="0" u="none" strike="noStrike">
                        <a:solidFill>
                          <a:srgbClr val="022433"/>
                        </a:solidFill>
                        <a:effectLst/>
                        <a:latin typeface="MicrosoftYaHei"/>
                        <a:ea typeface="等线" panose="02010600030101010101" pitchFamily="2" charset="-122"/>
                      </a:endParaRPr>
                    </a:p>
                  </a:txBody>
                  <a:tcPr marL="5224" marR="5224" marT="5224" marB="0" anchor="ctr"/>
                </a:tc>
                <a:extLst>
                  <a:ext uri="{0D108BD9-81ED-4DB2-BD59-A6C34878D82A}">
                    <a16:rowId xmlns:a16="http://schemas.microsoft.com/office/drawing/2014/main" val="605874848"/>
                  </a:ext>
                </a:extLst>
              </a:tr>
              <a:tr h="212553">
                <a:tc>
                  <a:txBody>
                    <a:bodyPr/>
                    <a:lstStyle/>
                    <a:p>
                      <a:pPr algn="ctr" fontAlgn="ctr"/>
                      <a:r>
                        <a:rPr lang="zh-CN" altLang="en-US" sz="700" u="none" strike="noStrike">
                          <a:effectLst/>
                        </a:rPr>
                        <a:t>利息收入</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　</a:t>
                      </a:r>
                      <a:endParaRPr lang="zh-CN" altLang="en-US" sz="600" b="0" i="0" u="none" strike="noStrike">
                        <a:solidFill>
                          <a:srgbClr val="FF0000"/>
                        </a:solidFill>
                        <a:effectLst/>
                        <a:latin typeface="等线" panose="02010600030101010101" pitchFamily="2" charset="-122"/>
                        <a:ea typeface="等线"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FF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0" i="0" u="none" strike="noStrike">
                        <a:solidFill>
                          <a:srgbClr val="FF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利息收入对于财务费用是负值</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228320756"/>
                  </a:ext>
                </a:extLst>
              </a:tr>
              <a:tr h="212553">
                <a:tc>
                  <a:txBody>
                    <a:bodyPr/>
                    <a:lstStyle/>
                    <a:p>
                      <a:pPr algn="ctr" fontAlgn="ctr"/>
                      <a:r>
                        <a:rPr lang="zh-CN" altLang="en-US" sz="700" u="none" strike="noStrike">
                          <a:effectLst/>
                        </a:rPr>
                        <a:t>费用汇总金额</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800" u="none" strike="noStrike">
                          <a:effectLst/>
                        </a:rPr>
                        <a:t>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a:effectLst/>
                        </a:rPr>
                        <a:t>　</a:t>
                      </a:r>
                      <a:endParaRPr lang="zh-CN" altLang="en-US" sz="600" b="0"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318528518"/>
                  </a:ext>
                </a:extLst>
              </a:tr>
              <a:tr h="212553">
                <a:tc>
                  <a:txBody>
                    <a:bodyPr/>
                    <a:lstStyle/>
                    <a:p>
                      <a:pPr algn="ctr" fontAlgn="ctr"/>
                      <a:r>
                        <a:rPr lang="zh-CN" altLang="en-US" sz="700" u="none" strike="noStrike">
                          <a:effectLst/>
                        </a:rPr>
                        <a:t>占总费用比例</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224" marR="5224" marT="5224" marB="0" anchor="ctr"/>
                </a:tc>
                <a:tc>
                  <a:txBody>
                    <a:bodyPr/>
                    <a:lstStyle/>
                    <a:p>
                      <a:pPr algn="ctr" fontAlgn="ctr"/>
                      <a:r>
                        <a:rPr lang="zh-CN" altLang="en-US" sz="600" u="none" strike="noStrike" dirty="0">
                          <a:effectLst/>
                        </a:rPr>
                        <a:t>　</a:t>
                      </a:r>
                      <a:endParaRPr lang="zh-CN" altLang="en-US" sz="600" b="1" i="0" u="none" strike="noStrike" dirty="0">
                        <a:solidFill>
                          <a:srgbClr val="000000"/>
                        </a:solidFill>
                        <a:effectLst/>
                        <a:latin typeface="宋体" panose="02010600030101010101" pitchFamily="2" charset="-122"/>
                        <a:ea typeface="宋体" panose="02010600030101010101" pitchFamily="2" charset="-122"/>
                      </a:endParaRPr>
                    </a:p>
                  </a:txBody>
                  <a:tcPr marL="5224" marR="5224" marT="5224" marB="0" anchor="ctr"/>
                </a:tc>
                <a:extLst>
                  <a:ext uri="{0D108BD9-81ED-4DB2-BD59-A6C34878D82A}">
                    <a16:rowId xmlns:a16="http://schemas.microsoft.com/office/drawing/2014/main" val="3775104432"/>
                  </a:ext>
                </a:extLst>
              </a:tr>
            </a:tbl>
          </a:graphicData>
        </a:graphic>
      </p:graphicFrame>
    </p:spTree>
    <p:extLst>
      <p:ext uri="{BB962C8B-B14F-4D97-AF65-F5344CB8AC3E}">
        <p14:creationId xmlns:p14="http://schemas.microsoft.com/office/powerpoint/2010/main" val="9673757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591BB54-E37F-4AE6-9730-453A923694CB}"/>
              </a:ext>
            </a:extLst>
          </p:cNvPr>
          <p:cNvSpPr txBox="1"/>
          <p:nvPr/>
        </p:nvSpPr>
        <p:spPr>
          <a:xfrm>
            <a:off x="0" y="0"/>
            <a:ext cx="5303912" cy="461665"/>
          </a:xfrm>
          <a:prstGeom prst="rect">
            <a:avLst/>
          </a:prstGeom>
          <a:solidFill>
            <a:srgbClr val="FFFF00"/>
          </a:solidFill>
        </p:spPr>
        <p:txBody>
          <a:bodyPr wrap="square" rtlCol="0">
            <a:spAutoFit/>
          </a:bodyPr>
          <a:lstStyle/>
          <a:p>
            <a:r>
              <a:rPr lang="zh-CN" altLang="en-US" sz="2400" b="1" dirty="0">
                <a:solidFill>
                  <a:srgbClr val="FF0000"/>
                </a:solidFill>
              </a:rPr>
              <a:t>收入结构分析表：季度</a:t>
            </a:r>
            <a:r>
              <a:rPr lang="en-US" altLang="zh-CN" sz="2400" b="1" dirty="0">
                <a:solidFill>
                  <a:srgbClr val="FF0000"/>
                </a:solidFill>
              </a:rPr>
              <a:t>/</a:t>
            </a:r>
            <a:r>
              <a:rPr lang="zh-CN" altLang="en-US" sz="2400" b="1" dirty="0">
                <a:solidFill>
                  <a:srgbClr val="FF0000"/>
                </a:solidFill>
              </a:rPr>
              <a:t>年度</a:t>
            </a:r>
            <a:r>
              <a:rPr lang="en-US" altLang="zh-CN" sz="2400" b="1" dirty="0">
                <a:solidFill>
                  <a:srgbClr val="FF0000"/>
                </a:solidFill>
              </a:rPr>
              <a:t>6-3</a:t>
            </a:r>
            <a:endParaRPr lang="zh-CN" altLang="en-US" sz="2400" b="1" dirty="0">
              <a:solidFill>
                <a:srgbClr val="FF0000"/>
              </a:solidFill>
            </a:endParaRPr>
          </a:p>
        </p:txBody>
      </p:sp>
      <p:graphicFrame>
        <p:nvGraphicFramePr>
          <p:cNvPr id="3" name="表格 2">
            <a:extLst>
              <a:ext uri="{FF2B5EF4-FFF2-40B4-BE49-F238E27FC236}">
                <a16:creationId xmlns:a16="http://schemas.microsoft.com/office/drawing/2014/main" id="{32AE9320-13E1-458E-86E5-487DA5AD414C}"/>
              </a:ext>
            </a:extLst>
          </p:cNvPr>
          <p:cNvGraphicFramePr>
            <a:graphicFrameLocks noGrp="1"/>
          </p:cNvGraphicFramePr>
          <p:nvPr>
            <p:extLst>
              <p:ext uri="{D42A27DB-BD31-4B8C-83A1-F6EECF244321}">
                <p14:modId xmlns:p14="http://schemas.microsoft.com/office/powerpoint/2010/main" val="4240062582"/>
              </p:ext>
            </p:extLst>
          </p:nvPr>
        </p:nvGraphicFramePr>
        <p:xfrm>
          <a:off x="1127449" y="601663"/>
          <a:ext cx="10801198" cy="5654320"/>
        </p:xfrm>
        <a:graphic>
          <a:graphicData uri="http://schemas.openxmlformats.org/drawingml/2006/table">
            <a:tbl>
              <a:tblPr>
                <a:tableStyleId>{5C22544A-7EE6-4342-B048-85BDC9FD1C3A}</a:tableStyleId>
              </a:tblPr>
              <a:tblGrid>
                <a:gridCol w="1471475">
                  <a:extLst>
                    <a:ext uri="{9D8B030D-6E8A-4147-A177-3AD203B41FA5}">
                      <a16:colId xmlns:a16="http://schemas.microsoft.com/office/drawing/2014/main" val="828500633"/>
                    </a:ext>
                  </a:extLst>
                </a:gridCol>
                <a:gridCol w="1358285">
                  <a:extLst>
                    <a:ext uri="{9D8B030D-6E8A-4147-A177-3AD203B41FA5}">
                      <a16:colId xmlns:a16="http://schemas.microsoft.com/office/drawing/2014/main" val="3978474117"/>
                    </a:ext>
                  </a:extLst>
                </a:gridCol>
                <a:gridCol w="1245096">
                  <a:extLst>
                    <a:ext uri="{9D8B030D-6E8A-4147-A177-3AD203B41FA5}">
                      <a16:colId xmlns:a16="http://schemas.microsoft.com/office/drawing/2014/main" val="2016680328"/>
                    </a:ext>
                  </a:extLst>
                </a:gridCol>
                <a:gridCol w="1247925">
                  <a:extLst>
                    <a:ext uri="{9D8B030D-6E8A-4147-A177-3AD203B41FA5}">
                      <a16:colId xmlns:a16="http://schemas.microsoft.com/office/drawing/2014/main" val="3033101019"/>
                    </a:ext>
                  </a:extLst>
                </a:gridCol>
                <a:gridCol w="1448837">
                  <a:extLst>
                    <a:ext uri="{9D8B030D-6E8A-4147-A177-3AD203B41FA5}">
                      <a16:colId xmlns:a16="http://schemas.microsoft.com/office/drawing/2014/main" val="3172025003"/>
                    </a:ext>
                  </a:extLst>
                </a:gridCol>
                <a:gridCol w="2014790">
                  <a:extLst>
                    <a:ext uri="{9D8B030D-6E8A-4147-A177-3AD203B41FA5}">
                      <a16:colId xmlns:a16="http://schemas.microsoft.com/office/drawing/2014/main" val="3024493739"/>
                    </a:ext>
                  </a:extLst>
                </a:gridCol>
                <a:gridCol w="2014790">
                  <a:extLst>
                    <a:ext uri="{9D8B030D-6E8A-4147-A177-3AD203B41FA5}">
                      <a16:colId xmlns:a16="http://schemas.microsoft.com/office/drawing/2014/main" val="256913683"/>
                    </a:ext>
                  </a:extLst>
                </a:gridCol>
              </a:tblGrid>
              <a:tr h="245840">
                <a:tc gridSpan="7">
                  <a:txBody>
                    <a:bodyPr/>
                    <a:lstStyle/>
                    <a:p>
                      <a:pPr algn="ctr" fontAlgn="ctr"/>
                      <a:r>
                        <a:rPr lang="en-US" altLang="zh-CN" sz="1000" u="none" strike="noStrike">
                          <a:effectLst/>
                        </a:rPr>
                        <a:t>xxxx</a:t>
                      </a:r>
                      <a:r>
                        <a:rPr lang="zh-CN" altLang="en-US" sz="1000" u="none" strike="noStrike">
                          <a:effectLst/>
                        </a:rPr>
                        <a:t>季度</a:t>
                      </a:r>
                      <a:r>
                        <a:rPr lang="en-US" altLang="zh-CN" sz="1000" u="none" strike="noStrike">
                          <a:effectLst/>
                        </a:rPr>
                        <a:t>/</a:t>
                      </a:r>
                      <a:r>
                        <a:rPr lang="zh-CN" altLang="en-US" sz="1000" u="none" strike="noStrike">
                          <a:effectLst/>
                        </a:rPr>
                        <a:t>年度收入结构统计分析表</a:t>
                      </a:r>
                      <a:endParaRPr lang="zh-CN" altLang="en-US" sz="10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64355862"/>
                  </a:ext>
                </a:extLst>
              </a:tr>
              <a:tr h="245840">
                <a:tc gridSpan="3">
                  <a:txBody>
                    <a:bodyPr/>
                    <a:lstStyle/>
                    <a:p>
                      <a:pPr algn="l" fontAlgn="ctr"/>
                      <a:r>
                        <a:rPr lang="zh-CN" altLang="en-US" sz="700" u="none" strike="noStrike">
                          <a:effectLst/>
                        </a:rPr>
                        <a:t>单位名称：</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hMerge="1">
                  <a:txBody>
                    <a:bodyPr/>
                    <a:lstStyle/>
                    <a:p>
                      <a:endParaRPr lang="zh-CN" altLang="en-US"/>
                    </a:p>
                  </a:txBody>
                  <a:tcPr/>
                </a:tc>
                <a:tc hMerge="1">
                  <a:txBody>
                    <a:bodyPr/>
                    <a:lstStyle/>
                    <a:p>
                      <a:endParaRPr lang="zh-CN" altLang="en-US"/>
                    </a:p>
                  </a:txBody>
                  <a:tcPr/>
                </a:tc>
                <a:tc gridSpan="3">
                  <a:txBody>
                    <a:bodyPr/>
                    <a:lstStyle/>
                    <a:p>
                      <a:pPr algn="l" fontAlgn="ctr"/>
                      <a:r>
                        <a:rPr lang="zh-CN" altLang="en-US" sz="700" u="none" strike="noStrike">
                          <a:effectLst/>
                        </a:rPr>
                        <a:t>统计周期：   年   月  </a:t>
                      </a:r>
                      <a:r>
                        <a:rPr lang="en-US" altLang="zh-CN" sz="700" u="none" strike="noStrike">
                          <a:effectLst/>
                        </a:rPr>
                        <a:t>—   </a:t>
                      </a:r>
                      <a:r>
                        <a:rPr lang="zh-CN" altLang="en-US" sz="700" u="none" strike="noStrike">
                          <a:effectLst/>
                        </a:rPr>
                        <a:t>年   月</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700" u="none" strike="noStrike">
                          <a:effectLst/>
                        </a:rPr>
                        <a:t>单位（元）</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2374890196"/>
                  </a:ext>
                </a:extLst>
              </a:tr>
              <a:tr h="245840">
                <a:tc>
                  <a:txBody>
                    <a:bodyPr/>
                    <a:lstStyle/>
                    <a:p>
                      <a:pPr algn="ctr" fontAlgn="ctr"/>
                      <a:r>
                        <a:rPr lang="zh-CN" altLang="en-US" sz="600" u="none" strike="noStrike">
                          <a:effectLst/>
                        </a:rPr>
                        <a:t>收入类别</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收入项目</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本月金额</a:t>
                      </a:r>
                      <a:br>
                        <a:rPr lang="zh-CN" altLang="en-US" sz="600" u="none" strike="noStrike">
                          <a:effectLst/>
                        </a:rPr>
                      </a:br>
                      <a:r>
                        <a:rPr lang="zh-CN" altLang="en-US" sz="600" u="none" strike="noStrike">
                          <a:effectLst/>
                        </a:rPr>
                        <a:t>（万元）</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本月权重</a:t>
                      </a:r>
                      <a:br>
                        <a:rPr lang="zh-CN" altLang="en-US" sz="600" u="none" strike="noStrike">
                          <a:effectLst/>
                        </a:rPr>
                      </a:br>
                      <a:r>
                        <a:rPr lang="zh-CN" altLang="en-US" sz="600" u="none" strike="noStrike">
                          <a:effectLst/>
                        </a:rPr>
                        <a:t>占比</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年累计收入</a:t>
                      </a:r>
                      <a:br>
                        <a:rPr lang="zh-CN" altLang="en-US" sz="600" u="none" strike="noStrike">
                          <a:effectLst/>
                        </a:rPr>
                      </a:br>
                      <a:r>
                        <a:rPr lang="zh-CN" altLang="en-US" sz="600" u="none" strike="noStrike">
                          <a:effectLst/>
                        </a:rPr>
                        <a:t>（万元）</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年权重</a:t>
                      </a:r>
                      <a:br>
                        <a:rPr lang="zh-CN" altLang="en-US" sz="600" u="none" strike="noStrike">
                          <a:effectLst/>
                        </a:rPr>
                      </a:br>
                      <a:r>
                        <a:rPr lang="zh-CN" altLang="en-US" sz="600" u="none" strike="noStrike">
                          <a:effectLst/>
                        </a:rPr>
                        <a:t>占比</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备注</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extLst>
                  <a:ext uri="{0D108BD9-81ED-4DB2-BD59-A6C34878D82A}">
                    <a16:rowId xmlns:a16="http://schemas.microsoft.com/office/drawing/2014/main" val="839980597"/>
                  </a:ext>
                </a:extLst>
              </a:tr>
              <a:tr h="245840">
                <a:tc rowSpan="7">
                  <a:txBody>
                    <a:bodyPr/>
                    <a:lstStyle/>
                    <a:p>
                      <a:pPr algn="ctr" fontAlgn="ctr"/>
                      <a:r>
                        <a:rPr lang="zh-CN" altLang="en-US" sz="600" u="none" strike="noStrike">
                          <a:effectLst/>
                        </a:rPr>
                        <a:t>销售</a:t>
                      </a:r>
                      <a:br>
                        <a:rPr lang="zh-CN" altLang="en-US" sz="600" u="none" strike="noStrike">
                          <a:effectLst/>
                        </a:rPr>
                      </a:br>
                      <a:r>
                        <a:rPr lang="zh-CN" altLang="en-US" sz="600" u="none" strike="noStrike">
                          <a:effectLst/>
                        </a:rPr>
                        <a:t>产品</a:t>
                      </a:r>
                      <a:br>
                        <a:rPr lang="zh-CN" altLang="en-US" sz="600" u="none" strike="noStrike">
                          <a:effectLst/>
                        </a:rPr>
                      </a:br>
                      <a:r>
                        <a:rPr lang="zh-CN" altLang="en-US" sz="600" u="none" strike="noStrike">
                          <a:effectLst/>
                        </a:rPr>
                        <a:t>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主营产品</a:t>
                      </a:r>
                      <a:r>
                        <a:rPr lang="en-US" altLang="zh-CN" sz="600" u="none" strike="noStrike">
                          <a:effectLst/>
                        </a:rPr>
                        <a:t>1</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236487534"/>
                  </a:ext>
                </a:extLst>
              </a:tr>
              <a:tr h="245840">
                <a:tc vMerge="1">
                  <a:txBody>
                    <a:bodyPr/>
                    <a:lstStyle/>
                    <a:p>
                      <a:endParaRPr lang="zh-CN" altLang="en-US"/>
                    </a:p>
                  </a:txBody>
                  <a:tcPr/>
                </a:tc>
                <a:tc>
                  <a:txBody>
                    <a:bodyPr/>
                    <a:lstStyle/>
                    <a:p>
                      <a:pPr algn="ctr" fontAlgn="ctr"/>
                      <a:r>
                        <a:rPr lang="zh-CN" altLang="en-US" sz="600" u="none" strike="noStrike">
                          <a:effectLst/>
                        </a:rPr>
                        <a:t>主营产品</a:t>
                      </a:r>
                      <a:r>
                        <a:rPr lang="en-US" altLang="zh-CN" sz="600" u="none" strike="noStrike">
                          <a:effectLst/>
                        </a:rPr>
                        <a:t>2</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2329900038"/>
                  </a:ext>
                </a:extLst>
              </a:tr>
              <a:tr h="245840">
                <a:tc vMerge="1">
                  <a:txBody>
                    <a:bodyPr/>
                    <a:lstStyle/>
                    <a:p>
                      <a:endParaRPr lang="zh-CN" altLang="en-US"/>
                    </a:p>
                  </a:txBody>
                  <a:tcPr/>
                </a:tc>
                <a:tc>
                  <a:txBody>
                    <a:bodyPr/>
                    <a:lstStyle/>
                    <a:p>
                      <a:pPr algn="ctr" fontAlgn="ctr"/>
                      <a:r>
                        <a:rPr lang="zh-CN" altLang="en-US" sz="600" u="none" strike="noStrike">
                          <a:effectLst/>
                        </a:rPr>
                        <a:t>主营产品</a:t>
                      </a:r>
                      <a:r>
                        <a:rPr lang="en-US" altLang="zh-CN" sz="600" u="none" strike="noStrike">
                          <a:effectLst/>
                        </a:rPr>
                        <a:t>3</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659773105"/>
                  </a:ext>
                </a:extLst>
              </a:tr>
              <a:tr h="245840">
                <a:tc vMerge="1">
                  <a:txBody>
                    <a:bodyPr/>
                    <a:lstStyle/>
                    <a:p>
                      <a:endParaRPr lang="zh-CN" altLang="en-US"/>
                    </a:p>
                  </a:txBody>
                  <a:tcPr/>
                </a:tc>
                <a:tc>
                  <a:txBody>
                    <a:bodyPr/>
                    <a:lstStyle/>
                    <a:p>
                      <a:pPr algn="ctr" fontAlgn="ctr"/>
                      <a:r>
                        <a:rPr lang="zh-CN" altLang="en-US" sz="600" u="none" strike="noStrike">
                          <a:effectLst/>
                        </a:rPr>
                        <a:t>主营产品</a:t>
                      </a:r>
                      <a:r>
                        <a:rPr lang="en-US" altLang="zh-CN" sz="600" u="none" strike="noStrike">
                          <a:effectLst/>
                        </a:rPr>
                        <a:t>4</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1488573215"/>
                  </a:ext>
                </a:extLst>
              </a:tr>
              <a:tr h="245840">
                <a:tc vMerge="1">
                  <a:txBody>
                    <a:bodyPr/>
                    <a:lstStyle/>
                    <a:p>
                      <a:endParaRPr lang="zh-CN" altLang="en-US"/>
                    </a:p>
                  </a:txBody>
                  <a:tcPr/>
                </a:tc>
                <a:tc>
                  <a:txBody>
                    <a:bodyPr/>
                    <a:lstStyle/>
                    <a:p>
                      <a:pPr algn="ctr" fontAlgn="ctr"/>
                      <a:r>
                        <a:rPr lang="zh-CN" altLang="en-US" sz="600" u="none" strike="noStrike">
                          <a:effectLst/>
                        </a:rPr>
                        <a:t>主营产品</a:t>
                      </a:r>
                      <a:r>
                        <a:rPr lang="en-US" altLang="zh-CN" sz="600" u="none" strike="noStrike">
                          <a:effectLst/>
                        </a:rPr>
                        <a:t>5</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767486028"/>
                  </a:ext>
                </a:extLst>
              </a:tr>
              <a:tr h="245840">
                <a:tc vMerge="1">
                  <a:txBody>
                    <a:bodyPr/>
                    <a:lstStyle/>
                    <a:p>
                      <a:endParaRPr lang="zh-CN" altLang="en-US"/>
                    </a:p>
                  </a:txBody>
                  <a:tcPr/>
                </a:tc>
                <a:tc>
                  <a:txBody>
                    <a:bodyPr/>
                    <a:lstStyle/>
                    <a:p>
                      <a:pPr algn="ctr" fontAlgn="ctr"/>
                      <a:r>
                        <a:rPr lang="zh-CN" altLang="en-US" sz="600" u="none" strike="noStrike">
                          <a:effectLst/>
                        </a:rPr>
                        <a:t>主营产品</a:t>
                      </a:r>
                      <a:r>
                        <a:rPr lang="en-US" altLang="zh-CN" sz="600" u="none" strike="noStrike">
                          <a:effectLst/>
                        </a:rPr>
                        <a:t>6</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144184279"/>
                  </a:ext>
                </a:extLst>
              </a:tr>
              <a:tr h="245840">
                <a:tc vMerge="1">
                  <a:txBody>
                    <a:bodyPr/>
                    <a:lstStyle/>
                    <a:p>
                      <a:endParaRPr lang="zh-CN" altLang="en-US"/>
                    </a:p>
                  </a:txBody>
                  <a:tcPr/>
                </a:tc>
                <a:tc>
                  <a:txBody>
                    <a:bodyPr/>
                    <a:lstStyle/>
                    <a:p>
                      <a:pPr algn="ctr" fontAlgn="ctr"/>
                      <a:r>
                        <a:rPr lang="zh-CN" altLang="en-US" sz="600" u="none" strike="noStrike">
                          <a:effectLst/>
                        </a:rPr>
                        <a:t>销售产品总收入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4061687515"/>
                  </a:ext>
                </a:extLst>
              </a:tr>
              <a:tr h="245840">
                <a:tc rowSpan="3">
                  <a:txBody>
                    <a:bodyPr/>
                    <a:lstStyle/>
                    <a:p>
                      <a:pPr algn="ctr" fontAlgn="ctr"/>
                      <a:r>
                        <a:rPr lang="zh-CN" altLang="en-US" sz="600" u="none" strike="noStrike">
                          <a:effectLst/>
                        </a:rPr>
                        <a:t>销售</a:t>
                      </a:r>
                      <a:br>
                        <a:rPr lang="zh-CN" altLang="en-US" sz="600" u="none" strike="noStrike">
                          <a:effectLst/>
                        </a:rPr>
                      </a:br>
                      <a:r>
                        <a:rPr lang="zh-CN" altLang="en-US" sz="600" u="none" strike="noStrike">
                          <a:effectLst/>
                        </a:rPr>
                        <a:t>服务</a:t>
                      </a:r>
                      <a:br>
                        <a:rPr lang="zh-CN" altLang="en-US" sz="600" u="none" strike="noStrike">
                          <a:effectLst/>
                        </a:rPr>
                      </a:br>
                      <a:r>
                        <a:rPr lang="zh-CN" altLang="en-US" sz="600" u="none" strike="noStrike">
                          <a:effectLst/>
                        </a:rPr>
                        <a:t>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服务</a:t>
                      </a:r>
                      <a:r>
                        <a:rPr lang="en-US" altLang="zh-CN" sz="600" u="none" strike="noStrike">
                          <a:effectLst/>
                        </a:rPr>
                        <a:t>1</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285916271"/>
                  </a:ext>
                </a:extLst>
              </a:tr>
              <a:tr h="245840">
                <a:tc vMerge="1">
                  <a:txBody>
                    <a:bodyPr/>
                    <a:lstStyle/>
                    <a:p>
                      <a:endParaRPr lang="zh-CN" altLang="en-US"/>
                    </a:p>
                  </a:txBody>
                  <a:tcPr/>
                </a:tc>
                <a:tc>
                  <a:txBody>
                    <a:bodyPr/>
                    <a:lstStyle/>
                    <a:p>
                      <a:pPr algn="ctr" fontAlgn="ctr"/>
                      <a:r>
                        <a:rPr lang="zh-CN" altLang="en-US" sz="600" u="none" strike="noStrike">
                          <a:effectLst/>
                        </a:rPr>
                        <a:t>服务</a:t>
                      </a:r>
                      <a:r>
                        <a:rPr lang="en-US" altLang="zh-CN" sz="600" u="none" strike="noStrike">
                          <a:effectLst/>
                        </a:rPr>
                        <a:t>2</a:t>
                      </a:r>
                      <a:endParaRPr lang="en-US" altLang="zh-CN"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1397307499"/>
                  </a:ext>
                </a:extLst>
              </a:tr>
              <a:tr h="245840">
                <a:tc vMerge="1">
                  <a:txBody>
                    <a:bodyPr/>
                    <a:lstStyle/>
                    <a:p>
                      <a:endParaRPr lang="zh-CN" altLang="en-US"/>
                    </a:p>
                  </a:txBody>
                  <a:tcPr/>
                </a:tc>
                <a:tc>
                  <a:txBody>
                    <a:bodyPr/>
                    <a:lstStyle/>
                    <a:p>
                      <a:pPr algn="ctr" fontAlgn="ctr"/>
                      <a:r>
                        <a:rPr lang="zh-CN" altLang="en-US" sz="600" u="none" strike="noStrike">
                          <a:effectLst/>
                        </a:rPr>
                        <a:t>销售服务总收入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2808024497"/>
                  </a:ext>
                </a:extLst>
              </a:tr>
              <a:tr h="245840">
                <a:tc rowSpan="5">
                  <a:txBody>
                    <a:bodyPr/>
                    <a:lstStyle/>
                    <a:p>
                      <a:pPr algn="ctr" fontAlgn="ctr"/>
                      <a:r>
                        <a:rPr lang="zh-CN" altLang="en-US" sz="600" u="none" strike="noStrike">
                          <a:effectLst/>
                        </a:rPr>
                        <a:t>投资</a:t>
                      </a:r>
                      <a:br>
                        <a:rPr lang="zh-CN" altLang="en-US" sz="600" u="none" strike="noStrike">
                          <a:effectLst/>
                        </a:rPr>
                      </a:br>
                      <a:r>
                        <a:rPr lang="zh-CN" altLang="en-US" sz="600" u="none" strike="noStrike">
                          <a:effectLst/>
                        </a:rPr>
                        <a:t>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股票收入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570470668"/>
                  </a:ext>
                </a:extLst>
              </a:tr>
              <a:tr h="245840">
                <a:tc vMerge="1">
                  <a:txBody>
                    <a:bodyPr/>
                    <a:lstStyle/>
                    <a:p>
                      <a:endParaRPr lang="zh-CN" altLang="en-US"/>
                    </a:p>
                  </a:txBody>
                  <a:tcPr/>
                </a:tc>
                <a:tc>
                  <a:txBody>
                    <a:bodyPr/>
                    <a:lstStyle/>
                    <a:p>
                      <a:pPr algn="ctr" fontAlgn="ctr"/>
                      <a:r>
                        <a:rPr lang="zh-CN" altLang="en-US" sz="600" u="none" strike="noStrike">
                          <a:effectLst/>
                        </a:rPr>
                        <a:t>债券收入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778028281"/>
                  </a:ext>
                </a:extLst>
              </a:tr>
              <a:tr h="245840">
                <a:tc vMerge="1">
                  <a:txBody>
                    <a:bodyPr/>
                    <a:lstStyle/>
                    <a:p>
                      <a:endParaRPr lang="zh-CN" altLang="en-US"/>
                    </a:p>
                  </a:txBody>
                  <a:tcPr/>
                </a:tc>
                <a:tc>
                  <a:txBody>
                    <a:bodyPr/>
                    <a:lstStyle/>
                    <a:p>
                      <a:pPr algn="ctr" fontAlgn="ctr"/>
                      <a:r>
                        <a:rPr lang="zh-CN" altLang="en-US" sz="600" u="none" strike="noStrike">
                          <a:effectLst/>
                        </a:rPr>
                        <a:t>利息收入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1845151497"/>
                  </a:ext>
                </a:extLst>
              </a:tr>
              <a:tr h="245840">
                <a:tc vMerge="1">
                  <a:txBody>
                    <a:bodyPr/>
                    <a:lstStyle/>
                    <a:p>
                      <a:endParaRPr lang="zh-CN" altLang="en-US"/>
                    </a:p>
                  </a:txBody>
                  <a:tcPr/>
                </a:tc>
                <a:tc>
                  <a:txBody>
                    <a:bodyPr/>
                    <a:lstStyle/>
                    <a:p>
                      <a:pPr algn="ctr" fontAlgn="ctr"/>
                      <a:r>
                        <a:rPr lang="zh-CN" altLang="en-US" sz="600" u="none" strike="noStrike">
                          <a:effectLst/>
                        </a:rPr>
                        <a:t>出售固定资产</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199331753"/>
                  </a:ext>
                </a:extLst>
              </a:tr>
              <a:tr h="245840">
                <a:tc vMerge="1">
                  <a:txBody>
                    <a:bodyPr/>
                    <a:lstStyle/>
                    <a:p>
                      <a:endParaRPr lang="zh-CN" altLang="en-US"/>
                    </a:p>
                  </a:txBody>
                  <a:tcPr/>
                </a:tc>
                <a:tc>
                  <a:txBody>
                    <a:bodyPr/>
                    <a:lstStyle/>
                    <a:p>
                      <a:pPr algn="ctr" fontAlgn="ctr"/>
                      <a:r>
                        <a:rPr lang="zh-CN" altLang="en-US" sz="600" u="none" strike="noStrike">
                          <a:effectLst/>
                        </a:rPr>
                        <a:t>投资总收入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369980910"/>
                  </a:ext>
                </a:extLst>
              </a:tr>
              <a:tr h="245840">
                <a:tc rowSpan="4">
                  <a:txBody>
                    <a:bodyPr/>
                    <a:lstStyle/>
                    <a:p>
                      <a:pPr algn="ctr" fontAlgn="ctr"/>
                      <a:r>
                        <a:rPr lang="zh-CN" altLang="en-US" sz="600" u="none" strike="noStrike">
                          <a:effectLst/>
                        </a:rPr>
                        <a:t>其他</a:t>
                      </a:r>
                      <a:br>
                        <a:rPr lang="zh-CN" altLang="en-US" sz="600" u="none" strike="noStrike">
                          <a:effectLst/>
                        </a:rPr>
                      </a:br>
                      <a:r>
                        <a:rPr lang="zh-CN" altLang="en-US" sz="600" u="none" strike="noStrike">
                          <a:effectLst/>
                        </a:rPr>
                        <a:t>收入</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600" u="none" strike="noStrike">
                          <a:effectLst/>
                        </a:rPr>
                        <a:t>原材料销售收入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4066529361"/>
                  </a:ext>
                </a:extLst>
              </a:tr>
              <a:tr h="245840">
                <a:tc vMerge="1">
                  <a:txBody>
                    <a:bodyPr/>
                    <a:lstStyle/>
                    <a:p>
                      <a:endParaRPr lang="zh-CN" altLang="en-US"/>
                    </a:p>
                  </a:txBody>
                  <a:tcPr/>
                </a:tc>
                <a:tc>
                  <a:txBody>
                    <a:bodyPr/>
                    <a:lstStyle/>
                    <a:p>
                      <a:pPr algn="ctr" fontAlgn="ctr"/>
                      <a:r>
                        <a:rPr lang="zh-CN" altLang="en-US" sz="600" u="none" strike="noStrike">
                          <a:effectLst/>
                        </a:rPr>
                        <a:t>半成品销售收入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56499895"/>
                  </a:ext>
                </a:extLst>
              </a:tr>
              <a:tr h="245840">
                <a:tc vMerge="1">
                  <a:txBody>
                    <a:bodyPr/>
                    <a:lstStyle/>
                    <a:p>
                      <a:endParaRPr lang="zh-CN" altLang="en-US"/>
                    </a:p>
                  </a:txBody>
                  <a:tcPr/>
                </a:tc>
                <a:tc>
                  <a:txBody>
                    <a:bodyPr/>
                    <a:lstStyle/>
                    <a:p>
                      <a:pPr algn="ctr" fontAlgn="ctr"/>
                      <a:r>
                        <a:rPr lang="zh-CN" altLang="en-US" sz="600" u="none" strike="noStrike">
                          <a:effectLst/>
                        </a:rPr>
                        <a:t>房租收入</a:t>
                      </a:r>
                      <a:endParaRPr lang="zh-CN" altLang="en-US" sz="600" b="0"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856782565"/>
                  </a:ext>
                </a:extLst>
              </a:tr>
              <a:tr h="245840">
                <a:tc vMerge="1">
                  <a:txBody>
                    <a:bodyPr/>
                    <a:lstStyle/>
                    <a:p>
                      <a:endParaRPr lang="zh-CN" altLang="en-US"/>
                    </a:p>
                  </a:txBody>
                  <a:tcPr/>
                </a:tc>
                <a:tc>
                  <a:txBody>
                    <a:bodyPr/>
                    <a:lstStyle/>
                    <a:p>
                      <a:pPr algn="ctr" fontAlgn="ctr"/>
                      <a:r>
                        <a:rPr lang="zh-CN" altLang="en-US" sz="600" u="none" strike="noStrike">
                          <a:effectLst/>
                        </a:rPr>
                        <a:t>其他收入总计</a:t>
                      </a:r>
                      <a:endParaRPr lang="zh-CN" altLang="en-US" sz="600" b="1" i="0" u="none" strike="noStrike">
                        <a:solidFill>
                          <a:srgbClr val="000000"/>
                        </a:solidFill>
                        <a:effectLst/>
                        <a:latin typeface="微软雅黑" panose="020B0503020204020204" pitchFamily="34" charset="-122"/>
                        <a:ea typeface="微软雅黑" panose="020B0503020204020204" pitchFamily="34"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491625855"/>
                  </a:ext>
                </a:extLst>
              </a:tr>
              <a:tr h="245840">
                <a:tc gridSpan="2">
                  <a:txBody>
                    <a:bodyPr/>
                    <a:lstStyle/>
                    <a:p>
                      <a:pPr algn="ctr" fontAlgn="ctr"/>
                      <a:r>
                        <a:rPr lang="zh-CN" altLang="en-US" sz="700" u="none" strike="noStrike">
                          <a:effectLst/>
                        </a:rPr>
                        <a:t>收入总计</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hMerge="1">
                  <a:txBody>
                    <a:bodyPr/>
                    <a:lstStyle/>
                    <a:p>
                      <a:endParaRPr lang="zh-CN" altLang="en-US"/>
                    </a:p>
                  </a:txBody>
                  <a:tcP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a:effectLst/>
                        </a:rPr>
                        <a:t>　</a:t>
                      </a:r>
                      <a:endParaRPr lang="zh-CN" altLang="en-US" sz="700" b="1" i="0" u="none" strike="noStrike">
                        <a:solidFill>
                          <a:srgbClr val="000000"/>
                        </a:solidFill>
                        <a:effectLst/>
                        <a:latin typeface="宋体" panose="02010600030101010101" pitchFamily="2" charset="-122"/>
                        <a:ea typeface="宋体" panose="02010600030101010101" pitchFamily="2" charset="-122"/>
                      </a:endParaRPr>
                    </a:p>
                  </a:txBody>
                  <a:tcPr marL="5853" marR="5853" marT="5853" marB="0" anchor="ctr"/>
                </a:tc>
                <a:tc>
                  <a:txBody>
                    <a:bodyPr/>
                    <a:lstStyle/>
                    <a:p>
                      <a:pPr algn="ctr" fontAlgn="ctr"/>
                      <a:r>
                        <a:rPr lang="zh-CN" altLang="en-US" sz="700" u="none" strike="noStrike" dirty="0">
                          <a:effectLst/>
                        </a:rPr>
                        <a:t>　</a:t>
                      </a:r>
                      <a:endParaRPr lang="zh-CN" altLang="en-US" sz="700" b="1" i="0" u="none" strike="noStrike" dirty="0">
                        <a:solidFill>
                          <a:srgbClr val="000000"/>
                        </a:solidFill>
                        <a:effectLst/>
                        <a:latin typeface="宋体" panose="02010600030101010101" pitchFamily="2" charset="-122"/>
                        <a:ea typeface="宋体" panose="02010600030101010101" pitchFamily="2" charset="-122"/>
                      </a:endParaRPr>
                    </a:p>
                  </a:txBody>
                  <a:tcPr marL="5853" marR="5853" marT="5853" marB="0" anchor="ctr"/>
                </a:tc>
                <a:extLst>
                  <a:ext uri="{0D108BD9-81ED-4DB2-BD59-A6C34878D82A}">
                    <a16:rowId xmlns:a16="http://schemas.microsoft.com/office/drawing/2014/main" val="3569288061"/>
                  </a:ext>
                </a:extLst>
              </a:tr>
            </a:tbl>
          </a:graphicData>
        </a:graphic>
      </p:graphicFrame>
    </p:spTree>
    <p:extLst>
      <p:ext uri="{BB962C8B-B14F-4D97-AF65-F5344CB8AC3E}">
        <p14:creationId xmlns:p14="http://schemas.microsoft.com/office/powerpoint/2010/main" val="307276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AED8B44-8B2F-4D93-82EC-1ACF203559C3}"/>
              </a:ext>
            </a:extLst>
          </p:cNvPr>
          <p:cNvSpPr txBox="1"/>
          <p:nvPr/>
        </p:nvSpPr>
        <p:spPr>
          <a:xfrm>
            <a:off x="0" y="0"/>
            <a:ext cx="10920536" cy="461665"/>
          </a:xfrm>
          <a:prstGeom prst="rect">
            <a:avLst/>
          </a:prstGeom>
          <a:solidFill>
            <a:srgbClr val="FFFF00"/>
          </a:solidFill>
        </p:spPr>
        <p:txBody>
          <a:bodyPr wrap="square" rtlCol="0">
            <a:spAutoFit/>
          </a:bodyPr>
          <a:lstStyle/>
          <a:p>
            <a:r>
              <a:rPr lang="zh-CN" altLang="en-US" sz="2400" b="1" dirty="0">
                <a:solidFill>
                  <a:srgbClr val="FF0000"/>
                </a:solidFill>
              </a:rPr>
              <a:t>预算管理</a:t>
            </a:r>
            <a:r>
              <a:rPr lang="en-US" altLang="zh-CN" sz="2400" b="1" dirty="0">
                <a:solidFill>
                  <a:srgbClr val="FF0000"/>
                </a:solidFill>
              </a:rPr>
              <a:t>-</a:t>
            </a:r>
            <a:r>
              <a:rPr lang="zh-CN" altLang="en-US" sz="2400" b="1" dirty="0">
                <a:solidFill>
                  <a:srgbClr val="FF0000"/>
                </a:solidFill>
              </a:rPr>
              <a:t>预实对比分析表</a:t>
            </a:r>
            <a:r>
              <a:rPr lang="en-US" altLang="zh-CN" sz="2400" b="1" dirty="0">
                <a:solidFill>
                  <a:srgbClr val="FF0000"/>
                </a:solidFill>
              </a:rPr>
              <a:t>6-4 </a:t>
            </a:r>
            <a:r>
              <a:rPr lang="zh-CN" altLang="en-US" sz="2400" b="1" dirty="0">
                <a:solidFill>
                  <a:srgbClr val="FF0000"/>
                </a:solidFill>
              </a:rPr>
              <a:t>：季度</a:t>
            </a:r>
            <a:r>
              <a:rPr lang="en-US" altLang="zh-CN" sz="2400" b="1" dirty="0">
                <a:solidFill>
                  <a:srgbClr val="FF0000"/>
                </a:solidFill>
              </a:rPr>
              <a:t>/</a:t>
            </a:r>
            <a:r>
              <a:rPr lang="zh-CN" altLang="en-US" sz="2400" b="1" dirty="0">
                <a:solidFill>
                  <a:srgbClr val="FF0000"/>
                </a:solidFill>
              </a:rPr>
              <a:t>年度预算支出和实际支出数据对比</a:t>
            </a:r>
          </a:p>
        </p:txBody>
      </p:sp>
      <p:graphicFrame>
        <p:nvGraphicFramePr>
          <p:cNvPr id="4" name="表格 3">
            <a:extLst>
              <a:ext uri="{FF2B5EF4-FFF2-40B4-BE49-F238E27FC236}">
                <a16:creationId xmlns:a16="http://schemas.microsoft.com/office/drawing/2014/main" id="{F142BC2B-02E6-4BCF-AAAC-B10D97B225E6}"/>
              </a:ext>
            </a:extLst>
          </p:cNvPr>
          <p:cNvGraphicFramePr>
            <a:graphicFrameLocks noGrp="1"/>
          </p:cNvGraphicFramePr>
          <p:nvPr>
            <p:extLst>
              <p:ext uri="{D42A27DB-BD31-4B8C-83A1-F6EECF244321}">
                <p14:modId xmlns:p14="http://schemas.microsoft.com/office/powerpoint/2010/main" val="1350865455"/>
              </p:ext>
            </p:extLst>
          </p:nvPr>
        </p:nvGraphicFramePr>
        <p:xfrm>
          <a:off x="191344" y="461666"/>
          <a:ext cx="11809310" cy="6063681"/>
        </p:xfrm>
        <a:graphic>
          <a:graphicData uri="http://schemas.openxmlformats.org/drawingml/2006/table">
            <a:tbl>
              <a:tblPr>
                <a:tableStyleId>{5C22544A-7EE6-4342-B048-85BDC9FD1C3A}</a:tableStyleId>
              </a:tblPr>
              <a:tblGrid>
                <a:gridCol w="658209">
                  <a:extLst>
                    <a:ext uri="{9D8B030D-6E8A-4147-A177-3AD203B41FA5}">
                      <a16:colId xmlns:a16="http://schemas.microsoft.com/office/drawing/2014/main" val="3222725983"/>
                    </a:ext>
                  </a:extLst>
                </a:gridCol>
                <a:gridCol w="658209">
                  <a:extLst>
                    <a:ext uri="{9D8B030D-6E8A-4147-A177-3AD203B41FA5}">
                      <a16:colId xmlns:a16="http://schemas.microsoft.com/office/drawing/2014/main" val="1078847017"/>
                    </a:ext>
                  </a:extLst>
                </a:gridCol>
                <a:gridCol w="578239">
                  <a:extLst>
                    <a:ext uri="{9D8B030D-6E8A-4147-A177-3AD203B41FA5}">
                      <a16:colId xmlns:a16="http://schemas.microsoft.com/office/drawing/2014/main" val="1773795537"/>
                    </a:ext>
                  </a:extLst>
                </a:gridCol>
                <a:gridCol w="547481">
                  <a:extLst>
                    <a:ext uri="{9D8B030D-6E8A-4147-A177-3AD203B41FA5}">
                      <a16:colId xmlns:a16="http://schemas.microsoft.com/office/drawing/2014/main" val="3608761866"/>
                    </a:ext>
                  </a:extLst>
                </a:gridCol>
                <a:gridCol w="549021">
                  <a:extLst>
                    <a:ext uri="{9D8B030D-6E8A-4147-A177-3AD203B41FA5}">
                      <a16:colId xmlns:a16="http://schemas.microsoft.com/office/drawing/2014/main" val="2985192138"/>
                    </a:ext>
                  </a:extLst>
                </a:gridCol>
                <a:gridCol w="510573">
                  <a:extLst>
                    <a:ext uri="{9D8B030D-6E8A-4147-A177-3AD203B41FA5}">
                      <a16:colId xmlns:a16="http://schemas.microsoft.com/office/drawing/2014/main" val="1710629889"/>
                    </a:ext>
                  </a:extLst>
                </a:gridCol>
                <a:gridCol w="510573">
                  <a:extLst>
                    <a:ext uri="{9D8B030D-6E8A-4147-A177-3AD203B41FA5}">
                      <a16:colId xmlns:a16="http://schemas.microsoft.com/office/drawing/2014/main" val="1994661454"/>
                    </a:ext>
                  </a:extLst>
                </a:gridCol>
                <a:gridCol w="541331">
                  <a:extLst>
                    <a:ext uri="{9D8B030D-6E8A-4147-A177-3AD203B41FA5}">
                      <a16:colId xmlns:a16="http://schemas.microsoft.com/office/drawing/2014/main" val="1457636840"/>
                    </a:ext>
                  </a:extLst>
                </a:gridCol>
                <a:gridCol w="541331">
                  <a:extLst>
                    <a:ext uri="{9D8B030D-6E8A-4147-A177-3AD203B41FA5}">
                      <a16:colId xmlns:a16="http://schemas.microsoft.com/office/drawing/2014/main" val="2938435964"/>
                    </a:ext>
                  </a:extLst>
                </a:gridCol>
                <a:gridCol w="547481">
                  <a:extLst>
                    <a:ext uri="{9D8B030D-6E8A-4147-A177-3AD203B41FA5}">
                      <a16:colId xmlns:a16="http://schemas.microsoft.com/office/drawing/2014/main" val="506634766"/>
                    </a:ext>
                  </a:extLst>
                </a:gridCol>
                <a:gridCol w="547481">
                  <a:extLst>
                    <a:ext uri="{9D8B030D-6E8A-4147-A177-3AD203B41FA5}">
                      <a16:colId xmlns:a16="http://schemas.microsoft.com/office/drawing/2014/main" val="2848596177"/>
                    </a:ext>
                  </a:extLst>
                </a:gridCol>
                <a:gridCol w="510573">
                  <a:extLst>
                    <a:ext uri="{9D8B030D-6E8A-4147-A177-3AD203B41FA5}">
                      <a16:colId xmlns:a16="http://schemas.microsoft.com/office/drawing/2014/main" val="1739022533"/>
                    </a:ext>
                  </a:extLst>
                </a:gridCol>
                <a:gridCol w="512111">
                  <a:extLst>
                    <a:ext uri="{9D8B030D-6E8A-4147-A177-3AD203B41FA5}">
                      <a16:colId xmlns:a16="http://schemas.microsoft.com/office/drawing/2014/main" val="1109066052"/>
                    </a:ext>
                  </a:extLst>
                </a:gridCol>
                <a:gridCol w="529028">
                  <a:extLst>
                    <a:ext uri="{9D8B030D-6E8A-4147-A177-3AD203B41FA5}">
                      <a16:colId xmlns:a16="http://schemas.microsoft.com/office/drawing/2014/main" val="1354475637"/>
                    </a:ext>
                  </a:extLst>
                </a:gridCol>
                <a:gridCol w="530566">
                  <a:extLst>
                    <a:ext uri="{9D8B030D-6E8A-4147-A177-3AD203B41FA5}">
                      <a16:colId xmlns:a16="http://schemas.microsoft.com/office/drawing/2014/main" val="3557128555"/>
                    </a:ext>
                  </a:extLst>
                </a:gridCol>
                <a:gridCol w="504422">
                  <a:extLst>
                    <a:ext uri="{9D8B030D-6E8A-4147-A177-3AD203B41FA5}">
                      <a16:colId xmlns:a16="http://schemas.microsoft.com/office/drawing/2014/main" val="335561074"/>
                    </a:ext>
                  </a:extLst>
                </a:gridCol>
                <a:gridCol w="547481">
                  <a:extLst>
                    <a:ext uri="{9D8B030D-6E8A-4147-A177-3AD203B41FA5}">
                      <a16:colId xmlns:a16="http://schemas.microsoft.com/office/drawing/2014/main" val="52192134"/>
                    </a:ext>
                  </a:extLst>
                </a:gridCol>
                <a:gridCol w="1242600">
                  <a:extLst>
                    <a:ext uri="{9D8B030D-6E8A-4147-A177-3AD203B41FA5}">
                      <a16:colId xmlns:a16="http://schemas.microsoft.com/office/drawing/2014/main" val="2340506860"/>
                    </a:ext>
                  </a:extLst>
                </a:gridCol>
                <a:gridCol w="1242600">
                  <a:extLst>
                    <a:ext uri="{9D8B030D-6E8A-4147-A177-3AD203B41FA5}">
                      <a16:colId xmlns:a16="http://schemas.microsoft.com/office/drawing/2014/main" val="406716848"/>
                    </a:ext>
                  </a:extLst>
                </a:gridCol>
              </a:tblGrid>
              <a:tr h="335866">
                <a:tc gridSpan="19">
                  <a:txBody>
                    <a:bodyPr/>
                    <a:lstStyle/>
                    <a:p>
                      <a:pPr algn="ctr" fontAlgn="ctr"/>
                      <a:r>
                        <a:rPr lang="en-US" altLang="zh-CN" sz="500" u="none" strike="noStrike" dirty="0">
                          <a:effectLst/>
                        </a:rPr>
                        <a:t>2026</a:t>
                      </a:r>
                      <a:r>
                        <a:rPr lang="zh-CN" altLang="en-US" sz="500" u="none" strike="noStrike" dirty="0">
                          <a:effectLst/>
                        </a:rPr>
                        <a:t>年度预算</a:t>
                      </a:r>
                      <a:r>
                        <a:rPr lang="en-US" altLang="zh-CN" sz="500" u="none" strike="noStrike" dirty="0">
                          <a:effectLst/>
                        </a:rPr>
                        <a:t>/</a:t>
                      </a:r>
                      <a:r>
                        <a:rPr lang="zh-CN" altLang="en-US" sz="500" u="none" strike="noStrike" dirty="0">
                          <a:effectLst/>
                        </a:rPr>
                        <a:t>实际数据对比看板</a:t>
                      </a:r>
                      <a:endParaRPr lang="zh-CN" altLang="en-US" sz="500" b="1" i="0" u="none" strike="noStrike" dirty="0">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13572858"/>
                  </a:ext>
                </a:extLst>
              </a:tr>
              <a:tr h="341897">
                <a:tc gridSpan="13">
                  <a:txBody>
                    <a:bodyPr/>
                    <a:lstStyle/>
                    <a:p>
                      <a:pPr algn="l" fontAlgn="ctr"/>
                      <a:r>
                        <a:rPr lang="zh-CN" altLang="en-US" sz="400" u="none" strike="noStrike" dirty="0">
                          <a:effectLst/>
                        </a:rPr>
                        <a:t>昕彤赋能（长沙）人工智能行业应用系统有限公司</a:t>
                      </a:r>
                      <a:endParaRPr lang="zh-CN" altLang="en-US" sz="400" b="1" i="0" u="none" strike="noStrike" dirty="0">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5">
                  <a:txBody>
                    <a:bodyPr/>
                    <a:lstStyle/>
                    <a:p>
                      <a:pPr algn="l" fontAlgn="ctr"/>
                      <a:r>
                        <a:rPr lang="zh-CN" altLang="en-US" sz="400" u="none" strike="noStrike">
                          <a:effectLst/>
                        </a:rPr>
                        <a:t>此表预算数据由各中心</a:t>
                      </a:r>
                      <a:r>
                        <a:rPr lang="en-US" altLang="zh-CN" sz="400" u="none" strike="noStrike">
                          <a:effectLst/>
                        </a:rPr>
                        <a:t>/</a:t>
                      </a:r>
                      <a:r>
                        <a:rPr lang="zh-CN" altLang="en-US" sz="400" u="none" strike="noStrike">
                          <a:effectLst/>
                        </a:rPr>
                        <a:t>部门负责人填写：按照</a:t>
                      </a:r>
                      <a:r>
                        <a:rPr lang="en-US" altLang="zh-CN" sz="400" u="none" strike="noStrike">
                          <a:effectLst/>
                        </a:rPr>
                        <a:t>KPI</a:t>
                      </a:r>
                      <a:r>
                        <a:rPr lang="zh-CN" altLang="en-US" sz="400" u="none" strike="noStrike">
                          <a:effectLst/>
                        </a:rPr>
                        <a:t>分配及部门历史经营数据，预计相关费用数据；实际发生数据，由财务人员，按季度统计填写。</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300" u="none" strike="noStrike">
                          <a:effectLst/>
                        </a:rPr>
                        <a:t>备注</a:t>
                      </a:r>
                      <a:endParaRPr lang="zh-CN" altLang="en-US" sz="3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2958205912"/>
                  </a:ext>
                </a:extLst>
              </a:tr>
              <a:tr h="335866">
                <a:tc rowSpan="2">
                  <a:txBody>
                    <a:bodyPr/>
                    <a:lstStyle/>
                    <a:p>
                      <a:pPr algn="ctr" fontAlgn="ctr"/>
                      <a:r>
                        <a:rPr lang="zh-CN" altLang="en-US" sz="400" u="none" strike="noStrike">
                          <a:effectLst/>
                        </a:rPr>
                        <a:t>中心</a:t>
                      </a:r>
                      <a:r>
                        <a:rPr lang="en-US" altLang="zh-CN" sz="400" u="none" strike="noStrike">
                          <a:effectLst/>
                        </a:rPr>
                        <a:t>/</a:t>
                      </a:r>
                      <a:r>
                        <a:rPr lang="zh-CN" altLang="en-US" sz="400" u="none" strike="noStrike">
                          <a:effectLst/>
                        </a:rPr>
                        <a:t>部门</a:t>
                      </a:r>
                      <a:r>
                        <a:rPr lang="en-US" altLang="zh-CN" sz="400" u="none" strike="noStrike">
                          <a:effectLst/>
                        </a:rPr>
                        <a:t>/</a:t>
                      </a:r>
                      <a:r>
                        <a:rPr lang="zh-CN" altLang="en-US" sz="400" u="none" strike="noStrike">
                          <a:effectLst/>
                        </a:rPr>
                        <a:t>预算负责人</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rowSpan="2">
                  <a:txBody>
                    <a:bodyPr/>
                    <a:lstStyle/>
                    <a:p>
                      <a:pPr algn="ctr" fontAlgn="ctr"/>
                      <a:r>
                        <a:rPr lang="zh-CN" altLang="en-US" sz="400" u="none" strike="noStrike">
                          <a:effectLst/>
                        </a:rPr>
                        <a:t>预算费用类目</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gridSpan="2">
                  <a:txBody>
                    <a:bodyPr/>
                    <a:lstStyle/>
                    <a:p>
                      <a:pPr algn="ctr" fontAlgn="ctr"/>
                      <a:r>
                        <a:rPr lang="en-US" sz="400" u="none" strike="noStrike">
                          <a:effectLst/>
                        </a:rPr>
                        <a:t>Q1.KPI</a:t>
                      </a:r>
                      <a:endParaRPr 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altLang="zh-CN" sz="400" u="none" strike="noStrike">
                          <a:effectLst/>
                        </a:rPr>
                        <a:t>500,000.00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sz="400" u="none" strike="noStrike">
                          <a:effectLst/>
                        </a:rPr>
                        <a:t>Q2.KPI</a:t>
                      </a:r>
                      <a:endParaRPr 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altLang="zh-CN" sz="400" u="none" strike="noStrike">
                          <a:effectLst/>
                        </a:rPr>
                        <a:t>800,000.00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sz="400" u="none" strike="noStrike">
                          <a:effectLst/>
                        </a:rPr>
                        <a:t>Q3.KPI</a:t>
                      </a:r>
                      <a:endParaRPr 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altLang="zh-CN" sz="400" u="none" strike="noStrike">
                          <a:effectLst/>
                        </a:rPr>
                        <a:t>800,000.00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sz="400" u="none" strike="noStrike">
                          <a:effectLst/>
                        </a:rPr>
                        <a:t>Q4.KPI</a:t>
                      </a:r>
                      <a:endParaRPr 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gridSpan="2">
                  <a:txBody>
                    <a:bodyPr/>
                    <a:lstStyle/>
                    <a:p>
                      <a:pPr algn="ctr" fontAlgn="ctr"/>
                      <a:r>
                        <a:rPr lang="en-US" altLang="zh-CN" sz="400" u="none" strike="noStrike">
                          <a:effectLst/>
                        </a:rPr>
                        <a:t>900,000.00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hMerge="1">
                  <a:txBody>
                    <a:bodyPr/>
                    <a:lstStyle/>
                    <a:p>
                      <a:endParaRPr lang="zh-CN" altLang="en-US"/>
                    </a:p>
                  </a:txBody>
                  <a:tcPr/>
                </a:tc>
                <a:tc rowSpan="2">
                  <a:txBody>
                    <a:bodyPr/>
                    <a:lstStyle/>
                    <a:p>
                      <a:pPr algn="ctr" fontAlgn="ctr"/>
                      <a:r>
                        <a:rPr lang="zh-CN" altLang="en-US" sz="300" u="none" strike="noStrike">
                          <a:effectLst/>
                        </a:rPr>
                        <a:t>填写指南：特殊说明 </a:t>
                      </a:r>
                      <a:endParaRPr lang="zh-CN" altLang="en-US" sz="3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566238196"/>
                  </a:ext>
                </a:extLst>
              </a:tr>
              <a:tr h="341897">
                <a:tc vMerge="1">
                  <a:txBody>
                    <a:bodyPr/>
                    <a:lstStyle/>
                    <a:p>
                      <a:endParaRPr lang="zh-CN" altLang="en-US"/>
                    </a:p>
                  </a:txBody>
                  <a:tcPr/>
                </a:tc>
                <a:tc vMerge="1">
                  <a:txBody>
                    <a:bodyPr/>
                    <a:lstStyle/>
                    <a:p>
                      <a:endParaRPr lang="zh-CN" altLang="en-US"/>
                    </a:p>
                  </a:txBody>
                  <a:tcPr/>
                </a:tc>
                <a:tc>
                  <a:txBody>
                    <a:bodyPr/>
                    <a:lstStyle/>
                    <a:p>
                      <a:pPr algn="ctr" fontAlgn="ctr"/>
                      <a:r>
                        <a:rPr lang="en-US" sz="400" u="none" strike="noStrike">
                          <a:effectLst/>
                        </a:rPr>
                        <a:t>Q1</a:t>
                      </a:r>
                      <a:r>
                        <a:rPr lang="zh-CN" altLang="en-US" sz="400" u="none" strike="noStrike">
                          <a:effectLst/>
                        </a:rPr>
                        <a:t>预算</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Q1</a:t>
                      </a:r>
                      <a:r>
                        <a:rPr lang="zh-CN" altLang="en-US" sz="400" u="none" strike="noStrike">
                          <a:effectLst/>
                        </a:rPr>
                        <a:t>实际</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预实差额   （红色超支）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预实差异率（负数超支）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Q2</a:t>
                      </a:r>
                      <a:r>
                        <a:rPr lang="zh-CN" altLang="en-US" sz="400" u="none" strike="noStrike">
                          <a:effectLst/>
                        </a:rPr>
                        <a:t>预算</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Q2</a:t>
                      </a:r>
                      <a:r>
                        <a:rPr lang="zh-CN" altLang="en-US" sz="400" u="none" strike="noStrike">
                          <a:effectLst/>
                        </a:rPr>
                        <a:t>实际</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预实差额   （红色超支）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预实差异率（负数超支）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Q3</a:t>
                      </a:r>
                      <a:r>
                        <a:rPr lang="zh-CN" altLang="en-US" sz="400" u="none" strike="noStrike">
                          <a:effectLst/>
                        </a:rPr>
                        <a:t>预算</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Q3</a:t>
                      </a:r>
                      <a:r>
                        <a:rPr lang="zh-CN" altLang="en-US" sz="400" u="none" strike="noStrike">
                          <a:effectLst/>
                        </a:rPr>
                        <a:t>实际</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预实差额   （红色超支）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预实差异率（负数超支）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Q4</a:t>
                      </a:r>
                      <a:r>
                        <a:rPr lang="zh-CN" altLang="en-US" sz="400" u="none" strike="noStrike">
                          <a:effectLst/>
                        </a:rPr>
                        <a:t>预算</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sz="400" u="none" strike="noStrike">
                          <a:effectLst/>
                        </a:rPr>
                        <a:t>Q4</a:t>
                      </a:r>
                      <a:r>
                        <a:rPr lang="zh-CN" altLang="en-US" sz="400" u="none" strike="noStrike">
                          <a:effectLst/>
                        </a:rPr>
                        <a:t>实际</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预实差额   （红色超支）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预实差异率（负数超支）</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vMerge="1">
                  <a:txBody>
                    <a:bodyPr/>
                    <a:lstStyle/>
                    <a:p>
                      <a:endParaRPr lang="zh-CN" altLang="en-US"/>
                    </a:p>
                  </a:txBody>
                  <a:tcPr/>
                </a:tc>
                <a:extLst>
                  <a:ext uri="{0D108BD9-81ED-4DB2-BD59-A6C34878D82A}">
                    <a16:rowId xmlns:a16="http://schemas.microsoft.com/office/drawing/2014/main" val="3817568116"/>
                  </a:ext>
                </a:extLst>
              </a:tr>
              <a:tr h="335866">
                <a:tc rowSpan="14">
                  <a:txBody>
                    <a:bodyPr/>
                    <a:lstStyle/>
                    <a:p>
                      <a:pPr algn="ctr" fontAlgn="ctr"/>
                      <a:r>
                        <a:rPr lang="zh-CN" altLang="en-US" sz="400" u="none" strike="noStrike">
                          <a:effectLst/>
                        </a:rPr>
                        <a:t>研发中心（皮直平）</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vert="eaVert" anchor="ctr"/>
                </a:tc>
                <a:tc>
                  <a:txBody>
                    <a:bodyPr/>
                    <a:lstStyle/>
                    <a:p>
                      <a:pPr algn="ctr" fontAlgn="ctr"/>
                      <a:r>
                        <a:rPr lang="zh-CN" altLang="en-US" sz="400" u="none" strike="noStrike">
                          <a:effectLst/>
                        </a:rPr>
                        <a:t>职工工资</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1500000.00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1316017.68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183982.32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12.27%</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1800000.00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部门工资汇总（注意：增员</a:t>
                      </a:r>
                      <a:r>
                        <a:rPr lang="en-US" altLang="zh-CN" sz="300" u="none" strike="noStrike">
                          <a:effectLst/>
                        </a:rPr>
                        <a:t>/</a:t>
                      </a:r>
                      <a:r>
                        <a:rPr lang="zh-CN" altLang="en-US" sz="300" u="none" strike="noStrike">
                          <a:effectLst/>
                        </a:rPr>
                        <a:t>减员</a:t>
                      </a:r>
                      <a:r>
                        <a:rPr lang="en-US" altLang="zh-CN" sz="300" u="none" strike="noStrike">
                          <a:effectLst/>
                        </a:rPr>
                        <a:t>)</a:t>
                      </a:r>
                      <a:endParaRPr lang="en-US" altLang="zh-CN"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3892046272"/>
                  </a:ext>
                </a:extLst>
              </a:tr>
              <a:tr h="335866">
                <a:tc vMerge="1">
                  <a:txBody>
                    <a:bodyPr/>
                    <a:lstStyle/>
                    <a:p>
                      <a:endParaRPr lang="zh-CN" altLang="en-US"/>
                    </a:p>
                  </a:txBody>
                  <a:tcPr/>
                </a:tc>
                <a:tc>
                  <a:txBody>
                    <a:bodyPr/>
                    <a:lstStyle/>
                    <a:p>
                      <a:pPr algn="ctr" fontAlgn="ctr"/>
                      <a:r>
                        <a:rPr lang="zh-CN" altLang="en-US" sz="400" u="none" strike="noStrike">
                          <a:effectLst/>
                        </a:rPr>
                        <a:t>社保及公积金</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150000.00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125265.75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24734.25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16.49%</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社保</a:t>
                      </a:r>
                      <a:r>
                        <a:rPr lang="en-US" altLang="zh-CN" sz="300" u="none" strike="noStrike">
                          <a:effectLst/>
                        </a:rPr>
                        <a:t>2630/1133.01</a:t>
                      </a:r>
                      <a:r>
                        <a:rPr lang="zh-CN" altLang="en-US" sz="300" u="none" strike="noStrike">
                          <a:effectLst/>
                        </a:rPr>
                        <a:t>（两档）                   公积金</a:t>
                      </a:r>
                      <a:r>
                        <a:rPr lang="en-US" altLang="zh-CN" sz="300" u="none" strike="noStrike">
                          <a:effectLst/>
                        </a:rPr>
                        <a:t>800/400</a:t>
                      </a:r>
                      <a:r>
                        <a:rPr lang="zh-CN" altLang="en-US" sz="300" u="none" strike="noStrike">
                          <a:effectLst/>
                        </a:rPr>
                        <a:t>（两档）</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037728178"/>
                  </a:ext>
                </a:extLst>
              </a:tr>
              <a:tr h="335866">
                <a:tc vMerge="1">
                  <a:txBody>
                    <a:bodyPr/>
                    <a:lstStyle/>
                    <a:p>
                      <a:endParaRPr lang="zh-CN" altLang="en-US"/>
                    </a:p>
                  </a:txBody>
                  <a:tcPr/>
                </a:tc>
                <a:tc>
                  <a:txBody>
                    <a:bodyPr/>
                    <a:lstStyle/>
                    <a:p>
                      <a:pPr algn="ctr" fontAlgn="ctr"/>
                      <a:r>
                        <a:rPr lang="zh-CN" altLang="en-US" sz="400" u="none" strike="noStrike">
                          <a:effectLst/>
                        </a:rPr>
                        <a:t>设备购置费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采购电脑</a:t>
                      </a:r>
                      <a:r>
                        <a:rPr lang="en-US" altLang="zh-CN" sz="300" u="none" strike="noStrike">
                          <a:effectLst/>
                        </a:rPr>
                        <a:t>/</a:t>
                      </a:r>
                      <a:r>
                        <a:rPr lang="zh-CN" altLang="en-US" sz="300" u="none" strike="noStrike">
                          <a:effectLst/>
                        </a:rPr>
                        <a:t>设备</a:t>
                      </a:r>
                      <a:r>
                        <a:rPr lang="en-US" altLang="zh-CN" sz="300" u="none" strike="noStrike">
                          <a:effectLst/>
                        </a:rPr>
                        <a:t>/</a:t>
                      </a:r>
                      <a:r>
                        <a:rPr lang="zh-CN" altLang="en-US" sz="300" u="none" strike="noStrike">
                          <a:effectLst/>
                        </a:rPr>
                        <a:t>固定资产类</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223509747"/>
                  </a:ext>
                </a:extLst>
              </a:tr>
              <a:tr h="335866">
                <a:tc vMerge="1">
                  <a:txBody>
                    <a:bodyPr/>
                    <a:lstStyle/>
                    <a:p>
                      <a:endParaRPr lang="zh-CN" altLang="en-US"/>
                    </a:p>
                  </a:txBody>
                  <a:tcPr/>
                </a:tc>
                <a:tc>
                  <a:txBody>
                    <a:bodyPr/>
                    <a:lstStyle/>
                    <a:p>
                      <a:pPr algn="ctr" fontAlgn="ctr"/>
                      <a:r>
                        <a:rPr lang="zh-CN" altLang="en-US" sz="400" u="none" strike="noStrike">
                          <a:effectLst/>
                        </a:rPr>
                        <a:t>研发材料采购费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采购研发配件</a:t>
                      </a:r>
                      <a:r>
                        <a:rPr lang="en-US" altLang="zh-CN" sz="300" u="none" strike="noStrike">
                          <a:effectLst/>
                        </a:rPr>
                        <a:t>/</a:t>
                      </a:r>
                      <a:r>
                        <a:rPr lang="zh-CN" altLang="en-US" sz="300" u="none" strike="noStrike">
                          <a:effectLst/>
                        </a:rPr>
                        <a:t>样机</a:t>
                      </a:r>
                      <a:r>
                        <a:rPr lang="en-US" altLang="zh-CN" sz="300" u="none" strike="noStrike">
                          <a:effectLst/>
                        </a:rPr>
                        <a:t>/</a:t>
                      </a:r>
                      <a:r>
                        <a:rPr lang="zh-CN" altLang="en-US" sz="300" u="none" strike="noStrike">
                          <a:effectLst/>
                        </a:rPr>
                        <a:t>材料类</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3466278990"/>
                  </a:ext>
                </a:extLst>
              </a:tr>
              <a:tr h="335866">
                <a:tc vMerge="1">
                  <a:txBody>
                    <a:bodyPr/>
                    <a:lstStyle/>
                    <a:p>
                      <a:endParaRPr lang="zh-CN" altLang="en-US"/>
                    </a:p>
                  </a:txBody>
                  <a:tcPr/>
                </a:tc>
                <a:tc>
                  <a:txBody>
                    <a:bodyPr/>
                    <a:lstStyle/>
                    <a:p>
                      <a:pPr algn="ctr" fontAlgn="ctr"/>
                      <a:r>
                        <a:rPr lang="zh-CN" altLang="en-US" sz="400" u="none" strike="noStrike">
                          <a:effectLst/>
                        </a:rPr>
                        <a:t>差旅费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38517.38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61482.62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61.48%</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部门人员出差费用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407120469"/>
                  </a:ext>
                </a:extLst>
              </a:tr>
              <a:tr h="335866">
                <a:tc vMerge="1">
                  <a:txBody>
                    <a:bodyPr/>
                    <a:lstStyle/>
                    <a:p>
                      <a:endParaRPr lang="zh-CN" altLang="en-US"/>
                    </a:p>
                  </a:txBody>
                  <a:tcPr/>
                </a:tc>
                <a:tc>
                  <a:txBody>
                    <a:bodyPr/>
                    <a:lstStyle/>
                    <a:p>
                      <a:pPr algn="ctr" fontAlgn="ctr"/>
                      <a:r>
                        <a:rPr lang="zh-CN" altLang="en-US" sz="400" u="none" strike="noStrike">
                          <a:effectLst/>
                        </a:rPr>
                        <a:t>实施招待费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990.00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29010.00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96.70%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40000.00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60000.00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60000.00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招待集团外部人员费用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742198489"/>
                  </a:ext>
                </a:extLst>
              </a:tr>
              <a:tr h="341897">
                <a:tc vMerge="1">
                  <a:txBody>
                    <a:bodyPr/>
                    <a:lstStyle/>
                    <a:p>
                      <a:endParaRPr lang="zh-CN" altLang="en-US"/>
                    </a:p>
                  </a:txBody>
                  <a:tcPr/>
                </a:tc>
                <a:tc>
                  <a:txBody>
                    <a:bodyPr/>
                    <a:lstStyle/>
                    <a:p>
                      <a:pPr algn="ctr" fontAlgn="ctr"/>
                      <a:r>
                        <a:rPr lang="zh-CN" altLang="en-US" sz="400" u="none" strike="noStrike">
                          <a:effectLst/>
                        </a:rPr>
                        <a:t>网络及服务器维护费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179500.00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20500.00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10.25%</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400000.00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网络及服务器等外部云平台充值</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79049217"/>
                  </a:ext>
                </a:extLst>
              </a:tr>
              <a:tr h="335866">
                <a:tc vMerge="1">
                  <a:txBody>
                    <a:bodyPr/>
                    <a:lstStyle/>
                    <a:p>
                      <a:endParaRPr lang="zh-CN" altLang="en-US"/>
                    </a:p>
                  </a:txBody>
                  <a:tcPr/>
                </a:tc>
                <a:tc>
                  <a:txBody>
                    <a:bodyPr/>
                    <a:lstStyle/>
                    <a:p>
                      <a:pPr algn="ctr" fontAlgn="ctr"/>
                      <a:r>
                        <a:rPr lang="zh-CN" altLang="en-US" sz="400" u="none" strike="noStrike">
                          <a:effectLst/>
                        </a:rPr>
                        <a:t>技术外包服务费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外包给外部机构的技术劳务</a:t>
                      </a:r>
                      <a:r>
                        <a:rPr lang="en-US" altLang="zh-CN" sz="300" u="none" strike="noStrike">
                          <a:effectLst/>
                        </a:rPr>
                        <a:t>/</a:t>
                      </a:r>
                      <a:r>
                        <a:rPr lang="zh-CN" altLang="en-US" sz="300" u="none" strike="noStrike">
                          <a:effectLst/>
                        </a:rPr>
                        <a:t>服务费</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274798638"/>
                  </a:ext>
                </a:extLst>
              </a:tr>
              <a:tr h="335866">
                <a:tc vMerge="1">
                  <a:txBody>
                    <a:bodyPr/>
                    <a:lstStyle/>
                    <a:p>
                      <a:endParaRPr lang="zh-CN" altLang="en-US"/>
                    </a:p>
                  </a:txBody>
                  <a:tcPr/>
                </a:tc>
                <a:tc>
                  <a:txBody>
                    <a:bodyPr/>
                    <a:lstStyle/>
                    <a:p>
                      <a:pPr algn="ctr" fontAlgn="ctr"/>
                      <a:r>
                        <a:rPr lang="zh-CN" altLang="en-US" sz="400" u="none" strike="noStrike">
                          <a:effectLst/>
                        </a:rPr>
                        <a:t>专家</a:t>
                      </a:r>
                      <a:r>
                        <a:rPr lang="en-US" altLang="zh-CN" sz="400" u="none" strike="noStrike">
                          <a:effectLst/>
                        </a:rPr>
                        <a:t>/</a:t>
                      </a:r>
                      <a:r>
                        <a:rPr lang="zh-CN" altLang="en-US" sz="400" u="none" strike="noStrike">
                          <a:effectLst/>
                        </a:rPr>
                        <a:t>顾问费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外部专家</a:t>
                      </a:r>
                      <a:r>
                        <a:rPr lang="en-US" altLang="zh-CN" sz="300" u="none" strike="noStrike">
                          <a:effectLst/>
                        </a:rPr>
                        <a:t>/</a:t>
                      </a:r>
                      <a:r>
                        <a:rPr lang="zh-CN" altLang="en-US" sz="300" u="none" strike="noStrike">
                          <a:effectLst/>
                        </a:rPr>
                        <a:t>顾问咨询费</a:t>
                      </a:r>
                      <a:r>
                        <a:rPr lang="en-US" altLang="zh-CN" sz="300" u="none" strike="noStrike">
                          <a:effectLst/>
                        </a:rPr>
                        <a:t>/</a:t>
                      </a:r>
                      <a:r>
                        <a:rPr lang="zh-CN" altLang="en-US" sz="300" u="none" strike="noStrike">
                          <a:effectLst/>
                        </a:rPr>
                        <a:t>出场费</a:t>
                      </a:r>
                      <a:r>
                        <a:rPr lang="en-US" altLang="zh-CN" sz="300" u="none" strike="noStrike">
                          <a:effectLst/>
                        </a:rPr>
                        <a:t>/</a:t>
                      </a:r>
                      <a:r>
                        <a:rPr lang="zh-CN" altLang="en-US" sz="300" u="none" strike="noStrike">
                          <a:effectLst/>
                        </a:rPr>
                        <a:t>指导费等</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3069933330"/>
                  </a:ext>
                </a:extLst>
              </a:tr>
              <a:tr h="335866">
                <a:tc vMerge="1">
                  <a:txBody>
                    <a:bodyPr/>
                    <a:lstStyle/>
                    <a:p>
                      <a:endParaRPr lang="zh-CN" altLang="en-US"/>
                    </a:p>
                  </a:txBody>
                  <a:tcPr/>
                </a:tc>
                <a:tc>
                  <a:txBody>
                    <a:bodyPr/>
                    <a:lstStyle/>
                    <a:p>
                      <a:pPr algn="ctr" fontAlgn="ctr"/>
                      <a:r>
                        <a:rPr lang="zh-CN" altLang="en-US" sz="400" u="none" strike="noStrike">
                          <a:effectLst/>
                        </a:rPr>
                        <a:t>专利申请费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30500.00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269500.00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89.83%</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400000.00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三方代办专利费</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527769122"/>
                  </a:ext>
                </a:extLst>
              </a:tr>
              <a:tr h="335866">
                <a:tc vMerge="1">
                  <a:txBody>
                    <a:bodyPr/>
                    <a:lstStyle/>
                    <a:p>
                      <a:endParaRPr lang="zh-CN" altLang="en-US"/>
                    </a:p>
                  </a:txBody>
                  <a:tcPr/>
                </a:tc>
                <a:tc>
                  <a:txBody>
                    <a:bodyPr/>
                    <a:lstStyle/>
                    <a:p>
                      <a:pPr algn="ctr" fontAlgn="ctr"/>
                      <a:r>
                        <a:rPr lang="zh-CN" altLang="en-US" sz="400" u="none" strike="noStrike">
                          <a:effectLst/>
                        </a:rPr>
                        <a:t>办公费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1296.75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18703.25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93.52%</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邮寄</a:t>
                      </a:r>
                      <a:r>
                        <a:rPr lang="en-US" altLang="zh-CN" sz="300" u="none" strike="noStrike">
                          <a:effectLst/>
                        </a:rPr>
                        <a:t>/</a:t>
                      </a:r>
                      <a:r>
                        <a:rPr lang="zh-CN" altLang="en-US" sz="300" u="none" strike="noStrike">
                          <a:effectLst/>
                        </a:rPr>
                        <a:t>运费</a:t>
                      </a:r>
                      <a:r>
                        <a:rPr lang="en-US" altLang="zh-CN" sz="300" u="none" strike="noStrike">
                          <a:effectLst/>
                        </a:rPr>
                        <a:t>/</a:t>
                      </a:r>
                      <a:r>
                        <a:rPr lang="zh-CN" altLang="en-US" sz="300" u="none" strike="noStrike">
                          <a:effectLst/>
                        </a:rPr>
                        <a:t>办公用品</a:t>
                      </a:r>
                      <a:r>
                        <a:rPr lang="en-US" altLang="zh-CN" sz="300" u="none" strike="noStrike">
                          <a:effectLst/>
                        </a:rPr>
                        <a:t>/</a:t>
                      </a:r>
                      <a:r>
                        <a:rPr lang="zh-CN" altLang="en-US" sz="300" u="none" strike="noStrike">
                          <a:effectLst/>
                        </a:rPr>
                        <a:t>小额采购等</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887067890"/>
                  </a:ext>
                </a:extLst>
              </a:tr>
              <a:tr h="335866">
                <a:tc vMerge="1">
                  <a:txBody>
                    <a:bodyPr/>
                    <a:lstStyle/>
                    <a:p>
                      <a:endParaRPr lang="zh-CN" altLang="en-US"/>
                    </a:p>
                  </a:txBody>
                  <a:tcPr/>
                </a:tc>
                <a:tc>
                  <a:txBody>
                    <a:bodyPr/>
                    <a:lstStyle/>
                    <a:p>
                      <a:pPr algn="ctr" fontAlgn="ctr"/>
                      <a:r>
                        <a:rPr lang="zh-CN" altLang="en-US" sz="400" u="none" strike="noStrike">
                          <a:effectLst/>
                        </a:rPr>
                        <a:t>职工培训费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100.00%</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组织员工内部学习培训相关费用</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4250371431"/>
                  </a:ext>
                </a:extLst>
              </a:tr>
              <a:tr h="335866">
                <a:tc vMerge="1">
                  <a:txBody>
                    <a:bodyPr/>
                    <a:lstStyle/>
                    <a:p>
                      <a:endParaRPr lang="zh-CN" altLang="en-US"/>
                    </a:p>
                  </a:txBody>
                  <a:tcPr/>
                </a:tc>
                <a:tc>
                  <a:txBody>
                    <a:bodyPr/>
                    <a:lstStyle/>
                    <a:p>
                      <a:pPr algn="ctr" fontAlgn="ctr"/>
                      <a:r>
                        <a:rPr lang="zh-CN" altLang="en-US" sz="400" u="none" strike="noStrike">
                          <a:effectLst/>
                        </a:rPr>
                        <a:t>部门福利费</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37576.00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12424.00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24.85%</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50000.00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zh-CN" altLang="en-US" sz="400" u="none" strike="noStrike">
                          <a:effectLst/>
                        </a:rPr>
                        <a:t>　</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a:effectLst/>
                        </a:rPr>
                        <a:t>部门层面团建</a:t>
                      </a:r>
                      <a:r>
                        <a:rPr lang="en-US" altLang="zh-CN" sz="300" u="none" strike="noStrike">
                          <a:effectLst/>
                        </a:rPr>
                        <a:t>/</a:t>
                      </a:r>
                      <a:r>
                        <a:rPr lang="zh-CN" altLang="en-US" sz="300" u="none" strike="noStrike">
                          <a:effectLst/>
                        </a:rPr>
                        <a:t>聚餐</a:t>
                      </a:r>
                      <a:r>
                        <a:rPr lang="en-US" altLang="zh-CN" sz="300" u="none" strike="noStrike">
                          <a:effectLst/>
                        </a:rPr>
                        <a:t>/</a:t>
                      </a:r>
                      <a:r>
                        <a:rPr lang="zh-CN" altLang="en-US" sz="300" u="none" strike="noStrike">
                          <a:effectLst/>
                        </a:rPr>
                        <a:t>食品采购</a:t>
                      </a:r>
                      <a:r>
                        <a:rPr lang="en-US" altLang="zh-CN" sz="300" u="none" strike="noStrike">
                          <a:effectLst/>
                        </a:rPr>
                        <a:t>/</a:t>
                      </a:r>
                      <a:r>
                        <a:rPr lang="zh-CN" altLang="en-US" sz="300" u="none" strike="noStrike">
                          <a:effectLst/>
                        </a:rPr>
                        <a:t>春节福利</a:t>
                      </a:r>
                      <a:r>
                        <a:rPr lang="en-US" altLang="zh-CN" sz="300" u="none" strike="noStrike">
                          <a:effectLst/>
                        </a:rPr>
                        <a:t>.</a:t>
                      </a:r>
                      <a:r>
                        <a:rPr lang="zh-CN" altLang="en-US" sz="300" u="none" strike="noStrike">
                          <a:effectLst/>
                        </a:rPr>
                        <a:t>年会福利等</a:t>
                      </a:r>
                      <a:endParaRPr lang="zh-CN" altLang="en-US" sz="300" b="0"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96288736"/>
                  </a:ext>
                </a:extLst>
              </a:tr>
              <a:tr h="335866">
                <a:tc vMerge="1">
                  <a:txBody>
                    <a:bodyPr/>
                    <a:lstStyle/>
                    <a:p>
                      <a:endParaRPr lang="zh-CN" altLang="en-US"/>
                    </a:p>
                  </a:txBody>
                  <a:tcPr/>
                </a:tc>
                <a:tc>
                  <a:txBody>
                    <a:bodyPr/>
                    <a:lstStyle/>
                    <a:p>
                      <a:pPr algn="ctr" fontAlgn="ctr"/>
                      <a:r>
                        <a:rPr lang="zh-CN" altLang="en-US" sz="400" u="none" strike="noStrike">
                          <a:effectLst/>
                        </a:rPr>
                        <a:t>小计</a:t>
                      </a:r>
                      <a:endParaRPr lang="zh-CN" altLang="en-US"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2830000.00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1729663.56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1100336.44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dirty="0">
                          <a:effectLst/>
                        </a:rPr>
                        <a:t>38.88%</a:t>
                      </a:r>
                      <a:endParaRPr lang="en-US" altLang="zh-CN" sz="400" b="1" i="0" u="none" strike="noStrike" dirty="0">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3390000.00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3810000.00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3910000.00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dirty="0">
                          <a:effectLst/>
                        </a:rPr>
                        <a:t>0.00 </a:t>
                      </a:r>
                      <a:endParaRPr lang="en-US" altLang="zh-CN" sz="400" b="1" i="0" u="none" strike="noStrike" dirty="0">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ctr" fontAlgn="ctr"/>
                      <a:r>
                        <a:rPr lang="en-US" altLang="zh-CN" sz="400" u="none" strike="noStrike">
                          <a:effectLst/>
                        </a:rPr>
                        <a:t>0.00 </a:t>
                      </a:r>
                      <a:endParaRPr lang="en-US" altLang="zh-CN" sz="400" b="1" i="0" u="none" strike="noStrike">
                        <a:solidFill>
                          <a:srgbClr val="000000"/>
                        </a:solidFill>
                        <a:effectLst/>
                        <a:latin typeface="宋体" panose="02010600030101010101" pitchFamily="2" charset="-122"/>
                        <a:ea typeface="宋体" panose="02010600030101010101" pitchFamily="2" charset="-122"/>
                      </a:endParaRPr>
                    </a:p>
                  </a:txBody>
                  <a:tcPr marL="2920" marR="2920" marT="2920" marB="0" anchor="ctr"/>
                </a:tc>
                <a:tc>
                  <a:txBody>
                    <a:bodyPr/>
                    <a:lstStyle/>
                    <a:p>
                      <a:pPr algn="l" fontAlgn="ctr"/>
                      <a:r>
                        <a:rPr lang="zh-CN" altLang="en-US" sz="300" u="none" strike="noStrike" dirty="0">
                          <a:effectLst/>
                        </a:rPr>
                        <a:t>　</a:t>
                      </a:r>
                      <a:endParaRPr lang="zh-CN" altLang="en-US" sz="300" b="0" i="0" u="none" strike="noStrike" dirty="0">
                        <a:solidFill>
                          <a:srgbClr val="000000"/>
                        </a:solidFill>
                        <a:effectLst/>
                        <a:latin typeface="宋体" panose="02010600030101010101" pitchFamily="2" charset="-122"/>
                        <a:ea typeface="宋体" panose="02010600030101010101" pitchFamily="2" charset="-122"/>
                      </a:endParaRPr>
                    </a:p>
                  </a:txBody>
                  <a:tcPr marL="2920" marR="2920" marT="2920" marB="0" anchor="ctr"/>
                </a:tc>
                <a:extLst>
                  <a:ext uri="{0D108BD9-81ED-4DB2-BD59-A6C34878D82A}">
                    <a16:rowId xmlns:a16="http://schemas.microsoft.com/office/drawing/2014/main" val="1953667859"/>
                  </a:ext>
                </a:extLst>
              </a:tr>
            </a:tbl>
          </a:graphicData>
        </a:graphic>
      </p:graphicFrame>
    </p:spTree>
    <p:extLst>
      <p:ext uri="{BB962C8B-B14F-4D97-AF65-F5344CB8AC3E}">
        <p14:creationId xmlns:p14="http://schemas.microsoft.com/office/powerpoint/2010/main" val="2106366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AED8B44-8B2F-4D93-82EC-1ACF203559C3}"/>
              </a:ext>
            </a:extLst>
          </p:cNvPr>
          <p:cNvSpPr txBox="1"/>
          <p:nvPr/>
        </p:nvSpPr>
        <p:spPr>
          <a:xfrm>
            <a:off x="0" y="0"/>
            <a:ext cx="9120336" cy="461665"/>
          </a:xfrm>
          <a:prstGeom prst="rect">
            <a:avLst/>
          </a:prstGeom>
          <a:solidFill>
            <a:srgbClr val="FFFF00"/>
          </a:solidFill>
        </p:spPr>
        <p:txBody>
          <a:bodyPr wrap="square" rtlCol="0">
            <a:spAutoFit/>
          </a:bodyPr>
          <a:lstStyle/>
          <a:p>
            <a:r>
              <a:rPr lang="zh-CN" altLang="en-US" sz="2400" b="1" dirty="0">
                <a:solidFill>
                  <a:srgbClr val="FF0000"/>
                </a:solidFill>
              </a:rPr>
              <a:t>资金计划表</a:t>
            </a:r>
            <a:r>
              <a:rPr lang="en-US" altLang="zh-CN" sz="2400" b="1" dirty="0">
                <a:solidFill>
                  <a:srgbClr val="FF0000"/>
                </a:solidFill>
              </a:rPr>
              <a:t>6-5 </a:t>
            </a:r>
            <a:r>
              <a:rPr lang="zh-CN" altLang="en-US" sz="2400" b="1" dirty="0">
                <a:solidFill>
                  <a:srgbClr val="FF0000"/>
                </a:solidFill>
              </a:rPr>
              <a:t>：月度</a:t>
            </a:r>
            <a:r>
              <a:rPr lang="en-US" altLang="zh-CN" sz="2400" b="1" dirty="0">
                <a:solidFill>
                  <a:srgbClr val="FF0000"/>
                </a:solidFill>
              </a:rPr>
              <a:t>/</a:t>
            </a:r>
            <a:r>
              <a:rPr lang="zh-CN" altLang="en-US" sz="2400" b="1" dirty="0">
                <a:solidFill>
                  <a:srgbClr val="FF0000"/>
                </a:solidFill>
              </a:rPr>
              <a:t>季度预测资金使用计划，提前筹措资金</a:t>
            </a:r>
          </a:p>
        </p:txBody>
      </p:sp>
      <p:graphicFrame>
        <p:nvGraphicFramePr>
          <p:cNvPr id="4" name="表格 3">
            <a:extLst>
              <a:ext uri="{FF2B5EF4-FFF2-40B4-BE49-F238E27FC236}">
                <a16:creationId xmlns:a16="http://schemas.microsoft.com/office/drawing/2014/main" id="{8B894501-9F5D-44D7-8A4D-686F62A26CDA}"/>
              </a:ext>
            </a:extLst>
          </p:cNvPr>
          <p:cNvGraphicFramePr>
            <a:graphicFrameLocks noGrp="1"/>
          </p:cNvGraphicFramePr>
          <p:nvPr>
            <p:extLst>
              <p:ext uri="{D42A27DB-BD31-4B8C-83A1-F6EECF244321}">
                <p14:modId xmlns:p14="http://schemas.microsoft.com/office/powerpoint/2010/main" val="1689992146"/>
              </p:ext>
            </p:extLst>
          </p:nvPr>
        </p:nvGraphicFramePr>
        <p:xfrm>
          <a:off x="911424" y="548680"/>
          <a:ext cx="10873207" cy="6189855"/>
        </p:xfrm>
        <a:graphic>
          <a:graphicData uri="http://schemas.openxmlformats.org/drawingml/2006/table">
            <a:tbl>
              <a:tblPr>
                <a:tableStyleId>{5C22544A-7EE6-4342-B048-85BDC9FD1C3A}</a:tableStyleId>
              </a:tblPr>
              <a:tblGrid>
                <a:gridCol w="1216517">
                  <a:extLst>
                    <a:ext uri="{9D8B030D-6E8A-4147-A177-3AD203B41FA5}">
                      <a16:colId xmlns:a16="http://schemas.microsoft.com/office/drawing/2014/main" val="2799579687"/>
                    </a:ext>
                  </a:extLst>
                </a:gridCol>
                <a:gridCol w="1216517">
                  <a:extLst>
                    <a:ext uri="{9D8B030D-6E8A-4147-A177-3AD203B41FA5}">
                      <a16:colId xmlns:a16="http://schemas.microsoft.com/office/drawing/2014/main" val="1337032217"/>
                    </a:ext>
                  </a:extLst>
                </a:gridCol>
                <a:gridCol w="1216517">
                  <a:extLst>
                    <a:ext uri="{9D8B030D-6E8A-4147-A177-3AD203B41FA5}">
                      <a16:colId xmlns:a16="http://schemas.microsoft.com/office/drawing/2014/main" val="3138483085"/>
                    </a:ext>
                  </a:extLst>
                </a:gridCol>
                <a:gridCol w="2602779">
                  <a:extLst>
                    <a:ext uri="{9D8B030D-6E8A-4147-A177-3AD203B41FA5}">
                      <a16:colId xmlns:a16="http://schemas.microsoft.com/office/drawing/2014/main" val="213591751"/>
                    </a:ext>
                  </a:extLst>
                </a:gridCol>
                <a:gridCol w="2602779">
                  <a:extLst>
                    <a:ext uri="{9D8B030D-6E8A-4147-A177-3AD203B41FA5}">
                      <a16:colId xmlns:a16="http://schemas.microsoft.com/office/drawing/2014/main" val="3101909830"/>
                    </a:ext>
                  </a:extLst>
                </a:gridCol>
                <a:gridCol w="1009049">
                  <a:extLst>
                    <a:ext uri="{9D8B030D-6E8A-4147-A177-3AD203B41FA5}">
                      <a16:colId xmlns:a16="http://schemas.microsoft.com/office/drawing/2014/main" val="1802441430"/>
                    </a:ext>
                  </a:extLst>
                </a:gridCol>
                <a:gridCol w="1009049">
                  <a:extLst>
                    <a:ext uri="{9D8B030D-6E8A-4147-A177-3AD203B41FA5}">
                      <a16:colId xmlns:a16="http://schemas.microsoft.com/office/drawing/2014/main" val="2567979263"/>
                    </a:ext>
                  </a:extLst>
                </a:gridCol>
              </a:tblGrid>
              <a:tr h="257379">
                <a:tc gridSpan="7">
                  <a:txBody>
                    <a:bodyPr/>
                    <a:lstStyle/>
                    <a:p>
                      <a:pPr algn="ctr" fontAlgn="ctr"/>
                      <a:r>
                        <a:rPr lang="zh-CN" altLang="en-US" sz="1100" u="none" strike="noStrike">
                          <a:effectLst/>
                        </a:rPr>
                        <a:t>昕彤（长沙）</a:t>
                      </a:r>
                      <a:r>
                        <a:rPr lang="en-US" altLang="zh-CN" sz="1100" u="none" strike="noStrike">
                          <a:effectLst/>
                        </a:rPr>
                        <a:t>2026</a:t>
                      </a:r>
                      <a:r>
                        <a:rPr lang="zh-CN" altLang="en-US" sz="1100" u="none" strike="noStrike">
                          <a:effectLst/>
                        </a:rPr>
                        <a:t>年</a:t>
                      </a:r>
                      <a:r>
                        <a:rPr lang="en-US" altLang="zh-CN" sz="1100" u="none" strike="noStrike">
                          <a:effectLst/>
                        </a:rPr>
                        <a:t>-</a:t>
                      </a:r>
                      <a:r>
                        <a:rPr lang="zh-CN" altLang="en-US" sz="1100" u="none" strike="noStrike">
                          <a:effectLst/>
                        </a:rPr>
                        <a:t>资金计划表（</a:t>
                      </a:r>
                      <a:r>
                        <a:rPr lang="en-US" altLang="zh-CN" sz="1100" u="none" strike="noStrike">
                          <a:effectLst/>
                        </a:rPr>
                        <a:t>2026.3.20——2026.4.16</a:t>
                      </a:r>
                      <a:r>
                        <a:rPr lang="zh-CN" altLang="en-US" sz="1100" u="none" strike="noStrike">
                          <a:effectLst/>
                        </a:rPr>
                        <a:t>）</a:t>
                      </a:r>
                      <a:endParaRPr lang="zh-CN" altLang="en-US" sz="11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30063461"/>
                  </a:ext>
                </a:extLst>
              </a:tr>
              <a:tr h="216433">
                <a:tc gridSpan="4">
                  <a:txBody>
                    <a:bodyPr/>
                    <a:lstStyle/>
                    <a:p>
                      <a:pPr algn="l" fontAlgn="ctr"/>
                      <a:r>
                        <a:rPr lang="zh-CN" altLang="en-US" sz="900" u="none" strike="noStrike" dirty="0">
                          <a:effectLst/>
                        </a:rPr>
                        <a:t>单位名称：</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6256" marR="6256" marT="6256"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ctr"/>
                      <a:r>
                        <a:rPr lang="zh-CN" altLang="en-US" sz="900" u="none" strike="noStrike">
                          <a:effectLst/>
                        </a:rPr>
                        <a:t>制表人：</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900" u="none" strike="noStrike">
                          <a:effectLst/>
                        </a:rPr>
                        <a:t>统计时间：</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1100" u="none" strike="noStrike">
                          <a:effectLst/>
                        </a:rPr>
                        <a:t>　</a:t>
                      </a:r>
                      <a:endParaRPr lang="zh-CN" altLang="en-US" sz="11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371330510"/>
                  </a:ext>
                </a:extLst>
              </a:tr>
              <a:tr h="233865">
                <a:tc gridSpan="2">
                  <a:txBody>
                    <a:bodyPr/>
                    <a:lstStyle/>
                    <a:p>
                      <a:pPr algn="ctr" fontAlgn="ctr"/>
                      <a:r>
                        <a:rPr lang="zh-CN" altLang="en-US" sz="800" u="none" strike="noStrike">
                          <a:effectLst/>
                        </a:rPr>
                        <a:t>部门</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hMerge="1">
                  <a:txBody>
                    <a:bodyPr/>
                    <a:lstStyle/>
                    <a:p>
                      <a:endParaRPr lang="zh-CN" altLang="en-US"/>
                    </a:p>
                  </a:txBody>
                  <a:tcPr/>
                </a:tc>
                <a:tc>
                  <a:txBody>
                    <a:bodyPr/>
                    <a:lstStyle/>
                    <a:p>
                      <a:pPr algn="ctr" fontAlgn="ctr"/>
                      <a:r>
                        <a:rPr lang="zh-CN" altLang="en-US" sz="800" u="none" strike="noStrike">
                          <a:effectLst/>
                        </a:rPr>
                        <a:t>资金项目</a:t>
                      </a:r>
                      <a:r>
                        <a:rPr lang="en-US" altLang="zh-CN" sz="800" u="none" strike="noStrike">
                          <a:effectLst/>
                        </a:rPr>
                        <a:t>/</a:t>
                      </a:r>
                      <a:r>
                        <a:rPr lang="zh-CN" altLang="en-US" sz="800" u="none" strike="noStrike">
                          <a:effectLst/>
                        </a:rPr>
                        <a:t>名目</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预计使用金额</a:t>
                      </a:r>
                      <a:r>
                        <a:rPr lang="en-US" altLang="zh-CN" sz="800" u="none" strike="noStrike">
                          <a:effectLst/>
                        </a:rPr>
                        <a:t>/</a:t>
                      </a:r>
                      <a:r>
                        <a:rPr lang="zh-CN" altLang="en-US" sz="800" u="none" strike="noStrike">
                          <a:effectLst/>
                        </a:rPr>
                        <a:t>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备注</a:t>
                      </a:r>
                      <a:r>
                        <a:rPr lang="zh-CN" altLang="en-US" sz="700" u="none" strike="noStrike">
                          <a:effectLst/>
                        </a:rPr>
                        <a:t>（资金名目，根据需要自行添加或修改</a:t>
                      </a:r>
                      <a:r>
                        <a:rPr lang="zh-CN" altLang="en-US" sz="800" u="none" strike="noStrike">
                          <a:effectLst/>
                        </a:rPr>
                        <a:t>）</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3.20-3.31</a:t>
                      </a:r>
                      <a:r>
                        <a:rPr lang="zh-CN" altLang="en-US" sz="800" u="none" strike="noStrike">
                          <a:effectLst/>
                        </a:rPr>
                        <a:t>支付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4.1-4.16</a:t>
                      </a:r>
                      <a:r>
                        <a:rPr lang="zh-CN" altLang="en-US" sz="800" u="none" strike="noStrike">
                          <a:effectLst/>
                        </a:rPr>
                        <a:t>支付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231040124"/>
                  </a:ext>
                </a:extLst>
              </a:tr>
              <a:tr h="222282">
                <a:tc rowSpan="2" gridSpan="2">
                  <a:txBody>
                    <a:bodyPr/>
                    <a:lstStyle/>
                    <a:p>
                      <a:pPr algn="ctr" fontAlgn="ctr"/>
                      <a:r>
                        <a:rPr lang="zh-CN" altLang="en-US" sz="800" u="none" strike="noStrike">
                          <a:effectLst/>
                        </a:rPr>
                        <a:t>总经办</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rowSpan="2" hMerge="1">
                  <a:txBody>
                    <a:bodyPr/>
                    <a:lstStyle/>
                    <a:p>
                      <a:endParaRPr lang="zh-CN" altLang="en-US"/>
                    </a:p>
                  </a:txBody>
                  <a:tcPr/>
                </a:tc>
                <a:tc>
                  <a:txBody>
                    <a:bodyPr/>
                    <a:lstStyle/>
                    <a:p>
                      <a:pPr algn="ctr" fontAlgn="ctr"/>
                      <a:r>
                        <a:rPr lang="zh-CN" altLang="en-US" sz="800" u="none" strike="noStrike">
                          <a:effectLst/>
                        </a:rPr>
                        <a:t>日常报销</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¥40,000.00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谢爽代钱总报销的其他费用（大额招待礼品）</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988644761"/>
                  </a:ext>
                </a:extLst>
              </a:tr>
              <a:tr h="211753">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700" u="none" strike="noStrike">
                          <a:effectLst/>
                        </a:rPr>
                        <a:t>差旅及招待报销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¥13,000.00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谢爽和各领导差旅车票</a:t>
                      </a:r>
                      <a:r>
                        <a:rPr lang="en-US" altLang="zh-CN" sz="700" u="none" strike="noStrike">
                          <a:effectLst/>
                        </a:rPr>
                        <a:t>/</a:t>
                      </a:r>
                      <a:r>
                        <a:rPr lang="zh-CN" altLang="en-US" sz="700" u="none" strike="noStrike">
                          <a:effectLst/>
                        </a:rPr>
                        <a:t>酒店招待</a:t>
                      </a:r>
                      <a:r>
                        <a:rPr lang="en-US" altLang="zh-CN" sz="700" u="none" strike="noStrike">
                          <a:effectLst/>
                        </a:rPr>
                        <a:t>/</a:t>
                      </a:r>
                      <a:r>
                        <a:rPr lang="zh-CN" altLang="en-US" sz="700" u="none" strike="noStrike">
                          <a:effectLst/>
                        </a:rPr>
                        <a:t>环博会差旅</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060143458"/>
                  </a:ext>
                </a:extLst>
              </a:tr>
              <a:tr h="263229">
                <a:tc rowSpan="9">
                  <a:txBody>
                    <a:bodyPr/>
                    <a:lstStyle/>
                    <a:p>
                      <a:pPr algn="ctr" fontAlgn="ctr"/>
                      <a:r>
                        <a:rPr lang="zh-CN" altLang="en-US" sz="800" u="none" strike="noStrike">
                          <a:effectLst/>
                        </a:rPr>
                        <a:t>综合管理中心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rowSpan="8">
                  <a:txBody>
                    <a:bodyPr/>
                    <a:lstStyle/>
                    <a:p>
                      <a:pPr algn="ctr" fontAlgn="ctr"/>
                      <a:r>
                        <a:rPr lang="zh-CN" altLang="en-US" sz="800" u="none" strike="noStrike">
                          <a:effectLst/>
                        </a:rPr>
                        <a:t>人事行政部</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700" u="none" strike="noStrike">
                          <a:effectLst/>
                        </a:rPr>
                        <a:t>工资（</a:t>
                      </a:r>
                      <a:r>
                        <a:rPr lang="en-US" altLang="zh-CN" sz="700" u="none" strike="noStrike">
                          <a:effectLst/>
                        </a:rPr>
                        <a:t>3</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¥600,000.00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2026.4.15</a:t>
                      </a:r>
                      <a:r>
                        <a:rPr lang="zh-CN" altLang="en-US" sz="700" u="none" strike="noStrike">
                          <a:effectLst/>
                        </a:rPr>
                        <a:t>前付</a:t>
                      </a:r>
                      <a:r>
                        <a:rPr lang="en-US" altLang="zh-CN" sz="700" u="none" strike="noStrike">
                          <a:effectLst/>
                        </a:rPr>
                        <a:t>3</a:t>
                      </a:r>
                      <a:r>
                        <a:rPr lang="zh-CN" altLang="en-US" sz="700" u="none" strike="noStrike">
                          <a:effectLst/>
                        </a:rPr>
                        <a:t>月工资：</a:t>
                      </a:r>
                      <a:r>
                        <a:rPr lang="en-US" altLang="zh-CN" sz="700" u="none" strike="noStrike">
                          <a:effectLst/>
                        </a:rPr>
                        <a:t>3</a:t>
                      </a:r>
                      <a:r>
                        <a:rPr lang="zh-CN" altLang="en-US" sz="700" u="none" strike="noStrike">
                          <a:effectLst/>
                        </a:rPr>
                        <a:t>月</a:t>
                      </a:r>
                      <a:r>
                        <a:rPr lang="en-US" altLang="zh-CN" sz="700" u="none" strike="noStrike">
                          <a:effectLst/>
                        </a:rPr>
                        <a:t>60</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¥600,000.00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562047520"/>
                  </a:ext>
                </a:extLst>
              </a:tr>
              <a:tr h="228132">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五险一金（</a:t>
                      </a:r>
                      <a:r>
                        <a:rPr lang="en-US" altLang="zh-CN" sz="700" u="none" strike="noStrike">
                          <a:effectLst/>
                        </a:rPr>
                        <a:t>3</a:t>
                      </a:r>
                      <a:r>
                        <a:rPr lang="zh-CN" altLang="en-US" sz="700" u="none" strike="noStrike">
                          <a:effectLst/>
                        </a:rPr>
                        <a:t>月</a:t>
                      </a:r>
                      <a:r>
                        <a:rPr lang="en-US" altLang="zh-CN" sz="700" u="none" strike="noStrike">
                          <a:effectLst/>
                        </a:rPr>
                        <a:t>+4</a:t>
                      </a:r>
                      <a:r>
                        <a:rPr lang="zh-CN" altLang="en-US" sz="700" u="none" strike="noStrike">
                          <a:effectLst/>
                        </a:rPr>
                        <a:t>月）及个税</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¥261,781.90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2026.3.30</a:t>
                      </a:r>
                      <a:r>
                        <a:rPr lang="zh-CN" altLang="en-US" sz="700" u="none" strike="noStrike">
                          <a:effectLst/>
                        </a:rPr>
                        <a:t>前付</a:t>
                      </a:r>
                      <a:r>
                        <a:rPr lang="en-US" altLang="zh-CN" sz="700" u="none" strike="noStrike">
                          <a:effectLst/>
                        </a:rPr>
                        <a:t>3</a:t>
                      </a:r>
                      <a:r>
                        <a:rPr lang="zh-CN" altLang="en-US" sz="700" u="none" strike="noStrike">
                          <a:effectLst/>
                        </a:rPr>
                        <a:t>月五险一金及</a:t>
                      </a:r>
                      <a:r>
                        <a:rPr lang="en-US" altLang="zh-CN" sz="700" u="none" strike="noStrike">
                          <a:effectLst/>
                        </a:rPr>
                        <a:t>2</a:t>
                      </a:r>
                      <a:r>
                        <a:rPr lang="zh-CN" altLang="en-US" sz="700" u="none" strike="noStrike">
                          <a:effectLst/>
                        </a:rPr>
                        <a:t>月个税，    </a:t>
                      </a:r>
                      <a:r>
                        <a:rPr lang="en-US" altLang="zh-CN" sz="700" u="none" strike="noStrike">
                          <a:effectLst/>
                        </a:rPr>
                        <a:t>2026.4.30</a:t>
                      </a:r>
                      <a:r>
                        <a:rPr lang="zh-CN" altLang="en-US" sz="700" u="none" strike="noStrike">
                          <a:effectLst/>
                        </a:rPr>
                        <a:t>前付</a:t>
                      </a:r>
                      <a:r>
                        <a:rPr lang="en-US" altLang="zh-CN" sz="700" u="none" strike="noStrike">
                          <a:effectLst/>
                        </a:rPr>
                        <a:t>4</a:t>
                      </a:r>
                      <a:r>
                        <a:rPr lang="zh-CN" altLang="en-US" sz="700" u="none" strike="noStrike">
                          <a:effectLst/>
                        </a:rPr>
                        <a:t>月五险一金及</a:t>
                      </a:r>
                      <a:r>
                        <a:rPr lang="en-US" altLang="zh-CN" sz="700" u="none" strike="noStrike">
                          <a:effectLst/>
                        </a:rPr>
                        <a:t>3</a:t>
                      </a:r>
                      <a:r>
                        <a:rPr lang="zh-CN" altLang="en-US" sz="700" u="none" strike="noStrike">
                          <a:effectLst/>
                        </a:rPr>
                        <a:t>月个税</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¥130,781.90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¥131,000.00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871231866"/>
                  </a:ext>
                </a:extLst>
              </a:tr>
              <a:tr h="216433">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员工福利</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¥400.00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3</a:t>
                      </a:r>
                      <a:r>
                        <a:rPr lang="zh-CN" altLang="en-US" sz="700" u="none" strike="noStrike">
                          <a:effectLst/>
                        </a:rPr>
                        <a:t>月月份员工生日福利</a:t>
                      </a:r>
                      <a:r>
                        <a:rPr lang="en-US" altLang="zh-CN" sz="700" u="none" strike="noStrike">
                          <a:effectLst/>
                        </a:rPr>
                        <a:t>2</a:t>
                      </a:r>
                      <a:r>
                        <a:rPr lang="zh-CN" altLang="en-US" sz="700" u="none" strike="noStrike">
                          <a:effectLst/>
                        </a:rPr>
                        <a:t>人：</a:t>
                      </a:r>
                      <a:r>
                        <a:rPr lang="en-US" altLang="zh-CN" sz="700" u="none" strike="noStrike">
                          <a:effectLst/>
                        </a:rPr>
                        <a:t>200</a:t>
                      </a:r>
                      <a:r>
                        <a:rPr lang="zh-CN" altLang="en-US" sz="700" u="none" strike="noStrike">
                          <a:effectLst/>
                        </a:rPr>
                        <a:t>元</a:t>
                      </a:r>
                      <a:r>
                        <a:rPr lang="en-US" altLang="zh-CN" sz="700" u="none" strike="noStrike">
                          <a:effectLst/>
                        </a:rPr>
                        <a:t>/</a:t>
                      </a:r>
                      <a:r>
                        <a:rPr lang="zh-CN" altLang="en-US" sz="700" u="none" strike="noStrike">
                          <a:effectLst/>
                        </a:rPr>
                        <a:t>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¥400.00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2490598763"/>
                  </a:ext>
                </a:extLst>
              </a:tr>
              <a:tr h="204733">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日常办公及报销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酒店</a:t>
                      </a:r>
                      <a:r>
                        <a:rPr lang="en-US" altLang="zh-CN" sz="700" u="none" strike="noStrike">
                          <a:effectLst/>
                        </a:rPr>
                        <a:t>/</a:t>
                      </a:r>
                      <a:r>
                        <a:rPr lang="zh-CN" altLang="en-US" sz="700" u="none" strike="noStrike">
                          <a:effectLst/>
                        </a:rPr>
                        <a:t>办公室水电</a:t>
                      </a:r>
                      <a:r>
                        <a:rPr lang="en-US" altLang="zh-CN" sz="700" u="none" strike="noStrike">
                          <a:effectLst/>
                        </a:rPr>
                        <a:t>/</a:t>
                      </a:r>
                      <a:r>
                        <a:rPr lang="zh-CN" altLang="en-US" sz="700" u="none" strike="noStrike">
                          <a:effectLst/>
                        </a:rPr>
                        <a:t>办公用品</a:t>
                      </a:r>
                      <a:r>
                        <a:rPr lang="en-US" altLang="zh-CN" sz="700" u="none" strike="noStrike">
                          <a:effectLst/>
                        </a:rPr>
                        <a:t>/</a:t>
                      </a:r>
                      <a:r>
                        <a:rPr lang="zh-CN" altLang="en-US" sz="700" u="none" strike="noStrike">
                          <a:effectLst/>
                        </a:rPr>
                        <a:t>报销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2424481179"/>
                  </a:ext>
                </a:extLst>
              </a:tr>
              <a:tr h="204733">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差旅及招待报销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主要崔惠（崔总）差旅及招待费报销</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862860275"/>
                  </a:ext>
                </a:extLst>
              </a:tr>
              <a:tr h="239831">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车辆使用费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¥7,500.00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王杰民报销公车相关燃油费</a:t>
                      </a:r>
                      <a:r>
                        <a:rPr lang="en-US" altLang="zh-CN" sz="700" u="none" strike="noStrike">
                          <a:effectLst/>
                        </a:rPr>
                        <a:t>/</a:t>
                      </a:r>
                      <a:r>
                        <a:rPr lang="zh-CN" altLang="en-US" sz="700" u="none" strike="noStrike">
                          <a:effectLst/>
                        </a:rPr>
                        <a:t>停车费</a:t>
                      </a:r>
                      <a:r>
                        <a:rPr lang="en-US" altLang="zh-CN" sz="700" u="none" strike="noStrike">
                          <a:effectLst/>
                        </a:rPr>
                        <a:t>/</a:t>
                      </a:r>
                      <a:r>
                        <a:rPr lang="zh-CN" altLang="en-US" sz="700" u="none" strike="noStrike">
                          <a:effectLst/>
                        </a:rPr>
                        <a:t>维修保养费</a:t>
                      </a:r>
                      <a:r>
                        <a:rPr lang="en-US" altLang="zh-CN" sz="700" u="none" strike="noStrike">
                          <a:effectLst/>
                        </a:rPr>
                        <a:t>/</a:t>
                      </a:r>
                      <a:r>
                        <a:rPr lang="zh-CN" altLang="en-US" sz="700" u="none" strike="noStrike">
                          <a:effectLst/>
                        </a:rPr>
                        <a:t>路桥通行费等</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091283798"/>
                  </a:ext>
                </a:extLst>
              </a:tr>
              <a:tr h="204733">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顾问服务费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王兰预付第二季度</a:t>
                      </a:r>
                      <a:r>
                        <a:rPr lang="en-US" altLang="zh-CN" sz="700" u="none" strike="noStrike">
                          <a:effectLst/>
                        </a:rPr>
                        <a:t>3</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246994303"/>
                  </a:ext>
                </a:extLst>
              </a:tr>
              <a:tr h="239831">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房租及物业水电费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2025.5.21</a:t>
                      </a:r>
                      <a:r>
                        <a:rPr lang="zh-CN" altLang="en-US" sz="700" u="none" strike="noStrike">
                          <a:effectLst/>
                        </a:rPr>
                        <a:t>前不用预交房租及物业费，水电费充值</a:t>
                      </a:r>
                      <a:r>
                        <a:rPr lang="en-US" altLang="zh-CN" sz="700" u="none" strike="noStrike">
                          <a:effectLst/>
                        </a:rPr>
                        <a:t>5000/</a:t>
                      </a:r>
                      <a:r>
                        <a:rPr lang="zh-CN" altLang="en-US" sz="700" u="none" strike="noStrike">
                          <a:effectLst/>
                        </a:rPr>
                        <a:t>月</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441476620"/>
                  </a:ext>
                </a:extLst>
              </a:tr>
              <a:tr h="211753">
                <a:tc vMerge="1">
                  <a:txBody>
                    <a:bodyPr/>
                    <a:lstStyle/>
                    <a:p>
                      <a:endParaRPr lang="zh-CN" altLang="en-US"/>
                    </a:p>
                  </a:txBody>
                  <a:tcPr/>
                </a:tc>
                <a:tc>
                  <a:txBody>
                    <a:bodyPr/>
                    <a:lstStyle/>
                    <a:p>
                      <a:pPr algn="l" fontAlgn="ctr"/>
                      <a:r>
                        <a:rPr lang="zh-CN" altLang="en-US" sz="800" u="none" strike="noStrike">
                          <a:effectLst/>
                        </a:rPr>
                        <a:t>财务管理部</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700" u="none" strike="noStrike">
                          <a:effectLst/>
                        </a:rPr>
                        <a:t>2026</a:t>
                      </a:r>
                      <a:r>
                        <a:rPr lang="zh-CN" altLang="en-US" sz="700" u="none" strike="noStrike">
                          <a:effectLst/>
                        </a:rPr>
                        <a:t>第一季度税费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¥13,000.00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2026</a:t>
                      </a:r>
                      <a:r>
                        <a:rPr lang="zh-CN" altLang="en-US" sz="700" u="none" strike="noStrike">
                          <a:effectLst/>
                        </a:rPr>
                        <a:t>年第一季度开票</a:t>
                      </a:r>
                      <a:r>
                        <a:rPr lang="en-US" altLang="zh-CN" sz="700" u="none" strike="noStrike">
                          <a:effectLst/>
                        </a:rPr>
                        <a:t>42</a:t>
                      </a:r>
                      <a:r>
                        <a:rPr lang="zh-CN" altLang="en-US" sz="700" u="none" strike="noStrike">
                          <a:effectLst/>
                        </a:rPr>
                        <a:t>万：交增值税及附加税</a:t>
                      </a:r>
                      <a:r>
                        <a:rPr lang="en-US" altLang="zh-CN" sz="700" u="none" strike="noStrike">
                          <a:effectLst/>
                        </a:rPr>
                        <a:t>1.3</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¥13,000.00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620582537"/>
                  </a:ext>
                </a:extLst>
              </a:tr>
              <a:tr h="211753">
                <a:tc rowSpan="3" gridSpan="2">
                  <a:txBody>
                    <a:bodyPr/>
                    <a:lstStyle/>
                    <a:p>
                      <a:pPr algn="ctr" fontAlgn="ctr"/>
                      <a:r>
                        <a:rPr lang="zh-CN" altLang="en-US" sz="800" u="none" strike="noStrike">
                          <a:effectLst/>
                        </a:rPr>
                        <a:t>产品研发中心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rowSpan="3" hMerge="1">
                  <a:txBody>
                    <a:bodyPr/>
                    <a:lstStyle/>
                    <a:p>
                      <a:endParaRPr lang="zh-CN" altLang="en-US"/>
                    </a:p>
                  </a:txBody>
                  <a:tcPr/>
                </a:tc>
                <a:tc>
                  <a:txBody>
                    <a:bodyPr/>
                    <a:lstStyle/>
                    <a:p>
                      <a:pPr algn="ctr" fontAlgn="ctr"/>
                      <a:r>
                        <a:rPr lang="zh-CN" altLang="en-US" sz="700" u="none" strike="noStrike">
                          <a:effectLst/>
                        </a:rPr>
                        <a:t>服务器费用</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预充值华为云</a:t>
                      </a:r>
                      <a:r>
                        <a:rPr lang="en-US" altLang="zh-CN" sz="700" u="none" strike="noStrike">
                          <a:effectLst/>
                        </a:rPr>
                        <a:t>3</a:t>
                      </a:r>
                      <a:r>
                        <a:rPr lang="zh-CN" altLang="en-US" sz="700" u="none" strike="noStrike">
                          <a:effectLst/>
                        </a:rPr>
                        <a:t>个月云产品包月续费及按量付费</a:t>
                      </a:r>
                      <a:r>
                        <a:rPr lang="en-US" altLang="zh-CN" sz="700" u="none" strike="noStrike">
                          <a:effectLst/>
                        </a:rPr>
                        <a:t>11</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723628204"/>
                  </a:ext>
                </a:extLst>
              </a:tr>
              <a:tr h="204733">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700" u="none" strike="noStrike">
                          <a:effectLst/>
                        </a:rPr>
                        <a:t>合同付款</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¥150,000.00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三方代办</a:t>
                      </a:r>
                      <a:r>
                        <a:rPr lang="en-US" altLang="zh-CN" sz="700" u="none" strike="noStrike">
                          <a:effectLst/>
                        </a:rPr>
                        <a:t>5</a:t>
                      </a:r>
                      <a:r>
                        <a:rPr lang="zh-CN" altLang="en-US" sz="700" u="none" strike="noStrike">
                          <a:effectLst/>
                        </a:rPr>
                        <a:t>万、专利知识产权</a:t>
                      </a:r>
                      <a:r>
                        <a:rPr lang="en-US" altLang="zh-CN" sz="700" u="none" strike="noStrike">
                          <a:effectLst/>
                        </a:rPr>
                        <a:t>10</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25055580"/>
                  </a:ext>
                </a:extLst>
              </a:tr>
              <a:tr h="204733">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700" u="none" strike="noStrike">
                          <a:effectLst/>
                        </a:rPr>
                        <a:t>实施差旅费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项目实施人员出差费用</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299674464"/>
                  </a:ext>
                </a:extLst>
              </a:tr>
              <a:tr h="211753">
                <a:tc gridSpan="2">
                  <a:txBody>
                    <a:bodyPr/>
                    <a:lstStyle/>
                    <a:p>
                      <a:pPr algn="ctr" fontAlgn="ctr"/>
                      <a:r>
                        <a:rPr lang="zh-CN" altLang="en-US" sz="800" u="none" strike="noStrike">
                          <a:effectLst/>
                        </a:rPr>
                        <a:t>产品运营中心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hMerge="1">
                  <a:txBody>
                    <a:bodyPr/>
                    <a:lstStyle/>
                    <a:p>
                      <a:endParaRPr lang="zh-CN" altLang="en-US"/>
                    </a:p>
                  </a:txBody>
                  <a:tcPr/>
                </a:tc>
                <a:tc>
                  <a:txBody>
                    <a:bodyPr/>
                    <a:lstStyle/>
                    <a:p>
                      <a:pPr algn="ctr" fontAlgn="ctr"/>
                      <a:r>
                        <a:rPr lang="zh-CN" altLang="en-US" sz="700" u="none" strike="noStrike">
                          <a:effectLst/>
                        </a:rPr>
                        <a:t>差旅费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肖邵雷和黄驰沟共同预测（陈总确认）</a:t>
                      </a:r>
                      <a:r>
                        <a:rPr lang="en-US" altLang="zh-CN" sz="700" u="none" strike="noStrike">
                          <a:effectLst/>
                        </a:rPr>
                        <a:t>:</a:t>
                      </a:r>
                      <a:r>
                        <a:rPr lang="zh-CN" altLang="en-US" sz="700" u="none" strike="noStrike">
                          <a:effectLst/>
                        </a:rPr>
                        <a:t>大概</a:t>
                      </a:r>
                      <a:r>
                        <a:rPr lang="en-US" altLang="zh-CN" sz="700" u="none" strike="noStrike">
                          <a:effectLst/>
                        </a:rPr>
                        <a:t>1</a:t>
                      </a:r>
                      <a:r>
                        <a:rPr lang="zh-CN" altLang="en-US" sz="700" u="none" strike="noStrike">
                          <a:effectLst/>
                        </a:rPr>
                        <a:t>万</a:t>
                      </a:r>
                      <a:r>
                        <a:rPr lang="en-US" altLang="zh-CN" sz="700" u="none" strike="noStrike">
                          <a:effectLst/>
                        </a:rPr>
                        <a:t>/</a:t>
                      </a:r>
                      <a:r>
                        <a:rPr lang="zh-CN" altLang="en-US" sz="700" u="none" strike="noStrike">
                          <a:effectLst/>
                        </a:rPr>
                        <a:t>周</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¥30,000.00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515036645"/>
                  </a:ext>
                </a:extLst>
              </a:tr>
              <a:tr h="314704">
                <a:tc rowSpan="5">
                  <a:txBody>
                    <a:bodyPr/>
                    <a:lstStyle/>
                    <a:p>
                      <a:pPr algn="ctr" fontAlgn="ctr"/>
                      <a:r>
                        <a:rPr lang="zh-CN" altLang="en-US" sz="800" u="none" strike="noStrike">
                          <a:effectLst/>
                        </a:rPr>
                        <a:t>客户运营中心</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rowSpan="3">
                  <a:txBody>
                    <a:bodyPr/>
                    <a:lstStyle/>
                    <a:p>
                      <a:pPr algn="ctr" fontAlgn="ctr"/>
                      <a:r>
                        <a:rPr lang="zh-CN" altLang="en-US" sz="800" u="none" strike="noStrike">
                          <a:effectLst/>
                        </a:rPr>
                        <a:t>市场部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700" u="none" strike="noStrike">
                          <a:effectLst/>
                        </a:rPr>
                        <a:t>合同付款</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环博会展位费</a:t>
                      </a:r>
                      <a:r>
                        <a:rPr lang="en-US" altLang="zh-CN" sz="700" u="none" strike="noStrike">
                          <a:effectLst/>
                        </a:rPr>
                        <a:t>7.35</a:t>
                      </a:r>
                      <a:r>
                        <a:rPr lang="zh-CN" altLang="en-US" sz="700" u="none" strike="noStrike">
                          <a:effectLst/>
                        </a:rPr>
                        <a:t>万，水圈书籍入编费</a:t>
                      </a:r>
                      <a:r>
                        <a:rPr lang="en-US" altLang="zh-CN" sz="700" u="none" strike="noStrike">
                          <a:effectLst/>
                        </a:rPr>
                        <a:t>0.3</a:t>
                      </a:r>
                      <a:r>
                        <a:rPr lang="zh-CN" altLang="en-US" sz="700" u="none" strike="noStrike">
                          <a:effectLst/>
                        </a:rPr>
                        <a:t>万，环博会展位搭建费</a:t>
                      </a:r>
                      <a:r>
                        <a:rPr lang="en-US" altLang="zh-CN" sz="700" u="none" strike="noStrike">
                          <a:effectLst/>
                        </a:rPr>
                        <a:t>6.5</a:t>
                      </a:r>
                      <a:r>
                        <a:rPr lang="zh-CN" altLang="en-US" sz="700" u="none" strike="noStrike">
                          <a:effectLst/>
                        </a:rPr>
                        <a:t>万，广告费</a:t>
                      </a:r>
                      <a:r>
                        <a:rPr lang="en-US" altLang="zh-CN" sz="700" u="none" strike="noStrike">
                          <a:effectLst/>
                        </a:rPr>
                        <a:t>2.5</a:t>
                      </a:r>
                      <a:r>
                        <a:rPr lang="zh-CN" altLang="en-US" sz="700" u="none" strike="noStrike">
                          <a:effectLst/>
                        </a:rPr>
                        <a:t>万（环博会专项合作）</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382163342"/>
                  </a:ext>
                </a:extLst>
              </a:tr>
              <a:tr h="245680">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差旅费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参加上海环博会</a:t>
                      </a:r>
                      <a:r>
                        <a:rPr lang="en-US" altLang="zh-CN" sz="700" u="none" strike="noStrike">
                          <a:effectLst/>
                        </a:rPr>
                        <a:t>4</a:t>
                      </a:r>
                      <a:r>
                        <a:rPr lang="zh-CN" altLang="en-US" sz="700" u="none" strike="noStrike">
                          <a:effectLst/>
                        </a:rPr>
                        <a:t>人，北京</a:t>
                      </a:r>
                      <a:r>
                        <a:rPr lang="en-US" altLang="zh-CN" sz="700" u="none" strike="noStrike">
                          <a:effectLst/>
                        </a:rPr>
                        <a:t>E20</a:t>
                      </a:r>
                      <a:r>
                        <a:rPr lang="zh-CN" altLang="en-US" sz="700" u="none" strike="noStrike">
                          <a:effectLst/>
                        </a:rPr>
                        <a:t>会议</a:t>
                      </a:r>
                      <a:r>
                        <a:rPr lang="en-US" altLang="zh-CN" sz="700" u="none" strike="noStrike">
                          <a:effectLst/>
                        </a:rPr>
                        <a:t>1</a:t>
                      </a:r>
                      <a:r>
                        <a:rPr lang="zh-CN" altLang="en-US" sz="700" u="none" strike="noStrike">
                          <a:effectLst/>
                        </a:rPr>
                        <a:t>人，德清项目启动仪式</a:t>
                      </a:r>
                      <a:r>
                        <a:rPr lang="en-US" altLang="zh-CN" sz="700" u="none" strike="noStrike">
                          <a:effectLst/>
                        </a:rPr>
                        <a:t>2</a:t>
                      </a:r>
                      <a:r>
                        <a:rPr lang="zh-CN" altLang="en-US" sz="700" u="none" strike="noStrike">
                          <a:effectLst/>
                        </a:rPr>
                        <a:t>人</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¥4,000.00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¥16,000.00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4094545693"/>
                  </a:ext>
                </a:extLst>
              </a:tr>
              <a:tr h="417657">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宣传材料印刷采购</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¥26,300.00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产品画册 </a:t>
                      </a:r>
                      <a:r>
                        <a:rPr lang="en-US" altLang="zh-CN" sz="700" u="none" strike="noStrike">
                          <a:effectLst/>
                        </a:rPr>
                        <a:t>8000</a:t>
                      </a:r>
                      <a:r>
                        <a:rPr lang="zh-CN" altLang="en-US" sz="700" u="none" strike="noStrike">
                          <a:effectLst/>
                        </a:rPr>
                        <a:t>；案例折页 </a:t>
                      </a:r>
                      <a:r>
                        <a:rPr lang="en-US" altLang="zh-CN" sz="700" u="none" strike="noStrike">
                          <a:effectLst/>
                        </a:rPr>
                        <a:t>2400</a:t>
                      </a:r>
                      <a:r>
                        <a:rPr lang="zh-CN" altLang="en-US" sz="700" u="none" strike="noStrike">
                          <a:effectLst/>
                        </a:rPr>
                        <a:t>；白皮书 </a:t>
                      </a:r>
                      <a:r>
                        <a:rPr lang="en-US" altLang="zh-CN" sz="700" u="none" strike="noStrike">
                          <a:effectLst/>
                        </a:rPr>
                        <a:t>2400</a:t>
                      </a:r>
                      <a:r>
                        <a:rPr lang="zh-CN" altLang="en-US" sz="700" u="none" strike="noStrike">
                          <a:effectLst/>
                        </a:rPr>
                        <a:t>；广告袋 </a:t>
                      </a:r>
                      <a:r>
                        <a:rPr lang="en-US" altLang="zh-CN" sz="700" u="none" strike="noStrike">
                          <a:effectLst/>
                        </a:rPr>
                        <a:t>2500</a:t>
                      </a:r>
                      <a:r>
                        <a:rPr lang="zh-CN" altLang="en-US" sz="700" u="none" strike="noStrike">
                          <a:effectLst/>
                        </a:rPr>
                        <a:t>；小礼品 </a:t>
                      </a:r>
                      <a:r>
                        <a:rPr lang="en-US" altLang="zh-CN" sz="700" u="none" strike="noStrike">
                          <a:effectLst/>
                        </a:rPr>
                        <a:t>5000</a:t>
                      </a:r>
                      <a:r>
                        <a:rPr lang="zh-CN" altLang="en-US" sz="700" u="none" strike="noStrike">
                          <a:effectLst/>
                        </a:rPr>
                        <a:t>；重点客户伴手礼 </a:t>
                      </a:r>
                      <a:r>
                        <a:rPr lang="en-US" altLang="zh-CN" sz="700" u="none" strike="noStrike">
                          <a:effectLst/>
                        </a:rPr>
                        <a:t>2000</a:t>
                      </a:r>
                      <a:r>
                        <a:rPr lang="zh-CN" altLang="en-US" sz="700" u="none" strike="noStrike">
                          <a:effectLst/>
                        </a:rPr>
                        <a:t>；抽奖奖品 </a:t>
                      </a:r>
                      <a:r>
                        <a:rPr lang="en-US" altLang="zh-CN" sz="700" u="none" strike="noStrike">
                          <a:effectLst/>
                        </a:rPr>
                        <a:t>3000</a:t>
                      </a:r>
                      <a:r>
                        <a:rPr lang="zh-CN" altLang="en-US" sz="700" u="none" strike="noStrike">
                          <a:effectLst/>
                        </a:rPr>
                        <a:t>；其他物料 </a:t>
                      </a:r>
                      <a:r>
                        <a:rPr lang="en-US" altLang="zh-CN" sz="700" u="none" strike="noStrike">
                          <a:effectLst/>
                        </a:rPr>
                        <a:t>1000</a:t>
                      </a:r>
                      <a:endParaRPr lang="en-US" altLang="zh-CN"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¥12,000.00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¥14,300.00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109034605"/>
                  </a:ext>
                </a:extLst>
              </a:tr>
              <a:tr h="204733">
                <a:tc vMerge="1">
                  <a:txBody>
                    <a:bodyPr/>
                    <a:lstStyle/>
                    <a:p>
                      <a:endParaRPr lang="zh-CN" altLang="en-US"/>
                    </a:p>
                  </a:txBody>
                  <a:tcPr/>
                </a:tc>
                <a:tc rowSpan="2">
                  <a:txBody>
                    <a:bodyPr/>
                    <a:lstStyle/>
                    <a:p>
                      <a:pPr algn="ctr" fontAlgn="ctr"/>
                      <a:r>
                        <a:rPr lang="zh-CN" altLang="en-US" sz="800" u="none" strike="noStrike">
                          <a:effectLst/>
                        </a:rPr>
                        <a:t>直营部 </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700" u="none" strike="noStrike">
                          <a:effectLst/>
                        </a:rPr>
                        <a:t>招待费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招待客户餐费</a:t>
                      </a:r>
                      <a:r>
                        <a:rPr lang="en-US" altLang="zh-CN" sz="700" u="none" strike="noStrike">
                          <a:effectLst/>
                        </a:rPr>
                        <a:t>/</a:t>
                      </a:r>
                      <a:r>
                        <a:rPr lang="zh-CN" altLang="en-US" sz="700" u="none" strike="noStrike">
                          <a:effectLst/>
                        </a:rPr>
                        <a:t>伴手礼等</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579084629"/>
                  </a:ext>
                </a:extLst>
              </a:tr>
              <a:tr h="187186">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700" u="none" strike="noStrike">
                          <a:effectLst/>
                        </a:rPr>
                        <a:t>差旅费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zh-CN" altLang="en-US" sz="700" u="none" strike="noStrike">
                          <a:effectLst/>
                        </a:rPr>
                        <a:t>出差费用及室内交通费</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¥5,000.00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853962432"/>
                  </a:ext>
                </a:extLst>
              </a:tr>
              <a:tr h="314704">
                <a:tc gridSpan="2">
                  <a:txBody>
                    <a:bodyPr/>
                    <a:lstStyle/>
                    <a:p>
                      <a:pPr algn="ctr" fontAlgn="ctr"/>
                      <a:r>
                        <a:rPr lang="zh-CN" altLang="en-US" sz="800" u="none" strike="noStrike">
                          <a:effectLst/>
                        </a:rPr>
                        <a:t>东莞智能装备</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hMerge="1">
                  <a:txBody>
                    <a:bodyPr/>
                    <a:lstStyle/>
                    <a:p>
                      <a:endParaRPr lang="zh-CN" altLang="en-US"/>
                    </a:p>
                  </a:txBody>
                  <a:tcPr/>
                </a:tc>
                <a:tc>
                  <a:txBody>
                    <a:bodyPr/>
                    <a:lstStyle/>
                    <a:p>
                      <a:pPr algn="ctr" fontAlgn="ctr"/>
                      <a:r>
                        <a:rPr lang="zh-CN" altLang="en-US" sz="700" u="none" strike="noStrike">
                          <a:effectLst/>
                        </a:rPr>
                        <a:t>投资款</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l" fontAlgn="ctr"/>
                      <a:r>
                        <a:rPr lang="en-US" altLang="zh-CN" sz="700" u="none" strike="noStrike">
                          <a:effectLst/>
                        </a:rPr>
                        <a:t>2025.11.27</a:t>
                      </a:r>
                      <a:r>
                        <a:rPr lang="zh-CN" altLang="en-US" sz="700" u="none" strike="noStrike">
                          <a:effectLst/>
                        </a:rPr>
                        <a:t>及</a:t>
                      </a:r>
                      <a:r>
                        <a:rPr lang="en-US" altLang="zh-CN" sz="700" u="none" strike="noStrike">
                          <a:effectLst/>
                        </a:rPr>
                        <a:t>2026.1.5</a:t>
                      </a:r>
                      <a:r>
                        <a:rPr lang="zh-CN" altLang="en-US" sz="700" u="none" strike="noStrike">
                          <a:effectLst/>
                        </a:rPr>
                        <a:t>已付投资款</a:t>
                      </a:r>
                      <a:r>
                        <a:rPr lang="en-US" altLang="zh-CN" sz="700" u="none" strike="noStrike">
                          <a:effectLst/>
                        </a:rPr>
                        <a:t>30+30=60</a:t>
                      </a:r>
                      <a:r>
                        <a:rPr lang="zh-CN" altLang="en-US" sz="700" u="none" strike="noStrike">
                          <a:effectLst/>
                        </a:rPr>
                        <a:t>万；</a:t>
                      </a:r>
                      <a:r>
                        <a:rPr lang="en-US" altLang="zh-CN" sz="700" u="none" strike="noStrike">
                          <a:effectLst/>
                        </a:rPr>
                        <a:t>2026.3.15</a:t>
                      </a:r>
                      <a:r>
                        <a:rPr lang="zh-CN" altLang="en-US" sz="700" u="none" strike="noStrike">
                          <a:effectLst/>
                        </a:rPr>
                        <a:t>账户结余</a:t>
                      </a:r>
                      <a:r>
                        <a:rPr lang="en-US" altLang="zh-CN" sz="700" u="none" strike="noStrike">
                          <a:effectLst/>
                        </a:rPr>
                        <a:t>7.37</a:t>
                      </a:r>
                      <a:r>
                        <a:rPr lang="zh-CN" altLang="en-US" sz="700" u="none" strike="noStrike">
                          <a:effectLst/>
                        </a:rPr>
                        <a:t>万，再申请投资款</a:t>
                      </a:r>
                      <a:r>
                        <a:rPr lang="en-US" altLang="zh-CN" sz="700" u="none" strike="noStrike">
                          <a:effectLst/>
                        </a:rPr>
                        <a:t>30</a:t>
                      </a:r>
                      <a:r>
                        <a:rPr lang="zh-CN" altLang="en-US" sz="700" u="none" strike="noStrike">
                          <a:effectLst/>
                        </a:rPr>
                        <a:t>万</a:t>
                      </a:r>
                      <a:r>
                        <a:rPr lang="en-US" altLang="zh-CN" sz="700" u="none" strike="noStrike">
                          <a:effectLst/>
                        </a:rPr>
                        <a:t>-50</a:t>
                      </a:r>
                      <a:r>
                        <a:rPr lang="zh-CN" altLang="en-US" sz="700" u="none" strike="noStrike">
                          <a:effectLst/>
                        </a:rPr>
                        <a:t>万</a:t>
                      </a:r>
                      <a:endParaRPr lang="zh-CN" altLang="en-US" sz="7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¥200,000.00</a:t>
                      </a:r>
                      <a:endParaRPr lang="en-US" altLang="zh-CN"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　</a:t>
                      </a:r>
                      <a:endParaRPr lang="zh-CN" altLang="en-US" sz="800" b="0"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1780740111"/>
                  </a:ext>
                </a:extLst>
              </a:tr>
              <a:tr h="230472">
                <a:tc rowSpan="2" gridSpan="2">
                  <a:txBody>
                    <a:bodyPr/>
                    <a:lstStyle/>
                    <a:p>
                      <a:pPr algn="ctr" fontAlgn="ctr"/>
                      <a:r>
                        <a:rPr lang="zh-CN" altLang="en-US" sz="800" u="none" strike="noStrike">
                          <a:effectLst/>
                        </a:rPr>
                        <a:t>汇总金额</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rowSpan="2" hMerge="1">
                  <a:txBody>
                    <a:bodyPr/>
                    <a:lstStyle/>
                    <a:p>
                      <a:endParaRPr lang="zh-CN" altLang="en-US"/>
                    </a:p>
                  </a:txBody>
                  <a:tcPr/>
                </a:tc>
                <a:tc>
                  <a:txBody>
                    <a:bodyPr/>
                    <a:lstStyle/>
                    <a:p>
                      <a:pPr algn="ctr" fontAlgn="ctr"/>
                      <a:r>
                        <a:rPr lang="en-US" altLang="zh-CN" sz="800" u="none" strike="noStrike">
                          <a:effectLst/>
                        </a:rPr>
                        <a:t>¥6,048.48</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¥1,641,981.90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¥1,635,933.42 </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¥630,181.90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¥1,011,800.00</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4246812715"/>
                  </a:ext>
                </a:extLst>
              </a:tr>
              <a:tr h="286627">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800" u="none" strike="noStrike">
                          <a:effectLst/>
                        </a:rPr>
                        <a:t>截止</a:t>
                      </a:r>
                      <a:r>
                        <a:rPr lang="en-US" altLang="zh-CN" sz="800" u="none" strike="noStrike">
                          <a:effectLst/>
                        </a:rPr>
                        <a:t>2026.3.20</a:t>
                      </a:r>
                      <a:r>
                        <a:rPr lang="zh-CN" altLang="en-US" sz="800" u="none" strike="noStrike">
                          <a:effectLst/>
                        </a:rPr>
                        <a:t>剩余可用资金</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dirty="0">
                          <a:effectLst/>
                        </a:rPr>
                        <a:t>所需资金</a:t>
                      </a:r>
                      <a:endParaRPr lang="zh-CN" altLang="en-US" sz="800" b="1" i="0" u="none" strike="noStrike" dirty="0">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zh-CN" altLang="en-US" sz="800" u="none" strike="noStrike">
                          <a:effectLst/>
                        </a:rPr>
                        <a:t>总资金缺口</a:t>
                      </a:r>
                      <a:endParaRPr lang="zh-CN" altLang="en-US"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a:effectLst/>
                        </a:rPr>
                        <a:t>¥624,133.42 </a:t>
                      </a:r>
                      <a:endParaRPr lang="en-US" altLang="zh-CN" sz="800" b="1" i="0" u="none" strike="noStrike">
                        <a:solidFill>
                          <a:srgbClr val="000000"/>
                        </a:solidFill>
                        <a:effectLst/>
                        <a:latin typeface="宋体" panose="02010600030101010101" pitchFamily="2" charset="-122"/>
                        <a:ea typeface="宋体" panose="02010600030101010101" pitchFamily="2" charset="-122"/>
                      </a:endParaRPr>
                    </a:p>
                  </a:txBody>
                  <a:tcPr marL="6256" marR="6256" marT="6256" marB="0" anchor="ctr"/>
                </a:tc>
                <a:tc>
                  <a:txBody>
                    <a:bodyPr/>
                    <a:lstStyle/>
                    <a:p>
                      <a:pPr algn="ctr" fontAlgn="ctr"/>
                      <a:r>
                        <a:rPr lang="en-US" altLang="zh-CN" sz="800" u="none" strike="noStrike" dirty="0">
                          <a:effectLst/>
                        </a:rPr>
                        <a:t>¥1,011,800.00 </a:t>
                      </a:r>
                      <a:endParaRPr lang="en-US" altLang="zh-CN" sz="800" b="1" i="0" u="none" strike="noStrike" dirty="0">
                        <a:solidFill>
                          <a:srgbClr val="000000"/>
                        </a:solidFill>
                        <a:effectLst/>
                        <a:latin typeface="宋体" panose="02010600030101010101" pitchFamily="2" charset="-122"/>
                        <a:ea typeface="宋体" panose="02010600030101010101" pitchFamily="2" charset="-122"/>
                      </a:endParaRPr>
                    </a:p>
                  </a:txBody>
                  <a:tcPr marL="6256" marR="6256" marT="6256" marB="0" anchor="ctr"/>
                </a:tc>
                <a:extLst>
                  <a:ext uri="{0D108BD9-81ED-4DB2-BD59-A6C34878D82A}">
                    <a16:rowId xmlns:a16="http://schemas.microsoft.com/office/drawing/2014/main" val="3011760508"/>
                  </a:ext>
                </a:extLst>
              </a:tr>
            </a:tbl>
          </a:graphicData>
        </a:graphic>
      </p:graphicFrame>
    </p:spTree>
    <p:extLst>
      <p:ext uri="{BB962C8B-B14F-4D97-AF65-F5344CB8AC3E}">
        <p14:creationId xmlns:p14="http://schemas.microsoft.com/office/powerpoint/2010/main" val="617223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AED8B44-8B2F-4D93-82EC-1ACF203559C3}"/>
              </a:ext>
            </a:extLst>
          </p:cNvPr>
          <p:cNvSpPr txBox="1"/>
          <p:nvPr/>
        </p:nvSpPr>
        <p:spPr>
          <a:xfrm>
            <a:off x="72008" y="87015"/>
            <a:ext cx="3791744" cy="461665"/>
          </a:xfrm>
          <a:prstGeom prst="rect">
            <a:avLst/>
          </a:prstGeom>
          <a:solidFill>
            <a:srgbClr val="FFFF00"/>
          </a:solidFill>
        </p:spPr>
        <p:txBody>
          <a:bodyPr wrap="square" rtlCol="0">
            <a:spAutoFit/>
          </a:bodyPr>
          <a:lstStyle/>
          <a:p>
            <a:r>
              <a:rPr lang="zh-CN" altLang="en-US" sz="2400" b="1" dirty="0">
                <a:solidFill>
                  <a:srgbClr val="FF0000"/>
                </a:solidFill>
                <a:highlight>
                  <a:srgbClr val="FFFF00"/>
                </a:highlight>
                <a:latin typeface="PKMLHR+MicrosoftYaHei"/>
                <a:cs typeface="PKMLHR+MicrosoftYaHei"/>
              </a:rPr>
              <a:t>财务回报率分析系统</a:t>
            </a:r>
            <a:r>
              <a:rPr lang="en-US" altLang="zh-CN" sz="2400" b="1" dirty="0">
                <a:solidFill>
                  <a:srgbClr val="FF0000"/>
                </a:solidFill>
              </a:rPr>
              <a:t>6-6</a:t>
            </a:r>
            <a:endParaRPr lang="zh-CN" altLang="en-US" sz="2400" b="1" dirty="0">
              <a:solidFill>
                <a:srgbClr val="FF0000"/>
              </a:solidFill>
            </a:endParaRPr>
          </a:p>
        </p:txBody>
      </p:sp>
      <p:sp>
        <p:nvSpPr>
          <p:cNvPr id="3" name="箭头: 右 2">
            <a:extLst>
              <a:ext uri="{FF2B5EF4-FFF2-40B4-BE49-F238E27FC236}">
                <a16:creationId xmlns:a16="http://schemas.microsoft.com/office/drawing/2014/main" id="{5BC6AFCB-4157-4B61-A493-9CE6C02E6984}"/>
              </a:ext>
            </a:extLst>
          </p:cNvPr>
          <p:cNvSpPr/>
          <p:nvPr/>
        </p:nvSpPr>
        <p:spPr>
          <a:xfrm>
            <a:off x="4151784" y="87015"/>
            <a:ext cx="2160240" cy="461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88F2E34-6241-49A8-8E01-228BF12F58B9}"/>
              </a:ext>
            </a:extLst>
          </p:cNvPr>
          <p:cNvSpPr txBox="1"/>
          <p:nvPr/>
        </p:nvSpPr>
        <p:spPr>
          <a:xfrm>
            <a:off x="6408711" y="87015"/>
            <a:ext cx="5412631" cy="461665"/>
          </a:xfrm>
          <a:prstGeom prst="rect">
            <a:avLst/>
          </a:prstGeom>
          <a:solidFill>
            <a:srgbClr val="FFFF00"/>
          </a:solidFill>
        </p:spPr>
        <p:txBody>
          <a:bodyPr wrap="square" rtlCol="0">
            <a:spAutoFit/>
          </a:bodyPr>
          <a:lstStyle/>
          <a:p>
            <a:r>
              <a:rPr lang="zh-CN" altLang="en-US" sz="2400" b="1" dirty="0">
                <a:solidFill>
                  <a:srgbClr val="FF0000"/>
                </a:solidFill>
              </a:rPr>
              <a:t>多财务报表关联数据自动分析系统</a:t>
            </a:r>
          </a:p>
        </p:txBody>
      </p:sp>
      <p:pic>
        <p:nvPicPr>
          <p:cNvPr id="86" name="图片 85">
            <a:extLst>
              <a:ext uri="{FF2B5EF4-FFF2-40B4-BE49-F238E27FC236}">
                <a16:creationId xmlns:a16="http://schemas.microsoft.com/office/drawing/2014/main" id="{EBBEDE9B-0A89-4B0E-B0BF-C29BC5F8F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92" y="837482"/>
            <a:ext cx="10327505" cy="5410918"/>
          </a:xfrm>
          <a:prstGeom prst="rect">
            <a:avLst/>
          </a:prstGeom>
        </p:spPr>
      </p:pic>
    </p:spTree>
    <p:extLst>
      <p:ext uri="{BB962C8B-B14F-4D97-AF65-F5344CB8AC3E}">
        <p14:creationId xmlns:p14="http://schemas.microsoft.com/office/powerpoint/2010/main" val="796044873"/>
      </p:ext>
    </p:extLst>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1907</TotalTime>
  <Words>24128</Words>
  <Application>Microsoft Office PowerPoint</Application>
  <PresentationFormat>宽屏</PresentationFormat>
  <Paragraphs>8434</Paragraphs>
  <Slides>54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54</vt:i4>
      </vt:variant>
    </vt:vector>
  </HeadingPairs>
  <TitlesOfParts>
    <vt:vector size="67" baseType="lpstr">
      <vt:lpstr>方正小标宋简体</vt:lpstr>
      <vt:lpstr>OAKHCI+MicrosoftYaHei-Bold</vt:lpstr>
      <vt:lpstr>宋体</vt:lpstr>
      <vt:lpstr>微软雅黑</vt:lpstr>
      <vt:lpstr>Arial</vt:lpstr>
      <vt:lpstr>Times New Roman</vt:lpstr>
      <vt:lpstr>Berlin Sans FB Demi</vt:lpstr>
      <vt:lpstr>PKMLHR+MicrosoftYaHei</vt:lpstr>
      <vt:lpstr>Arial Unicode MS</vt:lpstr>
      <vt:lpstr>Calibri</vt:lpstr>
      <vt:lpstr>MicrosoftYaHei</vt:lpstr>
      <vt:lpstr>等线</vt:lpstr>
      <vt:lpstr>Theme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Administrator</dc:creator>
  <cp:lastModifiedBy>Administrator</cp:lastModifiedBy>
  <cp:revision>171</cp:revision>
  <dcterms:modified xsi:type="dcterms:W3CDTF">2026-06-17T11:49:51Z</dcterms:modified>
</cp:coreProperties>
</file>